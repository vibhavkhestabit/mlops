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8.png" ContentType="image/png"/>
  <Override PartName="/ppt/media/image17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A8F9310-3986-4170-AD4C-D3B7B828316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95DE53-4BF8-4F50-BF18-FE0900F716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7100A8-CDB9-4A46-A545-F4366D2BD3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40D398-CED8-4DE5-B741-52056CD668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AF5EC8-E0D2-4CED-A312-036165881C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3573BF-452C-4C38-97A4-F858B75E50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E0F8CB-F702-4C58-B11B-80FE24BE3A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/>
        </p:nvSpPr>
        <p:spPr>
          <a:xfrm>
            <a:off x="0" y="0"/>
            <a:ext cx="53640" cy="514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" name="TextBox 2"/>
          <p:cNvSpPr/>
          <p:nvPr/>
        </p:nvSpPr>
        <p:spPr>
          <a:xfrm>
            <a:off x="274320" y="228600"/>
            <a:ext cx="4399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</a:rPr>
              <a:t>AZURE LAUNCHPAD  ·  FRESHER TRACK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Box 3"/>
          <p:cNvSpPr/>
          <p:nvPr/>
        </p:nvSpPr>
        <p:spPr>
          <a:xfrm>
            <a:off x="274320" y="530280"/>
            <a:ext cx="4499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</a:rPr>
              <a:t>Azure Bootcamp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Box 4"/>
          <p:cNvSpPr/>
          <p:nvPr/>
        </p:nvSpPr>
        <p:spPr>
          <a:xfrm>
            <a:off x="274320" y="1090440"/>
            <a:ext cx="4499640" cy="66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f5a623"/>
                </a:solidFill>
                <a:latin typeface="Cambria"/>
              </a:rPr>
              <a:t>Weeks 1 – 2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5"/>
          <p:cNvSpPr/>
          <p:nvPr/>
        </p:nvSpPr>
        <p:spPr>
          <a:xfrm>
            <a:off x="334800" y="1830600"/>
            <a:ext cx="44996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Vibhav Khaneja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6"/>
          <p:cNvSpPr/>
          <p:nvPr/>
        </p:nvSpPr>
        <p:spPr>
          <a:xfrm>
            <a:off x="334800" y="2105640"/>
            <a:ext cx="44996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080" spc="-1" strike="noStrike">
                <a:solidFill>
                  <a:srgbClr val="a8b2d8"/>
                </a:solidFill>
                <a:latin typeface="Calibri"/>
              </a:rPr>
              <a:t>Cloud Foundations · Containers · Kubernetes · CI/CD · Ops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ounded Rectangle 7"/>
          <p:cNvSpPr/>
          <p:nvPr/>
        </p:nvSpPr>
        <p:spPr>
          <a:xfrm>
            <a:off x="334800" y="2559960"/>
            <a:ext cx="979200" cy="879120"/>
          </a:xfrm>
          <a:prstGeom prst="roundRect">
            <a:avLst>
              <a:gd name="adj" fmla="val 10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" name="TextBox 8"/>
          <p:cNvSpPr/>
          <p:nvPr/>
        </p:nvSpPr>
        <p:spPr>
          <a:xfrm>
            <a:off x="334800" y="2649960"/>
            <a:ext cx="9792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2300" spc="-1" strike="noStrike">
                <a:solidFill>
                  <a:srgbClr val="f5a623"/>
                </a:solidFill>
                <a:latin typeface="Cambria"/>
              </a:rPr>
              <a:t>12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9"/>
          <p:cNvSpPr/>
          <p:nvPr/>
        </p:nvSpPr>
        <p:spPr>
          <a:xfrm>
            <a:off x="334800" y="3089880"/>
            <a:ext cx="97920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a8b2d8"/>
                </a:solidFill>
                <a:latin typeface="Calibri"/>
              </a:rPr>
              <a:t>Days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Rounded Rectangle 10"/>
          <p:cNvSpPr/>
          <p:nvPr/>
        </p:nvSpPr>
        <p:spPr>
          <a:xfrm>
            <a:off x="1419840" y="2559960"/>
            <a:ext cx="979200" cy="879120"/>
          </a:xfrm>
          <a:prstGeom prst="roundRect">
            <a:avLst>
              <a:gd name="adj" fmla="val 10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" name="TextBox 11"/>
          <p:cNvSpPr/>
          <p:nvPr/>
        </p:nvSpPr>
        <p:spPr>
          <a:xfrm>
            <a:off x="1419840" y="2649960"/>
            <a:ext cx="9792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2300" spc="-1" strike="noStrike">
                <a:solidFill>
                  <a:srgbClr val="f5a623"/>
                </a:solidFill>
                <a:latin typeface="Cambria"/>
              </a:rPr>
              <a:t>10+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12"/>
          <p:cNvSpPr/>
          <p:nvPr/>
        </p:nvSpPr>
        <p:spPr>
          <a:xfrm>
            <a:off x="1419840" y="3089880"/>
            <a:ext cx="97920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a8b2d8"/>
                </a:solidFill>
                <a:latin typeface="Calibri"/>
              </a:rPr>
              <a:t>Bash Scripts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ounded Rectangle 13"/>
          <p:cNvSpPr/>
          <p:nvPr/>
        </p:nvSpPr>
        <p:spPr>
          <a:xfrm>
            <a:off x="2504880" y="2559960"/>
            <a:ext cx="979200" cy="879120"/>
          </a:xfrm>
          <a:prstGeom prst="roundRect">
            <a:avLst>
              <a:gd name="adj" fmla="val 10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" name="TextBox 14"/>
          <p:cNvSpPr/>
          <p:nvPr/>
        </p:nvSpPr>
        <p:spPr>
          <a:xfrm>
            <a:off x="2504880" y="2649960"/>
            <a:ext cx="9792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2300" spc="-1" strike="noStrike">
                <a:solidFill>
                  <a:srgbClr val="f5a623"/>
                </a:solidFill>
                <a:latin typeface="Cambria"/>
              </a:rPr>
              <a:t>12+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Box 15"/>
          <p:cNvSpPr/>
          <p:nvPr/>
        </p:nvSpPr>
        <p:spPr>
          <a:xfrm>
            <a:off x="2504880" y="3089880"/>
            <a:ext cx="97920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a8b2d8"/>
                </a:solidFill>
                <a:latin typeface="Calibri"/>
              </a:rPr>
              <a:t>Azure Services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Rounded Rectangle 16"/>
          <p:cNvSpPr/>
          <p:nvPr/>
        </p:nvSpPr>
        <p:spPr>
          <a:xfrm>
            <a:off x="3589920" y="2559960"/>
            <a:ext cx="979200" cy="879120"/>
          </a:xfrm>
          <a:prstGeom prst="roundRect">
            <a:avLst>
              <a:gd name="adj" fmla="val 10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" name="TextBox 17"/>
          <p:cNvSpPr/>
          <p:nvPr/>
        </p:nvSpPr>
        <p:spPr>
          <a:xfrm>
            <a:off x="3589920" y="2649960"/>
            <a:ext cx="9792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2300" spc="-1" strike="noStrike">
                <a:solidFill>
                  <a:srgbClr val="f5a623"/>
                </a:solidFill>
                <a:latin typeface="Cambria"/>
              </a:rPr>
              <a:t>2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Box 18"/>
          <p:cNvSpPr/>
          <p:nvPr/>
        </p:nvSpPr>
        <p:spPr>
          <a:xfrm>
            <a:off x="3589920" y="3089880"/>
            <a:ext cx="97920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a8b2d8"/>
                </a:solidFill>
                <a:latin typeface="Calibri"/>
              </a:rPr>
              <a:t>Live Deploys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6" name="Connector 19"/>
          <p:cNvCxnSpPr/>
          <p:nvPr/>
        </p:nvCxnSpPr>
        <p:spPr>
          <a:xfrm>
            <a:off x="334800" y="3619800"/>
            <a:ext cx="4280760" cy="720"/>
          </a:xfrm>
          <a:prstGeom prst="straightConnector1">
            <a:avLst/>
          </a:prstGeom>
          <a:ln w="9525">
            <a:solidFill>
              <a:srgbClr val="3a3f7a"/>
            </a:solidFill>
            <a:round/>
          </a:ln>
        </p:spPr>
      </p:cxnSp>
      <p:sp>
        <p:nvSpPr>
          <p:cNvPr id="27" name="TextBox 20"/>
          <p:cNvSpPr/>
          <p:nvPr/>
        </p:nvSpPr>
        <p:spPr>
          <a:xfrm>
            <a:off x="334800" y="3700080"/>
            <a:ext cx="44996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8892b8"/>
                </a:solidFill>
                <a:latin typeface="Calibri"/>
              </a:rPr>
              <a:t>3-Week Azure Bootcamp  ·  Ubuntu + Docker → Cloud-Native + AI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ounded Rectangle 21"/>
          <p:cNvSpPr/>
          <p:nvPr/>
        </p:nvSpPr>
        <p:spPr>
          <a:xfrm>
            <a:off x="5060160" y="274320"/>
            <a:ext cx="3809160" cy="4754520"/>
          </a:xfrm>
          <a:prstGeom prst="roundRect">
            <a:avLst>
              <a:gd name="adj" fmla="val 7000"/>
            </a:avLst>
          </a:prstGeom>
          <a:solidFill>
            <a:srgbClr val="1c2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" name="TextBox 22"/>
          <p:cNvSpPr/>
          <p:nvPr/>
        </p:nvSpPr>
        <p:spPr>
          <a:xfrm>
            <a:off x="5334480" y="454320"/>
            <a:ext cx="330912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296" strike="noStrike">
                <a:solidFill>
                  <a:srgbClr val="f5a623"/>
                </a:solidFill>
                <a:latin typeface="Calibri"/>
              </a:rPr>
              <a:t>PROGRAMME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Rounded Rectangle 23"/>
          <p:cNvSpPr/>
          <p:nvPr/>
        </p:nvSpPr>
        <p:spPr>
          <a:xfrm>
            <a:off x="5249880" y="75420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" name="Rounded Rectangle 24"/>
          <p:cNvSpPr/>
          <p:nvPr/>
        </p:nvSpPr>
        <p:spPr>
          <a:xfrm>
            <a:off x="5299920" y="80424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01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Box 25"/>
          <p:cNvSpPr/>
          <p:nvPr/>
        </p:nvSpPr>
        <p:spPr>
          <a:xfrm>
            <a:off x="5649840" y="75420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Azure Orientation: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CLI · Portal · Resource Groups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Rounded Rectangle 26"/>
          <p:cNvSpPr/>
          <p:nvPr/>
        </p:nvSpPr>
        <p:spPr>
          <a:xfrm>
            <a:off x="5249880" y="110628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" name="Rounded Rectangle 27"/>
          <p:cNvSpPr/>
          <p:nvPr/>
        </p:nvSpPr>
        <p:spPr>
          <a:xfrm>
            <a:off x="5299920" y="115632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02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Box 28"/>
          <p:cNvSpPr/>
          <p:nvPr/>
        </p:nvSpPr>
        <p:spPr>
          <a:xfrm>
            <a:off x="5649840" y="110628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VMs &amp; Networking: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VNet · NSG · SSH · Nginx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Rounded Rectangle 29"/>
          <p:cNvSpPr/>
          <p:nvPr/>
        </p:nvSpPr>
        <p:spPr>
          <a:xfrm>
            <a:off x="5249880" y="145836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" name="Rounded Rectangle 30"/>
          <p:cNvSpPr/>
          <p:nvPr/>
        </p:nvSpPr>
        <p:spPr>
          <a:xfrm>
            <a:off x="5299920" y="150840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03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Box 31"/>
          <p:cNvSpPr/>
          <p:nvPr/>
        </p:nvSpPr>
        <p:spPr>
          <a:xfrm>
            <a:off x="5649840" y="145836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Azure Storage: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Blobs · SAS · Azure Files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Rounded Rectangle 32"/>
          <p:cNvSpPr/>
          <p:nvPr/>
        </p:nvSpPr>
        <p:spPr>
          <a:xfrm>
            <a:off x="5249880" y="181044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" name="Rounded Rectangle 33"/>
          <p:cNvSpPr/>
          <p:nvPr/>
        </p:nvSpPr>
        <p:spPr>
          <a:xfrm>
            <a:off x="5299920" y="186048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04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Box 34"/>
          <p:cNvSpPr/>
          <p:nvPr/>
        </p:nvSpPr>
        <p:spPr>
          <a:xfrm>
            <a:off x="5649840" y="181044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ACI – Containers: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Deploy · Logs · Env Vars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Rounded Rectangle 35"/>
          <p:cNvSpPr/>
          <p:nvPr/>
        </p:nvSpPr>
        <p:spPr>
          <a:xfrm>
            <a:off x="5249880" y="216216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" name="Rounded Rectangle 36"/>
          <p:cNvSpPr/>
          <p:nvPr/>
        </p:nvSpPr>
        <p:spPr>
          <a:xfrm>
            <a:off x="5299920" y="221220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05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Box 37"/>
          <p:cNvSpPr/>
          <p:nvPr/>
        </p:nvSpPr>
        <p:spPr>
          <a:xfrm>
            <a:off x="5649840" y="216216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ACR – Registry: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Build · Tag · Push · Deploy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Rounded Rectangle 38"/>
          <p:cNvSpPr/>
          <p:nvPr/>
        </p:nvSpPr>
        <p:spPr>
          <a:xfrm>
            <a:off x="5249880" y="251424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" name="Rounded Rectangle 39"/>
          <p:cNvSpPr/>
          <p:nvPr/>
        </p:nvSpPr>
        <p:spPr>
          <a:xfrm>
            <a:off x="5299920" y="256428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06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40"/>
          <p:cNvSpPr/>
          <p:nvPr/>
        </p:nvSpPr>
        <p:spPr>
          <a:xfrm>
            <a:off x="5649840" y="251424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Week 1 Project: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End-to-end Live Deploy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Rounded Rectangle 41"/>
          <p:cNvSpPr/>
          <p:nvPr/>
        </p:nvSpPr>
        <p:spPr>
          <a:xfrm>
            <a:off x="5249880" y="286632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" name="Rounded Rectangle 42"/>
          <p:cNvSpPr/>
          <p:nvPr/>
        </p:nvSpPr>
        <p:spPr>
          <a:xfrm>
            <a:off x="5299920" y="291636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07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43"/>
          <p:cNvSpPr/>
          <p:nvPr/>
        </p:nvSpPr>
        <p:spPr>
          <a:xfrm>
            <a:off x="5649840" y="286632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AKS Fundamentals: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Cluster · ACR · kubectl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Rounded Rectangle 44"/>
          <p:cNvSpPr/>
          <p:nvPr/>
        </p:nvSpPr>
        <p:spPr>
          <a:xfrm>
            <a:off x="5249880" y="321840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Rounded Rectangle 45"/>
          <p:cNvSpPr/>
          <p:nvPr/>
        </p:nvSpPr>
        <p:spPr>
          <a:xfrm>
            <a:off x="5299920" y="326844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08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6"/>
          <p:cNvSpPr/>
          <p:nvPr/>
        </p:nvSpPr>
        <p:spPr>
          <a:xfrm>
            <a:off x="5649840" y="321840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AKS Workloads: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LoadBalancer · Ingress · HPA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Rounded Rectangle 47"/>
          <p:cNvSpPr/>
          <p:nvPr/>
        </p:nvSpPr>
        <p:spPr>
          <a:xfrm>
            <a:off x="5249880" y="357048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Rounded Rectangle 48"/>
          <p:cNvSpPr/>
          <p:nvPr/>
        </p:nvSpPr>
        <p:spPr>
          <a:xfrm>
            <a:off x="5299920" y="362016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09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49"/>
          <p:cNvSpPr/>
          <p:nvPr/>
        </p:nvSpPr>
        <p:spPr>
          <a:xfrm>
            <a:off x="5649840" y="357048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DevOps Repos: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Org · Repo · YAML Pipeline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Rounded Rectangle 50"/>
          <p:cNvSpPr/>
          <p:nvPr/>
        </p:nvSpPr>
        <p:spPr>
          <a:xfrm>
            <a:off x="5249880" y="392220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Rounded Rectangle 51"/>
          <p:cNvSpPr/>
          <p:nvPr/>
        </p:nvSpPr>
        <p:spPr>
          <a:xfrm>
            <a:off x="5299920" y="397224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52"/>
          <p:cNvSpPr/>
          <p:nvPr/>
        </p:nvSpPr>
        <p:spPr>
          <a:xfrm>
            <a:off x="5649840" y="392220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Full CI/CD Pipeline: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Build · Push · Deploy · Auto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ounded Rectangle 53"/>
          <p:cNvSpPr/>
          <p:nvPr/>
        </p:nvSpPr>
        <p:spPr>
          <a:xfrm>
            <a:off x="5249880" y="427428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Rounded Rectangle 54"/>
          <p:cNvSpPr/>
          <p:nvPr/>
        </p:nvSpPr>
        <p:spPr>
          <a:xfrm>
            <a:off x="5299920" y="432432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11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55"/>
          <p:cNvSpPr/>
          <p:nvPr/>
        </p:nvSpPr>
        <p:spPr>
          <a:xfrm>
            <a:off x="5649840" y="427428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Monitoring &amp; Alerts: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Log Analytics · KQL · Alerts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Rounded Rectangle 56"/>
          <p:cNvSpPr/>
          <p:nvPr/>
        </p:nvSpPr>
        <p:spPr>
          <a:xfrm>
            <a:off x="5249880" y="4626360"/>
            <a:ext cx="3429360" cy="31932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Rounded Rectangle 57"/>
          <p:cNvSpPr/>
          <p:nvPr/>
        </p:nvSpPr>
        <p:spPr>
          <a:xfrm>
            <a:off x="5299920" y="4676400"/>
            <a:ext cx="219240" cy="21924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1a1e4f"/>
                </a:solidFill>
                <a:latin typeface="Calibri"/>
              </a:rPr>
              <a:t>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58"/>
          <p:cNvSpPr/>
          <p:nvPr/>
        </p:nvSpPr>
        <p:spPr>
          <a:xfrm>
            <a:off x="5649840" y="4626360"/>
            <a:ext cx="293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Security &amp; RBAC:  </a:t>
            </a:r>
            <a:r>
              <a:rPr b="0" lang="en-US" sz="920" spc="-1" strike="noStrike">
                <a:solidFill>
                  <a:srgbClr val="a8b2d8"/>
                </a:solidFill>
                <a:latin typeface="Calibri"/>
              </a:rPr>
              <a:t>Roles · Key Vault · Defender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  <a:ea typeface="Calibri"/>
              </a:rPr>
              <a:t>OVERVIEW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274320" y="457200"/>
            <a:ext cx="6399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  <a:ea typeface="Cambria"/>
              </a:rPr>
              <a:t>The Week 1 Learning Arc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237600" y="1115640"/>
            <a:ext cx="2760480" cy="169956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365760" y="1234440"/>
            <a:ext cx="309960" cy="30996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365760" y="12344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Image 0" descr="preencoded.png"/>
          <p:cNvPicPr/>
          <p:nvPr/>
        </p:nvPicPr>
        <p:blipFill>
          <a:blip r:embed="rId1"/>
          <a:stretch/>
        </p:blipFill>
        <p:spPr>
          <a:xfrm>
            <a:off x="2597040" y="122544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73" name="Text 6"/>
          <p:cNvSpPr/>
          <p:nvPr/>
        </p:nvSpPr>
        <p:spPr>
          <a:xfrm>
            <a:off x="365760" y="1591200"/>
            <a:ext cx="2504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Azure Orientation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365760" y="1883520"/>
            <a:ext cx="25045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Free account + student credits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 login + resource group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Portal vs CLI parity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azure_setup.sh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3182040" y="1115640"/>
            <a:ext cx="2760480" cy="169956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3310200" y="1234440"/>
            <a:ext cx="309960" cy="30996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3310200" y="12344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Image 1" descr="preencoded.png"/>
          <p:cNvPicPr/>
          <p:nvPr/>
        </p:nvPicPr>
        <p:blipFill>
          <a:blip r:embed="rId2"/>
          <a:stretch/>
        </p:blipFill>
        <p:spPr>
          <a:xfrm>
            <a:off x="5541120" y="122544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79" name="Text 11"/>
          <p:cNvSpPr/>
          <p:nvPr/>
        </p:nvSpPr>
        <p:spPr>
          <a:xfrm>
            <a:off x="3310200" y="1591200"/>
            <a:ext cx="2504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VMs &amp; Networking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3310200" y="1883520"/>
            <a:ext cx="25045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VNet + Subnet via CLI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Ubuntu VM + SSH key auth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NSG rules · Nginx on port 80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vm_manager.sh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6126480" y="1115640"/>
            <a:ext cx="2760480" cy="169956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4"/>
          <p:cNvSpPr/>
          <p:nvPr/>
        </p:nvSpPr>
        <p:spPr>
          <a:xfrm>
            <a:off x="6254640" y="1234440"/>
            <a:ext cx="309960" cy="30996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6254640" y="12344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2" descr="preencoded.png"/>
          <p:cNvPicPr/>
          <p:nvPr/>
        </p:nvPicPr>
        <p:blipFill>
          <a:blip r:embed="rId3"/>
          <a:stretch/>
        </p:blipFill>
        <p:spPr>
          <a:xfrm>
            <a:off x="8485560" y="122544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85" name="Text 16"/>
          <p:cNvSpPr/>
          <p:nvPr/>
        </p:nvSpPr>
        <p:spPr>
          <a:xfrm>
            <a:off x="6254640" y="1591200"/>
            <a:ext cx="2504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Azure Storage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6254640" y="1883520"/>
            <a:ext cx="25045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Blob container + file upload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SAS URL generation + browser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Azure File Share CIFS mount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storage_ops.sh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237600" y="2944440"/>
            <a:ext cx="2760480" cy="169956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19"/>
          <p:cNvSpPr/>
          <p:nvPr/>
        </p:nvSpPr>
        <p:spPr>
          <a:xfrm>
            <a:off x="365760" y="3063240"/>
            <a:ext cx="309960" cy="30996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365760" y="30632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Image 3" descr="preencoded.png"/>
          <p:cNvPicPr/>
          <p:nvPr/>
        </p:nvPicPr>
        <p:blipFill>
          <a:blip r:embed="rId4"/>
          <a:stretch/>
        </p:blipFill>
        <p:spPr>
          <a:xfrm>
            <a:off x="2597040" y="305424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91" name="Text 21"/>
          <p:cNvSpPr/>
          <p:nvPr/>
        </p:nvSpPr>
        <p:spPr>
          <a:xfrm>
            <a:off x="365760" y="3420000"/>
            <a:ext cx="2504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Container Instances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2"/>
          <p:cNvSpPr/>
          <p:nvPr/>
        </p:nvSpPr>
        <p:spPr>
          <a:xfrm>
            <a:off x="365760" y="3712320"/>
            <a:ext cx="25045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Deploy Nginx via ACI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Log streaming + env var injection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Azure Files persistent volume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Ephemeral vs persistent storage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23"/>
          <p:cNvSpPr/>
          <p:nvPr/>
        </p:nvSpPr>
        <p:spPr>
          <a:xfrm>
            <a:off x="3182040" y="2944440"/>
            <a:ext cx="2760480" cy="169956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24"/>
          <p:cNvSpPr/>
          <p:nvPr/>
        </p:nvSpPr>
        <p:spPr>
          <a:xfrm>
            <a:off x="3310200" y="3063240"/>
            <a:ext cx="309960" cy="30996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5"/>
          <p:cNvSpPr/>
          <p:nvPr/>
        </p:nvSpPr>
        <p:spPr>
          <a:xfrm>
            <a:off x="3310200" y="30632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Image 4" descr="preencoded.png"/>
          <p:cNvPicPr/>
          <p:nvPr/>
        </p:nvPicPr>
        <p:blipFill>
          <a:blip r:embed="rId5"/>
          <a:stretch/>
        </p:blipFill>
        <p:spPr>
          <a:xfrm>
            <a:off x="5541120" y="305424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97" name="Text 26"/>
          <p:cNvSpPr/>
          <p:nvPr/>
        </p:nvSpPr>
        <p:spPr>
          <a:xfrm>
            <a:off x="3310200" y="3420000"/>
            <a:ext cx="2504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Container Registry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7"/>
          <p:cNvSpPr/>
          <p:nvPr/>
        </p:nvSpPr>
        <p:spPr>
          <a:xfrm>
            <a:off x="3310200" y="3712320"/>
            <a:ext cx="25045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Create ACR (Basic SKU)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Custom Dockerfile + docker build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Tag → login → push to ACR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acr_deploy.sh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8"/>
          <p:cNvSpPr/>
          <p:nvPr/>
        </p:nvSpPr>
        <p:spPr>
          <a:xfrm>
            <a:off x="6126480" y="2944440"/>
            <a:ext cx="2760480" cy="169956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29"/>
          <p:cNvSpPr/>
          <p:nvPr/>
        </p:nvSpPr>
        <p:spPr>
          <a:xfrm>
            <a:off x="6254640" y="3063240"/>
            <a:ext cx="309960" cy="30996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30"/>
          <p:cNvSpPr/>
          <p:nvPr/>
        </p:nvSpPr>
        <p:spPr>
          <a:xfrm>
            <a:off x="6254640" y="30632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 5" descr="preencoded.png"/>
          <p:cNvPicPr/>
          <p:nvPr/>
        </p:nvPicPr>
        <p:blipFill>
          <a:blip r:embed="rId6"/>
          <a:stretch/>
        </p:blipFill>
        <p:spPr>
          <a:xfrm>
            <a:off x="8485560" y="305424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103" name="Text 31"/>
          <p:cNvSpPr/>
          <p:nvPr/>
        </p:nvSpPr>
        <p:spPr>
          <a:xfrm>
            <a:off x="6254640" y="3420000"/>
            <a:ext cx="2504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Week 1 Project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32"/>
          <p:cNvSpPr/>
          <p:nvPr/>
        </p:nvSpPr>
        <p:spPr>
          <a:xfrm>
            <a:off x="6254640" y="3712320"/>
            <a:ext cx="25045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ACR → ACI full pipeline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Azure Files storage mount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Public URL verified live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week1_project.sh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  <a:ea typeface="Calibri"/>
              </a:rPr>
              <a:t>WEEK 1  ·  DAYS 1–3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274320" y="457200"/>
            <a:ext cx="56682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Azure Foundations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274320" y="1005840"/>
            <a:ext cx="6399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8892b8"/>
                </a:solidFill>
                <a:latin typeface="Calibri"/>
                <a:ea typeface="Calibri"/>
              </a:rPr>
              <a:t>"How production cloud environments are structured and accessed."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4"/>
          <p:cNvSpPr/>
          <p:nvPr/>
        </p:nvSpPr>
        <p:spPr>
          <a:xfrm>
            <a:off x="7644240" y="274320"/>
            <a:ext cx="1114560" cy="803520"/>
          </a:xfrm>
          <a:prstGeom prst="roundRect">
            <a:avLst>
              <a:gd name="adj" fmla="val 9091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644240" y="292680"/>
            <a:ext cx="1114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a623"/>
                </a:solidFill>
                <a:latin typeface="Cambria"/>
                <a:ea typeface="Cambria"/>
              </a:rPr>
              <a:t>3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7644240" y="768240"/>
            <a:ext cx="11145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Scripts Built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7644240" y="1261800"/>
            <a:ext cx="1114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a623"/>
                </a:solidFill>
                <a:latin typeface="Cambria"/>
                <a:ea typeface="Cambria"/>
              </a:rPr>
              <a:t>5+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7644240" y="1737360"/>
            <a:ext cx="11145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Azure Services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0"/>
          <p:cNvSpPr/>
          <p:nvPr/>
        </p:nvSpPr>
        <p:spPr>
          <a:xfrm>
            <a:off x="237600" y="1389960"/>
            <a:ext cx="2778840" cy="351036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402480" y="153612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116" name="Text 11"/>
          <p:cNvSpPr/>
          <p:nvPr/>
        </p:nvSpPr>
        <p:spPr>
          <a:xfrm>
            <a:off x="402480" y="1901880"/>
            <a:ext cx="9133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402480" y="2103120"/>
            <a:ext cx="2449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Azure Orientation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3"/>
          <p:cNvSpPr/>
          <p:nvPr/>
        </p:nvSpPr>
        <p:spPr>
          <a:xfrm>
            <a:off x="394920" y="2515320"/>
            <a:ext cx="2449440" cy="190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4"/>
          <p:cNvSpPr/>
          <p:nvPr/>
        </p:nvSpPr>
        <p:spPr>
          <a:xfrm>
            <a:off x="394920" y="2675880"/>
            <a:ext cx="2449440" cy="19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free account + activated student credits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Installed azure-cli, ran az login, az account show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resource group: devops-lab-rg via portal AND CLI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Listed all Azure regions: az account list-locations -o 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Script creates RG in eastus automatically on run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5"/>
          <p:cNvSpPr/>
          <p:nvPr/>
        </p:nvSpPr>
        <p:spPr>
          <a:xfrm>
            <a:off x="402480" y="4480560"/>
            <a:ext cx="2449440" cy="29160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402480" y="4480560"/>
            <a:ext cx="24494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azure_setup.sh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3182040" y="1389960"/>
            <a:ext cx="2778840" cy="351036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" name="Image 1" descr="preencoded.png"/>
          <p:cNvPicPr/>
          <p:nvPr/>
        </p:nvPicPr>
        <p:blipFill>
          <a:blip r:embed="rId2"/>
          <a:stretch/>
        </p:blipFill>
        <p:spPr>
          <a:xfrm>
            <a:off x="3346560" y="153612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124" name="Text 18"/>
          <p:cNvSpPr/>
          <p:nvPr/>
        </p:nvSpPr>
        <p:spPr>
          <a:xfrm>
            <a:off x="3346560" y="1902240"/>
            <a:ext cx="9133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3346560" y="2103120"/>
            <a:ext cx="2449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VMs &amp; Networking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20"/>
          <p:cNvSpPr/>
          <p:nvPr/>
        </p:nvSpPr>
        <p:spPr>
          <a:xfrm>
            <a:off x="3346560" y="2512440"/>
            <a:ext cx="2449440" cy="190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21"/>
          <p:cNvSpPr/>
          <p:nvPr/>
        </p:nvSpPr>
        <p:spPr>
          <a:xfrm>
            <a:off x="3331440" y="2697840"/>
            <a:ext cx="2449440" cy="19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VNet + subnet via CLI in Central India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Provisioned Ubuntu 22.04 VM with SSH key authentication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NSG rule to allow SSH on port 22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Installed Nginx on VM, opened port 80 in NSG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Verified Nginx welcome page at VM public IP:80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2"/>
          <p:cNvSpPr/>
          <p:nvPr/>
        </p:nvSpPr>
        <p:spPr>
          <a:xfrm>
            <a:off x="3346560" y="4480560"/>
            <a:ext cx="2449440" cy="29160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23"/>
          <p:cNvSpPr/>
          <p:nvPr/>
        </p:nvSpPr>
        <p:spPr>
          <a:xfrm>
            <a:off x="3346560" y="4480560"/>
            <a:ext cx="24494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vm_manager.sh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4"/>
          <p:cNvSpPr/>
          <p:nvPr/>
        </p:nvSpPr>
        <p:spPr>
          <a:xfrm>
            <a:off x="6126480" y="1389960"/>
            <a:ext cx="2778840" cy="351036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Image 2" descr="preencoded.png"/>
          <p:cNvPicPr/>
          <p:nvPr/>
        </p:nvPicPr>
        <p:blipFill>
          <a:blip r:embed="rId3"/>
          <a:stretch/>
        </p:blipFill>
        <p:spPr>
          <a:xfrm>
            <a:off x="6291000" y="153612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132" name="Text 25"/>
          <p:cNvSpPr/>
          <p:nvPr/>
        </p:nvSpPr>
        <p:spPr>
          <a:xfrm>
            <a:off x="6291000" y="1917000"/>
            <a:ext cx="9133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6"/>
          <p:cNvSpPr/>
          <p:nvPr/>
        </p:nvSpPr>
        <p:spPr>
          <a:xfrm>
            <a:off x="6291000" y="2103120"/>
            <a:ext cx="2449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Azure Storage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7"/>
          <p:cNvSpPr/>
          <p:nvPr/>
        </p:nvSpPr>
        <p:spPr>
          <a:xfrm>
            <a:off x="6291000" y="2500200"/>
            <a:ext cx="2449440" cy="190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8"/>
          <p:cNvSpPr/>
          <p:nvPr/>
        </p:nvSpPr>
        <p:spPr>
          <a:xfrm>
            <a:off x="6275880" y="2649960"/>
            <a:ext cx="2449440" cy="19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storage account: vkstorage1781011715 (Standard_LRS)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blob container, uploaded sample.txt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Generated SAS token, opened URL in browser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Mounted Azure File Share via CIFS on VM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Explored Hot · Cool · Archive storage tier trade-offs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29"/>
          <p:cNvSpPr/>
          <p:nvPr/>
        </p:nvSpPr>
        <p:spPr>
          <a:xfrm>
            <a:off x="6291000" y="4480560"/>
            <a:ext cx="2449440" cy="29160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0"/>
          <p:cNvSpPr/>
          <p:nvPr/>
        </p:nvSpPr>
        <p:spPr>
          <a:xfrm>
            <a:off x="6291000" y="4480560"/>
            <a:ext cx="24494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storage_ops.sh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  <a:ea typeface="Calibri"/>
              </a:rPr>
              <a:t>WEEK 1  ·  DAYS 4–5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274320" y="457200"/>
            <a:ext cx="6399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  <a:ea typeface="Cambria"/>
              </a:rPr>
              <a:t>Containers on Azure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237600" y="1115640"/>
            <a:ext cx="4223520" cy="3912840"/>
          </a:xfrm>
          <a:prstGeom prst="roundRect">
            <a:avLst>
              <a:gd name="adj" fmla="val 2913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2" name="Image 0" descr="preencoded.png"/>
          <p:cNvPicPr/>
          <p:nvPr/>
        </p:nvPicPr>
        <p:blipFill>
          <a:blip r:embed="rId1"/>
          <a:stretch/>
        </p:blipFill>
        <p:spPr>
          <a:xfrm>
            <a:off x="420480" y="126180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143" name="Text 4"/>
          <p:cNvSpPr/>
          <p:nvPr/>
        </p:nvSpPr>
        <p:spPr>
          <a:xfrm>
            <a:off x="822960" y="1280160"/>
            <a:ext cx="9133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Day 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420480" y="1627560"/>
            <a:ext cx="38577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libri"/>
                <a:ea typeface="Calibri"/>
              </a:rPr>
              <a:t>Azure Container Instances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420480" y="1938600"/>
            <a:ext cx="38577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"Run containers without managing any infrastructure."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7"/>
          <p:cNvSpPr/>
          <p:nvPr/>
        </p:nvSpPr>
        <p:spPr>
          <a:xfrm>
            <a:off x="420480" y="2286000"/>
            <a:ext cx="3857760" cy="40140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8"/>
          <p:cNvSpPr/>
          <p:nvPr/>
        </p:nvSpPr>
        <p:spPr>
          <a:xfrm>
            <a:off x="420480" y="2286000"/>
            <a:ext cx="53640" cy="40140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548640" y="2304360"/>
            <a:ext cx="36565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Deploy Nginx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548640" y="2487240"/>
            <a:ext cx="36565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 container create · --dns-name-label · --ports 80 · public IP + DNS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1"/>
          <p:cNvSpPr/>
          <p:nvPr/>
        </p:nvSpPr>
        <p:spPr>
          <a:xfrm>
            <a:off x="420480" y="2788920"/>
            <a:ext cx="3857760" cy="40140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12"/>
          <p:cNvSpPr/>
          <p:nvPr/>
        </p:nvSpPr>
        <p:spPr>
          <a:xfrm>
            <a:off x="420480" y="2788920"/>
            <a:ext cx="53640" cy="40140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548640" y="2807280"/>
            <a:ext cx="36565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Log Streaming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4"/>
          <p:cNvSpPr/>
          <p:nvPr/>
        </p:nvSpPr>
        <p:spPr>
          <a:xfrm>
            <a:off x="548640" y="2990160"/>
            <a:ext cx="36565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 container logs · core cloud-native ops pattern replacing SSH log tailing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>
            <a:off x="420480" y="3291840"/>
            <a:ext cx="3857760" cy="40140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6"/>
          <p:cNvSpPr/>
          <p:nvPr/>
        </p:nvSpPr>
        <p:spPr>
          <a:xfrm>
            <a:off x="420480" y="3291840"/>
            <a:ext cx="53640" cy="40140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7"/>
          <p:cNvSpPr/>
          <p:nvPr/>
        </p:nvSpPr>
        <p:spPr>
          <a:xfrm>
            <a:off x="548640" y="3310200"/>
            <a:ext cx="36565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Env Var Injection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8"/>
          <p:cNvSpPr/>
          <p:nvPr/>
        </p:nvSpPr>
        <p:spPr>
          <a:xfrm>
            <a:off x="548640" y="3493080"/>
            <a:ext cx="36565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APP_ENV=training · STUDENT=Vibhav · immutable image, dynamic config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9"/>
          <p:cNvSpPr/>
          <p:nvPr/>
        </p:nvSpPr>
        <p:spPr>
          <a:xfrm>
            <a:off x="420480" y="3794760"/>
            <a:ext cx="3857760" cy="40140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20"/>
          <p:cNvSpPr/>
          <p:nvPr/>
        </p:nvSpPr>
        <p:spPr>
          <a:xfrm>
            <a:off x="420480" y="3794760"/>
            <a:ext cx="53640" cy="40140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1"/>
          <p:cNvSpPr/>
          <p:nvPr/>
        </p:nvSpPr>
        <p:spPr>
          <a:xfrm>
            <a:off x="548640" y="3813120"/>
            <a:ext cx="36565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Azure Files Mount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2"/>
          <p:cNvSpPr/>
          <p:nvPr/>
        </p:nvSpPr>
        <p:spPr>
          <a:xfrm>
            <a:off x="548640" y="3996000"/>
            <a:ext cx="36565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training-share → /mnt/share · test.txt survived container deletion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23"/>
          <p:cNvSpPr/>
          <p:nvPr/>
        </p:nvSpPr>
        <p:spPr>
          <a:xfrm>
            <a:off x="420480" y="4297680"/>
            <a:ext cx="3857760" cy="40140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24"/>
          <p:cNvSpPr/>
          <p:nvPr/>
        </p:nvSpPr>
        <p:spPr>
          <a:xfrm>
            <a:off x="420480" y="4297680"/>
            <a:ext cx="53640" cy="40140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25"/>
          <p:cNvSpPr/>
          <p:nvPr/>
        </p:nvSpPr>
        <p:spPr>
          <a:xfrm>
            <a:off x="548640" y="4316040"/>
            <a:ext cx="36565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Container Groups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26"/>
          <p:cNvSpPr/>
          <p:nvPr/>
        </p:nvSpPr>
        <p:spPr>
          <a:xfrm>
            <a:off x="548640" y="4498920"/>
            <a:ext cx="36565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Sidecar pattern · main + helper containers · equivalent to K8s Pods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7"/>
          <p:cNvSpPr/>
          <p:nvPr/>
        </p:nvSpPr>
        <p:spPr>
          <a:xfrm>
            <a:off x="4626720" y="1115640"/>
            <a:ext cx="4287960" cy="3912840"/>
          </a:xfrm>
          <a:prstGeom prst="roundRect">
            <a:avLst>
              <a:gd name="adj" fmla="val 2913"/>
            </a:avLst>
          </a:prstGeom>
          <a:solidFill>
            <a:srgbClr val="e8ecff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Image 1" descr="preencoded.png"/>
          <p:cNvPicPr/>
          <p:nvPr/>
        </p:nvPicPr>
        <p:blipFill>
          <a:blip r:embed="rId2"/>
          <a:stretch/>
        </p:blipFill>
        <p:spPr>
          <a:xfrm>
            <a:off x="4809600" y="126180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168" name="Text 28"/>
          <p:cNvSpPr/>
          <p:nvPr/>
        </p:nvSpPr>
        <p:spPr>
          <a:xfrm>
            <a:off x="5212080" y="1280160"/>
            <a:ext cx="9133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Day 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29"/>
          <p:cNvSpPr/>
          <p:nvPr/>
        </p:nvSpPr>
        <p:spPr>
          <a:xfrm>
            <a:off x="4809600" y="1627560"/>
            <a:ext cx="39124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a1e4f"/>
                </a:solidFill>
                <a:latin typeface="Calibri"/>
                <a:ea typeface="Calibri"/>
              </a:rPr>
              <a:t>Azure Container Registry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30"/>
          <p:cNvSpPr/>
          <p:nvPr/>
        </p:nvSpPr>
        <p:spPr>
          <a:xfrm>
            <a:off x="4809600" y="1938600"/>
            <a:ext cx="39124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"Build once. Store privately. Deploy anywhere."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31"/>
          <p:cNvSpPr/>
          <p:nvPr/>
        </p:nvSpPr>
        <p:spPr>
          <a:xfrm>
            <a:off x="4809600" y="2249280"/>
            <a:ext cx="39124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a623"/>
                </a:solidFill>
                <a:latin typeface="Calibri"/>
                <a:ea typeface="Calibri"/>
              </a:rPr>
              <a:t>Deployment Pipeline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32"/>
          <p:cNvSpPr/>
          <p:nvPr/>
        </p:nvSpPr>
        <p:spPr>
          <a:xfrm>
            <a:off x="4809600" y="2560320"/>
            <a:ext cx="868680" cy="43776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33"/>
          <p:cNvSpPr/>
          <p:nvPr/>
        </p:nvSpPr>
        <p:spPr>
          <a:xfrm>
            <a:off x="4809600" y="2560320"/>
            <a:ext cx="868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Source Code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34"/>
          <p:cNvSpPr/>
          <p:nvPr/>
        </p:nvSpPr>
        <p:spPr>
          <a:xfrm>
            <a:off x="5696640" y="2633400"/>
            <a:ext cx="90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35"/>
          <p:cNvSpPr/>
          <p:nvPr/>
        </p:nvSpPr>
        <p:spPr>
          <a:xfrm>
            <a:off x="5833800" y="2560320"/>
            <a:ext cx="868680" cy="43776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6"/>
          <p:cNvSpPr/>
          <p:nvPr/>
        </p:nvSpPr>
        <p:spPr>
          <a:xfrm>
            <a:off x="5833800" y="2560320"/>
            <a:ext cx="868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Dockerfile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37"/>
          <p:cNvSpPr/>
          <p:nvPr/>
        </p:nvSpPr>
        <p:spPr>
          <a:xfrm>
            <a:off x="6720840" y="2633400"/>
            <a:ext cx="90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38"/>
          <p:cNvSpPr/>
          <p:nvPr/>
        </p:nvSpPr>
        <p:spPr>
          <a:xfrm>
            <a:off x="6858000" y="2560320"/>
            <a:ext cx="868680" cy="43776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39"/>
          <p:cNvSpPr/>
          <p:nvPr/>
        </p:nvSpPr>
        <p:spPr>
          <a:xfrm>
            <a:off x="6858000" y="2560320"/>
            <a:ext cx="868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 build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40"/>
          <p:cNvSpPr/>
          <p:nvPr/>
        </p:nvSpPr>
        <p:spPr>
          <a:xfrm>
            <a:off x="7745040" y="2633400"/>
            <a:ext cx="90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41"/>
          <p:cNvSpPr/>
          <p:nvPr/>
        </p:nvSpPr>
        <p:spPr>
          <a:xfrm>
            <a:off x="7882200" y="2560320"/>
            <a:ext cx="868680" cy="43776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42"/>
          <p:cNvSpPr/>
          <p:nvPr/>
        </p:nvSpPr>
        <p:spPr>
          <a:xfrm>
            <a:off x="7882200" y="2560320"/>
            <a:ext cx="868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 tag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43"/>
          <p:cNvSpPr/>
          <p:nvPr/>
        </p:nvSpPr>
        <p:spPr>
          <a:xfrm>
            <a:off x="4809600" y="3163680"/>
            <a:ext cx="868680" cy="43776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44"/>
          <p:cNvSpPr/>
          <p:nvPr/>
        </p:nvSpPr>
        <p:spPr>
          <a:xfrm>
            <a:off x="4809600" y="3163680"/>
            <a:ext cx="868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az acr login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45"/>
          <p:cNvSpPr/>
          <p:nvPr/>
        </p:nvSpPr>
        <p:spPr>
          <a:xfrm>
            <a:off x="5696640" y="3237120"/>
            <a:ext cx="90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46"/>
          <p:cNvSpPr/>
          <p:nvPr/>
        </p:nvSpPr>
        <p:spPr>
          <a:xfrm>
            <a:off x="5833800" y="3163680"/>
            <a:ext cx="868680" cy="43776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47"/>
          <p:cNvSpPr/>
          <p:nvPr/>
        </p:nvSpPr>
        <p:spPr>
          <a:xfrm>
            <a:off x="5833800" y="3163680"/>
            <a:ext cx="868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 push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48"/>
          <p:cNvSpPr/>
          <p:nvPr/>
        </p:nvSpPr>
        <p:spPr>
          <a:xfrm>
            <a:off x="6720840" y="3237120"/>
            <a:ext cx="90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49"/>
          <p:cNvSpPr/>
          <p:nvPr/>
        </p:nvSpPr>
        <p:spPr>
          <a:xfrm>
            <a:off x="6858000" y="3163680"/>
            <a:ext cx="868680" cy="43776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50"/>
          <p:cNvSpPr/>
          <p:nvPr/>
        </p:nvSpPr>
        <p:spPr>
          <a:xfrm>
            <a:off x="6858000" y="3163680"/>
            <a:ext cx="868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az container create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51"/>
          <p:cNvSpPr/>
          <p:nvPr/>
        </p:nvSpPr>
        <p:spPr>
          <a:xfrm>
            <a:off x="7745040" y="3237120"/>
            <a:ext cx="90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52"/>
          <p:cNvSpPr/>
          <p:nvPr/>
        </p:nvSpPr>
        <p:spPr>
          <a:xfrm>
            <a:off x="7882200" y="3163680"/>
            <a:ext cx="868680" cy="437760"/>
          </a:xfrm>
          <a:prstGeom prst="roundRect">
            <a:avLst>
              <a:gd name="adj" fmla="val 14583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53"/>
          <p:cNvSpPr/>
          <p:nvPr/>
        </p:nvSpPr>
        <p:spPr>
          <a:xfrm>
            <a:off x="7882200" y="3163680"/>
            <a:ext cx="868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35"/>
                </a:solidFill>
                <a:latin typeface="Calibri"/>
                <a:ea typeface="Calibri"/>
              </a:rPr>
              <a:t>Public URL 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54"/>
          <p:cNvSpPr/>
          <p:nvPr/>
        </p:nvSpPr>
        <p:spPr>
          <a:xfrm>
            <a:off x="4809600" y="3877200"/>
            <a:ext cx="39124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a623"/>
                </a:solidFill>
                <a:latin typeface="Calibri"/>
                <a:ea typeface="Calibri"/>
              </a:rPr>
              <a:t>Registry Details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55"/>
          <p:cNvSpPr/>
          <p:nvPr/>
        </p:nvSpPr>
        <p:spPr>
          <a:xfrm>
            <a:off x="4809600" y="4133160"/>
            <a:ext cx="8218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Registry: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56"/>
          <p:cNvSpPr/>
          <p:nvPr/>
        </p:nvSpPr>
        <p:spPr>
          <a:xfrm>
            <a:off x="5486400" y="4151880"/>
            <a:ext cx="30531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vibhavacr001 (Basic SKU)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57"/>
          <p:cNvSpPr/>
          <p:nvPr/>
        </p:nvSpPr>
        <p:spPr>
          <a:xfrm>
            <a:off x="4809600" y="4334400"/>
            <a:ext cx="8218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Image: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58"/>
          <p:cNvSpPr/>
          <p:nvPr/>
        </p:nvSpPr>
        <p:spPr>
          <a:xfrm>
            <a:off x="5486400" y="4334400"/>
            <a:ext cx="30531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mywebapp:v1 → week1-project:v1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59"/>
          <p:cNvSpPr/>
          <p:nvPr/>
        </p:nvSpPr>
        <p:spPr>
          <a:xfrm>
            <a:off x="4809600" y="4535280"/>
            <a:ext cx="8218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Auth: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60"/>
          <p:cNvSpPr/>
          <p:nvPr/>
        </p:nvSpPr>
        <p:spPr>
          <a:xfrm>
            <a:off x="5486400" y="4554000"/>
            <a:ext cx="30531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Managed Identity (no passwords)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61"/>
          <p:cNvSpPr/>
          <p:nvPr/>
        </p:nvSpPr>
        <p:spPr>
          <a:xfrm>
            <a:off x="4809600" y="4736520"/>
            <a:ext cx="8218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Endpoint: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62"/>
          <p:cNvSpPr/>
          <p:nvPr/>
        </p:nvSpPr>
        <p:spPr>
          <a:xfrm>
            <a:off x="5486400" y="4791240"/>
            <a:ext cx="34282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ourier New"/>
                <a:ea typeface="Courier New"/>
              </a:rPr>
              <a:t>http://mywebapp-vibhav-aci.centralindia.azurecontainer.io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63"/>
          <p:cNvSpPr/>
          <p:nvPr/>
        </p:nvSpPr>
        <p:spPr>
          <a:xfrm>
            <a:off x="4628160" y="530280"/>
            <a:ext cx="4286880" cy="474480"/>
          </a:xfrm>
          <a:prstGeom prst="roundRect">
            <a:avLst>
              <a:gd name="adj" fmla="val 13462"/>
            </a:avLst>
          </a:prstGeom>
          <a:solidFill>
            <a:srgbClr val="0f10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64"/>
          <p:cNvSpPr/>
          <p:nvPr/>
        </p:nvSpPr>
        <p:spPr>
          <a:xfrm>
            <a:off x="4800600" y="530280"/>
            <a:ext cx="4114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Advanced: Vulnerability Scanning → Trivy scans image CVEs before push. Severe findings can auto-fail the pipeline.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  <a:ea typeface="Calibri"/>
              </a:rPr>
              <a:t>WEEK 1  ·  CAPSTONE PROJECT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274320" y="457200"/>
            <a:ext cx="7314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End-to-End Cloud Deploy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274320" y="1005840"/>
            <a:ext cx="8411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8892b8"/>
                </a:solidFill>
                <a:latin typeface="Calibri"/>
                <a:ea typeface="Calibri"/>
              </a:rPr>
              <a:t>A single Bash script that provisions infrastructure, builds a custom image, deploys to ACI, mounts Azure Files, and verifies public access.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255960" y="1444680"/>
            <a:ext cx="1517040" cy="133380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0" name="Image 0" descr="preencoded.png"/>
          <p:cNvPicPr/>
          <p:nvPr/>
        </p:nvPicPr>
        <p:blipFill>
          <a:blip r:embed="rId1"/>
          <a:stretch/>
        </p:blipFill>
        <p:spPr>
          <a:xfrm>
            <a:off x="868680" y="157284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211" name="Text 5"/>
          <p:cNvSpPr/>
          <p:nvPr/>
        </p:nvSpPr>
        <p:spPr>
          <a:xfrm>
            <a:off x="255960" y="1993320"/>
            <a:ext cx="157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Local Build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255960" y="2249280"/>
            <a:ext cx="15170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docker build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docker tag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1828800" y="1993320"/>
            <a:ext cx="1638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2048400" y="1444680"/>
            <a:ext cx="1516680" cy="133380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5" name="Image 1" descr="preencoded.png"/>
          <p:cNvPicPr/>
          <p:nvPr/>
        </p:nvPicPr>
        <p:blipFill>
          <a:blip r:embed="rId2"/>
          <a:stretch/>
        </p:blipFill>
        <p:spPr>
          <a:xfrm>
            <a:off x="2624760" y="157284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216" name="Text 9"/>
          <p:cNvSpPr/>
          <p:nvPr/>
        </p:nvSpPr>
        <p:spPr>
          <a:xfrm>
            <a:off x="2030400" y="1993320"/>
            <a:ext cx="15346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ACR Push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2048400" y="2249280"/>
            <a:ext cx="15166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vibhavacr001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week1-project:v1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3602880" y="1993320"/>
            <a:ext cx="1821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12"/>
          <p:cNvSpPr/>
          <p:nvPr/>
        </p:nvSpPr>
        <p:spPr>
          <a:xfrm>
            <a:off x="3886200" y="1444680"/>
            <a:ext cx="1416240" cy="133380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0" name="Image 2" descr="preencoded.png"/>
          <p:cNvPicPr/>
          <p:nvPr/>
        </p:nvPicPr>
        <p:blipFill>
          <a:blip r:embed="rId3"/>
          <a:stretch/>
        </p:blipFill>
        <p:spPr>
          <a:xfrm>
            <a:off x="4343400" y="157284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221" name="Text 13"/>
          <p:cNvSpPr/>
          <p:nvPr/>
        </p:nvSpPr>
        <p:spPr>
          <a:xfrm>
            <a:off x="3785760" y="2012040"/>
            <a:ext cx="15717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ACI Deploy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4"/>
          <p:cNvSpPr/>
          <p:nvPr/>
        </p:nvSpPr>
        <p:spPr>
          <a:xfrm>
            <a:off x="3785760" y="2249280"/>
            <a:ext cx="15166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week1-project-aci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centralindia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15"/>
          <p:cNvSpPr/>
          <p:nvPr/>
        </p:nvSpPr>
        <p:spPr>
          <a:xfrm>
            <a:off x="5340240" y="1993320"/>
            <a:ext cx="1270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16"/>
          <p:cNvSpPr/>
          <p:nvPr/>
        </p:nvSpPr>
        <p:spPr>
          <a:xfrm>
            <a:off x="5554080" y="1444680"/>
            <a:ext cx="1522800" cy="133380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5" name="Image 3" descr="preencoded.png"/>
          <p:cNvPicPr/>
          <p:nvPr/>
        </p:nvPicPr>
        <p:blipFill>
          <a:blip r:embed="rId4"/>
          <a:stretch/>
        </p:blipFill>
        <p:spPr>
          <a:xfrm>
            <a:off x="6172200" y="157284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226" name="Text 17"/>
          <p:cNvSpPr/>
          <p:nvPr/>
        </p:nvSpPr>
        <p:spPr>
          <a:xfrm>
            <a:off x="5554080" y="1993320"/>
            <a:ext cx="15534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Azure Files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8"/>
          <p:cNvSpPr/>
          <p:nvPr/>
        </p:nvSpPr>
        <p:spPr>
          <a:xfrm>
            <a:off x="5614920" y="2249280"/>
            <a:ext cx="14619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training-share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/mnt/azurefiles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19"/>
          <p:cNvSpPr/>
          <p:nvPr/>
        </p:nvSpPr>
        <p:spPr>
          <a:xfrm>
            <a:off x="7108200" y="1993320"/>
            <a:ext cx="2062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20"/>
          <p:cNvSpPr/>
          <p:nvPr/>
        </p:nvSpPr>
        <p:spPr>
          <a:xfrm>
            <a:off x="7315200" y="1444680"/>
            <a:ext cx="1461960" cy="1333800"/>
          </a:xfrm>
          <a:prstGeom prst="roundRect">
            <a:avLst>
              <a:gd name="adj" fmla="val 6410"/>
            </a:avLst>
          </a:prstGeom>
          <a:solidFill>
            <a:srgbClr val="f5a623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Image 4" descr="preencoded.png"/>
          <p:cNvPicPr/>
          <p:nvPr/>
        </p:nvPicPr>
        <p:blipFill>
          <a:blip r:embed="rId5"/>
          <a:stretch/>
        </p:blipFill>
        <p:spPr>
          <a:xfrm>
            <a:off x="7818120" y="157284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231" name="Text 21"/>
          <p:cNvSpPr/>
          <p:nvPr/>
        </p:nvSpPr>
        <p:spPr>
          <a:xfrm>
            <a:off x="7205400" y="1993320"/>
            <a:ext cx="15717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Public URL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22"/>
          <p:cNvSpPr/>
          <p:nvPr/>
        </p:nvSpPr>
        <p:spPr>
          <a:xfrm>
            <a:off x="7260480" y="2249280"/>
            <a:ext cx="14619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c2057"/>
                </a:solidFill>
                <a:latin typeface="Calibri"/>
                <a:ea typeface="Calibri"/>
              </a:rPr>
              <a:t>week1-vibhav-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c2057"/>
                </a:solidFill>
                <a:latin typeface="Calibri"/>
                <a:ea typeface="Calibri"/>
              </a:rPr>
              <a:t>project.azurecontainer.io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23"/>
          <p:cNvSpPr/>
          <p:nvPr/>
        </p:nvSpPr>
        <p:spPr>
          <a:xfrm>
            <a:off x="237600" y="3054240"/>
            <a:ext cx="2796840" cy="179100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24"/>
          <p:cNvSpPr/>
          <p:nvPr/>
        </p:nvSpPr>
        <p:spPr>
          <a:xfrm>
            <a:off x="365760" y="3173040"/>
            <a:ext cx="309960" cy="30996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5"/>
          <p:cNvSpPr/>
          <p:nvPr/>
        </p:nvSpPr>
        <p:spPr>
          <a:xfrm>
            <a:off x="365760" y="31730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26"/>
          <p:cNvSpPr/>
          <p:nvPr/>
        </p:nvSpPr>
        <p:spPr>
          <a:xfrm>
            <a:off x="768240" y="3182040"/>
            <a:ext cx="2138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Infrastructure Provisioned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27"/>
          <p:cNvSpPr/>
          <p:nvPr/>
        </p:nvSpPr>
        <p:spPr>
          <a:xfrm>
            <a:off x="365760" y="3529440"/>
            <a:ext cx="2540880" cy="154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28"/>
          <p:cNvSpPr/>
          <p:nvPr/>
        </p:nvSpPr>
        <p:spPr>
          <a:xfrm>
            <a:off x="365760" y="3666960"/>
            <a:ext cx="254088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devops-lab-rg resource group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vkstorage1781011715 storage account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vibhavacr001 container registry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training-share Azure File Share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29"/>
          <p:cNvSpPr/>
          <p:nvPr/>
        </p:nvSpPr>
        <p:spPr>
          <a:xfrm>
            <a:off x="3218760" y="3054240"/>
            <a:ext cx="2796840" cy="179100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30"/>
          <p:cNvSpPr/>
          <p:nvPr/>
        </p:nvSpPr>
        <p:spPr>
          <a:xfrm>
            <a:off x="3346560" y="3173040"/>
            <a:ext cx="309960" cy="30996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31"/>
          <p:cNvSpPr/>
          <p:nvPr/>
        </p:nvSpPr>
        <p:spPr>
          <a:xfrm>
            <a:off x="3346560" y="31730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32"/>
          <p:cNvSpPr/>
          <p:nvPr/>
        </p:nvSpPr>
        <p:spPr>
          <a:xfrm>
            <a:off x="3749040" y="3182040"/>
            <a:ext cx="2138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Automation Script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33"/>
          <p:cNvSpPr/>
          <p:nvPr/>
        </p:nvSpPr>
        <p:spPr>
          <a:xfrm>
            <a:off x="3346560" y="3529440"/>
            <a:ext cx="2540880" cy="154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34"/>
          <p:cNvSpPr/>
          <p:nvPr/>
        </p:nvSpPr>
        <p:spPr>
          <a:xfrm>
            <a:off x="3346560" y="3657600"/>
            <a:ext cx="254088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docker build + tag + ACR push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az storage account keys list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az container create with file mount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Verification: curl public URL in loop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35"/>
          <p:cNvSpPr/>
          <p:nvPr/>
        </p:nvSpPr>
        <p:spPr>
          <a:xfrm>
            <a:off x="6199560" y="3054240"/>
            <a:ext cx="2796840" cy="179100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36"/>
          <p:cNvSpPr/>
          <p:nvPr/>
        </p:nvSpPr>
        <p:spPr>
          <a:xfrm>
            <a:off x="6327720" y="3173040"/>
            <a:ext cx="309960" cy="30996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37"/>
          <p:cNvSpPr/>
          <p:nvPr/>
        </p:nvSpPr>
        <p:spPr>
          <a:xfrm>
            <a:off x="6327720" y="31730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38"/>
          <p:cNvSpPr/>
          <p:nvPr/>
        </p:nvSpPr>
        <p:spPr>
          <a:xfrm>
            <a:off x="6729840" y="3182040"/>
            <a:ext cx="2138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Live Verification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39"/>
          <p:cNvSpPr/>
          <p:nvPr/>
        </p:nvSpPr>
        <p:spPr>
          <a:xfrm>
            <a:off x="6327720" y="3529440"/>
            <a:ext cx="2540880" cy="154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40"/>
          <p:cNvSpPr/>
          <p:nvPr/>
        </p:nvSpPr>
        <p:spPr>
          <a:xfrm>
            <a:off x="6327720" y="3657600"/>
            <a:ext cx="254088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week1-project-aci container running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/mnt/azurefiles mounted + writable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HTML page served at public URL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Zero manual steps after $ ./week1_project.sh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  <a:ea typeface="Calibri"/>
              </a:rPr>
              <a:t>KEY CONCEPTS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274320" y="457200"/>
            <a:ext cx="63997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  <a:ea typeface="Cambria"/>
              </a:rPr>
              <a:t>Production Concepts Introduced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237600" y="1078920"/>
            <a:ext cx="4205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a1e4f"/>
                </a:solidFill>
                <a:latin typeface="Calibri"/>
                <a:ea typeface="Calibri"/>
              </a:rPr>
              <a:t>Docker  vs  Azure Container Instances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5" name="Table 0"/>
          <p:cNvGraphicFramePr/>
          <p:nvPr/>
        </p:nvGraphicFramePr>
        <p:xfrm>
          <a:off x="237600" y="1389960"/>
          <a:ext cx="4223880" cy="2366280"/>
        </p:xfrm>
        <a:graphic>
          <a:graphicData uri="http://schemas.openxmlformats.org/drawingml/2006/table">
            <a:tbl>
              <a:tblPr/>
              <a:tblGrid>
                <a:gridCol w="786240"/>
                <a:gridCol w="1719000"/>
                <a:gridCol w="1719000"/>
              </a:tblGrid>
              <a:tr h="338040">
                <a:tc>
                  <a:txBody>
                    <a:bodyPr anchor="t">
                      <a:noAutofit/>
                    </a:bodyPr>
                    <a:p>
                      <a:endParaRPr b="0" lang="en-US" sz="950" spc="-1" strike="noStrike">
                        <a:solidFill>
                          <a:schemeClr val="dk1"/>
                        </a:solidFill>
                        <a:latin typeface="Calibri"/>
                        <a:ea typeface="Calibri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1c20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Docker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1c20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0f1035"/>
                          </a:solidFill>
                          <a:latin typeface="Calibri"/>
                          <a:ea typeface="Calibri"/>
                        </a:rPr>
                        <a:t>ACI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5a623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Command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run -d -p 80:80 nginx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 container create ...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Runtime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Engine (local host)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Azure Managed Runtime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Logs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logs &lt;ctr&gt;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 container logs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Inspect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inspect &lt;ctr&gt;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 container show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Storage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volume / bind mount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Azure Files Mount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Config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-e ENV_VAR=value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--environment-variables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</a:tbl>
          </a:graphicData>
        </a:graphic>
      </p:graphicFrame>
      <p:sp>
        <p:nvSpPr>
          <p:cNvPr id="256" name="Shape 4"/>
          <p:cNvSpPr/>
          <p:nvPr/>
        </p:nvSpPr>
        <p:spPr>
          <a:xfrm>
            <a:off x="4681800" y="1078920"/>
            <a:ext cx="4223520" cy="115092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7" name="Image 0" descr="preencoded.png"/>
          <p:cNvPicPr/>
          <p:nvPr/>
        </p:nvPicPr>
        <p:blipFill>
          <a:blip r:embed="rId1"/>
          <a:stretch/>
        </p:blipFill>
        <p:spPr>
          <a:xfrm>
            <a:off x="4846320" y="120708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258" name="Text 5"/>
          <p:cNvSpPr/>
          <p:nvPr/>
        </p:nvSpPr>
        <p:spPr>
          <a:xfrm>
            <a:off x="5266800" y="1188720"/>
            <a:ext cx="34736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Ephemeral vs Persistent Storage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5266800" y="1463040"/>
            <a:ext cx="3473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Container data vanishes on deletion. Azure Files volumes survive — critical production pattern that maps directly to Kubernetes PVCs.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7"/>
          <p:cNvSpPr/>
          <p:nvPr/>
        </p:nvSpPr>
        <p:spPr>
          <a:xfrm>
            <a:off x="4681800" y="2340720"/>
            <a:ext cx="4223520" cy="115092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1" name="Image 1" descr="preencoded.png"/>
          <p:cNvPicPr/>
          <p:nvPr/>
        </p:nvPicPr>
        <p:blipFill>
          <a:blip r:embed="rId2"/>
          <a:stretch/>
        </p:blipFill>
        <p:spPr>
          <a:xfrm>
            <a:off x="4846320" y="246888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262" name="Text 8"/>
          <p:cNvSpPr/>
          <p:nvPr/>
        </p:nvSpPr>
        <p:spPr>
          <a:xfrm>
            <a:off x="5266800" y="2450520"/>
            <a:ext cx="34736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Managed Identity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5266800" y="2724840"/>
            <a:ext cx="3473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ACI authenticates to ACR without storing passwords. Azure handles credentials transparently — the production-preferred approach.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0"/>
          <p:cNvSpPr/>
          <p:nvPr/>
        </p:nvSpPr>
        <p:spPr>
          <a:xfrm>
            <a:off x="4681800" y="3602880"/>
            <a:ext cx="4223520" cy="115092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5" name="Image 2" descr="preencoded.png"/>
          <p:cNvPicPr/>
          <p:nvPr/>
        </p:nvPicPr>
        <p:blipFill>
          <a:blip r:embed="rId3"/>
          <a:stretch/>
        </p:blipFill>
        <p:spPr>
          <a:xfrm>
            <a:off x="4846320" y="373068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266" name="Text 11"/>
          <p:cNvSpPr/>
          <p:nvPr/>
        </p:nvSpPr>
        <p:spPr>
          <a:xfrm>
            <a:off x="5266800" y="3712320"/>
            <a:ext cx="34736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Idempotent Bash Scripts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5266800" y="3986640"/>
            <a:ext cx="3473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All 4 scripts can be re-run safely. The Infrastructure-as-Code mindset means deployments are repeatable, predictable, and reviewable.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3"/>
          <p:cNvSpPr/>
          <p:nvPr/>
        </p:nvSpPr>
        <p:spPr>
          <a:xfrm>
            <a:off x="237600" y="3885840"/>
            <a:ext cx="4570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Production Concepts Shipped This Week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4"/>
          <p:cNvSpPr/>
          <p:nvPr/>
        </p:nvSpPr>
        <p:spPr>
          <a:xfrm>
            <a:off x="237600" y="4187880"/>
            <a:ext cx="1243080" cy="30996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237600" y="4187880"/>
            <a:ext cx="12430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Container Lifecycle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6"/>
          <p:cNvSpPr/>
          <p:nvPr/>
        </p:nvSpPr>
        <p:spPr>
          <a:xfrm>
            <a:off x="1670400" y="4187880"/>
            <a:ext cx="1142280" cy="30996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17"/>
          <p:cNvSpPr/>
          <p:nvPr/>
        </p:nvSpPr>
        <p:spPr>
          <a:xfrm>
            <a:off x="1670400" y="4187880"/>
            <a:ext cx="11422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Image Registries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18"/>
          <p:cNvSpPr/>
          <p:nvPr/>
        </p:nvSpPr>
        <p:spPr>
          <a:xfrm>
            <a:off x="2971800" y="4187880"/>
            <a:ext cx="1370880" cy="30996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19"/>
          <p:cNvSpPr/>
          <p:nvPr/>
        </p:nvSpPr>
        <p:spPr>
          <a:xfrm>
            <a:off x="2971800" y="4187880"/>
            <a:ext cx="1379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Persistent Storage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0"/>
          <p:cNvSpPr/>
          <p:nvPr/>
        </p:nvSpPr>
        <p:spPr>
          <a:xfrm>
            <a:off x="228600" y="4572000"/>
            <a:ext cx="1252080" cy="30996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21"/>
          <p:cNvSpPr/>
          <p:nvPr/>
        </p:nvSpPr>
        <p:spPr>
          <a:xfrm>
            <a:off x="228600" y="4572000"/>
            <a:ext cx="12520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Infra Automation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22"/>
          <p:cNvSpPr/>
          <p:nvPr/>
        </p:nvSpPr>
        <p:spPr>
          <a:xfrm>
            <a:off x="2971800" y="4572000"/>
            <a:ext cx="1370880" cy="30996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23"/>
          <p:cNvSpPr/>
          <p:nvPr/>
        </p:nvSpPr>
        <p:spPr>
          <a:xfrm>
            <a:off x="1481400" y="4572000"/>
            <a:ext cx="1150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Cloud Deployments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4"/>
          <p:cNvSpPr/>
          <p:nvPr/>
        </p:nvSpPr>
        <p:spPr>
          <a:xfrm>
            <a:off x="1670400" y="4572000"/>
            <a:ext cx="1142280" cy="30996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5"/>
          <p:cNvSpPr/>
          <p:nvPr/>
        </p:nvSpPr>
        <p:spPr>
          <a:xfrm>
            <a:off x="2971800" y="4572000"/>
            <a:ext cx="1370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Resource Reuse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27"/>
          <p:cNvSpPr/>
          <p:nvPr/>
        </p:nvSpPr>
        <p:spPr>
          <a:xfrm>
            <a:off x="1670400" y="4572000"/>
            <a:ext cx="11422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Idempotent Scripts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  <a:ea typeface="Calibri"/>
              </a:rPr>
              <a:t>WEEK 1  ·  CONCLUSION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274320" y="567000"/>
            <a:ext cx="8411400" cy="69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mbria"/>
                <a:ea typeface="Cambria"/>
              </a:rPr>
              <a:t>Week 1 Completed.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274320" y="1280160"/>
            <a:ext cx="841140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d580"/>
                </a:solidFill>
                <a:latin typeface="Cambria"/>
                <a:ea typeface="Cambria"/>
              </a:rPr>
              <a:t>"You did not just move a container to the cloud. You learned where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d580"/>
                </a:solidFill>
                <a:latin typeface="Cambria"/>
                <a:ea typeface="Cambria"/>
              </a:rPr>
              <a:t>your responsibility ends and the cloud's begins."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4"/>
          <p:cNvSpPr/>
          <p:nvPr/>
        </p:nvSpPr>
        <p:spPr>
          <a:xfrm>
            <a:off x="293040" y="1974960"/>
            <a:ext cx="1535040" cy="179100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5"/>
          <p:cNvSpPr/>
          <p:nvPr/>
        </p:nvSpPr>
        <p:spPr>
          <a:xfrm>
            <a:off x="293040" y="2066400"/>
            <a:ext cx="15350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C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6"/>
          <p:cNvSpPr/>
          <p:nvPr/>
        </p:nvSpPr>
        <p:spPr>
          <a:xfrm>
            <a:off x="293040" y="2716200"/>
            <a:ext cx="1535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Cloud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7"/>
          <p:cNvSpPr/>
          <p:nvPr/>
        </p:nvSpPr>
        <p:spPr>
          <a:xfrm>
            <a:off x="503280" y="2999160"/>
            <a:ext cx="1096200" cy="154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8"/>
          <p:cNvSpPr/>
          <p:nvPr/>
        </p:nvSpPr>
        <p:spPr>
          <a:xfrm>
            <a:off x="293040" y="3026160"/>
            <a:ext cx="153504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Resource Groups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Subscriptions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Azure CLI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9"/>
          <p:cNvSpPr/>
          <p:nvPr/>
        </p:nvSpPr>
        <p:spPr>
          <a:xfrm>
            <a:off x="2057400" y="1974960"/>
            <a:ext cx="1535040" cy="179100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0"/>
          <p:cNvSpPr/>
          <p:nvPr/>
        </p:nvSpPr>
        <p:spPr>
          <a:xfrm>
            <a:off x="2057400" y="2066400"/>
            <a:ext cx="15350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N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11"/>
          <p:cNvSpPr/>
          <p:nvPr/>
        </p:nvSpPr>
        <p:spPr>
          <a:xfrm>
            <a:off x="2057400" y="2724840"/>
            <a:ext cx="1535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Networking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12"/>
          <p:cNvSpPr/>
          <p:nvPr/>
        </p:nvSpPr>
        <p:spPr>
          <a:xfrm>
            <a:off x="2247840" y="2999160"/>
            <a:ext cx="1096200" cy="154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13"/>
          <p:cNvSpPr/>
          <p:nvPr/>
        </p:nvSpPr>
        <p:spPr>
          <a:xfrm>
            <a:off x="2057400" y="3035880"/>
            <a:ext cx="15350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VNet · NSG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Subnets · Public IP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SSH hardening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14"/>
          <p:cNvSpPr/>
          <p:nvPr/>
        </p:nvSpPr>
        <p:spPr>
          <a:xfrm>
            <a:off x="3821760" y="1974960"/>
            <a:ext cx="1535040" cy="179100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5"/>
          <p:cNvSpPr/>
          <p:nvPr/>
        </p:nvSpPr>
        <p:spPr>
          <a:xfrm>
            <a:off x="3840480" y="2066400"/>
            <a:ext cx="151632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6"/>
          <p:cNvSpPr/>
          <p:nvPr/>
        </p:nvSpPr>
        <p:spPr>
          <a:xfrm>
            <a:off x="3840480" y="2724840"/>
            <a:ext cx="15163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Storage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17"/>
          <p:cNvSpPr/>
          <p:nvPr/>
        </p:nvSpPr>
        <p:spPr>
          <a:xfrm>
            <a:off x="4060080" y="2999160"/>
            <a:ext cx="1096200" cy="154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18"/>
          <p:cNvSpPr/>
          <p:nvPr/>
        </p:nvSpPr>
        <p:spPr>
          <a:xfrm>
            <a:off x="3821760" y="3035880"/>
            <a:ext cx="15350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Blob · SAS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Azure Files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Storage Tiers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19"/>
          <p:cNvSpPr/>
          <p:nvPr/>
        </p:nvSpPr>
        <p:spPr>
          <a:xfrm>
            <a:off x="5550840" y="1974960"/>
            <a:ext cx="1535040" cy="179100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20"/>
          <p:cNvSpPr/>
          <p:nvPr/>
        </p:nvSpPr>
        <p:spPr>
          <a:xfrm>
            <a:off x="5550840" y="2066400"/>
            <a:ext cx="15350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R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21"/>
          <p:cNvSpPr/>
          <p:nvPr/>
        </p:nvSpPr>
        <p:spPr>
          <a:xfrm>
            <a:off x="5550840" y="2724840"/>
            <a:ext cx="1535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Registry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22"/>
          <p:cNvSpPr/>
          <p:nvPr/>
        </p:nvSpPr>
        <p:spPr>
          <a:xfrm>
            <a:off x="5724000" y="2999160"/>
            <a:ext cx="1096200" cy="154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23"/>
          <p:cNvSpPr/>
          <p:nvPr/>
        </p:nvSpPr>
        <p:spPr>
          <a:xfrm>
            <a:off x="5577840" y="3035880"/>
            <a:ext cx="15080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ACR · Image Tags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Private Registry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Managed Identity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24"/>
          <p:cNvSpPr/>
          <p:nvPr/>
        </p:nvSpPr>
        <p:spPr>
          <a:xfrm>
            <a:off x="7315200" y="1974960"/>
            <a:ext cx="1535040" cy="179100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25"/>
          <p:cNvSpPr/>
          <p:nvPr/>
        </p:nvSpPr>
        <p:spPr>
          <a:xfrm>
            <a:off x="7315200" y="2066400"/>
            <a:ext cx="15350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D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26"/>
          <p:cNvSpPr/>
          <p:nvPr/>
        </p:nvSpPr>
        <p:spPr>
          <a:xfrm>
            <a:off x="7315200" y="2724840"/>
            <a:ext cx="1535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Deploy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27"/>
          <p:cNvSpPr/>
          <p:nvPr/>
        </p:nvSpPr>
        <p:spPr>
          <a:xfrm>
            <a:off x="7589880" y="2999160"/>
            <a:ext cx="1096200" cy="154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28"/>
          <p:cNvSpPr/>
          <p:nvPr/>
        </p:nvSpPr>
        <p:spPr>
          <a:xfrm>
            <a:off x="7315200" y="3035880"/>
            <a:ext cx="15350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ACI · Public URL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Persistent Volume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Automation Scripts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29"/>
          <p:cNvSpPr/>
          <p:nvPr/>
        </p:nvSpPr>
        <p:spPr>
          <a:xfrm>
            <a:off x="237600" y="3968640"/>
            <a:ext cx="8667360" cy="876600"/>
          </a:xfrm>
          <a:prstGeom prst="roundRect">
            <a:avLst>
              <a:gd name="adj" fmla="val 1041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30"/>
          <p:cNvSpPr/>
          <p:nvPr/>
        </p:nvSpPr>
        <p:spPr>
          <a:xfrm>
            <a:off x="420480" y="4041720"/>
            <a:ext cx="11876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94" strike="noStrike">
                <a:solidFill>
                  <a:srgbClr val="f5a623"/>
                </a:solidFill>
                <a:latin typeface="Calibri"/>
                <a:ea typeface="Calibri"/>
              </a:rPr>
              <a:t>WHAT'S NEXT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31"/>
          <p:cNvSpPr/>
          <p:nvPr/>
        </p:nvSpPr>
        <p:spPr>
          <a:xfrm>
            <a:off x="420480" y="4242960"/>
            <a:ext cx="11876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Week 2 →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32"/>
          <p:cNvSpPr/>
          <p:nvPr/>
        </p:nvSpPr>
        <p:spPr>
          <a:xfrm>
            <a:off x="1719000" y="4078080"/>
            <a:ext cx="19080" cy="65736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33"/>
          <p:cNvSpPr/>
          <p:nvPr/>
        </p:nvSpPr>
        <p:spPr>
          <a:xfrm>
            <a:off x="1883520" y="4060080"/>
            <a:ext cx="1297440" cy="67572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34"/>
          <p:cNvSpPr/>
          <p:nvPr/>
        </p:nvSpPr>
        <p:spPr>
          <a:xfrm>
            <a:off x="1938600" y="4078080"/>
            <a:ext cx="1187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AKS — Kubernetes on Azure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35"/>
          <p:cNvSpPr/>
          <p:nvPr/>
        </p:nvSpPr>
        <p:spPr>
          <a:xfrm>
            <a:off x="3273480" y="4060080"/>
            <a:ext cx="1297440" cy="67572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36"/>
          <p:cNvSpPr/>
          <p:nvPr/>
        </p:nvSpPr>
        <p:spPr>
          <a:xfrm>
            <a:off x="3328560" y="4078080"/>
            <a:ext cx="1187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Azure DevOps CI/CD Pipelines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37"/>
          <p:cNvSpPr/>
          <p:nvPr/>
        </p:nvSpPr>
        <p:spPr>
          <a:xfrm>
            <a:off x="4663440" y="4060080"/>
            <a:ext cx="1297440" cy="67572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38"/>
          <p:cNvSpPr/>
          <p:nvPr/>
        </p:nvSpPr>
        <p:spPr>
          <a:xfrm>
            <a:off x="4718160" y="4078080"/>
            <a:ext cx="1187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commit → build → deploy (auto)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39"/>
          <p:cNvSpPr/>
          <p:nvPr/>
        </p:nvSpPr>
        <p:spPr>
          <a:xfrm>
            <a:off x="6053400" y="4060080"/>
            <a:ext cx="1297440" cy="67572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40"/>
          <p:cNvSpPr/>
          <p:nvPr/>
        </p:nvSpPr>
        <p:spPr>
          <a:xfrm>
            <a:off x="6108120" y="4078080"/>
            <a:ext cx="1187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Container Insights + Monitoring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41"/>
          <p:cNvSpPr/>
          <p:nvPr/>
        </p:nvSpPr>
        <p:spPr>
          <a:xfrm>
            <a:off x="7443360" y="4060080"/>
            <a:ext cx="1297440" cy="67572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42"/>
          <p:cNvSpPr/>
          <p:nvPr/>
        </p:nvSpPr>
        <p:spPr>
          <a:xfrm>
            <a:off x="7498080" y="4078080"/>
            <a:ext cx="1187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RBAC + Key Vault Secrets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43"/>
          <p:cNvSpPr/>
          <p:nvPr/>
        </p:nvSpPr>
        <p:spPr>
          <a:xfrm>
            <a:off x="7022520" y="435240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angle 1"/>
          <p:cNvSpPr/>
          <p:nvPr/>
        </p:nvSpPr>
        <p:spPr>
          <a:xfrm>
            <a:off x="0" y="0"/>
            <a:ext cx="53640" cy="514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TextBox 2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</a:rPr>
              <a:t>OVERVIEW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3"/>
          <p:cNvSpPr/>
          <p:nvPr/>
        </p:nvSpPr>
        <p:spPr>
          <a:xfrm>
            <a:off x="274320" y="457200"/>
            <a:ext cx="6399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</a:rPr>
              <a:t>The Week 2 Learning Arc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ounded Rectangle 4"/>
          <p:cNvSpPr/>
          <p:nvPr/>
        </p:nvSpPr>
        <p:spPr>
          <a:xfrm>
            <a:off x="237600" y="1115640"/>
            <a:ext cx="2760480" cy="169956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Rounded Rectangle 5"/>
          <p:cNvSpPr/>
          <p:nvPr/>
        </p:nvSpPr>
        <p:spPr>
          <a:xfrm>
            <a:off x="365760" y="1234800"/>
            <a:ext cx="309960" cy="3099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31" name="Picture 6" descr="k8s_wheel_white.png"/>
          <p:cNvPicPr/>
          <p:nvPr/>
        </p:nvPicPr>
        <p:blipFill>
          <a:blip r:embed="rId1"/>
          <a:stretch/>
        </p:blipFill>
        <p:spPr>
          <a:xfrm>
            <a:off x="424800" y="1293840"/>
            <a:ext cx="191880" cy="191880"/>
          </a:xfrm>
          <a:prstGeom prst="rect">
            <a:avLst/>
          </a:prstGeom>
          <a:ln w="0">
            <a:noFill/>
          </a:ln>
        </p:spPr>
      </p:pic>
      <p:sp>
        <p:nvSpPr>
          <p:cNvPr id="332" name="Rounded Rectangle 7"/>
          <p:cNvSpPr/>
          <p:nvPr/>
        </p:nvSpPr>
        <p:spPr>
          <a:xfrm>
            <a:off x="2590560" y="1234800"/>
            <a:ext cx="279360" cy="27936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Box 8"/>
          <p:cNvSpPr/>
          <p:nvPr/>
        </p:nvSpPr>
        <p:spPr>
          <a:xfrm>
            <a:off x="365760" y="1591200"/>
            <a:ext cx="2504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AKS Fundamentals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9"/>
          <p:cNvSpPr/>
          <p:nvPr/>
        </p:nvSpPr>
        <p:spPr>
          <a:xfrm>
            <a:off x="365760" y="1883520"/>
            <a:ext cx="250416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Cluster + node pool provisioned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kubectl connected via az aks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ACR attached — no imagePullSecrets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Script: aks_cluster.sh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Rounded Rectangle 10"/>
          <p:cNvSpPr/>
          <p:nvPr/>
        </p:nvSpPr>
        <p:spPr>
          <a:xfrm>
            <a:off x="3098520" y="1115640"/>
            <a:ext cx="2760480" cy="169956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6" name="Rounded Rectangle 11"/>
          <p:cNvSpPr/>
          <p:nvPr/>
        </p:nvSpPr>
        <p:spPr>
          <a:xfrm>
            <a:off x="3226680" y="1234800"/>
            <a:ext cx="309960" cy="3099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37" name="Picture 12" descr="scale_white.png"/>
          <p:cNvPicPr/>
          <p:nvPr/>
        </p:nvPicPr>
        <p:blipFill>
          <a:blip r:embed="rId2"/>
          <a:stretch/>
        </p:blipFill>
        <p:spPr>
          <a:xfrm>
            <a:off x="3285720" y="1293840"/>
            <a:ext cx="191880" cy="191880"/>
          </a:xfrm>
          <a:prstGeom prst="rect">
            <a:avLst/>
          </a:prstGeom>
          <a:ln w="0">
            <a:noFill/>
          </a:ln>
        </p:spPr>
      </p:pic>
      <p:sp>
        <p:nvSpPr>
          <p:cNvPr id="338" name="Rounded Rectangle 13"/>
          <p:cNvSpPr/>
          <p:nvPr/>
        </p:nvSpPr>
        <p:spPr>
          <a:xfrm>
            <a:off x="5451480" y="1234800"/>
            <a:ext cx="279360" cy="27936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02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Box 14"/>
          <p:cNvSpPr/>
          <p:nvPr/>
        </p:nvSpPr>
        <p:spPr>
          <a:xfrm>
            <a:off x="3226680" y="1591200"/>
            <a:ext cx="2504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AKS Workloads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15"/>
          <p:cNvSpPr/>
          <p:nvPr/>
        </p:nvSpPr>
        <p:spPr>
          <a:xfrm>
            <a:off x="3226680" y="1883520"/>
            <a:ext cx="250416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Deployment → ReplicaSet → Pods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Azure LoadBalancer Service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NGINX Ingress + HPA scaling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Manual scale: 2 → 3 replicas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Rounded Rectangle 16"/>
          <p:cNvSpPr/>
          <p:nvPr/>
        </p:nvSpPr>
        <p:spPr>
          <a:xfrm>
            <a:off x="5959440" y="1115640"/>
            <a:ext cx="2760480" cy="169956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2" name="Rounded Rectangle 17"/>
          <p:cNvSpPr/>
          <p:nvPr/>
        </p:nvSpPr>
        <p:spPr>
          <a:xfrm>
            <a:off x="6087600" y="1234800"/>
            <a:ext cx="309960" cy="3099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43" name="Picture 18" descr="pipeline_white.png"/>
          <p:cNvPicPr/>
          <p:nvPr/>
        </p:nvPicPr>
        <p:blipFill>
          <a:blip r:embed="rId3"/>
          <a:stretch/>
        </p:blipFill>
        <p:spPr>
          <a:xfrm>
            <a:off x="6146640" y="1293840"/>
            <a:ext cx="191880" cy="191880"/>
          </a:xfrm>
          <a:prstGeom prst="rect">
            <a:avLst/>
          </a:prstGeom>
          <a:ln w="0">
            <a:noFill/>
          </a:ln>
        </p:spPr>
      </p:pic>
      <p:sp>
        <p:nvSpPr>
          <p:cNvPr id="344" name="Rounded Rectangle 19"/>
          <p:cNvSpPr/>
          <p:nvPr/>
        </p:nvSpPr>
        <p:spPr>
          <a:xfrm>
            <a:off x="8312400" y="1234800"/>
            <a:ext cx="279360" cy="27936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03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Box 20"/>
          <p:cNvSpPr/>
          <p:nvPr/>
        </p:nvSpPr>
        <p:spPr>
          <a:xfrm>
            <a:off x="6087600" y="1591200"/>
            <a:ext cx="2504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DevOps Repos &amp; Pipelines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21"/>
          <p:cNvSpPr/>
          <p:nvPr/>
        </p:nvSpPr>
        <p:spPr>
          <a:xfrm>
            <a:off x="6087600" y="1883520"/>
            <a:ext cx="250416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Azure DevOps org + project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Repo pushed, YAML pipeline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Build step + automated tests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Triggered on every commit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Rounded Rectangle 22"/>
          <p:cNvSpPr/>
          <p:nvPr/>
        </p:nvSpPr>
        <p:spPr>
          <a:xfrm>
            <a:off x="237600" y="2945880"/>
            <a:ext cx="2760480" cy="169956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Rounded Rectangle 23"/>
          <p:cNvSpPr/>
          <p:nvPr/>
        </p:nvSpPr>
        <p:spPr>
          <a:xfrm>
            <a:off x="365760" y="3065040"/>
            <a:ext cx="309960" cy="3099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49" name="Picture 24" descr="cycle_white.png"/>
          <p:cNvPicPr/>
          <p:nvPr/>
        </p:nvPicPr>
        <p:blipFill>
          <a:blip r:embed="rId4"/>
          <a:stretch/>
        </p:blipFill>
        <p:spPr>
          <a:xfrm>
            <a:off x="424800" y="3124080"/>
            <a:ext cx="191880" cy="191880"/>
          </a:xfrm>
          <a:prstGeom prst="rect">
            <a:avLst/>
          </a:prstGeom>
          <a:ln w="0">
            <a:noFill/>
          </a:ln>
        </p:spPr>
      </p:pic>
      <p:sp>
        <p:nvSpPr>
          <p:cNvPr id="350" name="Rounded Rectangle 25"/>
          <p:cNvSpPr/>
          <p:nvPr/>
        </p:nvSpPr>
        <p:spPr>
          <a:xfrm>
            <a:off x="2590560" y="3065040"/>
            <a:ext cx="279360" cy="27936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Box 26"/>
          <p:cNvSpPr/>
          <p:nvPr/>
        </p:nvSpPr>
        <p:spPr>
          <a:xfrm>
            <a:off x="365760" y="3421440"/>
            <a:ext cx="2504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Full CI/CD Pipeline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27"/>
          <p:cNvSpPr/>
          <p:nvPr/>
        </p:nvSpPr>
        <p:spPr>
          <a:xfrm>
            <a:off x="365760" y="3713760"/>
            <a:ext cx="250416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Docker build → ACR → AKS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Build-ID image tagging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Multi-arch buildx fix (ARM64)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Script: azure-pipelines.yml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Rounded Rectangle 28"/>
          <p:cNvSpPr/>
          <p:nvPr/>
        </p:nvSpPr>
        <p:spPr>
          <a:xfrm>
            <a:off x="3098520" y="2945880"/>
            <a:ext cx="2760480" cy="169956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Rounded Rectangle 29"/>
          <p:cNvSpPr/>
          <p:nvPr/>
        </p:nvSpPr>
        <p:spPr>
          <a:xfrm>
            <a:off x="3226680" y="3065040"/>
            <a:ext cx="309960" cy="3099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55" name="Picture 30" descr="monitor_white.png"/>
          <p:cNvPicPr/>
          <p:nvPr/>
        </p:nvPicPr>
        <p:blipFill>
          <a:blip r:embed="rId5"/>
          <a:stretch/>
        </p:blipFill>
        <p:spPr>
          <a:xfrm>
            <a:off x="3285720" y="3124080"/>
            <a:ext cx="191880" cy="191880"/>
          </a:xfrm>
          <a:prstGeom prst="rect">
            <a:avLst/>
          </a:prstGeom>
          <a:ln w="0">
            <a:noFill/>
          </a:ln>
        </p:spPr>
      </p:pic>
      <p:sp>
        <p:nvSpPr>
          <p:cNvPr id="356" name="Rounded Rectangle 31"/>
          <p:cNvSpPr/>
          <p:nvPr/>
        </p:nvSpPr>
        <p:spPr>
          <a:xfrm>
            <a:off x="5451480" y="3065040"/>
            <a:ext cx="279360" cy="27936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Box 32"/>
          <p:cNvSpPr/>
          <p:nvPr/>
        </p:nvSpPr>
        <p:spPr>
          <a:xfrm>
            <a:off x="3226680" y="3421440"/>
            <a:ext cx="2504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Monitoring &amp; Alerts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Box 33"/>
          <p:cNvSpPr/>
          <p:nvPr/>
        </p:nvSpPr>
        <p:spPr>
          <a:xfrm>
            <a:off x="3226680" y="3713760"/>
            <a:ext cx="250416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Azure Monitor + Log Analytics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KQL queries on pod restarts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CPU threshold metric alerts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Script: monitoring_setup.sh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Rounded Rectangle 34"/>
          <p:cNvSpPr/>
          <p:nvPr/>
        </p:nvSpPr>
        <p:spPr>
          <a:xfrm>
            <a:off x="5959440" y="2945880"/>
            <a:ext cx="2760480" cy="1699560"/>
          </a:xfrm>
          <a:prstGeom prst="roundRect">
            <a:avLst>
              <a:gd name="adj" fmla="val 3000"/>
            </a:avLst>
          </a:prstGeom>
          <a:solidFill>
            <a:srgbClr val="0f1035"/>
          </a:solidFill>
          <a:ln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0" name="Rounded Rectangle 35"/>
          <p:cNvSpPr/>
          <p:nvPr/>
        </p:nvSpPr>
        <p:spPr>
          <a:xfrm>
            <a:off x="6087600" y="3065040"/>
            <a:ext cx="309960" cy="3099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61" name="Picture 36" descr="shield_white.png"/>
          <p:cNvPicPr/>
          <p:nvPr/>
        </p:nvPicPr>
        <p:blipFill>
          <a:blip r:embed="rId6"/>
          <a:stretch/>
        </p:blipFill>
        <p:spPr>
          <a:xfrm>
            <a:off x="6146640" y="3124080"/>
            <a:ext cx="191880" cy="191880"/>
          </a:xfrm>
          <a:prstGeom prst="rect">
            <a:avLst/>
          </a:prstGeom>
          <a:ln w="0">
            <a:noFill/>
          </a:ln>
        </p:spPr>
      </p:pic>
      <p:sp>
        <p:nvSpPr>
          <p:cNvPr id="362" name="Rounded Rectangle 37"/>
          <p:cNvSpPr/>
          <p:nvPr/>
        </p:nvSpPr>
        <p:spPr>
          <a:xfrm>
            <a:off x="8312400" y="3065040"/>
            <a:ext cx="279360" cy="279360"/>
          </a:xfrm>
          <a:prstGeom prst="roundRect">
            <a:avLst>
              <a:gd name="adj" fmla="val 3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a8b2d8"/>
                </a:solidFill>
                <a:latin typeface="Calibri"/>
              </a:rPr>
              <a:t>06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Box 38"/>
          <p:cNvSpPr/>
          <p:nvPr/>
        </p:nvSpPr>
        <p:spPr>
          <a:xfrm>
            <a:off x="6087600" y="3421440"/>
            <a:ext cx="2504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Security &amp; RBAC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39"/>
          <p:cNvSpPr/>
          <p:nvPr/>
        </p:nvSpPr>
        <p:spPr>
          <a:xfrm>
            <a:off x="6087600" y="3713760"/>
            <a:ext cx="250416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RBAC roles — Reader vs Contributor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Key Vault secret storage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Microsoft Defender enabled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8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a8b2d8"/>
                </a:solidFill>
                <a:latin typeface="Calibri"/>
              </a:rPr>
              <a:t>Script: security_hardening.sh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1"/>
          <p:cNvSpPr/>
          <p:nvPr/>
        </p:nvSpPr>
        <p:spPr>
          <a:xfrm>
            <a:off x="0" y="0"/>
            <a:ext cx="53640" cy="514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TextBox 2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</a:rPr>
              <a:t>WEEK 2  ·  DAY 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3"/>
          <p:cNvSpPr/>
          <p:nvPr/>
        </p:nvSpPr>
        <p:spPr>
          <a:xfrm>
            <a:off x="274320" y="457200"/>
            <a:ext cx="6399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</a:rPr>
              <a:t>AKS Fundamentals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ounded Rectangle 4"/>
          <p:cNvSpPr/>
          <p:nvPr/>
        </p:nvSpPr>
        <p:spPr>
          <a:xfrm>
            <a:off x="4928760" y="4001400"/>
            <a:ext cx="3931920" cy="79920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TextBox 5"/>
          <p:cNvSpPr/>
          <p:nvPr/>
        </p:nvSpPr>
        <p:spPr>
          <a:xfrm>
            <a:off x="5120640" y="3982680"/>
            <a:ext cx="3657600" cy="7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50" spc="-1" strike="noStrike">
                <a:solidFill>
                  <a:srgbClr val="f5a623"/>
                </a:solidFill>
                <a:latin typeface="Calibri"/>
              </a:rPr>
              <a:t>Cluster: aks-bootcamp · Central India · K8s v1.34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050" spc="-1" strike="noStrike">
                <a:solidFill>
                  <a:srgbClr val="f5a623"/>
                </a:solidFill>
                <a:latin typeface="Calibri"/>
              </a:rPr>
              <a:t>Node count: 1 · VM size: Standard_B2pls_v2 · Tier: Free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Rounded Rectangle 6"/>
          <p:cNvSpPr/>
          <p:nvPr/>
        </p:nvSpPr>
        <p:spPr>
          <a:xfrm>
            <a:off x="237600" y="1180080"/>
            <a:ext cx="4479120" cy="369936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71" name="Picture 7" descr="k8s_wheel_white.png"/>
          <p:cNvPicPr/>
          <p:nvPr/>
        </p:nvPicPr>
        <p:blipFill>
          <a:blip r:embed="rId1"/>
          <a:stretch/>
        </p:blipFill>
        <p:spPr>
          <a:xfrm>
            <a:off x="367560" y="1310040"/>
            <a:ext cx="339120" cy="339120"/>
          </a:xfrm>
          <a:prstGeom prst="rect">
            <a:avLst/>
          </a:prstGeom>
          <a:ln w="0">
            <a:noFill/>
          </a:ln>
        </p:spPr>
      </p:pic>
      <p:sp>
        <p:nvSpPr>
          <p:cNvPr id="372" name="TextBox 8"/>
          <p:cNvSpPr/>
          <p:nvPr/>
        </p:nvSpPr>
        <p:spPr>
          <a:xfrm>
            <a:off x="797760" y="1310040"/>
            <a:ext cx="378936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Managed Kubernetes on Azure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Box 9"/>
          <p:cNvSpPr/>
          <p:nvPr/>
        </p:nvSpPr>
        <p:spPr>
          <a:xfrm>
            <a:off x="367560" y="1720080"/>
            <a:ext cx="421920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i="1" lang="en-US" sz="1000" spc="-1" strike="noStrike">
                <a:solidFill>
                  <a:srgbClr val="a8b2d8"/>
                </a:solidFill>
                <a:latin typeface="Calibri"/>
              </a:rPr>
              <a:t>“</a:t>
            </a:r>
            <a:r>
              <a:rPr b="0" i="1" lang="en-US" sz="1000" spc="-1" strike="noStrike">
                <a:solidFill>
                  <a:srgbClr val="a8b2d8"/>
                </a:solidFill>
                <a:latin typeface="Calibri"/>
              </a:rPr>
              <a:t>Azure runs the control plane. You only manage workloads.”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Rounded Rectangle 10"/>
          <p:cNvSpPr/>
          <p:nvPr/>
        </p:nvSpPr>
        <p:spPr>
          <a:xfrm>
            <a:off x="367560" y="2049840"/>
            <a:ext cx="4219200" cy="40140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Rounded Rectangle 11"/>
          <p:cNvSpPr/>
          <p:nvPr/>
        </p:nvSpPr>
        <p:spPr>
          <a:xfrm>
            <a:off x="367560" y="2049840"/>
            <a:ext cx="53640" cy="40140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TextBox 12"/>
          <p:cNvSpPr/>
          <p:nvPr/>
        </p:nvSpPr>
        <p:spPr>
          <a:xfrm>
            <a:off x="495720" y="2068200"/>
            <a:ext cx="39628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</a:rPr>
              <a:t>Connect kubectl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13"/>
          <p:cNvSpPr/>
          <p:nvPr/>
        </p:nvSpPr>
        <p:spPr>
          <a:xfrm>
            <a:off x="495720" y="2251080"/>
            <a:ext cx="39628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a8b2d8"/>
                </a:solidFill>
                <a:latin typeface="Calibri"/>
              </a:rPr>
              <a:t>az aks get-credentials → merges AKS into local kubeconfig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ounded Rectangle 14"/>
          <p:cNvSpPr/>
          <p:nvPr/>
        </p:nvSpPr>
        <p:spPr>
          <a:xfrm>
            <a:off x="367560" y="2560320"/>
            <a:ext cx="4219200" cy="40140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Rounded Rectangle 15"/>
          <p:cNvSpPr/>
          <p:nvPr/>
        </p:nvSpPr>
        <p:spPr>
          <a:xfrm>
            <a:off x="367560" y="2560320"/>
            <a:ext cx="53640" cy="40140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0" name="TextBox 16"/>
          <p:cNvSpPr/>
          <p:nvPr/>
        </p:nvSpPr>
        <p:spPr>
          <a:xfrm>
            <a:off x="495720" y="2579400"/>
            <a:ext cx="39628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</a:rPr>
              <a:t>MC_ Resource Group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17"/>
          <p:cNvSpPr/>
          <p:nvPr/>
        </p:nvSpPr>
        <p:spPr>
          <a:xfrm>
            <a:off x="495720" y="2779920"/>
            <a:ext cx="39628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a8b2d8"/>
                </a:solidFill>
                <a:latin typeface="Calibri"/>
              </a:rPr>
              <a:t>MC_aks-bootcamp-rg_aks-bootcamp_centralindia — auto-created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Rounded Rectangle 18"/>
          <p:cNvSpPr/>
          <p:nvPr/>
        </p:nvSpPr>
        <p:spPr>
          <a:xfrm>
            <a:off x="367560" y="3072240"/>
            <a:ext cx="4219200" cy="40140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Rounded Rectangle 19"/>
          <p:cNvSpPr/>
          <p:nvPr/>
        </p:nvSpPr>
        <p:spPr>
          <a:xfrm>
            <a:off x="367560" y="3072240"/>
            <a:ext cx="53640" cy="40140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4" name="TextBox 20"/>
          <p:cNvSpPr/>
          <p:nvPr/>
        </p:nvSpPr>
        <p:spPr>
          <a:xfrm>
            <a:off x="495720" y="3090600"/>
            <a:ext cx="39628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</a:rPr>
              <a:t>Auto-Provisioned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21"/>
          <p:cNvSpPr/>
          <p:nvPr/>
        </p:nvSpPr>
        <p:spPr>
          <a:xfrm>
            <a:off x="495720" y="3291840"/>
            <a:ext cx="39628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a8b2d8"/>
                </a:solidFill>
                <a:latin typeface="Calibri"/>
              </a:rPr>
              <a:t>VMSS · Load Balancer · VNet · NSG · Public IP · Managed Identity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Rounded Rectangle 22"/>
          <p:cNvSpPr/>
          <p:nvPr/>
        </p:nvSpPr>
        <p:spPr>
          <a:xfrm>
            <a:off x="352440" y="3584520"/>
            <a:ext cx="4219200" cy="40140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Rounded Rectangle 23"/>
          <p:cNvSpPr/>
          <p:nvPr/>
        </p:nvSpPr>
        <p:spPr>
          <a:xfrm>
            <a:off x="367560" y="3584520"/>
            <a:ext cx="53640" cy="40140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TextBox 24"/>
          <p:cNvSpPr/>
          <p:nvPr/>
        </p:nvSpPr>
        <p:spPr>
          <a:xfrm>
            <a:off x="495720" y="3602880"/>
            <a:ext cx="39628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</a:rPr>
              <a:t>Worker Node Reality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25"/>
          <p:cNvSpPr/>
          <p:nvPr/>
        </p:nvSpPr>
        <p:spPr>
          <a:xfrm>
            <a:off x="495720" y="3803760"/>
            <a:ext cx="39628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a8b2d8"/>
                </a:solidFill>
                <a:latin typeface="Calibri"/>
              </a:rPr>
              <a:t>kubectl node = a real Azure VM inside a VM Scale Set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Rounded Rectangle 26"/>
          <p:cNvSpPr/>
          <p:nvPr/>
        </p:nvSpPr>
        <p:spPr>
          <a:xfrm>
            <a:off x="367560" y="4096440"/>
            <a:ext cx="4219200" cy="401400"/>
          </a:xfrm>
          <a:prstGeom prst="roundRect">
            <a:avLst>
              <a:gd name="adj" fmla="val 8000"/>
            </a:avLst>
          </a:prstGeom>
          <a:solidFill>
            <a:srgbClr val="25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Rounded Rectangle 27"/>
          <p:cNvSpPr/>
          <p:nvPr/>
        </p:nvSpPr>
        <p:spPr>
          <a:xfrm>
            <a:off x="367560" y="4096440"/>
            <a:ext cx="53640" cy="401400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28"/>
          <p:cNvSpPr/>
          <p:nvPr/>
        </p:nvSpPr>
        <p:spPr>
          <a:xfrm>
            <a:off x="495720" y="4114800"/>
            <a:ext cx="39628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</a:rPr>
              <a:t>ACR Integration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29"/>
          <p:cNvSpPr/>
          <p:nvPr/>
        </p:nvSpPr>
        <p:spPr>
          <a:xfrm>
            <a:off x="495720" y="4316040"/>
            <a:ext cx="39628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860" spc="-1" strike="noStrike">
                <a:solidFill>
                  <a:srgbClr val="a8b2d8"/>
                </a:solidFill>
                <a:latin typeface="Calibri"/>
              </a:rPr>
              <a:t>az aks update --attach-acr → AcrPull granted, no imagePullSecrets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Rounded Rectangle 30"/>
          <p:cNvSpPr/>
          <p:nvPr/>
        </p:nvSpPr>
        <p:spPr>
          <a:xfrm>
            <a:off x="4896000" y="1180080"/>
            <a:ext cx="3971160" cy="2706120"/>
          </a:xfrm>
          <a:prstGeom prst="roundRect">
            <a:avLst>
              <a:gd name="adj" fmla="val 10000"/>
            </a:avLst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TextBox 31"/>
          <p:cNvSpPr/>
          <p:nvPr/>
        </p:nvSpPr>
        <p:spPr>
          <a:xfrm>
            <a:off x="5029200" y="1289880"/>
            <a:ext cx="37112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1e4f"/>
                </a:solidFill>
                <a:latin typeface="Calibri"/>
              </a:rPr>
              <a:t>Running Before You Deploy Anything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Rounded Rectangle 32"/>
          <p:cNvSpPr/>
          <p:nvPr/>
        </p:nvSpPr>
        <p:spPr>
          <a:xfrm>
            <a:off x="4989960" y="1599840"/>
            <a:ext cx="3711240" cy="309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TextBox 33"/>
          <p:cNvSpPr/>
          <p:nvPr/>
        </p:nvSpPr>
        <p:spPr>
          <a:xfrm>
            <a:off x="5040000" y="1599840"/>
            <a:ext cx="144936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CoreDNS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34"/>
          <p:cNvSpPr/>
          <p:nvPr/>
        </p:nvSpPr>
        <p:spPr>
          <a:xfrm>
            <a:off x="6509880" y="1599840"/>
            <a:ext cx="20012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55c80"/>
                </a:solidFill>
                <a:latin typeface="Calibri"/>
              </a:rPr>
              <a:t>In-cluster DNS resolution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Rounded Rectangle 35"/>
          <p:cNvSpPr/>
          <p:nvPr/>
        </p:nvSpPr>
        <p:spPr>
          <a:xfrm>
            <a:off x="4989960" y="1959840"/>
            <a:ext cx="3711240" cy="309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TextBox 36"/>
          <p:cNvSpPr/>
          <p:nvPr/>
        </p:nvSpPr>
        <p:spPr>
          <a:xfrm>
            <a:off x="5040000" y="1959840"/>
            <a:ext cx="144936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Metrics Server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Box 37"/>
          <p:cNvSpPr/>
          <p:nvPr/>
        </p:nvSpPr>
        <p:spPr>
          <a:xfrm>
            <a:off x="6509880" y="1959840"/>
            <a:ext cx="20012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55c80"/>
                </a:solidFill>
                <a:latin typeface="Calibri"/>
              </a:rPr>
              <a:t>Powers kubectl top + HPA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Rounded Rectangle 38"/>
          <p:cNvSpPr/>
          <p:nvPr/>
        </p:nvSpPr>
        <p:spPr>
          <a:xfrm>
            <a:off x="4989960" y="2319840"/>
            <a:ext cx="3711240" cy="309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TextBox 39"/>
          <p:cNvSpPr/>
          <p:nvPr/>
        </p:nvSpPr>
        <p:spPr>
          <a:xfrm>
            <a:off x="5040000" y="2319840"/>
            <a:ext cx="144936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Azure CNS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40"/>
          <p:cNvSpPr/>
          <p:nvPr/>
        </p:nvSpPr>
        <p:spPr>
          <a:xfrm>
            <a:off x="6509880" y="2319840"/>
            <a:ext cx="20012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55c80"/>
                </a:solidFill>
                <a:latin typeface="Calibri"/>
              </a:rPr>
              <a:t>Pod networking integration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Rounded Rectangle 41"/>
          <p:cNvSpPr/>
          <p:nvPr/>
        </p:nvSpPr>
        <p:spPr>
          <a:xfrm>
            <a:off x="4989960" y="2679840"/>
            <a:ext cx="3711240" cy="309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TextBox 42"/>
          <p:cNvSpPr/>
          <p:nvPr/>
        </p:nvSpPr>
        <p:spPr>
          <a:xfrm>
            <a:off x="5040000" y="2679840"/>
            <a:ext cx="144936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Azure File / Disk CSI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Box 43"/>
          <p:cNvSpPr/>
          <p:nvPr/>
        </p:nvSpPr>
        <p:spPr>
          <a:xfrm>
            <a:off x="6509880" y="2679840"/>
            <a:ext cx="20012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55c80"/>
                </a:solidFill>
                <a:latin typeface="Calibri"/>
              </a:rPr>
              <a:t>Persistent Volume drivers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Rounded Rectangle 44"/>
          <p:cNvSpPr/>
          <p:nvPr/>
        </p:nvSpPr>
        <p:spPr>
          <a:xfrm>
            <a:off x="4989960" y="3039840"/>
            <a:ext cx="3711240" cy="309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9" name="TextBox 45"/>
          <p:cNvSpPr/>
          <p:nvPr/>
        </p:nvSpPr>
        <p:spPr>
          <a:xfrm>
            <a:off x="5040000" y="3039840"/>
            <a:ext cx="144936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Kube Proxy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Box 46"/>
          <p:cNvSpPr/>
          <p:nvPr/>
        </p:nvSpPr>
        <p:spPr>
          <a:xfrm>
            <a:off x="6509880" y="3039840"/>
            <a:ext cx="20012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55c80"/>
                </a:solidFill>
                <a:latin typeface="Calibri"/>
              </a:rPr>
              <a:t>Service networking &amp; routing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1" name="Connector 47"/>
          <p:cNvCxnSpPr/>
          <p:nvPr/>
        </p:nvCxnSpPr>
        <p:spPr>
          <a:xfrm>
            <a:off x="4989960" y="3439800"/>
            <a:ext cx="3712680" cy="720"/>
          </a:xfrm>
          <a:prstGeom prst="straightConnector1">
            <a:avLst/>
          </a:prstGeom>
          <a:ln w="9525">
            <a:solidFill>
              <a:srgbClr val="c8cdee"/>
            </a:solidFill>
            <a:round/>
          </a:ln>
        </p:spPr>
      </p:cxnSp>
      <p:sp>
        <p:nvSpPr>
          <p:cNvPr id="412" name="TextBox 48"/>
          <p:cNvSpPr/>
          <p:nvPr/>
        </p:nvSpPr>
        <p:spPr>
          <a:xfrm>
            <a:off x="5025960" y="3489840"/>
            <a:ext cx="37112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30" spc="-1" strike="noStrike">
                <a:solidFill>
                  <a:srgbClr val="555c80"/>
                </a:solidFill>
                <a:latin typeface="Calibri"/>
              </a:rPr>
              <a:t>Script: aks_cluster.sh — provision, connect, validate, repeat safely.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tangle 1"/>
          <p:cNvSpPr/>
          <p:nvPr/>
        </p:nvSpPr>
        <p:spPr>
          <a:xfrm>
            <a:off x="0" y="0"/>
            <a:ext cx="53640" cy="514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4" name="TextBox 2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</a:rPr>
              <a:t>WEEK 2  ·  DAY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Box 3"/>
          <p:cNvSpPr/>
          <p:nvPr/>
        </p:nvSpPr>
        <p:spPr>
          <a:xfrm>
            <a:off x="274320" y="457200"/>
            <a:ext cx="4799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</a:rPr>
              <a:t>AKS Workloads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Rounded Rectangle 4"/>
          <p:cNvSpPr/>
          <p:nvPr/>
        </p:nvSpPr>
        <p:spPr>
          <a:xfrm>
            <a:off x="4800600" y="228600"/>
            <a:ext cx="4030920" cy="79920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7" name="TextBox 5"/>
          <p:cNvSpPr/>
          <p:nvPr/>
        </p:nvSpPr>
        <p:spPr>
          <a:xfrm>
            <a:off x="4800600" y="228600"/>
            <a:ext cx="3900600" cy="7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0" lang="en-US" sz="1200" spc="-1" strike="noStrike">
                <a:solidFill>
                  <a:srgbClr val="f5a623"/>
                </a:solidFill>
                <a:latin typeface="Calibri"/>
              </a:rPr>
              <a:t>Verified live: BusyBox load generator drove pod CPU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30000"/>
              </a:lnSpc>
            </a:pPr>
            <a:r>
              <a:rPr b="0" lang="en-US" sz="1200" spc="-1" strike="noStrike">
                <a:solidFill>
                  <a:srgbClr val="f5a623"/>
                </a:solidFill>
                <a:latin typeface="Calibri"/>
              </a:rPr>
              <a:t>from 1% → 32% — HPA evaluated real metrics.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Rounded Rectangle 6"/>
          <p:cNvSpPr/>
          <p:nvPr/>
        </p:nvSpPr>
        <p:spPr>
          <a:xfrm>
            <a:off x="237600" y="1180080"/>
            <a:ext cx="4219200" cy="369936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19" name="Picture 7" descr="scale_white.png"/>
          <p:cNvPicPr/>
          <p:nvPr/>
        </p:nvPicPr>
        <p:blipFill>
          <a:blip r:embed="rId1"/>
          <a:stretch/>
        </p:blipFill>
        <p:spPr>
          <a:xfrm>
            <a:off x="367560" y="1310040"/>
            <a:ext cx="339120" cy="339120"/>
          </a:xfrm>
          <a:prstGeom prst="rect">
            <a:avLst/>
          </a:prstGeom>
          <a:ln w="0">
            <a:noFill/>
          </a:ln>
        </p:spPr>
      </p:pic>
      <p:sp>
        <p:nvSpPr>
          <p:cNvPr id="420" name="TextBox 8"/>
          <p:cNvSpPr/>
          <p:nvPr/>
        </p:nvSpPr>
        <p:spPr>
          <a:xfrm>
            <a:off x="367560" y="1720080"/>
            <a:ext cx="39592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Day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9"/>
          <p:cNvSpPr/>
          <p:nvPr/>
        </p:nvSpPr>
        <p:spPr>
          <a:xfrm>
            <a:off x="367560" y="1929960"/>
            <a:ext cx="3959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Deployment → Live Traffic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10"/>
          <p:cNvSpPr/>
          <p:nvPr/>
        </p:nvSpPr>
        <p:spPr>
          <a:xfrm>
            <a:off x="367560" y="2250000"/>
            <a:ext cx="39592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“</a:t>
            </a: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Azure networking takes over where Minikube stopped.”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11"/>
          <p:cNvSpPr/>
          <p:nvPr/>
        </p:nvSpPr>
        <p:spPr>
          <a:xfrm>
            <a:off x="367560" y="2570040"/>
            <a:ext cx="395928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3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Deployment → ReplicaSet → 2 Pods (10.244.0.x)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3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type: LoadBalancer → Azure assigns a Public IP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3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NGINX Ingress Controller installed via Helm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3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Scaled manually: 2 → 3 replicas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3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HPA: min 3 / max 10 pods @ 50% target CPU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Rounded Rectangle 12"/>
          <p:cNvSpPr/>
          <p:nvPr/>
        </p:nvSpPr>
        <p:spPr>
          <a:xfrm>
            <a:off x="384120" y="4114800"/>
            <a:ext cx="3959280" cy="47916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5" name="TextBox 13"/>
          <p:cNvSpPr/>
          <p:nvPr/>
        </p:nvSpPr>
        <p:spPr>
          <a:xfrm>
            <a:off x="457200" y="4114800"/>
            <a:ext cx="388620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2000"/>
              </a:lnSpc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</a:rPr>
              <a:t>One Ingress + routing rules replaces one Public IP per service — lower cost, lower complexity.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Rounded Rectangle 14"/>
          <p:cNvSpPr/>
          <p:nvPr/>
        </p:nvSpPr>
        <p:spPr>
          <a:xfrm>
            <a:off x="4700160" y="1180080"/>
            <a:ext cx="4131360" cy="3699360"/>
          </a:xfrm>
          <a:prstGeom prst="roundRect">
            <a:avLst>
              <a:gd name="adj" fmla="val 10000"/>
            </a:avLst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27" name="Picture 15" descr="k8s_wheel_orange.png"/>
          <p:cNvPicPr/>
          <p:nvPr/>
        </p:nvPicPr>
        <p:blipFill>
          <a:blip r:embed="rId2"/>
          <a:stretch/>
        </p:blipFill>
        <p:spPr>
          <a:xfrm>
            <a:off x="4830120" y="1289880"/>
            <a:ext cx="279360" cy="279360"/>
          </a:xfrm>
          <a:prstGeom prst="rect">
            <a:avLst/>
          </a:prstGeom>
          <a:ln w="0">
            <a:noFill/>
          </a:ln>
        </p:spPr>
      </p:pic>
      <p:sp>
        <p:nvSpPr>
          <p:cNvPr id="428" name="TextBox 16"/>
          <p:cNvSpPr/>
          <p:nvPr/>
        </p:nvSpPr>
        <p:spPr>
          <a:xfrm>
            <a:off x="5159880" y="1289880"/>
            <a:ext cx="354132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a1e4f"/>
                </a:solidFill>
                <a:latin typeface="Calibri"/>
              </a:rPr>
              <a:t>Azure Networking Service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Box 17"/>
          <p:cNvSpPr/>
          <p:nvPr/>
        </p:nvSpPr>
        <p:spPr>
          <a:xfrm>
            <a:off x="4830120" y="1620000"/>
            <a:ext cx="3871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i="1" lang="en-US" sz="1000" spc="-1" strike="noStrike">
                <a:solidFill>
                  <a:srgbClr val="555c80"/>
                </a:solidFill>
                <a:latin typeface="Calibri"/>
              </a:rPr>
              <a:t>“</a:t>
            </a:r>
            <a:r>
              <a:rPr b="0" i="1" lang="en-US" sz="1000" spc="-1" strike="noStrike">
                <a:solidFill>
                  <a:srgbClr val="555c80"/>
                </a:solidFill>
                <a:latin typeface="Calibri"/>
              </a:rPr>
              <a:t>From Pod to public traffic in five hops.”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Box 18"/>
          <p:cNvSpPr/>
          <p:nvPr/>
        </p:nvSpPr>
        <p:spPr>
          <a:xfrm>
            <a:off x="4830120" y="1940040"/>
            <a:ext cx="3871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Traffic Flow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Rounded Rectangle 19"/>
          <p:cNvSpPr/>
          <p:nvPr/>
        </p:nvSpPr>
        <p:spPr>
          <a:xfrm>
            <a:off x="4830120" y="2189880"/>
            <a:ext cx="1097280" cy="419400"/>
          </a:xfrm>
          <a:prstGeom prst="roundRect">
            <a:avLst>
              <a:gd name="adj" fmla="val 1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20"/>
          <p:cNvSpPr/>
          <p:nvPr/>
        </p:nvSpPr>
        <p:spPr>
          <a:xfrm>
            <a:off x="4830120" y="2330640"/>
            <a:ext cx="1113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Pod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21"/>
          <p:cNvSpPr/>
          <p:nvPr/>
        </p:nvSpPr>
        <p:spPr>
          <a:xfrm>
            <a:off x="5970960" y="2286000"/>
            <a:ext cx="16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Rounded Rectangle 22"/>
          <p:cNvSpPr/>
          <p:nvPr/>
        </p:nvSpPr>
        <p:spPr>
          <a:xfrm>
            <a:off x="6172200" y="2189880"/>
            <a:ext cx="1097280" cy="419400"/>
          </a:xfrm>
          <a:prstGeom prst="roundRect">
            <a:avLst>
              <a:gd name="adj" fmla="val 1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5" name="TextBox 23"/>
          <p:cNvSpPr/>
          <p:nvPr/>
        </p:nvSpPr>
        <p:spPr>
          <a:xfrm>
            <a:off x="6172200" y="2330640"/>
            <a:ext cx="1143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Service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24"/>
          <p:cNvSpPr/>
          <p:nvPr/>
        </p:nvSpPr>
        <p:spPr>
          <a:xfrm>
            <a:off x="7324200" y="2286000"/>
            <a:ext cx="16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Rounded Rectangle 25"/>
          <p:cNvSpPr/>
          <p:nvPr/>
        </p:nvSpPr>
        <p:spPr>
          <a:xfrm>
            <a:off x="7543800" y="2189880"/>
            <a:ext cx="1098000" cy="419400"/>
          </a:xfrm>
          <a:prstGeom prst="roundRect">
            <a:avLst>
              <a:gd name="adj" fmla="val 1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8" name="TextBox 26"/>
          <p:cNvSpPr/>
          <p:nvPr/>
        </p:nvSpPr>
        <p:spPr>
          <a:xfrm>
            <a:off x="7543800" y="2330640"/>
            <a:ext cx="1098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Endpoints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Rounded Rectangle 27"/>
          <p:cNvSpPr/>
          <p:nvPr/>
        </p:nvSpPr>
        <p:spPr>
          <a:xfrm>
            <a:off x="4830120" y="2720160"/>
            <a:ext cx="1097280" cy="419400"/>
          </a:xfrm>
          <a:prstGeom prst="roundRect">
            <a:avLst>
              <a:gd name="adj" fmla="val 1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TextBox 28"/>
          <p:cNvSpPr/>
          <p:nvPr/>
        </p:nvSpPr>
        <p:spPr>
          <a:xfrm>
            <a:off x="4830120" y="2860920"/>
            <a:ext cx="1113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Azure LB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29"/>
          <p:cNvSpPr/>
          <p:nvPr/>
        </p:nvSpPr>
        <p:spPr>
          <a:xfrm>
            <a:off x="5970960" y="2788920"/>
            <a:ext cx="16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Rounded Rectangle 30"/>
          <p:cNvSpPr/>
          <p:nvPr/>
        </p:nvSpPr>
        <p:spPr>
          <a:xfrm>
            <a:off x="6172200" y="2720160"/>
            <a:ext cx="1097280" cy="419400"/>
          </a:xfrm>
          <a:prstGeom prst="roundRect">
            <a:avLst>
              <a:gd name="adj" fmla="val 1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3" name="TextBox 31"/>
          <p:cNvSpPr/>
          <p:nvPr/>
        </p:nvSpPr>
        <p:spPr>
          <a:xfrm>
            <a:off x="6172200" y="2860920"/>
            <a:ext cx="1098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Public IP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Box 32"/>
          <p:cNvSpPr/>
          <p:nvPr/>
        </p:nvSpPr>
        <p:spPr>
          <a:xfrm>
            <a:off x="7324200" y="2788920"/>
            <a:ext cx="1652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Rounded Rectangle 33"/>
          <p:cNvSpPr/>
          <p:nvPr/>
        </p:nvSpPr>
        <p:spPr>
          <a:xfrm>
            <a:off x="7543800" y="2720160"/>
            <a:ext cx="1097280" cy="41940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6" name="TextBox 34"/>
          <p:cNvSpPr/>
          <p:nvPr/>
        </p:nvSpPr>
        <p:spPr>
          <a:xfrm>
            <a:off x="7543800" y="2860920"/>
            <a:ext cx="1097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160" rIns="2016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0f1035"/>
                </a:solidFill>
                <a:latin typeface="Calibri"/>
              </a:rPr>
              <a:t>Browser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Box 35"/>
          <p:cNvSpPr/>
          <p:nvPr/>
        </p:nvSpPr>
        <p:spPr>
          <a:xfrm>
            <a:off x="4830120" y="3340080"/>
            <a:ext cx="3871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Service Details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Box 36"/>
          <p:cNvSpPr/>
          <p:nvPr/>
        </p:nvSpPr>
        <p:spPr>
          <a:xfrm>
            <a:off x="4830120" y="3620160"/>
            <a:ext cx="8193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1e4f"/>
                </a:solidFill>
                <a:latin typeface="Calibri"/>
              </a:rPr>
              <a:t>Service: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37"/>
          <p:cNvSpPr/>
          <p:nvPr/>
        </p:nvSpPr>
        <p:spPr>
          <a:xfrm>
            <a:off x="5649840" y="3620160"/>
            <a:ext cx="30513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555c80"/>
                </a:solidFill>
                <a:latin typeface="Courier New"/>
              </a:rPr>
              <a:t>type: LoadBalancer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38"/>
          <p:cNvSpPr/>
          <p:nvPr/>
        </p:nvSpPr>
        <p:spPr>
          <a:xfrm>
            <a:off x="4830120" y="3899880"/>
            <a:ext cx="8193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1e4f"/>
                </a:solidFill>
                <a:latin typeface="Calibri"/>
              </a:rPr>
              <a:t>Selector: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Box 39"/>
          <p:cNvSpPr/>
          <p:nvPr/>
        </p:nvSpPr>
        <p:spPr>
          <a:xfrm>
            <a:off x="5649840" y="3899880"/>
            <a:ext cx="30513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555c80"/>
                </a:solidFill>
                <a:latin typeface="Courier New"/>
              </a:rPr>
              <a:t>app=nginx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Box 40"/>
          <p:cNvSpPr/>
          <p:nvPr/>
        </p:nvSpPr>
        <p:spPr>
          <a:xfrm>
            <a:off x="4830120" y="4179960"/>
            <a:ext cx="8193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1e4f"/>
                </a:solidFill>
                <a:latin typeface="Calibri"/>
              </a:rPr>
              <a:t>Ingress: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41"/>
          <p:cNvSpPr/>
          <p:nvPr/>
        </p:nvSpPr>
        <p:spPr>
          <a:xfrm>
            <a:off x="5649840" y="4179960"/>
            <a:ext cx="30513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555c80"/>
                </a:solidFill>
                <a:latin typeface="Courier New"/>
              </a:rPr>
              <a:t>nginx-ingress (Helm)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42"/>
          <p:cNvSpPr/>
          <p:nvPr/>
        </p:nvSpPr>
        <p:spPr>
          <a:xfrm>
            <a:off x="4830120" y="4460040"/>
            <a:ext cx="8193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1e4f"/>
                </a:solidFill>
                <a:latin typeface="Calibri"/>
              </a:rPr>
              <a:t>HPA: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Box 43"/>
          <p:cNvSpPr/>
          <p:nvPr/>
        </p:nvSpPr>
        <p:spPr>
          <a:xfrm>
            <a:off x="5649840" y="4460040"/>
            <a:ext cx="30513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555c80"/>
                </a:solidFill>
                <a:latin typeface="Courier New"/>
              </a:rPr>
              <a:t>min 3 · max 10 · 50% CPU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Rectangle 1"/>
          <p:cNvSpPr/>
          <p:nvPr/>
        </p:nvSpPr>
        <p:spPr>
          <a:xfrm>
            <a:off x="0" y="0"/>
            <a:ext cx="53640" cy="514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7" name="TextBox 2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</a:rPr>
              <a:t>WEEK 2  ·  DAYS 3–4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Box 3"/>
          <p:cNvSpPr/>
          <p:nvPr/>
        </p:nvSpPr>
        <p:spPr>
          <a:xfrm>
            <a:off x="274320" y="457200"/>
            <a:ext cx="66996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</a:rPr>
              <a:t>CI/CD Pipeline &amp; Delivery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Box 4"/>
          <p:cNvSpPr/>
          <p:nvPr/>
        </p:nvSpPr>
        <p:spPr>
          <a:xfrm>
            <a:off x="274320" y="1019880"/>
            <a:ext cx="85942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Day 3 wired Azure DevOps repos and a first pipeline. Day 4 made every git push deploy itself to AKS.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Rounded Rectangle 5"/>
          <p:cNvSpPr/>
          <p:nvPr/>
        </p:nvSpPr>
        <p:spPr>
          <a:xfrm>
            <a:off x="237600" y="1479960"/>
            <a:ext cx="1558440" cy="97920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1" name="TextBox 6"/>
          <p:cNvSpPr/>
          <p:nvPr/>
        </p:nvSpPr>
        <p:spPr>
          <a:xfrm>
            <a:off x="237600" y="1569960"/>
            <a:ext cx="1558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Git Push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Box 7"/>
          <p:cNvSpPr/>
          <p:nvPr/>
        </p:nvSpPr>
        <p:spPr>
          <a:xfrm>
            <a:off x="277560" y="1829880"/>
            <a:ext cx="14781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main branch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azure-pipelines.yml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Box 8"/>
          <p:cNvSpPr/>
          <p:nvPr/>
        </p:nvSpPr>
        <p:spPr>
          <a:xfrm>
            <a:off x="1795320" y="1848240"/>
            <a:ext cx="202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Rounded Rectangle 9"/>
          <p:cNvSpPr/>
          <p:nvPr/>
        </p:nvSpPr>
        <p:spPr>
          <a:xfrm>
            <a:off x="1996560" y="1479960"/>
            <a:ext cx="1558440" cy="97920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5" name="TextBox 10"/>
          <p:cNvSpPr/>
          <p:nvPr/>
        </p:nvSpPr>
        <p:spPr>
          <a:xfrm>
            <a:off x="1996560" y="1569960"/>
            <a:ext cx="1558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Build Image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Box 11"/>
          <p:cNvSpPr/>
          <p:nvPr/>
        </p:nvSpPr>
        <p:spPr>
          <a:xfrm>
            <a:off x="2036520" y="1829880"/>
            <a:ext cx="14781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Docker@2 task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multi-arch buildx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Box 12"/>
          <p:cNvSpPr/>
          <p:nvPr/>
        </p:nvSpPr>
        <p:spPr>
          <a:xfrm>
            <a:off x="3554280" y="1848240"/>
            <a:ext cx="202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Rounded Rectangle 13"/>
          <p:cNvSpPr/>
          <p:nvPr/>
        </p:nvSpPr>
        <p:spPr>
          <a:xfrm>
            <a:off x="3755520" y="1479960"/>
            <a:ext cx="1558440" cy="97920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9" name="TextBox 14"/>
          <p:cNvSpPr/>
          <p:nvPr/>
        </p:nvSpPr>
        <p:spPr>
          <a:xfrm>
            <a:off x="3755520" y="1569960"/>
            <a:ext cx="1558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Push to ACR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Box 15"/>
          <p:cNvSpPr/>
          <p:nvPr/>
        </p:nvSpPr>
        <p:spPr>
          <a:xfrm>
            <a:off x="3795480" y="1829880"/>
            <a:ext cx="14781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acr-connection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tag: $(Build.BuildId)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Box 16"/>
          <p:cNvSpPr/>
          <p:nvPr/>
        </p:nvSpPr>
        <p:spPr>
          <a:xfrm>
            <a:off x="5313600" y="1848240"/>
            <a:ext cx="202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Rounded Rectangle 17"/>
          <p:cNvSpPr/>
          <p:nvPr/>
        </p:nvSpPr>
        <p:spPr>
          <a:xfrm>
            <a:off x="5514480" y="1479960"/>
            <a:ext cx="1558440" cy="97920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3" name="TextBox 18"/>
          <p:cNvSpPr/>
          <p:nvPr/>
        </p:nvSpPr>
        <p:spPr>
          <a:xfrm>
            <a:off x="5514480" y="1569960"/>
            <a:ext cx="1558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Deploy to AKS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Box 19"/>
          <p:cNvSpPr/>
          <p:nvPr/>
        </p:nvSpPr>
        <p:spPr>
          <a:xfrm>
            <a:off x="5554440" y="1829880"/>
            <a:ext cx="14781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kubectl set image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a8b2d8"/>
                </a:solidFill>
                <a:latin typeface="Courier New"/>
              </a:rPr>
              <a:t>flask-app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Box 20"/>
          <p:cNvSpPr/>
          <p:nvPr/>
        </p:nvSpPr>
        <p:spPr>
          <a:xfrm>
            <a:off x="7072560" y="1848240"/>
            <a:ext cx="202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5a623"/>
                </a:solidFill>
                <a:latin typeface="Arial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Rounded Rectangle 21"/>
          <p:cNvSpPr/>
          <p:nvPr/>
        </p:nvSpPr>
        <p:spPr>
          <a:xfrm>
            <a:off x="7273440" y="1479960"/>
            <a:ext cx="1558440" cy="97920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TextBox 22"/>
          <p:cNvSpPr/>
          <p:nvPr/>
        </p:nvSpPr>
        <p:spPr>
          <a:xfrm>
            <a:off x="7273440" y="1569960"/>
            <a:ext cx="155844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f1035"/>
                </a:solidFill>
                <a:latin typeface="Calibri"/>
              </a:rPr>
              <a:t>Live App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Box 23"/>
          <p:cNvSpPr/>
          <p:nvPr/>
        </p:nvSpPr>
        <p:spPr>
          <a:xfrm>
            <a:off x="7313760" y="1829880"/>
            <a:ext cx="14781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3a3310"/>
                </a:solidFill>
                <a:latin typeface="Courier New"/>
              </a:rPr>
              <a:t>RollingUpdate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b="0" lang="en-US" sz="870" spc="-1" strike="noStrike">
                <a:solidFill>
                  <a:srgbClr val="3a3310"/>
                </a:solidFill>
                <a:latin typeface="Courier New"/>
              </a:rPr>
              <a:t>maxUnavailable: 0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Rounded Rectangle 24"/>
          <p:cNvSpPr/>
          <p:nvPr/>
        </p:nvSpPr>
        <p:spPr>
          <a:xfrm>
            <a:off x="237600" y="2700000"/>
            <a:ext cx="2760480" cy="217944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0" name="Rounded Rectangle 25"/>
          <p:cNvSpPr/>
          <p:nvPr/>
        </p:nvSpPr>
        <p:spPr>
          <a:xfrm>
            <a:off x="367560" y="2829960"/>
            <a:ext cx="269280" cy="26928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</a:rPr>
              <a:t>01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Box 26"/>
          <p:cNvSpPr/>
          <p:nvPr/>
        </p:nvSpPr>
        <p:spPr>
          <a:xfrm>
            <a:off x="717480" y="2829960"/>
            <a:ext cx="215064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Repos &amp; Pipeline Basics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82" name="Connector 27"/>
          <p:cNvCxnSpPr/>
          <p:nvPr/>
        </p:nvCxnSpPr>
        <p:spPr>
          <a:xfrm>
            <a:off x="367560" y="3159720"/>
            <a:ext cx="2501640" cy="720"/>
          </a:xfrm>
          <a:prstGeom prst="straightConnector1">
            <a:avLst/>
          </a:prstGeom>
          <a:ln w="9525">
            <a:solidFill>
              <a:srgbClr val="3a3f7a"/>
            </a:solidFill>
            <a:round/>
          </a:ln>
        </p:spPr>
      </p:cxnSp>
      <p:sp>
        <p:nvSpPr>
          <p:cNvPr id="483" name="TextBox 28"/>
          <p:cNvSpPr/>
          <p:nvPr/>
        </p:nvSpPr>
        <p:spPr>
          <a:xfrm>
            <a:off x="367560" y="3269880"/>
            <a:ext cx="250056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Azure DevOps org + project created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Repo pushed, remote added to main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azure-pipelines.yml: echo + build step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Auto-triggered on every commit to main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Rounded Rectangle 29"/>
          <p:cNvSpPr/>
          <p:nvPr/>
        </p:nvSpPr>
        <p:spPr>
          <a:xfrm>
            <a:off x="3128760" y="2700000"/>
            <a:ext cx="2760480" cy="217944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5" name="Rounded Rectangle 30"/>
          <p:cNvSpPr/>
          <p:nvPr/>
        </p:nvSpPr>
        <p:spPr>
          <a:xfrm>
            <a:off x="3258720" y="2829960"/>
            <a:ext cx="269280" cy="26928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</a:rPr>
              <a:t>02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Box 31"/>
          <p:cNvSpPr/>
          <p:nvPr/>
        </p:nvSpPr>
        <p:spPr>
          <a:xfrm>
            <a:off x="3608640" y="2829960"/>
            <a:ext cx="215064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Secure Build &amp; Push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87" name="Connector 32"/>
          <p:cNvCxnSpPr/>
          <p:nvPr/>
        </p:nvCxnSpPr>
        <p:spPr>
          <a:xfrm>
            <a:off x="3258720" y="3159720"/>
            <a:ext cx="2502000" cy="720"/>
          </a:xfrm>
          <a:prstGeom prst="straightConnector1">
            <a:avLst/>
          </a:prstGeom>
          <a:ln w="9525">
            <a:solidFill>
              <a:srgbClr val="3a3f7a"/>
            </a:solidFill>
            <a:round/>
          </a:ln>
        </p:spPr>
      </p:cxnSp>
      <p:sp>
        <p:nvSpPr>
          <p:cNvPr id="488" name="TextBox 33"/>
          <p:cNvSpPr/>
          <p:nvPr/>
        </p:nvSpPr>
        <p:spPr>
          <a:xfrm>
            <a:off x="3258720" y="3269880"/>
            <a:ext cx="250056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Docker@2 build stage on every push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Service Connection acr-connection — no passwords in YAML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Image tagged by $(Build.BuildId)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vibhavacrday4.azurecr.io/flask-app:9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Rounded Rectangle 34"/>
          <p:cNvSpPr/>
          <p:nvPr/>
        </p:nvSpPr>
        <p:spPr>
          <a:xfrm>
            <a:off x="6019920" y="2700000"/>
            <a:ext cx="2760480" cy="217944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0" name="Rounded Rectangle 35"/>
          <p:cNvSpPr/>
          <p:nvPr/>
        </p:nvSpPr>
        <p:spPr>
          <a:xfrm>
            <a:off x="6149880" y="2829960"/>
            <a:ext cx="269280" cy="26928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</a:rPr>
              <a:t>03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36"/>
          <p:cNvSpPr/>
          <p:nvPr/>
        </p:nvSpPr>
        <p:spPr>
          <a:xfrm>
            <a:off x="6500160" y="2829960"/>
            <a:ext cx="215064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Production Debugging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92" name="Connector 37"/>
          <p:cNvCxnSpPr/>
          <p:nvPr/>
        </p:nvCxnSpPr>
        <p:spPr>
          <a:xfrm>
            <a:off x="6149880" y="3159720"/>
            <a:ext cx="2502000" cy="720"/>
          </a:xfrm>
          <a:prstGeom prst="straightConnector1">
            <a:avLst/>
          </a:prstGeom>
          <a:ln w="9525">
            <a:solidFill>
              <a:srgbClr val="3a3f7a"/>
            </a:solidFill>
            <a:round/>
          </a:ln>
        </p:spPr>
      </p:cxnSp>
      <p:sp>
        <p:nvSpPr>
          <p:cNvPr id="493" name="TextBox 38"/>
          <p:cNvSpPr/>
          <p:nvPr/>
        </p:nvSpPr>
        <p:spPr>
          <a:xfrm>
            <a:off x="6149880" y="3269880"/>
            <a:ext cx="250056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Hit: ImagePullBackOff on deploy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AKS nodes were ARM64, image was AMD64-only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Fixed with docker buildx --platform linux/amd64,linux/arm64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>
              <a:lnSpc>
                <a:spcPct val="122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8b2d8"/>
                </a:solidFill>
                <a:latin typeface="Calibri"/>
              </a:rPr>
              <a:t>RollingUpdate: maxSurge 1, zero downtime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Rectangle 1"/>
          <p:cNvSpPr/>
          <p:nvPr/>
        </p:nvSpPr>
        <p:spPr>
          <a:xfrm>
            <a:off x="0" y="0"/>
            <a:ext cx="53640" cy="514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5" name="TextBox 2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</a:rPr>
              <a:t>WEEK 2  ·  DAYS 5–6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Box 3"/>
          <p:cNvSpPr/>
          <p:nvPr/>
        </p:nvSpPr>
        <p:spPr>
          <a:xfrm>
            <a:off x="274320" y="457200"/>
            <a:ext cx="6399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</a:rPr>
              <a:t>Observability &amp; Hardening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Rounded Rectangle 4"/>
          <p:cNvSpPr/>
          <p:nvPr/>
        </p:nvSpPr>
        <p:spPr>
          <a:xfrm>
            <a:off x="237600" y="1180080"/>
            <a:ext cx="4219200" cy="3699360"/>
          </a:xfrm>
          <a:prstGeom prst="roundRect">
            <a:avLst>
              <a:gd name="adj" fmla="val 1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98" name="Picture 5" descr="monitor_white.png"/>
          <p:cNvPicPr/>
          <p:nvPr/>
        </p:nvPicPr>
        <p:blipFill>
          <a:blip r:embed="rId1"/>
          <a:stretch/>
        </p:blipFill>
        <p:spPr>
          <a:xfrm>
            <a:off x="367560" y="1310040"/>
            <a:ext cx="339120" cy="339120"/>
          </a:xfrm>
          <a:prstGeom prst="rect">
            <a:avLst/>
          </a:prstGeom>
          <a:ln w="0">
            <a:noFill/>
          </a:ln>
        </p:spPr>
      </p:pic>
      <p:sp>
        <p:nvSpPr>
          <p:cNvPr id="499" name="TextBox 6"/>
          <p:cNvSpPr/>
          <p:nvPr/>
        </p:nvSpPr>
        <p:spPr>
          <a:xfrm>
            <a:off x="367560" y="1720080"/>
            <a:ext cx="39592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Day 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Box 7"/>
          <p:cNvSpPr/>
          <p:nvPr/>
        </p:nvSpPr>
        <p:spPr>
          <a:xfrm>
            <a:off x="367560" y="1929960"/>
            <a:ext cx="3959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Monitoring &amp; Alerts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8"/>
          <p:cNvSpPr/>
          <p:nvPr/>
        </p:nvSpPr>
        <p:spPr>
          <a:xfrm>
            <a:off x="367560" y="2250000"/>
            <a:ext cx="39592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“</a:t>
            </a: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See what the cluster is doing before it tells you something broke.”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Box 9"/>
          <p:cNvSpPr/>
          <p:nvPr/>
        </p:nvSpPr>
        <p:spPr>
          <a:xfrm>
            <a:off x="367560" y="2570040"/>
            <a:ext cx="3959280" cy="19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Azure Monitor + Container Insights enabled on AKS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Log Analytics workspace linked to the cluster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KQL query: pod restarts in the last 24 hours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Metric alert: fires when pod CPU exceeds 80%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Verified by artificially spiking CPU with stress tool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Rounded Rectangle 10"/>
          <p:cNvSpPr/>
          <p:nvPr/>
        </p:nvSpPr>
        <p:spPr>
          <a:xfrm>
            <a:off x="367560" y="3887640"/>
            <a:ext cx="3959280" cy="47916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TextBox 11"/>
          <p:cNvSpPr/>
          <p:nvPr/>
        </p:nvSpPr>
        <p:spPr>
          <a:xfrm>
            <a:off x="477720" y="3887640"/>
            <a:ext cx="373932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2000"/>
              </a:lnSpc>
            </a:pPr>
            <a:r>
              <a:rPr b="0" lang="en-US" sz="1150" spc="-1" strike="noStrike">
                <a:solidFill>
                  <a:srgbClr val="f5a623"/>
                </a:solidFill>
                <a:latin typeface="Calibri"/>
              </a:rPr>
              <a:t>Dashboards and alert rules turn “is something wrong?” into a notification, not a guess.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Rounded Rectangle 12"/>
          <p:cNvSpPr/>
          <p:nvPr/>
        </p:nvSpPr>
        <p:spPr>
          <a:xfrm>
            <a:off x="367560" y="4487760"/>
            <a:ext cx="3959280" cy="291600"/>
          </a:xfrm>
          <a:prstGeom prst="roundRect">
            <a:avLst>
              <a:gd name="adj" fmla="val 45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</a:rPr>
              <a:t>$ monitoring_setup.sh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Rounded Rectangle 13"/>
          <p:cNvSpPr/>
          <p:nvPr/>
        </p:nvSpPr>
        <p:spPr>
          <a:xfrm>
            <a:off x="4637520" y="1180080"/>
            <a:ext cx="4219200" cy="3699360"/>
          </a:xfrm>
          <a:prstGeom prst="roundRect">
            <a:avLst>
              <a:gd name="adj" fmla="val 1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07" name="Picture 14" descr="shield_white.png"/>
          <p:cNvPicPr/>
          <p:nvPr/>
        </p:nvPicPr>
        <p:blipFill>
          <a:blip r:embed="rId2"/>
          <a:stretch/>
        </p:blipFill>
        <p:spPr>
          <a:xfrm>
            <a:off x="4767480" y="1310040"/>
            <a:ext cx="339120" cy="339120"/>
          </a:xfrm>
          <a:prstGeom prst="rect">
            <a:avLst/>
          </a:prstGeom>
          <a:ln w="0">
            <a:noFill/>
          </a:ln>
        </p:spPr>
      </p:pic>
      <p:sp>
        <p:nvSpPr>
          <p:cNvPr id="508" name="TextBox 15"/>
          <p:cNvSpPr/>
          <p:nvPr/>
        </p:nvSpPr>
        <p:spPr>
          <a:xfrm>
            <a:off x="4767480" y="1720080"/>
            <a:ext cx="39592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Day 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Box 16"/>
          <p:cNvSpPr/>
          <p:nvPr/>
        </p:nvSpPr>
        <p:spPr>
          <a:xfrm>
            <a:off x="4767480" y="1929960"/>
            <a:ext cx="3959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Security &amp; RBAC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Box 17"/>
          <p:cNvSpPr/>
          <p:nvPr/>
        </p:nvSpPr>
        <p:spPr>
          <a:xfrm>
            <a:off x="4767480" y="2250000"/>
            <a:ext cx="39592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“</a:t>
            </a:r>
            <a:r>
              <a:rPr b="0" i="1" lang="en-US" sz="1100" spc="-1" strike="noStrike">
                <a:solidFill>
                  <a:srgbClr val="a8b2d8"/>
                </a:solidFill>
                <a:latin typeface="Calibri"/>
              </a:rPr>
              <a:t>Least privilege, and no secrets left lying in YAML.”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Box 18"/>
          <p:cNvSpPr/>
          <p:nvPr/>
        </p:nvSpPr>
        <p:spPr>
          <a:xfrm>
            <a:off x="4767480" y="2570040"/>
            <a:ext cx="3959280" cy="19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RBAC roles scoped to the resource group: Reader vs Contributor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Role assignment via az role assignment create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Azure Key Vault stores the database password as a secret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Secrets Store CSI driver pulls the secret into AKS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>
              <a:lnSpc>
                <a:spcPct val="12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a8b2d8"/>
                </a:solidFill>
                <a:latin typeface="Calibri"/>
              </a:rPr>
              <a:t>Microsoft Defender for Containers enabled on the cluster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Rounded Rectangle 19"/>
          <p:cNvSpPr/>
          <p:nvPr/>
        </p:nvSpPr>
        <p:spPr>
          <a:xfrm>
            <a:off x="4767480" y="3887640"/>
            <a:ext cx="3959280" cy="47916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3" name="TextBox 20"/>
          <p:cNvSpPr/>
          <p:nvPr/>
        </p:nvSpPr>
        <p:spPr>
          <a:xfrm>
            <a:off x="4877640" y="3887640"/>
            <a:ext cx="373932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2000"/>
              </a:lnSpc>
            </a:pPr>
            <a:r>
              <a:rPr b="0" lang="en-US" sz="1150" spc="-1" strike="noStrike">
                <a:solidFill>
                  <a:srgbClr val="f5a623"/>
                </a:solidFill>
                <a:latin typeface="Calibri"/>
              </a:rPr>
              <a:t>App reads its DB password from Key Vault at runtime — nothing sensitive ships in the image or manifest.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Rounded Rectangle 21"/>
          <p:cNvSpPr/>
          <p:nvPr/>
        </p:nvSpPr>
        <p:spPr>
          <a:xfrm>
            <a:off x="4767480" y="4487760"/>
            <a:ext cx="3959280" cy="291600"/>
          </a:xfrm>
          <a:prstGeom prst="roundRect">
            <a:avLst>
              <a:gd name="adj" fmla="val 45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000" rIns="4500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</a:rPr>
              <a:t>$ security_hardening.sh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Rectangle 1"/>
          <p:cNvSpPr/>
          <p:nvPr/>
        </p:nvSpPr>
        <p:spPr>
          <a:xfrm>
            <a:off x="0" y="0"/>
            <a:ext cx="53640" cy="514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6" name="TextBox 2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</a:rPr>
              <a:t>KEY CONCEPTS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Box 3"/>
          <p:cNvSpPr/>
          <p:nvPr/>
        </p:nvSpPr>
        <p:spPr>
          <a:xfrm>
            <a:off x="274320" y="457200"/>
            <a:ext cx="8594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a1e4f"/>
                </a:solidFill>
                <a:latin typeface="Cambria"/>
              </a:rPr>
              <a:t>Production Concepts Introduced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Box 4"/>
          <p:cNvSpPr/>
          <p:nvPr/>
        </p:nvSpPr>
        <p:spPr>
          <a:xfrm>
            <a:off x="237600" y="1149840"/>
            <a:ext cx="447912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1e4f"/>
                </a:solidFill>
                <a:latin typeface="Calibri"/>
              </a:rPr>
              <a:t>Minikube  vs  Azure Kubernetes Service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Rounded Rectangle 5"/>
          <p:cNvSpPr/>
          <p:nvPr/>
        </p:nvSpPr>
        <p:spPr>
          <a:xfrm>
            <a:off x="237600" y="1469880"/>
            <a:ext cx="1499400" cy="254160"/>
          </a:xfrm>
          <a:prstGeom prst="roundRect">
            <a:avLst>
              <a:gd name="adj" fmla="val 1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0" name="Rounded Rectangle 6"/>
          <p:cNvSpPr/>
          <p:nvPr/>
        </p:nvSpPr>
        <p:spPr>
          <a:xfrm>
            <a:off x="1737720" y="1469880"/>
            <a:ext cx="1489320" cy="25416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1" name="TextBox 7"/>
          <p:cNvSpPr/>
          <p:nvPr/>
        </p:nvSpPr>
        <p:spPr>
          <a:xfrm>
            <a:off x="1737720" y="1469880"/>
            <a:ext cx="14893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Minikube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Rounded Rectangle 8"/>
          <p:cNvSpPr/>
          <p:nvPr/>
        </p:nvSpPr>
        <p:spPr>
          <a:xfrm>
            <a:off x="3227760" y="1469880"/>
            <a:ext cx="1489320" cy="25416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3" name="TextBox 9"/>
          <p:cNvSpPr/>
          <p:nvPr/>
        </p:nvSpPr>
        <p:spPr>
          <a:xfrm>
            <a:off x="3227760" y="1469880"/>
            <a:ext cx="14893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f1035"/>
                </a:solidFill>
                <a:latin typeface="Calibri"/>
              </a:rPr>
              <a:t>AKS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Rectangle 10"/>
          <p:cNvSpPr/>
          <p:nvPr/>
        </p:nvSpPr>
        <p:spPr>
          <a:xfrm>
            <a:off x="237600" y="1744920"/>
            <a:ext cx="4479120" cy="254160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5" name="TextBox 11"/>
          <p:cNvSpPr/>
          <p:nvPr/>
        </p:nvSpPr>
        <p:spPr>
          <a:xfrm>
            <a:off x="297720" y="1744920"/>
            <a:ext cx="14392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Control Plane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Box 12"/>
          <p:cNvSpPr/>
          <p:nvPr/>
        </p:nvSpPr>
        <p:spPr>
          <a:xfrm>
            <a:off x="1797480" y="174492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User Managed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Box 13"/>
          <p:cNvSpPr/>
          <p:nvPr/>
        </p:nvSpPr>
        <p:spPr>
          <a:xfrm>
            <a:off x="3287520" y="174492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Azure Managed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Box 14"/>
          <p:cNvSpPr/>
          <p:nvPr/>
        </p:nvSpPr>
        <p:spPr>
          <a:xfrm>
            <a:off x="297720" y="2000160"/>
            <a:ext cx="14392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Nodes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Box 15"/>
          <p:cNvSpPr/>
          <p:nvPr/>
        </p:nvSpPr>
        <p:spPr>
          <a:xfrm>
            <a:off x="1797480" y="200016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Local VM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Box 16"/>
          <p:cNvSpPr/>
          <p:nvPr/>
        </p:nvSpPr>
        <p:spPr>
          <a:xfrm>
            <a:off x="3287520" y="200016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Azure VMs (VMSS)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Rectangle 17"/>
          <p:cNvSpPr/>
          <p:nvPr/>
        </p:nvSpPr>
        <p:spPr>
          <a:xfrm>
            <a:off x="237600" y="2255040"/>
            <a:ext cx="4479120" cy="254160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2" name="TextBox 18"/>
          <p:cNvSpPr/>
          <p:nvPr/>
        </p:nvSpPr>
        <p:spPr>
          <a:xfrm>
            <a:off x="297720" y="2255040"/>
            <a:ext cx="14392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Scaling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Box 19"/>
          <p:cNvSpPr/>
          <p:nvPr/>
        </p:nvSpPr>
        <p:spPr>
          <a:xfrm>
            <a:off x="1797480" y="225504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Manual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Box 20"/>
          <p:cNvSpPr/>
          <p:nvPr/>
        </p:nvSpPr>
        <p:spPr>
          <a:xfrm>
            <a:off x="3287520" y="225504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HPA + Managed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Box 21"/>
          <p:cNvSpPr/>
          <p:nvPr/>
        </p:nvSpPr>
        <p:spPr>
          <a:xfrm>
            <a:off x="297720" y="2509920"/>
            <a:ext cx="14392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Load Balancer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Box 22"/>
          <p:cNvSpPr/>
          <p:nvPr/>
        </p:nvSpPr>
        <p:spPr>
          <a:xfrm>
            <a:off x="1797480" y="250992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Limited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Box 23"/>
          <p:cNvSpPr/>
          <p:nvPr/>
        </p:nvSpPr>
        <p:spPr>
          <a:xfrm>
            <a:off x="3287520" y="250992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Native Azure LB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Rectangle 24"/>
          <p:cNvSpPr/>
          <p:nvPr/>
        </p:nvSpPr>
        <p:spPr>
          <a:xfrm>
            <a:off x="237600" y="2765160"/>
            <a:ext cx="4479120" cy="254160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9" name="TextBox 25"/>
          <p:cNvSpPr/>
          <p:nvPr/>
        </p:nvSpPr>
        <p:spPr>
          <a:xfrm>
            <a:off x="297720" y="2765160"/>
            <a:ext cx="14392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Identity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Box 26"/>
          <p:cNvSpPr/>
          <p:nvPr/>
        </p:nvSpPr>
        <p:spPr>
          <a:xfrm>
            <a:off x="1797480" y="276516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None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Box 27"/>
          <p:cNvSpPr/>
          <p:nvPr/>
        </p:nvSpPr>
        <p:spPr>
          <a:xfrm>
            <a:off x="3287520" y="276516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Managed Identity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Box 28"/>
          <p:cNvSpPr/>
          <p:nvPr/>
        </p:nvSpPr>
        <p:spPr>
          <a:xfrm>
            <a:off x="297720" y="3020040"/>
            <a:ext cx="14392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80" spc="-1" strike="noStrike">
                <a:solidFill>
                  <a:srgbClr val="1a1e4f"/>
                </a:solidFill>
                <a:latin typeface="Calibri"/>
              </a:rPr>
              <a:t>Registry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Box 29"/>
          <p:cNvSpPr/>
          <p:nvPr/>
        </p:nvSpPr>
        <p:spPr>
          <a:xfrm>
            <a:off x="1797480" y="302004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Manual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Box 30"/>
          <p:cNvSpPr/>
          <p:nvPr/>
        </p:nvSpPr>
        <p:spPr>
          <a:xfrm>
            <a:off x="3287520" y="3020040"/>
            <a:ext cx="1389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444a6a"/>
                </a:solidFill>
                <a:latin typeface="Courier New"/>
              </a:rPr>
              <a:t>ACR Integration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Rounded Rectangle 31"/>
          <p:cNvSpPr/>
          <p:nvPr/>
        </p:nvSpPr>
        <p:spPr>
          <a:xfrm>
            <a:off x="5050080" y="1149840"/>
            <a:ext cx="3854160" cy="55692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6" name="Rounded Rectangle 32"/>
          <p:cNvSpPr/>
          <p:nvPr/>
        </p:nvSpPr>
        <p:spPr>
          <a:xfrm>
            <a:off x="5140080" y="1298880"/>
            <a:ext cx="259200" cy="259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47" name="Picture 33" descr="k8s_wheel_orange.png"/>
          <p:cNvPicPr/>
          <p:nvPr/>
        </p:nvPicPr>
        <p:blipFill>
          <a:blip r:embed="rId1"/>
          <a:stretch/>
        </p:blipFill>
        <p:spPr>
          <a:xfrm>
            <a:off x="5191920" y="1350720"/>
            <a:ext cx="155160" cy="155160"/>
          </a:xfrm>
          <a:prstGeom prst="rect">
            <a:avLst/>
          </a:prstGeom>
          <a:ln w="0">
            <a:noFill/>
          </a:ln>
        </p:spPr>
      </p:pic>
      <p:sp>
        <p:nvSpPr>
          <p:cNvPr id="548" name="TextBox 34"/>
          <p:cNvSpPr/>
          <p:nvPr/>
        </p:nvSpPr>
        <p:spPr>
          <a:xfrm>
            <a:off x="5510160" y="1220040"/>
            <a:ext cx="33044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Managed Control Plane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Box 35"/>
          <p:cNvSpPr/>
          <p:nvPr/>
        </p:nvSpPr>
        <p:spPr>
          <a:xfrm>
            <a:off x="5510160" y="1431720"/>
            <a:ext cx="33044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</a:pPr>
            <a:r>
              <a:rPr b="0" lang="en-US" sz="830" spc="-1" strike="noStrike">
                <a:solidFill>
                  <a:srgbClr val="a8b2d8"/>
                </a:solidFill>
                <a:latin typeface="Calibri"/>
              </a:rPr>
              <a:t>Azure runs the API server, scheduler, and etcd — you manage workloads, not infra.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Rounded Rectangle 36"/>
          <p:cNvSpPr/>
          <p:nvPr/>
        </p:nvSpPr>
        <p:spPr>
          <a:xfrm>
            <a:off x="5050080" y="1797480"/>
            <a:ext cx="3854160" cy="55692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1" name="Rounded Rectangle 37"/>
          <p:cNvSpPr/>
          <p:nvPr/>
        </p:nvSpPr>
        <p:spPr>
          <a:xfrm>
            <a:off x="5140080" y="1946160"/>
            <a:ext cx="259200" cy="259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52" name="Picture 38" descr="cycle_orange.png"/>
          <p:cNvPicPr/>
          <p:nvPr/>
        </p:nvPicPr>
        <p:blipFill>
          <a:blip r:embed="rId2"/>
          <a:stretch/>
        </p:blipFill>
        <p:spPr>
          <a:xfrm>
            <a:off x="5191920" y="1998360"/>
            <a:ext cx="155160" cy="155160"/>
          </a:xfrm>
          <a:prstGeom prst="rect">
            <a:avLst/>
          </a:prstGeom>
          <a:ln w="0">
            <a:noFill/>
          </a:ln>
        </p:spPr>
      </p:pic>
      <p:sp>
        <p:nvSpPr>
          <p:cNvPr id="553" name="TextBox 39"/>
          <p:cNvSpPr/>
          <p:nvPr/>
        </p:nvSpPr>
        <p:spPr>
          <a:xfrm>
            <a:off x="5510160" y="1867680"/>
            <a:ext cx="33044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Pipeline-Driven Delivery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Box 40"/>
          <p:cNvSpPr/>
          <p:nvPr/>
        </p:nvSpPr>
        <p:spPr>
          <a:xfrm>
            <a:off x="5510160" y="2079360"/>
            <a:ext cx="33044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</a:pPr>
            <a:r>
              <a:rPr b="0" lang="en-US" sz="830" spc="-1" strike="noStrike">
                <a:solidFill>
                  <a:srgbClr val="a8b2d8"/>
                </a:solidFill>
                <a:latin typeface="Calibri"/>
              </a:rPr>
              <a:t>Every git push builds, tags by Build ID, and deploys to AKS automatically.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Rounded Rectangle 41"/>
          <p:cNvSpPr/>
          <p:nvPr/>
        </p:nvSpPr>
        <p:spPr>
          <a:xfrm>
            <a:off x="5050080" y="2445120"/>
            <a:ext cx="3854160" cy="55692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6" name="Rounded Rectangle 42"/>
          <p:cNvSpPr/>
          <p:nvPr/>
        </p:nvSpPr>
        <p:spPr>
          <a:xfrm>
            <a:off x="5140080" y="2593800"/>
            <a:ext cx="259200" cy="259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57" name="Picture 43" descr="monitor_orange.png"/>
          <p:cNvPicPr/>
          <p:nvPr/>
        </p:nvPicPr>
        <p:blipFill>
          <a:blip r:embed="rId3"/>
          <a:stretch/>
        </p:blipFill>
        <p:spPr>
          <a:xfrm>
            <a:off x="5191920" y="2645640"/>
            <a:ext cx="155160" cy="155160"/>
          </a:xfrm>
          <a:prstGeom prst="rect">
            <a:avLst/>
          </a:prstGeom>
          <a:ln w="0">
            <a:noFill/>
          </a:ln>
        </p:spPr>
      </p:pic>
      <p:sp>
        <p:nvSpPr>
          <p:cNvPr id="558" name="TextBox 44"/>
          <p:cNvSpPr/>
          <p:nvPr/>
        </p:nvSpPr>
        <p:spPr>
          <a:xfrm>
            <a:off x="5510160" y="2514960"/>
            <a:ext cx="33044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Observability by Default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Box 45"/>
          <p:cNvSpPr/>
          <p:nvPr/>
        </p:nvSpPr>
        <p:spPr>
          <a:xfrm>
            <a:off x="5510160" y="2727000"/>
            <a:ext cx="33044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</a:pPr>
            <a:r>
              <a:rPr b="0" lang="en-US" sz="830" spc="-1" strike="noStrike">
                <a:solidFill>
                  <a:srgbClr val="a8b2d8"/>
                </a:solidFill>
                <a:latin typeface="Calibri"/>
              </a:rPr>
              <a:t>Azure Monitor and KQL turn cluster health into alerts, not guesswork.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Rounded Rectangle 46"/>
          <p:cNvSpPr/>
          <p:nvPr/>
        </p:nvSpPr>
        <p:spPr>
          <a:xfrm>
            <a:off x="5050080" y="3092400"/>
            <a:ext cx="3854160" cy="556920"/>
          </a:xfrm>
          <a:prstGeom prst="roundRect">
            <a:avLst>
              <a:gd name="adj" fmla="val 10000"/>
            </a:avLst>
          </a:prstGeom>
          <a:solidFill>
            <a:srgbClr val="0f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1" name="Rounded Rectangle 47"/>
          <p:cNvSpPr/>
          <p:nvPr/>
        </p:nvSpPr>
        <p:spPr>
          <a:xfrm>
            <a:off x="5140080" y="3241080"/>
            <a:ext cx="259200" cy="259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62" name="Picture 48" descr="shield_orange.png"/>
          <p:cNvPicPr/>
          <p:nvPr/>
        </p:nvPicPr>
        <p:blipFill>
          <a:blip r:embed="rId4"/>
          <a:stretch/>
        </p:blipFill>
        <p:spPr>
          <a:xfrm>
            <a:off x="5191920" y="3293280"/>
            <a:ext cx="155160" cy="155160"/>
          </a:xfrm>
          <a:prstGeom prst="rect">
            <a:avLst/>
          </a:prstGeom>
          <a:ln w="0">
            <a:noFill/>
          </a:ln>
        </p:spPr>
      </p:pic>
      <p:sp>
        <p:nvSpPr>
          <p:cNvPr id="563" name="TextBox 49"/>
          <p:cNvSpPr/>
          <p:nvPr/>
        </p:nvSpPr>
        <p:spPr>
          <a:xfrm>
            <a:off x="5510160" y="3162600"/>
            <a:ext cx="33044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Least-Privilege by Default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Box 50"/>
          <p:cNvSpPr/>
          <p:nvPr/>
        </p:nvSpPr>
        <p:spPr>
          <a:xfrm>
            <a:off x="5510160" y="3374280"/>
            <a:ext cx="33044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</a:pPr>
            <a:r>
              <a:rPr b="0" lang="en-US" sz="830" spc="-1" strike="noStrike">
                <a:solidFill>
                  <a:srgbClr val="a8b2d8"/>
                </a:solidFill>
                <a:latin typeface="Calibri"/>
              </a:rPr>
              <a:t>RBAC scoping and Key Vault remove passwords from YAML entirely.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Box 51"/>
          <p:cNvSpPr/>
          <p:nvPr/>
        </p:nvSpPr>
        <p:spPr>
          <a:xfrm>
            <a:off x="321480" y="3650040"/>
            <a:ext cx="4479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892b8"/>
                </a:solidFill>
                <a:latin typeface="Calibri"/>
              </a:rPr>
              <a:t>Production Concepts Shipped This Week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Rounded Rectangle 52"/>
          <p:cNvSpPr/>
          <p:nvPr/>
        </p:nvSpPr>
        <p:spPr>
          <a:xfrm>
            <a:off x="255960" y="3970080"/>
            <a:ext cx="1517760" cy="35928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Managed Kubernetes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Rounded Rectangle 53"/>
          <p:cNvSpPr/>
          <p:nvPr/>
        </p:nvSpPr>
        <p:spPr>
          <a:xfrm>
            <a:off x="2030040" y="3970080"/>
            <a:ext cx="1517760" cy="35928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Service Discovery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Rounded Rectangle 54"/>
          <p:cNvSpPr/>
          <p:nvPr/>
        </p:nvSpPr>
        <p:spPr>
          <a:xfrm>
            <a:off x="3803760" y="3970080"/>
            <a:ext cx="1517760" cy="35928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Ingress Routing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Rounded Rectangle 55"/>
          <p:cNvSpPr/>
          <p:nvPr/>
        </p:nvSpPr>
        <p:spPr>
          <a:xfrm>
            <a:off x="5577840" y="3970080"/>
            <a:ext cx="1517760" cy="35928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Autoscaling (HPA)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Rounded Rectangle 56"/>
          <p:cNvSpPr/>
          <p:nvPr/>
        </p:nvSpPr>
        <p:spPr>
          <a:xfrm>
            <a:off x="7351920" y="3970080"/>
            <a:ext cx="1517760" cy="35928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CI/CD Automation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Rounded Rectangle 57"/>
          <p:cNvSpPr/>
          <p:nvPr/>
        </p:nvSpPr>
        <p:spPr>
          <a:xfrm>
            <a:off x="255960" y="4420080"/>
            <a:ext cx="1517760" cy="35928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Multi-Arch Builds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Rounded Rectangle 58"/>
          <p:cNvSpPr/>
          <p:nvPr/>
        </p:nvSpPr>
        <p:spPr>
          <a:xfrm>
            <a:off x="3803760" y="4441320"/>
            <a:ext cx="1517760" cy="35928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Observability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Rounded Rectangle 59"/>
          <p:cNvSpPr/>
          <p:nvPr/>
        </p:nvSpPr>
        <p:spPr>
          <a:xfrm>
            <a:off x="5577840" y="4441320"/>
            <a:ext cx="1517760" cy="35928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RBAC 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Rounded Rectangle 1"/>
          <p:cNvSpPr/>
          <p:nvPr/>
        </p:nvSpPr>
        <p:spPr>
          <a:xfrm>
            <a:off x="7351920" y="4441320"/>
            <a:ext cx="1517760" cy="35928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Secrets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Rounded Rectangle 2"/>
          <p:cNvSpPr/>
          <p:nvPr/>
        </p:nvSpPr>
        <p:spPr>
          <a:xfrm>
            <a:off x="2030040" y="4441320"/>
            <a:ext cx="1517760" cy="359280"/>
          </a:xfrm>
          <a:prstGeom prst="roundRect">
            <a:avLst>
              <a:gd name="adj" fmla="val 22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0120" rIns="6012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</a:rPr>
              <a:t>Multi-Arch Builds</a:t>
            </a:r>
            <a:endParaRPr b="0" lang="en-US" sz="9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ectangle 1"/>
          <p:cNvSpPr/>
          <p:nvPr/>
        </p:nvSpPr>
        <p:spPr>
          <a:xfrm>
            <a:off x="0" y="0"/>
            <a:ext cx="53640" cy="514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7" name="TextBox 2"/>
          <p:cNvSpPr/>
          <p:nvPr/>
        </p:nvSpPr>
        <p:spPr>
          <a:xfrm>
            <a:off x="274320" y="228600"/>
            <a:ext cx="8594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50" spc="341" strike="noStrike">
                <a:solidFill>
                  <a:srgbClr val="f5a623"/>
                </a:solidFill>
                <a:latin typeface="Calibri"/>
              </a:rPr>
              <a:t>WEEK 2  ·  CONCLUSION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Box 3"/>
          <p:cNvSpPr/>
          <p:nvPr/>
        </p:nvSpPr>
        <p:spPr>
          <a:xfrm>
            <a:off x="274320" y="479880"/>
            <a:ext cx="8594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800" spc="-1" strike="noStrike">
                <a:solidFill>
                  <a:srgbClr val="ffffff"/>
                </a:solidFill>
                <a:latin typeface="Cambria"/>
              </a:rPr>
              <a:t>Week 2 Completed.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Box 4"/>
          <p:cNvSpPr/>
          <p:nvPr/>
        </p:nvSpPr>
        <p:spPr>
          <a:xfrm>
            <a:off x="274320" y="1230120"/>
            <a:ext cx="859428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8000"/>
              </a:lnSpc>
            </a:pPr>
            <a:r>
              <a:rPr b="0" i="1" lang="en-US" sz="1300" spc="-1" strike="noStrike">
                <a:solidFill>
                  <a:srgbClr val="f5a623"/>
                </a:solidFill>
                <a:latin typeface="Calibri"/>
              </a:rPr>
              <a:t>“</a:t>
            </a:r>
            <a:r>
              <a:rPr b="0" i="1" lang="en-US" sz="1300" spc="-1" strike="noStrike">
                <a:solidFill>
                  <a:srgbClr val="f5a623"/>
                </a:solidFill>
                <a:latin typeface="Calibri"/>
              </a:rPr>
              <a:t>You did not just deploy to Kubernetes. You learned what Azure quietly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8000"/>
              </a:lnSpc>
            </a:pPr>
            <a:r>
              <a:rPr b="0" i="1" lang="en-US" sz="1300" spc="-1" strike="noStrike">
                <a:solidFill>
                  <a:srgbClr val="f5a623"/>
                </a:solidFill>
                <a:latin typeface="Calibri"/>
              </a:rPr>
              <a:t>automates — and built the pipeline that gets your code there.”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Rounded Rectangle 5"/>
          <p:cNvSpPr/>
          <p:nvPr/>
        </p:nvSpPr>
        <p:spPr>
          <a:xfrm>
            <a:off x="237600" y="1919880"/>
            <a:ext cx="1638360" cy="239940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1" name="TextBox 6"/>
          <p:cNvSpPr/>
          <p:nvPr/>
        </p:nvSpPr>
        <p:spPr>
          <a:xfrm>
            <a:off x="237600" y="2070000"/>
            <a:ext cx="1638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C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Box 7"/>
          <p:cNvSpPr/>
          <p:nvPr/>
        </p:nvSpPr>
        <p:spPr>
          <a:xfrm>
            <a:off x="237600" y="2800080"/>
            <a:ext cx="16383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Cluster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83" name="Connector 8"/>
          <p:cNvCxnSpPr/>
          <p:nvPr/>
        </p:nvCxnSpPr>
        <p:spPr>
          <a:xfrm>
            <a:off x="532440" y="3109680"/>
            <a:ext cx="1049760" cy="72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584" name="TextBox 9"/>
          <p:cNvSpPr/>
          <p:nvPr/>
        </p:nvSpPr>
        <p:spPr>
          <a:xfrm>
            <a:off x="307440" y="3200040"/>
            <a:ext cx="1498320" cy="10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AKS · Node Pools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Managed Identity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ACR Integration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Rounded Rectangle 10"/>
          <p:cNvSpPr/>
          <p:nvPr/>
        </p:nvSpPr>
        <p:spPr>
          <a:xfrm>
            <a:off x="1976760" y="1919880"/>
            <a:ext cx="1638360" cy="239940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6" name="TextBox 11"/>
          <p:cNvSpPr/>
          <p:nvPr/>
        </p:nvSpPr>
        <p:spPr>
          <a:xfrm>
            <a:off x="1976760" y="2070000"/>
            <a:ext cx="1638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D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Box 12"/>
          <p:cNvSpPr/>
          <p:nvPr/>
        </p:nvSpPr>
        <p:spPr>
          <a:xfrm>
            <a:off x="1976760" y="2800080"/>
            <a:ext cx="16383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Deploy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88" name="Connector 13"/>
          <p:cNvCxnSpPr/>
          <p:nvPr/>
        </p:nvCxnSpPr>
        <p:spPr>
          <a:xfrm>
            <a:off x="2271600" y="3109680"/>
            <a:ext cx="1049400" cy="72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589" name="TextBox 14"/>
          <p:cNvSpPr/>
          <p:nvPr/>
        </p:nvSpPr>
        <p:spPr>
          <a:xfrm>
            <a:off x="2046600" y="3200040"/>
            <a:ext cx="1498320" cy="10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LoadBalancer · Ingress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HPA Autoscaling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Rolling Updates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Rounded Rectangle 15"/>
          <p:cNvSpPr/>
          <p:nvPr/>
        </p:nvSpPr>
        <p:spPr>
          <a:xfrm>
            <a:off x="3715560" y="1919880"/>
            <a:ext cx="1638360" cy="239940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1" name="TextBox 16"/>
          <p:cNvSpPr/>
          <p:nvPr/>
        </p:nvSpPr>
        <p:spPr>
          <a:xfrm>
            <a:off x="3715560" y="2070000"/>
            <a:ext cx="1638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P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Box 17"/>
          <p:cNvSpPr/>
          <p:nvPr/>
        </p:nvSpPr>
        <p:spPr>
          <a:xfrm>
            <a:off x="3715560" y="2800080"/>
            <a:ext cx="16383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Pipeline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93" name="Connector 18"/>
          <p:cNvCxnSpPr/>
          <p:nvPr/>
        </p:nvCxnSpPr>
        <p:spPr>
          <a:xfrm>
            <a:off x="4010400" y="3109680"/>
            <a:ext cx="1049760" cy="72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594" name="TextBox 19"/>
          <p:cNvSpPr/>
          <p:nvPr/>
        </p:nvSpPr>
        <p:spPr>
          <a:xfrm>
            <a:off x="3785760" y="3200040"/>
            <a:ext cx="1498320" cy="10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Azure DevOps Repos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YAML Pipelines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Build-ID Tagging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Rounded Rectangle 20"/>
          <p:cNvSpPr/>
          <p:nvPr/>
        </p:nvSpPr>
        <p:spPr>
          <a:xfrm>
            <a:off x="5454720" y="1919880"/>
            <a:ext cx="1638360" cy="239940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6" name="TextBox 21"/>
          <p:cNvSpPr/>
          <p:nvPr/>
        </p:nvSpPr>
        <p:spPr>
          <a:xfrm>
            <a:off x="5454720" y="2070000"/>
            <a:ext cx="1638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O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Box 22"/>
          <p:cNvSpPr/>
          <p:nvPr/>
        </p:nvSpPr>
        <p:spPr>
          <a:xfrm>
            <a:off x="5454720" y="2800080"/>
            <a:ext cx="16383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Observe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98" name="Connector 23"/>
          <p:cNvCxnSpPr/>
          <p:nvPr/>
        </p:nvCxnSpPr>
        <p:spPr>
          <a:xfrm>
            <a:off x="5749560" y="3109680"/>
            <a:ext cx="1049400" cy="72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599" name="TextBox 24"/>
          <p:cNvSpPr/>
          <p:nvPr/>
        </p:nvSpPr>
        <p:spPr>
          <a:xfrm>
            <a:off x="5524560" y="3200040"/>
            <a:ext cx="1498320" cy="10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Azure Monitor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Log Analytics · KQL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Metric Alerts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Rounded Rectangle 25"/>
          <p:cNvSpPr/>
          <p:nvPr/>
        </p:nvSpPr>
        <p:spPr>
          <a:xfrm>
            <a:off x="7193520" y="1919880"/>
            <a:ext cx="1638360" cy="2399400"/>
          </a:xfrm>
          <a:prstGeom prst="roundRect">
            <a:avLst>
              <a:gd name="adj" fmla="val 10000"/>
            </a:avLst>
          </a:prstGeom>
          <a:solidFill>
            <a:srgbClr val="2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1" name="TextBox 26"/>
          <p:cNvSpPr/>
          <p:nvPr/>
        </p:nvSpPr>
        <p:spPr>
          <a:xfrm>
            <a:off x="7193520" y="2070000"/>
            <a:ext cx="1638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f5a623"/>
                </a:solidFill>
                <a:latin typeface="Cambria"/>
              </a:rPr>
              <a:t>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Box 27"/>
          <p:cNvSpPr/>
          <p:nvPr/>
        </p:nvSpPr>
        <p:spPr>
          <a:xfrm>
            <a:off x="7193520" y="2800080"/>
            <a:ext cx="16383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Secure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03" name="Connector 28"/>
          <p:cNvCxnSpPr/>
          <p:nvPr/>
        </p:nvCxnSpPr>
        <p:spPr>
          <a:xfrm>
            <a:off x="7488360" y="3109680"/>
            <a:ext cx="1049760" cy="720"/>
          </a:xfrm>
          <a:prstGeom prst="straightConnector1">
            <a:avLst/>
          </a:prstGeom>
          <a:ln w="9525">
            <a:solidFill>
              <a:srgbClr val="4a4f8a"/>
            </a:solidFill>
            <a:round/>
          </a:ln>
        </p:spPr>
      </p:cxnSp>
      <p:sp>
        <p:nvSpPr>
          <p:cNvPr id="604" name="TextBox 29"/>
          <p:cNvSpPr/>
          <p:nvPr/>
        </p:nvSpPr>
        <p:spPr>
          <a:xfrm>
            <a:off x="7263720" y="3200040"/>
            <a:ext cx="1498320" cy="10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RBAC Roles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Key Vault Secrets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</a:rPr>
              <a:t>Microsoft Defender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Rounded Rectangle 30"/>
          <p:cNvSpPr/>
          <p:nvPr/>
        </p:nvSpPr>
        <p:spPr>
          <a:xfrm>
            <a:off x="237600" y="4470120"/>
            <a:ext cx="8594280" cy="599400"/>
          </a:xfrm>
          <a:prstGeom prst="roundRect">
            <a:avLst>
              <a:gd name="adj" fmla="val 10000"/>
            </a:avLst>
          </a:prstGeom>
          <a:solidFill>
            <a:srgbClr val="1a1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6" name="TextBox 31"/>
          <p:cNvSpPr/>
          <p:nvPr/>
        </p:nvSpPr>
        <p:spPr>
          <a:xfrm>
            <a:off x="349920" y="4470120"/>
            <a:ext cx="149940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900" spc="245" strike="noStrike">
                <a:solidFill>
                  <a:srgbClr val="f5a623"/>
                </a:solidFill>
                <a:latin typeface="Calibri"/>
              </a:rPr>
              <a:t>WHAT'S NEXT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Box 32"/>
          <p:cNvSpPr/>
          <p:nvPr/>
        </p:nvSpPr>
        <p:spPr>
          <a:xfrm>
            <a:off x="349920" y="4749840"/>
            <a:ext cx="149940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Week 3 →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Box 33"/>
          <p:cNvSpPr/>
          <p:nvPr/>
        </p:nvSpPr>
        <p:spPr>
          <a:xfrm>
            <a:off x="1917720" y="4470120"/>
            <a:ext cx="13104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Azure AI Services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(Vision, Language)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Box 34"/>
          <p:cNvSpPr/>
          <p:nvPr/>
        </p:nvSpPr>
        <p:spPr>
          <a:xfrm>
            <a:off x="3308760" y="4470120"/>
            <a:ext cx="13104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Azure ML +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AutoML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Box 35"/>
          <p:cNvSpPr/>
          <p:nvPr/>
        </p:nvSpPr>
        <p:spPr>
          <a:xfrm>
            <a:off x="4699440" y="4470120"/>
            <a:ext cx="13104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Azure OpenAI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GPT-4o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Box 36"/>
          <p:cNvSpPr/>
          <p:nvPr/>
        </p:nvSpPr>
        <p:spPr>
          <a:xfrm>
            <a:off x="6090480" y="4470120"/>
            <a:ext cx="13104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RAG + Embeddings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Box 37"/>
          <p:cNvSpPr/>
          <p:nvPr/>
        </p:nvSpPr>
        <p:spPr>
          <a:xfrm>
            <a:off x="7481520" y="4470120"/>
            <a:ext cx="13104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AI-Powered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DevOps App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2026-06-12T19:28:29Z</dcterms:created>
  <dc:creator>PptxGenJS</dc:creator>
  <dc:description/>
  <dc:language>en-US</dc:language>
  <cp:lastModifiedBy/>
  <dcterms:modified xsi:type="dcterms:W3CDTF">2026-06-23T18:08:04Z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