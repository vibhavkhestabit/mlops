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605F905-B096-45C8-86EE-85F4683B169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5E6E9E-A856-4AE8-A290-C3486AD637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58D996-8939-450F-8D3D-4CAF965526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F9C787-7615-441F-B5A0-C0BA7DD898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78603A-B581-47EC-91ED-364743AA8A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0C73F5-8E85-45FD-AB97-853F1DFA5E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521A33-BBA9-453A-B5E4-A6F8C832A1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64C372-4E5C-4DB5-BC73-AE5F62F3CD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320ACB-2D32-40DF-A9CC-1C3135819E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29C928-8DD3-4A77-9BB0-70FB2793EB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CAA813-1523-417A-B73F-7418FC1B38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AFDFF6-E8D8-4CB1-B5DA-61780EB024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B1690D-C085-4680-9957-8105B77337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4DA257-811D-423D-AE34-3A033D88E4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2E7D48-DB29-4066-B9E8-E9670022DB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E428FB-8697-404D-81E4-63668B7F02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A90E36-DDA7-4E80-9F66-7BF8C232AF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5C2999-B85A-4D88-93BA-112A799634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217920" y="0"/>
            <a:ext cx="2924280" cy="5141880"/>
          </a:xfrm>
          <a:prstGeom prst="rect">
            <a:avLst/>
          </a:prstGeom>
          <a:solidFill>
            <a:srgbClr val="0a1e34"/>
          </a:solidFill>
          <a:ln w="127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199560" y="457200"/>
            <a:ext cx="25560" cy="420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0"/>
            <a:ext cx="9142200" cy="39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27432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891b2"/>
                </a:solidFill>
                <a:latin typeface="Calibri"/>
                <a:ea typeface="Calibri"/>
              </a:rPr>
              <a:t>DEVOPS LAUNCHPAD  ·  3-WEEK BOOTCAMP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603360"/>
            <a:ext cx="54846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DevOps Launchpad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1316880"/>
            <a:ext cx="54846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2d3ee"/>
                </a:solidFill>
                <a:latin typeface="Calibri"/>
                <a:ea typeface="Calibri"/>
              </a:rPr>
              <a:t>Vibhav Khaneja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94360" y="2176200"/>
            <a:ext cx="3838680" cy="14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2304360"/>
            <a:ext cx="54846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Linux  ·  Multi-Stack Deployment  ·  Microservices &amp; Docker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94360" y="2944440"/>
            <a:ext cx="1260000" cy="14796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94360" y="2944440"/>
            <a:ext cx="12600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94360" y="3072240"/>
            <a:ext cx="1260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3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94360" y="3785760"/>
            <a:ext cx="1260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Weeks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984320" y="2944440"/>
            <a:ext cx="1260000" cy="14796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984320" y="2944440"/>
            <a:ext cx="12600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984320" y="3072240"/>
            <a:ext cx="1260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50+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984320" y="3785760"/>
            <a:ext cx="1260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Scripts Built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374280" y="2944440"/>
            <a:ext cx="1260000" cy="14796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3374280" y="2944440"/>
            <a:ext cx="12600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3374280" y="3072240"/>
            <a:ext cx="1260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20+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3374280" y="3785760"/>
            <a:ext cx="1260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Docker Services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763880" y="2944440"/>
            <a:ext cx="1260000" cy="14796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763880" y="2944440"/>
            <a:ext cx="12600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763880" y="3072240"/>
            <a:ext cx="1260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22d3ee"/>
                </a:solidFill>
                <a:latin typeface="Calibri"/>
                <a:ea typeface="Calibri"/>
              </a:rPr>
              <a:t>3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4763880" y="3785760"/>
            <a:ext cx="1260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Prod Stacks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446520" y="502920"/>
            <a:ext cx="24670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386" strike="noStrike">
                <a:solidFill>
                  <a:srgbClr val="0891b2"/>
                </a:solidFill>
                <a:latin typeface="Calibri"/>
                <a:ea typeface="Calibri"/>
              </a:rPr>
              <a:t>PROGRAMME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446520" y="786240"/>
            <a:ext cx="2467080" cy="1476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446520" y="1024200"/>
            <a:ext cx="501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6446520" y="1481400"/>
            <a:ext cx="24670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0891b2"/>
                </a:solidFill>
                <a:latin typeface="Calibri"/>
                <a:ea typeface="Calibri"/>
              </a:rPr>
              <a:t>Week 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446520" y="1719000"/>
            <a:ext cx="2467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Linux &amp; Infrastructure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446520" y="2258640"/>
            <a:ext cx="501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446520" y="2715840"/>
            <a:ext cx="24670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0891b2"/>
                </a:solidFill>
                <a:latin typeface="Calibri"/>
                <a:ea typeface="Calibri"/>
              </a:rPr>
              <a:t>Week 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6446520" y="2953440"/>
            <a:ext cx="2467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App Deployment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6446520" y="3493080"/>
            <a:ext cx="501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3356"/>
                </a:solidFill>
                <a:latin typeface="Calibri"/>
                <a:ea typeface="Calibri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6446520" y="3950280"/>
            <a:ext cx="24670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0891b2"/>
                </a:solidFill>
                <a:latin typeface="Calibri"/>
                <a:ea typeface="Calibri"/>
              </a:rPr>
              <a:t>Week 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6446520" y="4187880"/>
            <a:ext cx="2467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  <a:ea typeface="Calibri"/>
              </a:rPr>
              <a:t>Docker &amp; Microservices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891b2"/>
                </a:solidFill>
                <a:latin typeface="Calibri"/>
                <a:ea typeface="Calibri"/>
              </a:rPr>
              <a:t>OVERVIEW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The 3-Week Learning Arc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384120" y="1234440"/>
            <a:ext cx="2586960" cy="372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384120" y="1234440"/>
            <a:ext cx="258696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1938600" y="1298520"/>
            <a:ext cx="100404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1a3356"/>
                </a:solidFill>
                <a:latin typeface="Calibri"/>
                <a:ea typeface="Calibri"/>
              </a:rPr>
              <a:t>01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548640" y="1389960"/>
            <a:ext cx="821160" cy="25416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548640" y="1408320"/>
            <a:ext cx="8211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Week 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548640" y="1874520"/>
            <a:ext cx="2394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Linux 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548640" y="2597040"/>
            <a:ext cx="23940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"How production servers think"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548640" y="294444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548640" y="315000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694800" y="30448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System monitoring &amp; automation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548640" y="348840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694800" y="33832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User management &amp; permissions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548640" y="382680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694800" y="37216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BIND9 DNS server setup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548640" y="416520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694800" y="40600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UFW, fail2ban, SSH hardening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548640" y="450360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694800" y="439812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LVM storage &amp; centralised logging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3237120" y="1234440"/>
            <a:ext cx="2631600" cy="372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3"/>
          <p:cNvSpPr/>
          <p:nvPr/>
        </p:nvSpPr>
        <p:spPr>
          <a:xfrm>
            <a:off x="3237120" y="1234440"/>
            <a:ext cx="263160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4791600" y="1298520"/>
            <a:ext cx="100404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1a3356"/>
                </a:solidFill>
                <a:latin typeface="Calibri"/>
                <a:ea typeface="Calibri"/>
              </a:rPr>
              <a:t>02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5"/>
          <p:cNvSpPr/>
          <p:nvPr/>
        </p:nvSpPr>
        <p:spPr>
          <a:xfrm>
            <a:off x="3401640" y="1389960"/>
            <a:ext cx="821160" cy="25416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3401640" y="1408320"/>
            <a:ext cx="8211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Week 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3401640" y="1874520"/>
            <a:ext cx="2394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App Deployment 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Web Servers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8"/>
          <p:cNvSpPr/>
          <p:nvPr/>
        </p:nvSpPr>
        <p:spPr>
          <a:xfrm>
            <a:off x="3401640" y="2597040"/>
            <a:ext cx="23940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"Systems that survive production"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9"/>
          <p:cNvSpPr/>
          <p:nvPr/>
        </p:nvSpPr>
        <p:spPr>
          <a:xfrm>
            <a:off x="3401640" y="294444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30"/>
          <p:cNvSpPr/>
          <p:nvPr/>
        </p:nvSpPr>
        <p:spPr>
          <a:xfrm>
            <a:off x="3401640" y="315000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1"/>
          <p:cNvSpPr/>
          <p:nvPr/>
        </p:nvSpPr>
        <p:spPr>
          <a:xfrm>
            <a:off x="3547800" y="30448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Node / Python / PHP runtimes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32"/>
          <p:cNvSpPr/>
          <p:nvPr/>
        </p:nvSpPr>
        <p:spPr>
          <a:xfrm>
            <a:off x="3401640" y="348840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3"/>
          <p:cNvSpPr/>
          <p:nvPr/>
        </p:nvSpPr>
        <p:spPr>
          <a:xfrm>
            <a:off x="3547800" y="33832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PostgreSQL, MySQL, MongoDB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34"/>
          <p:cNvSpPr/>
          <p:nvPr/>
        </p:nvSpPr>
        <p:spPr>
          <a:xfrm>
            <a:off x="3401640" y="382680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5"/>
          <p:cNvSpPr/>
          <p:nvPr/>
        </p:nvSpPr>
        <p:spPr>
          <a:xfrm>
            <a:off x="3547800" y="37216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Nginx reverse proxy &amp; SSL/TLS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36"/>
          <p:cNvSpPr/>
          <p:nvPr/>
        </p:nvSpPr>
        <p:spPr>
          <a:xfrm>
            <a:off x="3401640" y="416520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7"/>
          <p:cNvSpPr/>
          <p:nvPr/>
        </p:nvSpPr>
        <p:spPr>
          <a:xfrm>
            <a:off x="3547800" y="40600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3 production stacks deployed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38"/>
          <p:cNvSpPr/>
          <p:nvPr/>
        </p:nvSpPr>
        <p:spPr>
          <a:xfrm>
            <a:off x="3401640" y="450360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39"/>
          <p:cNvSpPr/>
          <p:nvPr/>
        </p:nvSpPr>
        <p:spPr>
          <a:xfrm>
            <a:off x="3547800" y="439812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Zero-downtime blue-green deploy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40"/>
          <p:cNvSpPr/>
          <p:nvPr/>
        </p:nvSpPr>
        <p:spPr>
          <a:xfrm>
            <a:off x="6172200" y="1234440"/>
            <a:ext cx="2622240" cy="372888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41"/>
          <p:cNvSpPr/>
          <p:nvPr/>
        </p:nvSpPr>
        <p:spPr>
          <a:xfrm>
            <a:off x="6172200" y="1234440"/>
            <a:ext cx="262224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2"/>
          <p:cNvSpPr/>
          <p:nvPr/>
        </p:nvSpPr>
        <p:spPr>
          <a:xfrm>
            <a:off x="7644240" y="1298520"/>
            <a:ext cx="1004040" cy="8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1a3356"/>
                </a:solidFill>
                <a:latin typeface="Calibri"/>
                <a:ea typeface="Calibri"/>
              </a:rPr>
              <a:t>03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43"/>
          <p:cNvSpPr/>
          <p:nvPr/>
        </p:nvSpPr>
        <p:spPr>
          <a:xfrm>
            <a:off x="6254640" y="1389960"/>
            <a:ext cx="821160" cy="25416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44"/>
          <p:cNvSpPr/>
          <p:nvPr/>
        </p:nvSpPr>
        <p:spPr>
          <a:xfrm>
            <a:off x="6254640" y="1408320"/>
            <a:ext cx="8211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Week 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5"/>
          <p:cNvSpPr/>
          <p:nvPr/>
        </p:nvSpPr>
        <p:spPr>
          <a:xfrm>
            <a:off x="6254640" y="1874520"/>
            <a:ext cx="23940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Docker &amp;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Microservices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46"/>
          <p:cNvSpPr/>
          <p:nvPr/>
        </p:nvSpPr>
        <p:spPr>
          <a:xfrm>
            <a:off x="6254640" y="2597040"/>
            <a:ext cx="23940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"How modern apps ship to prod"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47"/>
          <p:cNvSpPr/>
          <p:nvPr/>
        </p:nvSpPr>
        <p:spPr>
          <a:xfrm>
            <a:off x="6254640" y="294444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48"/>
          <p:cNvSpPr/>
          <p:nvPr/>
        </p:nvSpPr>
        <p:spPr>
          <a:xfrm>
            <a:off x="6254640" y="315000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49"/>
          <p:cNvSpPr/>
          <p:nvPr/>
        </p:nvSpPr>
        <p:spPr>
          <a:xfrm>
            <a:off x="6400800" y="30448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Multi-stage Docker builds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50"/>
          <p:cNvSpPr/>
          <p:nvPr/>
        </p:nvSpPr>
        <p:spPr>
          <a:xfrm>
            <a:off x="6254640" y="348840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51"/>
          <p:cNvSpPr/>
          <p:nvPr/>
        </p:nvSpPr>
        <p:spPr>
          <a:xfrm>
            <a:off x="6400800" y="33832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Docker Compose orchestration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52"/>
          <p:cNvSpPr/>
          <p:nvPr/>
        </p:nvSpPr>
        <p:spPr>
          <a:xfrm>
            <a:off x="6254640" y="382680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53"/>
          <p:cNvSpPr/>
          <p:nvPr/>
        </p:nvSpPr>
        <p:spPr>
          <a:xfrm>
            <a:off x="6400800" y="37216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Trivy scanning &amp; non-root users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54"/>
          <p:cNvSpPr/>
          <p:nvPr/>
        </p:nvSpPr>
        <p:spPr>
          <a:xfrm>
            <a:off x="6254640" y="416520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55"/>
          <p:cNvSpPr/>
          <p:nvPr/>
        </p:nvSpPr>
        <p:spPr>
          <a:xfrm>
            <a:off x="6400800" y="406008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Prometheus + Grafana stack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56"/>
          <p:cNvSpPr/>
          <p:nvPr/>
        </p:nvSpPr>
        <p:spPr>
          <a:xfrm>
            <a:off x="6254640" y="450360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57"/>
          <p:cNvSpPr/>
          <p:nvPr/>
        </p:nvSpPr>
        <p:spPr>
          <a:xfrm>
            <a:off x="6400800" y="4398120"/>
            <a:ext cx="232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12-component distributed platform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58"/>
          <p:cNvSpPr/>
          <p:nvPr/>
        </p:nvSpPr>
        <p:spPr>
          <a:xfrm>
            <a:off x="2971800" y="2779920"/>
            <a:ext cx="254160" cy="2541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59"/>
          <p:cNvSpPr/>
          <p:nvPr/>
        </p:nvSpPr>
        <p:spPr>
          <a:xfrm>
            <a:off x="5917320" y="2779920"/>
            <a:ext cx="254160" cy="25416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3152880" cy="514188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0" y="0"/>
            <a:ext cx="36720" cy="5141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182880" y="27432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891b2"/>
                </a:solidFill>
                <a:latin typeface="Calibri"/>
                <a:ea typeface="Calibri"/>
              </a:rPr>
              <a:t>WEEK 1 OF 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182880" y="567000"/>
            <a:ext cx="2741400" cy="12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Linux &amp;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182880" y="1847160"/>
            <a:ext cx="2604240" cy="1476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182880" y="1993320"/>
            <a:ext cx="274140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"How production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servers think."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182880" y="2853000"/>
            <a:ext cx="260424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182880" y="2999160"/>
            <a:ext cx="802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5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1024200" y="3072240"/>
            <a:ext cx="19184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Days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182880" y="3620880"/>
            <a:ext cx="802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50+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1024200" y="3694320"/>
            <a:ext cx="19184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Shell Scripts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182880" y="4242960"/>
            <a:ext cx="802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2d3ee"/>
                </a:solidFill>
                <a:latin typeface="Calibri"/>
                <a:ea typeface="Calibri"/>
              </a:rPr>
              <a:t>1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1024200" y="4316040"/>
            <a:ext cx="19184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Integrated Project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3337560" y="109800"/>
            <a:ext cx="2668320" cy="233892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3337560" y="109800"/>
            <a:ext cx="36720" cy="2338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3502080" y="246960"/>
            <a:ext cx="242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System Engineering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3502080" y="621720"/>
            <a:ext cx="23025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3502080" y="73152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process_monitor.sh — CPU/RAM top 10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3502080" y="113400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health_check.sh — PASS/FAIL per service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3502080" y="153612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syshealth-report.sh — daily snapshots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3502080" y="193860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system_inventory.sh — formatted audit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6153840" y="109800"/>
            <a:ext cx="2668320" cy="233892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6153840" y="109800"/>
            <a:ext cx="36720" cy="2338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6318360" y="246960"/>
            <a:ext cx="242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User &amp; Permissions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24"/>
          <p:cNvSpPr/>
          <p:nvPr/>
        </p:nvSpPr>
        <p:spPr>
          <a:xfrm>
            <a:off x="6318360" y="621720"/>
            <a:ext cx="23025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6318360" y="73152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user_provision.sh — bulk CSV onboarding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6318360" y="113400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permission_audit.sh — finds 777 / SUID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7"/>
          <p:cNvSpPr/>
          <p:nvPr/>
        </p:nvSpPr>
        <p:spPr>
          <a:xfrm>
            <a:off x="6318360" y="153612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Sudo policies — least privilege per role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6318360" y="193860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user_activity_monitor.sh — 90-day audit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9"/>
          <p:cNvSpPr/>
          <p:nvPr/>
        </p:nvSpPr>
        <p:spPr>
          <a:xfrm>
            <a:off x="3337560" y="2597040"/>
            <a:ext cx="2668320" cy="233892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3337560" y="2597040"/>
            <a:ext cx="36720" cy="2338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31"/>
          <p:cNvSpPr/>
          <p:nvPr/>
        </p:nvSpPr>
        <p:spPr>
          <a:xfrm>
            <a:off x="3502080" y="2734200"/>
            <a:ext cx="242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DNS Infrastructure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32"/>
          <p:cNvSpPr/>
          <p:nvPr/>
        </p:nvSpPr>
        <p:spPr>
          <a:xfrm>
            <a:off x="3502080" y="3108960"/>
            <a:ext cx="23025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3"/>
          <p:cNvSpPr/>
          <p:nvPr/>
        </p:nvSpPr>
        <p:spPr>
          <a:xfrm>
            <a:off x="3502080" y="321876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BIND9 — forward &amp; reverse zones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4"/>
          <p:cNvSpPr/>
          <p:nvPr/>
        </p:nvSpPr>
        <p:spPr>
          <a:xfrm>
            <a:off x="3502080" y="362088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A, CNAME, MX, PTR, NS, SOA records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5"/>
          <p:cNvSpPr/>
          <p:nvPr/>
        </p:nvSpPr>
        <p:spPr>
          <a:xfrm>
            <a:off x="3502080" y="402336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zone_generator.sh — auto-generate from CSV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6"/>
          <p:cNvSpPr/>
          <p:nvPr/>
        </p:nvSpPr>
        <p:spPr>
          <a:xfrm>
            <a:off x="3502080" y="442584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dns_monitor.sh — alert on resolution fail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7"/>
          <p:cNvSpPr/>
          <p:nvPr/>
        </p:nvSpPr>
        <p:spPr>
          <a:xfrm>
            <a:off x="6153840" y="2597040"/>
            <a:ext cx="2668320" cy="2338920"/>
          </a:xfrm>
          <a:prstGeom prst="rect">
            <a:avLst/>
          </a:prstGeom>
          <a:solidFill>
            <a:srgbClr val="08111f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8"/>
          <p:cNvSpPr/>
          <p:nvPr/>
        </p:nvSpPr>
        <p:spPr>
          <a:xfrm>
            <a:off x="6153840" y="2597040"/>
            <a:ext cx="36720" cy="2338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39"/>
          <p:cNvSpPr/>
          <p:nvPr/>
        </p:nvSpPr>
        <p:spPr>
          <a:xfrm>
            <a:off x="6318360" y="2734200"/>
            <a:ext cx="242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Security &amp; Firewall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40"/>
          <p:cNvSpPr/>
          <p:nvPr/>
        </p:nvSpPr>
        <p:spPr>
          <a:xfrm>
            <a:off x="6318360" y="3108960"/>
            <a:ext cx="23025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41"/>
          <p:cNvSpPr/>
          <p:nvPr/>
        </p:nvSpPr>
        <p:spPr>
          <a:xfrm>
            <a:off x="6318360" y="321876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UFW — default deny, allowlist ports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42"/>
          <p:cNvSpPr/>
          <p:nvPr/>
        </p:nvSpPr>
        <p:spPr>
          <a:xfrm>
            <a:off x="6318360" y="362088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fail2ban — 3 retries → 1-hour ban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43"/>
          <p:cNvSpPr/>
          <p:nvPr/>
        </p:nvSpPr>
        <p:spPr>
          <a:xfrm>
            <a:off x="6318360" y="402336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SSH — key auth only, non-default port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4"/>
          <p:cNvSpPr/>
          <p:nvPr/>
        </p:nvSpPr>
        <p:spPr>
          <a:xfrm>
            <a:off x="6318360" y="4425840"/>
            <a:ext cx="2430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sysctl kernel tuning — TCP + memory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5720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64748b"/>
                </a:solidFill>
                <a:latin typeface="Calibri"/>
                <a:ea typeface="Calibri"/>
              </a:rPr>
              <a:t>WEEK 1  ·  CAPSTONE PROJECT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45720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Infrastructure Automation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457200" y="1097280"/>
            <a:ext cx="822780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457200" y="1207080"/>
            <a:ext cx="8227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Three interlocking scripts that provision, monitor, and protect a server from a single entry point.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384120" y="1664280"/>
            <a:ext cx="2704680" cy="330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384120" y="1664280"/>
            <a:ext cx="270468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2322720" y="1700640"/>
            <a:ext cx="656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891b2"/>
                </a:solidFill>
                <a:latin typeface="Calibri"/>
                <a:ea typeface="Calibri"/>
              </a:rPr>
              <a:t>01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548640" y="1755720"/>
            <a:ext cx="2394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891b2"/>
                </a:solidFill>
                <a:latin typeface="Consolas"/>
                <a:ea typeface="Consolas"/>
              </a:rPr>
              <a:t>server-provision.sh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548640" y="2084760"/>
            <a:ext cx="23940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Zero-to-ready server setup in one command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548640" y="2505600"/>
            <a:ext cx="232992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548640" y="2633400"/>
            <a:ext cx="62280" cy="62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704160" y="260604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System inventory → baseline report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548640" y="3063240"/>
            <a:ext cx="62280" cy="62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704160" y="303588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Bulk user provisioning from CSV input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548640" y="3493080"/>
            <a:ext cx="62280" cy="62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704160" y="346572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DNS client config + UFW firewall rules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548640" y="3922920"/>
            <a:ext cx="62280" cy="62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704160" y="389520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SSH hardening + fail2ban installation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548640" y="4352400"/>
            <a:ext cx="62280" cy="62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704160" y="432504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LVM volumes mounted + rsyslog configured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1"/>
          <p:cNvSpPr/>
          <p:nvPr/>
        </p:nvSpPr>
        <p:spPr>
          <a:xfrm>
            <a:off x="3237120" y="1664280"/>
            <a:ext cx="2704680" cy="330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3237120" y="1664280"/>
            <a:ext cx="270468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5432400" y="1700640"/>
            <a:ext cx="656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7c3aed"/>
                </a:solidFill>
                <a:latin typeface="Calibri"/>
                <a:ea typeface="Calibri"/>
              </a:rPr>
              <a:t>02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3401640" y="1755720"/>
            <a:ext cx="2394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7c3aed"/>
                </a:solidFill>
                <a:latin typeface="Consolas"/>
                <a:ea typeface="Consolas"/>
              </a:rPr>
              <a:t>infrastructure-monitor.sh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3401640" y="2084760"/>
            <a:ext cx="23940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Unified health dashboard with threshold alerting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6"/>
          <p:cNvSpPr/>
          <p:nvPr/>
        </p:nvSpPr>
        <p:spPr>
          <a:xfrm>
            <a:off x="3401640" y="2505600"/>
            <a:ext cx="232992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7"/>
          <p:cNvSpPr/>
          <p:nvPr/>
        </p:nvSpPr>
        <p:spPr>
          <a:xfrm>
            <a:off x="3401640" y="2633400"/>
            <a:ext cx="62280" cy="62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8"/>
          <p:cNvSpPr/>
          <p:nvPr/>
        </p:nvSpPr>
        <p:spPr>
          <a:xfrm>
            <a:off x="3557160" y="260604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CPU / memory / disk threshold checks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9"/>
          <p:cNvSpPr/>
          <p:nvPr/>
        </p:nvSpPr>
        <p:spPr>
          <a:xfrm>
            <a:off x="3401640" y="3063240"/>
            <a:ext cx="62280" cy="62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30"/>
          <p:cNvSpPr/>
          <p:nvPr/>
        </p:nvSpPr>
        <p:spPr>
          <a:xfrm>
            <a:off x="3557160" y="303588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Service status — ssh, cron, named, ufw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1"/>
          <p:cNvSpPr/>
          <p:nvPr/>
        </p:nvSpPr>
        <p:spPr>
          <a:xfrm>
            <a:off x="3401640" y="3493080"/>
            <a:ext cx="62280" cy="62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32"/>
          <p:cNvSpPr/>
          <p:nvPr/>
        </p:nvSpPr>
        <p:spPr>
          <a:xfrm>
            <a:off x="3557160" y="346572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Slow query + error log analysis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3"/>
          <p:cNvSpPr/>
          <p:nvPr/>
        </p:nvSpPr>
        <p:spPr>
          <a:xfrm>
            <a:off x="3401640" y="3922920"/>
            <a:ext cx="62280" cy="62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34"/>
          <p:cNvSpPr/>
          <p:nvPr/>
        </p:nvSpPr>
        <p:spPr>
          <a:xfrm>
            <a:off x="3557160" y="389520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Alert log written on any FAIL state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5"/>
          <p:cNvSpPr/>
          <p:nvPr/>
        </p:nvSpPr>
        <p:spPr>
          <a:xfrm>
            <a:off x="3401640" y="4352400"/>
            <a:ext cx="62280" cy="62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36"/>
          <p:cNvSpPr/>
          <p:nvPr/>
        </p:nvSpPr>
        <p:spPr>
          <a:xfrm>
            <a:off x="3557160" y="432504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Cron-scheduled every 5 minutes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7"/>
          <p:cNvSpPr/>
          <p:nvPr/>
        </p:nvSpPr>
        <p:spPr>
          <a:xfrm>
            <a:off x="6089760" y="1664280"/>
            <a:ext cx="2704680" cy="330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8"/>
          <p:cNvSpPr/>
          <p:nvPr/>
        </p:nvSpPr>
        <p:spPr>
          <a:xfrm>
            <a:off x="6089760" y="1664280"/>
            <a:ext cx="270468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39"/>
          <p:cNvSpPr/>
          <p:nvPr/>
        </p:nvSpPr>
        <p:spPr>
          <a:xfrm>
            <a:off x="8028360" y="1700640"/>
            <a:ext cx="656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59669"/>
                </a:solidFill>
                <a:latin typeface="Calibri"/>
                <a:ea typeface="Calibri"/>
              </a:rPr>
              <a:t>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40"/>
          <p:cNvSpPr/>
          <p:nvPr/>
        </p:nvSpPr>
        <p:spPr>
          <a:xfrm>
            <a:off x="6254640" y="1755720"/>
            <a:ext cx="2394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onsolas"/>
                <a:ea typeface="Consolas"/>
              </a:rPr>
              <a:t>auto-backup.sh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1"/>
          <p:cNvSpPr/>
          <p:nvPr/>
        </p:nvSpPr>
        <p:spPr>
          <a:xfrm>
            <a:off x="6254640" y="2084760"/>
            <a:ext cx="23940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Automated backup with tested restore path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42"/>
          <p:cNvSpPr/>
          <p:nvPr/>
        </p:nvSpPr>
        <p:spPr>
          <a:xfrm>
            <a:off x="6254640" y="2505600"/>
            <a:ext cx="232992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43"/>
          <p:cNvSpPr/>
          <p:nvPr/>
        </p:nvSpPr>
        <p:spPr>
          <a:xfrm>
            <a:off x="6254640" y="2633400"/>
            <a:ext cx="62280" cy="62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44"/>
          <p:cNvSpPr/>
          <p:nvPr/>
        </p:nvSpPr>
        <p:spPr>
          <a:xfrm>
            <a:off x="6409800" y="260604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Tarballs: /etc, /home, /var/log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45"/>
          <p:cNvSpPr/>
          <p:nvPr/>
        </p:nvSpPr>
        <p:spPr>
          <a:xfrm>
            <a:off x="6254640" y="3063240"/>
            <a:ext cx="62280" cy="62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6"/>
          <p:cNvSpPr/>
          <p:nvPr/>
        </p:nvSpPr>
        <p:spPr>
          <a:xfrm>
            <a:off x="6409800" y="303588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DNS zone files + bind configuration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47"/>
          <p:cNvSpPr/>
          <p:nvPr/>
        </p:nvSpPr>
        <p:spPr>
          <a:xfrm>
            <a:off x="6254640" y="3493080"/>
            <a:ext cx="62280" cy="62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48"/>
          <p:cNvSpPr/>
          <p:nvPr/>
        </p:nvSpPr>
        <p:spPr>
          <a:xfrm>
            <a:off x="6409800" y="346572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7-day rotation with tar -tzf integrity check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49"/>
          <p:cNvSpPr/>
          <p:nvPr/>
        </p:nvSpPr>
        <p:spPr>
          <a:xfrm>
            <a:off x="6254640" y="3922920"/>
            <a:ext cx="62280" cy="62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50"/>
          <p:cNvSpPr/>
          <p:nvPr/>
        </p:nvSpPr>
        <p:spPr>
          <a:xfrm>
            <a:off x="6409800" y="389520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Restore procedure executed in-script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51"/>
          <p:cNvSpPr/>
          <p:nvPr/>
        </p:nvSpPr>
        <p:spPr>
          <a:xfrm>
            <a:off x="6254640" y="4352400"/>
            <a:ext cx="62280" cy="62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2"/>
          <p:cNvSpPr/>
          <p:nvPr/>
        </p:nvSpPr>
        <p:spPr>
          <a:xfrm>
            <a:off x="6409800" y="4325040"/>
            <a:ext cx="22658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Completion status piped to syslog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7c3aed"/>
                </a:solidFill>
                <a:latin typeface="Calibri"/>
                <a:ea typeface="Calibri"/>
              </a:rPr>
              <a:t>WEEK 2 OF 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App Deployment &amp; Web Servers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502920" y="1207080"/>
            <a:ext cx="8136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"You are not deploying applications. You are architecting systems that survive production."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384120" y="1664280"/>
            <a:ext cx="415872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384120" y="1665000"/>
            <a:ext cx="43920" cy="1569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567000" y="1792080"/>
            <a:ext cx="3838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Multi-Language Runtimes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567000" y="2167200"/>
            <a:ext cx="374724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567000" y="237276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713160" y="226764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Node.js via nvm — v18, v20, v22 isolated side-by-side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567000" y="261972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713160" y="251460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Python via pyenv — 3.9 through 3.12 with virtualenv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567000" y="286668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713160" y="276156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PHP 7.4 / 8.x with php-fpm, Composer, opcache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5"/>
          <p:cNvSpPr/>
          <p:nvPr/>
        </p:nvSpPr>
        <p:spPr>
          <a:xfrm>
            <a:off x="567000" y="311364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713160" y="300852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runtime_version_switcher.sh — interactive menu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7"/>
          <p:cNvSpPr/>
          <p:nvPr/>
        </p:nvSpPr>
        <p:spPr>
          <a:xfrm>
            <a:off x="4754880" y="1664280"/>
            <a:ext cx="415872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8"/>
          <p:cNvSpPr/>
          <p:nvPr/>
        </p:nvSpPr>
        <p:spPr>
          <a:xfrm>
            <a:off x="4754880" y="1665000"/>
            <a:ext cx="43920" cy="1569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4937760" y="1792080"/>
            <a:ext cx="3838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Database Layer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20"/>
          <p:cNvSpPr/>
          <p:nvPr/>
        </p:nvSpPr>
        <p:spPr>
          <a:xfrm>
            <a:off x="4937760" y="2167200"/>
            <a:ext cx="374724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21"/>
          <p:cNvSpPr/>
          <p:nvPr/>
        </p:nvSpPr>
        <p:spPr>
          <a:xfrm>
            <a:off x="4937760" y="2372760"/>
            <a:ext cx="62280" cy="62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5083920" y="226764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PostgreSQL 15 — shared_buffers, WAL archiving, pg_dump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23"/>
          <p:cNvSpPr/>
          <p:nvPr/>
        </p:nvSpPr>
        <p:spPr>
          <a:xfrm>
            <a:off x="4937760" y="2619720"/>
            <a:ext cx="62280" cy="62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5083920" y="251460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MySQL 8.0 — master-slave replication, binary logging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5"/>
          <p:cNvSpPr/>
          <p:nvPr/>
        </p:nvSpPr>
        <p:spPr>
          <a:xfrm>
            <a:off x="4937760" y="2866680"/>
            <a:ext cx="62280" cy="62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5083920" y="276156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MongoDB 7 — replica set, WiredTiger, mongodump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7"/>
          <p:cNvSpPr/>
          <p:nvPr/>
        </p:nvSpPr>
        <p:spPr>
          <a:xfrm>
            <a:off x="4937760" y="3113640"/>
            <a:ext cx="62280" cy="62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5083920" y="300852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db_backup_automation.sh — daily / weekly / monthly rotation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29"/>
          <p:cNvSpPr/>
          <p:nvPr/>
        </p:nvSpPr>
        <p:spPr>
          <a:xfrm>
            <a:off x="384120" y="3383280"/>
            <a:ext cx="415872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30"/>
          <p:cNvSpPr/>
          <p:nvPr/>
        </p:nvSpPr>
        <p:spPr>
          <a:xfrm>
            <a:off x="384120" y="3384360"/>
            <a:ext cx="43920" cy="1569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567000" y="3511440"/>
            <a:ext cx="3838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Web Server &amp; Reverse Proxy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32"/>
          <p:cNvSpPr/>
          <p:nvPr/>
        </p:nvSpPr>
        <p:spPr>
          <a:xfrm>
            <a:off x="567000" y="3886200"/>
            <a:ext cx="374724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33"/>
          <p:cNvSpPr/>
          <p:nvPr/>
        </p:nvSpPr>
        <p:spPr>
          <a:xfrm>
            <a:off x="567000" y="409212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713160" y="398664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Nginx upstream pools — least_conn, ip_hash, round-robin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35"/>
          <p:cNvSpPr/>
          <p:nvPr/>
        </p:nvSpPr>
        <p:spPr>
          <a:xfrm>
            <a:off x="567000" y="433872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6"/>
          <p:cNvSpPr/>
          <p:nvPr/>
        </p:nvSpPr>
        <p:spPr>
          <a:xfrm>
            <a:off x="713160" y="423360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SSL/TLS — self-signed cert + Let's Encrypt via certbot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37"/>
          <p:cNvSpPr/>
          <p:nvPr/>
        </p:nvSpPr>
        <p:spPr>
          <a:xfrm>
            <a:off x="567000" y="458568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38"/>
          <p:cNvSpPr/>
          <p:nvPr/>
        </p:nvSpPr>
        <p:spPr>
          <a:xfrm>
            <a:off x="713160" y="448056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Security headers — HSTS, CSP, X-Frame-Options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39"/>
          <p:cNvSpPr/>
          <p:nvPr/>
        </p:nvSpPr>
        <p:spPr>
          <a:xfrm>
            <a:off x="567000" y="4832640"/>
            <a:ext cx="62280" cy="62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40"/>
          <p:cNvSpPr/>
          <p:nvPr/>
        </p:nvSpPr>
        <p:spPr>
          <a:xfrm>
            <a:off x="713160" y="472752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Rate limiting — nginx limit_req + UFW limit 22/tcp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41"/>
          <p:cNvSpPr/>
          <p:nvPr/>
        </p:nvSpPr>
        <p:spPr>
          <a:xfrm>
            <a:off x="4754880" y="3383280"/>
            <a:ext cx="415872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42"/>
          <p:cNvSpPr/>
          <p:nvPr/>
        </p:nvSpPr>
        <p:spPr>
          <a:xfrm>
            <a:off x="4754880" y="3384360"/>
            <a:ext cx="43920" cy="1569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43"/>
          <p:cNvSpPr/>
          <p:nvPr/>
        </p:nvSpPr>
        <p:spPr>
          <a:xfrm>
            <a:off x="4937760" y="3511440"/>
            <a:ext cx="3838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Process 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44"/>
          <p:cNvSpPr/>
          <p:nvPr/>
        </p:nvSpPr>
        <p:spPr>
          <a:xfrm>
            <a:off x="4937760" y="3886200"/>
            <a:ext cx="374724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45"/>
          <p:cNvSpPr/>
          <p:nvPr/>
        </p:nvSpPr>
        <p:spPr>
          <a:xfrm>
            <a:off x="4937760" y="409212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46"/>
          <p:cNvSpPr/>
          <p:nvPr/>
        </p:nvSpPr>
        <p:spPr>
          <a:xfrm>
            <a:off x="5083920" y="398664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PM2 cluster mode — 4 Node.js instances per service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47"/>
          <p:cNvSpPr/>
          <p:nvPr/>
        </p:nvSpPr>
        <p:spPr>
          <a:xfrm>
            <a:off x="4937760" y="433872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48"/>
          <p:cNvSpPr/>
          <p:nvPr/>
        </p:nvSpPr>
        <p:spPr>
          <a:xfrm>
            <a:off x="5083920" y="423360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systemd services — FastAPI (uvicorn), Laravel workers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49"/>
          <p:cNvSpPr/>
          <p:nvPr/>
        </p:nvSpPr>
        <p:spPr>
          <a:xfrm>
            <a:off x="4937760" y="458568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50"/>
          <p:cNvSpPr/>
          <p:nvPr/>
        </p:nvSpPr>
        <p:spPr>
          <a:xfrm>
            <a:off x="5083920" y="448056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Graceful shutdown, OOM-restart, log rotation built-in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51"/>
          <p:cNvSpPr/>
          <p:nvPr/>
        </p:nvSpPr>
        <p:spPr>
          <a:xfrm>
            <a:off x="4937760" y="4832640"/>
            <a:ext cx="62280" cy="62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52"/>
          <p:cNvSpPr/>
          <p:nvPr/>
        </p:nvSpPr>
        <p:spPr>
          <a:xfrm>
            <a:off x="5083920" y="4727520"/>
            <a:ext cx="367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app_monitor.sh — health endpoint + memory + response time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45720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64748b"/>
                </a:solidFill>
                <a:latin typeface="Calibri"/>
                <a:ea typeface="Calibri"/>
              </a:rPr>
              <a:t>WEEK 2  ·  CAPSTONE PROJECT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45720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Three Production-Grade Application Stacks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"/>
          <p:cNvSpPr/>
          <p:nvPr/>
        </p:nvSpPr>
        <p:spPr>
          <a:xfrm>
            <a:off x="457200" y="1097280"/>
            <a:ext cx="822780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457200" y="1207080"/>
            <a:ext cx="8227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Each stack deployed with multiple instances, Nginx load balancing, health checks, and a zero-downtime deploy script.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5"/>
          <p:cNvSpPr/>
          <p:nvPr/>
        </p:nvSpPr>
        <p:spPr>
          <a:xfrm>
            <a:off x="384120" y="1664280"/>
            <a:ext cx="2704680" cy="330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384120" y="1664280"/>
            <a:ext cx="270468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2322720" y="1700640"/>
            <a:ext cx="656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548640" y="1755720"/>
            <a:ext cx="912600" cy="25416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548640" y="1774080"/>
            <a:ext cx="912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891b2"/>
                </a:solidFill>
                <a:latin typeface="Calibri"/>
                <a:ea typeface="Calibri"/>
              </a:rPr>
              <a:t>Stack 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384120" y="213984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521280" y="2194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Frontend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521280" y="239580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Next.js SSR  ×2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384120" y="2706480"/>
            <a:ext cx="2704680" cy="56520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521280" y="2761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Backend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5"/>
          <p:cNvSpPr/>
          <p:nvPr/>
        </p:nvSpPr>
        <p:spPr>
          <a:xfrm>
            <a:off x="521280" y="296280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Node.js Express  ×3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384120" y="327348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521280" y="3328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8"/>
          <p:cNvSpPr/>
          <p:nvPr/>
        </p:nvSpPr>
        <p:spPr>
          <a:xfrm>
            <a:off x="521280" y="3529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MongoDB replica set (3 nodes)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9"/>
          <p:cNvSpPr/>
          <p:nvPr/>
        </p:nvSpPr>
        <p:spPr>
          <a:xfrm>
            <a:off x="384120" y="3840480"/>
            <a:ext cx="2704680" cy="56520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521280" y="389520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Load Balancer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1"/>
          <p:cNvSpPr/>
          <p:nvPr/>
        </p:nvSpPr>
        <p:spPr>
          <a:xfrm>
            <a:off x="521280" y="4096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Nginx least_conn upstream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2"/>
          <p:cNvSpPr/>
          <p:nvPr/>
        </p:nvSpPr>
        <p:spPr>
          <a:xfrm>
            <a:off x="384120" y="440748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3"/>
          <p:cNvSpPr/>
          <p:nvPr/>
        </p:nvSpPr>
        <p:spPr>
          <a:xfrm>
            <a:off x="521280" y="446220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Highlight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4"/>
          <p:cNvSpPr/>
          <p:nvPr/>
        </p:nvSpPr>
        <p:spPr>
          <a:xfrm>
            <a:off x="521280" y="4663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WebSocket support, JWT auth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5"/>
          <p:cNvSpPr/>
          <p:nvPr/>
        </p:nvSpPr>
        <p:spPr>
          <a:xfrm>
            <a:off x="3237120" y="1664280"/>
            <a:ext cx="2704680" cy="330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6"/>
          <p:cNvSpPr/>
          <p:nvPr/>
        </p:nvSpPr>
        <p:spPr>
          <a:xfrm>
            <a:off x="3237120" y="1664280"/>
            <a:ext cx="270468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27"/>
          <p:cNvSpPr/>
          <p:nvPr/>
        </p:nvSpPr>
        <p:spPr>
          <a:xfrm>
            <a:off x="5175360" y="1700640"/>
            <a:ext cx="656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8"/>
          <p:cNvSpPr/>
          <p:nvPr/>
        </p:nvSpPr>
        <p:spPr>
          <a:xfrm>
            <a:off x="3401640" y="1755720"/>
            <a:ext cx="912600" cy="25416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29"/>
          <p:cNvSpPr/>
          <p:nvPr/>
        </p:nvSpPr>
        <p:spPr>
          <a:xfrm>
            <a:off x="3401640" y="1774080"/>
            <a:ext cx="912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c3aed"/>
                </a:solidFill>
                <a:latin typeface="Calibri"/>
                <a:ea typeface="Calibri"/>
              </a:rPr>
              <a:t>Stack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0"/>
          <p:cNvSpPr/>
          <p:nvPr/>
        </p:nvSpPr>
        <p:spPr>
          <a:xfrm>
            <a:off x="3237120" y="213984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1"/>
          <p:cNvSpPr/>
          <p:nvPr/>
        </p:nvSpPr>
        <p:spPr>
          <a:xfrm>
            <a:off x="3374280" y="2194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Frontend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2"/>
          <p:cNvSpPr/>
          <p:nvPr/>
        </p:nvSpPr>
        <p:spPr>
          <a:xfrm>
            <a:off x="3374280" y="239580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Laravel full-stack  ×3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3"/>
          <p:cNvSpPr/>
          <p:nvPr/>
        </p:nvSpPr>
        <p:spPr>
          <a:xfrm>
            <a:off x="3237120" y="2706480"/>
            <a:ext cx="2704680" cy="56520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4"/>
          <p:cNvSpPr/>
          <p:nvPr/>
        </p:nvSpPr>
        <p:spPr>
          <a:xfrm>
            <a:off x="3374280" y="2761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Workers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35"/>
          <p:cNvSpPr/>
          <p:nvPr/>
        </p:nvSpPr>
        <p:spPr>
          <a:xfrm>
            <a:off x="3374280" y="296280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Queue workers  ×2 processes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36"/>
          <p:cNvSpPr/>
          <p:nvPr/>
        </p:nvSpPr>
        <p:spPr>
          <a:xfrm>
            <a:off x="3237120" y="327348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37"/>
          <p:cNvSpPr/>
          <p:nvPr/>
        </p:nvSpPr>
        <p:spPr>
          <a:xfrm>
            <a:off x="3374280" y="3328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38"/>
          <p:cNvSpPr/>
          <p:nvPr/>
        </p:nvSpPr>
        <p:spPr>
          <a:xfrm>
            <a:off x="3374280" y="3529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MySQL master-slave replication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9"/>
          <p:cNvSpPr/>
          <p:nvPr/>
        </p:nvSpPr>
        <p:spPr>
          <a:xfrm>
            <a:off x="3237120" y="3840480"/>
            <a:ext cx="2704680" cy="56520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40"/>
          <p:cNvSpPr/>
          <p:nvPr/>
        </p:nvSpPr>
        <p:spPr>
          <a:xfrm>
            <a:off x="3374280" y="389520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Load Balancer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41"/>
          <p:cNvSpPr/>
          <p:nvPr/>
        </p:nvSpPr>
        <p:spPr>
          <a:xfrm>
            <a:off x="3374280" y="4096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Nginx ip_hash (session sticky)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42"/>
          <p:cNvSpPr/>
          <p:nvPr/>
        </p:nvSpPr>
        <p:spPr>
          <a:xfrm>
            <a:off x="3237120" y="440748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43"/>
          <p:cNvSpPr/>
          <p:nvPr/>
        </p:nvSpPr>
        <p:spPr>
          <a:xfrm>
            <a:off x="3374280" y="446220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Highlight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44"/>
          <p:cNvSpPr/>
          <p:nvPr/>
        </p:nvSpPr>
        <p:spPr>
          <a:xfrm>
            <a:off x="3374280" y="4663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Eloquent ORM, async job queues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46"/>
          <p:cNvSpPr/>
          <p:nvPr/>
        </p:nvSpPr>
        <p:spPr>
          <a:xfrm>
            <a:off x="6089760" y="1664280"/>
            <a:ext cx="270468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47"/>
          <p:cNvSpPr/>
          <p:nvPr/>
        </p:nvSpPr>
        <p:spPr>
          <a:xfrm>
            <a:off x="8028360" y="1700640"/>
            <a:ext cx="6566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0f4f8"/>
                </a:solidFill>
                <a:latin typeface="Calibri"/>
                <a:ea typeface="Calibri"/>
              </a:rPr>
              <a:t>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48"/>
          <p:cNvSpPr/>
          <p:nvPr/>
        </p:nvSpPr>
        <p:spPr>
          <a:xfrm>
            <a:off x="6254640" y="1755720"/>
            <a:ext cx="912600" cy="254160"/>
          </a:xfrm>
          <a:prstGeom prst="roundRect">
            <a:avLst>
              <a:gd name="adj" fmla="val 50000"/>
            </a:avLst>
          </a:prstGeom>
          <a:solidFill>
            <a:srgbClr val="1a3356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49"/>
          <p:cNvSpPr/>
          <p:nvPr/>
        </p:nvSpPr>
        <p:spPr>
          <a:xfrm>
            <a:off x="6254640" y="1774080"/>
            <a:ext cx="912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59669"/>
                </a:solidFill>
                <a:latin typeface="Calibri"/>
                <a:ea typeface="Calibri"/>
              </a:rPr>
              <a:t>Stack 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50"/>
          <p:cNvSpPr/>
          <p:nvPr/>
        </p:nvSpPr>
        <p:spPr>
          <a:xfrm>
            <a:off x="6089760" y="213984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51"/>
          <p:cNvSpPr/>
          <p:nvPr/>
        </p:nvSpPr>
        <p:spPr>
          <a:xfrm>
            <a:off x="6226920" y="2194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Frontend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2"/>
          <p:cNvSpPr/>
          <p:nvPr/>
        </p:nvSpPr>
        <p:spPr>
          <a:xfrm>
            <a:off x="6226920" y="239580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Next.js ISR  ×2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53"/>
          <p:cNvSpPr/>
          <p:nvPr/>
        </p:nvSpPr>
        <p:spPr>
          <a:xfrm>
            <a:off x="6089760" y="2706480"/>
            <a:ext cx="2704680" cy="56520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54"/>
          <p:cNvSpPr/>
          <p:nvPr/>
        </p:nvSpPr>
        <p:spPr>
          <a:xfrm>
            <a:off x="6226920" y="2761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Backend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55"/>
          <p:cNvSpPr/>
          <p:nvPr/>
        </p:nvSpPr>
        <p:spPr>
          <a:xfrm>
            <a:off x="6226920" y="296280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FastAPI (Python)  ×3 instances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56"/>
          <p:cNvSpPr/>
          <p:nvPr/>
        </p:nvSpPr>
        <p:spPr>
          <a:xfrm>
            <a:off x="6089760" y="327348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57"/>
          <p:cNvSpPr/>
          <p:nvPr/>
        </p:nvSpPr>
        <p:spPr>
          <a:xfrm>
            <a:off x="6226920" y="332856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58"/>
          <p:cNvSpPr/>
          <p:nvPr/>
        </p:nvSpPr>
        <p:spPr>
          <a:xfrm>
            <a:off x="6226920" y="3529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MySQL read-optimised config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59"/>
          <p:cNvSpPr/>
          <p:nvPr/>
        </p:nvSpPr>
        <p:spPr>
          <a:xfrm>
            <a:off x="6089760" y="3840480"/>
            <a:ext cx="2704680" cy="56520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60"/>
          <p:cNvSpPr/>
          <p:nvPr/>
        </p:nvSpPr>
        <p:spPr>
          <a:xfrm>
            <a:off x="6226920" y="389520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Load Balancer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61"/>
          <p:cNvSpPr/>
          <p:nvPr/>
        </p:nvSpPr>
        <p:spPr>
          <a:xfrm>
            <a:off x="6226920" y="4096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Nginx round-robin upstream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62"/>
          <p:cNvSpPr/>
          <p:nvPr/>
        </p:nvSpPr>
        <p:spPr>
          <a:xfrm>
            <a:off x="6089760" y="4407480"/>
            <a:ext cx="2704680" cy="56520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63"/>
          <p:cNvSpPr/>
          <p:nvPr/>
        </p:nvSpPr>
        <p:spPr>
          <a:xfrm>
            <a:off x="6226920" y="4462200"/>
            <a:ext cx="866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Highlight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64"/>
          <p:cNvSpPr/>
          <p:nvPr/>
        </p:nvSpPr>
        <p:spPr>
          <a:xfrm>
            <a:off x="6226920" y="4663440"/>
            <a:ext cx="2430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72a"/>
                </a:solidFill>
                <a:latin typeface="Calibri"/>
                <a:ea typeface="Calibri"/>
              </a:rPr>
              <a:t>Pydantic validation, async DB pool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59669"/>
                </a:solidFill>
                <a:latin typeface="Calibri"/>
                <a:ea typeface="Calibri"/>
              </a:rPr>
              <a:t>WEEK 2  ·  DEPLOYMENT STRATEGY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Zero-Downtime Deployment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502920" y="1225440"/>
            <a:ext cx="36558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Blue-Green Strategy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384120" y="1627560"/>
            <a:ext cx="1443960" cy="1260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6"/>
          <p:cNvSpPr/>
          <p:nvPr/>
        </p:nvSpPr>
        <p:spPr>
          <a:xfrm>
            <a:off x="384120" y="1627560"/>
            <a:ext cx="144396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7"/>
          <p:cNvSpPr/>
          <p:nvPr/>
        </p:nvSpPr>
        <p:spPr>
          <a:xfrm>
            <a:off x="996840" y="1719000"/>
            <a:ext cx="363960" cy="363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996840" y="1755720"/>
            <a:ext cx="363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384120" y="2157840"/>
            <a:ext cx="1589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Deploy Green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10"/>
          <p:cNvSpPr/>
          <p:nvPr/>
        </p:nvSpPr>
        <p:spPr>
          <a:xfrm>
            <a:off x="384120" y="2450520"/>
            <a:ext cx="1589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New build → inactive environment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11"/>
          <p:cNvSpPr/>
          <p:nvPr/>
        </p:nvSpPr>
        <p:spPr>
          <a:xfrm>
            <a:off x="1893960" y="205740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2"/>
          <p:cNvSpPr/>
          <p:nvPr/>
        </p:nvSpPr>
        <p:spPr>
          <a:xfrm>
            <a:off x="2121480" y="1627560"/>
            <a:ext cx="1535400" cy="1260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13"/>
          <p:cNvSpPr/>
          <p:nvPr/>
        </p:nvSpPr>
        <p:spPr>
          <a:xfrm>
            <a:off x="2121480" y="1627560"/>
            <a:ext cx="153540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14"/>
          <p:cNvSpPr/>
          <p:nvPr/>
        </p:nvSpPr>
        <p:spPr>
          <a:xfrm>
            <a:off x="2734200" y="1719000"/>
            <a:ext cx="363960" cy="363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5"/>
          <p:cNvSpPr/>
          <p:nvPr/>
        </p:nvSpPr>
        <p:spPr>
          <a:xfrm>
            <a:off x="2734200" y="1755720"/>
            <a:ext cx="363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6"/>
          <p:cNvSpPr/>
          <p:nvPr/>
        </p:nvSpPr>
        <p:spPr>
          <a:xfrm>
            <a:off x="2121480" y="2157840"/>
            <a:ext cx="1589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Health Gate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7"/>
          <p:cNvSpPr/>
          <p:nvPr/>
        </p:nvSpPr>
        <p:spPr>
          <a:xfrm>
            <a:off x="2121480" y="2450520"/>
            <a:ext cx="1589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All endpoints return 200 OK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18"/>
          <p:cNvSpPr/>
          <p:nvPr/>
        </p:nvSpPr>
        <p:spPr>
          <a:xfrm>
            <a:off x="3673800" y="205380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9"/>
          <p:cNvSpPr/>
          <p:nvPr/>
        </p:nvSpPr>
        <p:spPr>
          <a:xfrm>
            <a:off x="3858840" y="1627560"/>
            <a:ext cx="1398240" cy="1260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20"/>
          <p:cNvSpPr/>
          <p:nvPr/>
        </p:nvSpPr>
        <p:spPr>
          <a:xfrm>
            <a:off x="3858840" y="1627560"/>
            <a:ext cx="139824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21"/>
          <p:cNvSpPr/>
          <p:nvPr/>
        </p:nvSpPr>
        <p:spPr>
          <a:xfrm>
            <a:off x="4471560" y="1719000"/>
            <a:ext cx="363960" cy="363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22"/>
          <p:cNvSpPr/>
          <p:nvPr/>
        </p:nvSpPr>
        <p:spPr>
          <a:xfrm>
            <a:off x="4471560" y="1755720"/>
            <a:ext cx="363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3858840" y="2157840"/>
            <a:ext cx="1589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Switch Traffic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24"/>
          <p:cNvSpPr/>
          <p:nvPr/>
        </p:nvSpPr>
        <p:spPr>
          <a:xfrm>
            <a:off x="3858840" y="2450520"/>
            <a:ext cx="13982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Nginx upstream → Green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25"/>
          <p:cNvSpPr/>
          <p:nvPr/>
        </p:nvSpPr>
        <p:spPr>
          <a:xfrm>
            <a:off x="5322960" y="205740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26"/>
          <p:cNvSpPr/>
          <p:nvPr/>
        </p:nvSpPr>
        <p:spPr>
          <a:xfrm>
            <a:off x="5496480" y="1627560"/>
            <a:ext cx="1589400" cy="1260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27"/>
          <p:cNvSpPr/>
          <p:nvPr/>
        </p:nvSpPr>
        <p:spPr>
          <a:xfrm>
            <a:off x="5496480" y="1627560"/>
            <a:ext cx="158940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28"/>
          <p:cNvSpPr/>
          <p:nvPr/>
        </p:nvSpPr>
        <p:spPr>
          <a:xfrm>
            <a:off x="6208920" y="1719000"/>
            <a:ext cx="363960" cy="363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29"/>
          <p:cNvSpPr/>
          <p:nvPr/>
        </p:nvSpPr>
        <p:spPr>
          <a:xfrm>
            <a:off x="6208920" y="1755720"/>
            <a:ext cx="363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30"/>
          <p:cNvSpPr/>
          <p:nvPr/>
        </p:nvSpPr>
        <p:spPr>
          <a:xfrm>
            <a:off x="5596200" y="2157840"/>
            <a:ext cx="1589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Monitor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31"/>
          <p:cNvSpPr/>
          <p:nvPr/>
        </p:nvSpPr>
        <p:spPr>
          <a:xfrm>
            <a:off x="5596200" y="2450520"/>
            <a:ext cx="1261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5-minute observation window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32"/>
          <p:cNvSpPr/>
          <p:nvPr/>
        </p:nvSpPr>
        <p:spPr>
          <a:xfrm>
            <a:off x="7112520" y="205200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33"/>
          <p:cNvSpPr/>
          <p:nvPr/>
        </p:nvSpPr>
        <p:spPr>
          <a:xfrm>
            <a:off x="7315200" y="1627560"/>
            <a:ext cx="1607760" cy="1260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34"/>
          <p:cNvSpPr/>
          <p:nvPr/>
        </p:nvSpPr>
        <p:spPr>
          <a:xfrm>
            <a:off x="7333560" y="1627560"/>
            <a:ext cx="158940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35"/>
          <p:cNvSpPr/>
          <p:nvPr/>
        </p:nvSpPr>
        <p:spPr>
          <a:xfrm>
            <a:off x="7946280" y="1719000"/>
            <a:ext cx="363960" cy="363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36"/>
          <p:cNvSpPr/>
          <p:nvPr/>
        </p:nvSpPr>
        <p:spPr>
          <a:xfrm>
            <a:off x="7946280" y="1755720"/>
            <a:ext cx="363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6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37"/>
          <p:cNvSpPr/>
          <p:nvPr/>
        </p:nvSpPr>
        <p:spPr>
          <a:xfrm>
            <a:off x="7333560" y="2157840"/>
            <a:ext cx="1589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Retire Blue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38"/>
          <p:cNvSpPr/>
          <p:nvPr/>
        </p:nvSpPr>
        <p:spPr>
          <a:xfrm>
            <a:off x="7333560" y="2450520"/>
            <a:ext cx="1589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Keep standby for fast rollback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39"/>
          <p:cNvSpPr/>
          <p:nvPr/>
        </p:nvSpPr>
        <p:spPr>
          <a:xfrm>
            <a:off x="502920" y="301752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40"/>
          <p:cNvSpPr/>
          <p:nvPr/>
        </p:nvSpPr>
        <p:spPr>
          <a:xfrm>
            <a:off x="502920" y="3145680"/>
            <a:ext cx="54846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Rolling Restart Pattern  (PM2 Cluster)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41"/>
          <p:cNvSpPr/>
          <p:nvPr/>
        </p:nvSpPr>
        <p:spPr>
          <a:xfrm>
            <a:off x="384120" y="3547800"/>
            <a:ext cx="1964160" cy="14245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42"/>
          <p:cNvSpPr/>
          <p:nvPr/>
        </p:nvSpPr>
        <p:spPr>
          <a:xfrm>
            <a:off x="384120" y="3548880"/>
            <a:ext cx="43920" cy="1422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43"/>
          <p:cNvSpPr/>
          <p:nvPr/>
        </p:nvSpPr>
        <p:spPr>
          <a:xfrm>
            <a:off x="567000" y="3639240"/>
            <a:ext cx="17812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Restart Instance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44"/>
          <p:cNvSpPr/>
          <p:nvPr/>
        </p:nvSpPr>
        <p:spPr>
          <a:xfrm>
            <a:off x="567000" y="3986640"/>
            <a:ext cx="178128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pm2 restart api-instance-0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Container receives SIGTERM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45"/>
          <p:cNvSpPr/>
          <p:nvPr/>
        </p:nvSpPr>
        <p:spPr>
          <a:xfrm>
            <a:off x="2370600" y="412236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46"/>
          <p:cNvSpPr/>
          <p:nvPr/>
        </p:nvSpPr>
        <p:spPr>
          <a:xfrm>
            <a:off x="2560320" y="3547800"/>
            <a:ext cx="1964160" cy="14245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47"/>
          <p:cNvSpPr/>
          <p:nvPr/>
        </p:nvSpPr>
        <p:spPr>
          <a:xfrm>
            <a:off x="2560320" y="3548880"/>
            <a:ext cx="43920" cy="1422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48"/>
          <p:cNvSpPr/>
          <p:nvPr/>
        </p:nvSpPr>
        <p:spPr>
          <a:xfrm>
            <a:off x="2743200" y="3639240"/>
            <a:ext cx="17812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Wait 5 seconds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9"/>
          <p:cNvSpPr/>
          <p:nvPr/>
        </p:nvSpPr>
        <p:spPr>
          <a:xfrm>
            <a:off x="2743200" y="3986640"/>
            <a:ext cx="178128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Graceful drain period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In-flight requests complete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50"/>
          <p:cNvSpPr/>
          <p:nvPr/>
        </p:nvSpPr>
        <p:spPr>
          <a:xfrm>
            <a:off x="4566960" y="411480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51"/>
          <p:cNvSpPr/>
          <p:nvPr/>
        </p:nvSpPr>
        <p:spPr>
          <a:xfrm>
            <a:off x="4736520" y="3547800"/>
            <a:ext cx="1964160" cy="14245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52"/>
          <p:cNvSpPr/>
          <p:nvPr/>
        </p:nvSpPr>
        <p:spPr>
          <a:xfrm>
            <a:off x="4736520" y="3548880"/>
            <a:ext cx="43920" cy="1422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53"/>
          <p:cNvSpPr/>
          <p:nvPr/>
        </p:nvSpPr>
        <p:spPr>
          <a:xfrm>
            <a:off x="4919400" y="3639240"/>
            <a:ext cx="17812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Health Check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54"/>
          <p:cNvSpPr/>
          <p:nvPr/>
        </p:nvSpPr>
        <p:spPr>
          <a:xfrm>
            <a:off x="4919400" y="3986640"/>
            <a:ext cx="178128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GET /health → 200 OK required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Fail = immediate rollback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55"/>
          <p:cNvSpPr/>
          <p:nvPr/>
        </p:nvSpPr>
        <p:spPr>
          <a:xfrm>
            <a:off x="6749280" y="4114800"/>
            <a:ext cx="162720" cy="162720"/>
          </a:xfrm>
          <a:prstGeom prst="chevron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56"/>
          <p:cNvSpPr/>
          <p:nvPr/>
        </p:nvSpPr>
        <p:spPr>
          <a:xfrm>
            <a:off x="6912720" y="3547800"/>
            <a:ext cx="2028240" cy="14245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57"/>
          <p:cNvSpPr/>
          <p:nvPr/>
        </p:nvSpPr>
        <p:spPr>
          <a:xfrm>
            <a:off x="6912720" y="3548880"/>
            <a:ext cx="43920" cy="1422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58"/>
          <p:cNvSpPr/>
          <p:nvPr/>
        </p:nvSpPr>
        <p:spPr>
          <a:xfrm>
            <a:off x="7095600" y="3639240"/>
            <a:ext cx="17812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Next Instance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59"/>
          <p:cNvSpPr/>
          <p:nvPr/>
        </p:nvSpPr>
        <p:spPr>
          <a:xfrm>
            <a:off x="7095600" y="3986640"/>
            <a:ext cx="178128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Repeat for instances 1, 2, 3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 dropped connections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22d3ee"/>
                </a:solidFill>
                <a:latin typeface="Calibri"/>
                <a:ea typeface="Calibri"/>
              </a:rPr>
              <a:t>WEEK 3 OF 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Docker &amp; Microservices Platform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502920" y="1207080"/>
            <a:ext cx="8136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"You are not learning Docker commands. You are learning how modern applications ship to production."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5"/>
          <p:cNvSpPr/>
          <p:nvPr/>
        </p:nvSpPr>
        <p:spPr>
          <a:xfrm>
            <a:off x="384120" y="1664280"/>
            <a:ext cx="1534320" cy="33084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384120" y="1664280"/>
            <a:ext cx="153432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384120" y="1737360"/>
            <a:ext cx="1534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0891b2"/>
                </a:solidFill>
                <a:latin typeface="Calibri"/>
                <a:ea typeface="Calibri"/>
              </a:rPr>
              <a:t>Day 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493920" y="1993320"/>
            <a:ext cx="13150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Docker Basics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9"/>
          <p:cNvSpPr/>
          <p:nvPr/>
        </p:nvSpPr>
        <p:spPr>
          <a:xfrm>
            <a:off x="521280" y="2597040"/>
            <a:ext cx="12600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521280" y="270648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Dockerfiles &amp; layer caching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521280" y="345636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Multi-stage builds — 59% image size cut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12"/>
          <p:cNvSpPr/>
          <p:nvPr/>
        </p:nvSpPr>
        <p:spPr>
          <a:xfrm>
            <a:off x="521280" y="420624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Alpine/slim base images for security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13"/>
          <p:cNvSpPr/>
          <p:nvPr/>
        </p:nvSpPr>
        <p:spPr>
          <a:xfrm>
            <a:off x="2066400" y="1664280"/>
            <a:ext cx="1534320" cy="33084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14"/>
          <p:cNvSpPr/>
          <p:nvPr/>
        </p:nvSpPr>
        <p:spPr>
          <a:xfrm>
            <a:off x="2066400" y="1664280"/>
            <a:ext cx="153432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15"/>
          <p:cNvSpPr/>
          <p:nvPr/>
        </p:nvSpPr>
        <p:spPr>
          <a:xfrm>
            <a:off x="2066400" y="1737360"/>
            <a:ext cx="1534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7c3aed"/>
                </a:solidFill>
                <a:latin typeface="Calibri"/>
                <a:ea typeface="Calibri"/>
              </a:rPr>
              <a:t>Day 2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16"/>
          <p:cNvSpPr/>
          <p:nvPr/>
        </p:nvSpPr>
        <p:spPr>
          <a:xfrm>
            <a:off x="2176200" y="1993320"/>
            <a:ext cx="13150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Docker Compose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7"/>
          <p:cNvSpPr/>
          <p:nvPr/>
        </p:nvSpPr>
        <p:spPr>
          <a:xfrm>
            <a:off x="2203560" y="2597040"/>
            <a:ext cx="12600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8"/>
          <p:cNvSpPr/>
          <p:nvPr/>
        </p:nvSpPr>
        <p:spPr>
          <a:xfrm>
            <a:off x="2203560" y="270648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Multi-container orchestration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19"/>
          <p:cNvSpPr/>
          <p:nvPr/>
        </p:nvSpPr>
        <p:spPr>
          <a:xfrm>
            <a:off x="2203560" y="345636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Health-gated depends_on chains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20"/>
          <p:cNvSpPr/>
          <p:nvPr/>
        </p:nvSpPr>
        <p:spPr>
          <a:xfrm>
            <a:off x="2203560" y="420624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Dev vs prod override file pattern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21"/>
          <p:cNvSpPr/>
          <p:nvPr/>
        </p:nvSpPr>
        <p:spPr>
          <a:xfrm>
            <a:off x="3749040" y="1664280"/>
            <a:ext cx="1534320" cy="33084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22"/>
          <p:cNvSpPr/>
          <p:nvPr/>
        </p:nvSpPr>
        <p:spPr>
          <a:xfrm>
            <a:off x="3749040" y="1664280"/>
            <a:ext cx="1534320" cy="36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23"/>
          <p:cNvSpPr/>
          <p:nvPr/>
        </p:nvSpPr>
        <p:spPr>
          <a:xfrm>
            <a:off x="3749040" y="1737360"/>
            <a:ext cx="1534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d97706"/>
                </a:solidFill>
                <a:latin typeface="Calibri"/>
                <a:ea typeface="Calibri"/>
              </a:rPr>
              <a:t>Day 3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24"/>
          <p:cNvSpPr/>
          <p:nvPr/>
        </p:nvSpPr>
        <p:spPr>
          <a:xfrm>
            <a:off x="3858840" y="1993320"/>
            <a:ext cx="13150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Networking &amp; Volumes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25"/>
          <p:cNvSpPr/>
          <p:nvPr/>
        </p:nvSpPr>
        <p:spPr>
          <a:xfrm>
            <a:off x="3886200" y="2597040"/>
            <a:ext cx="12600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26"/>
          <p:cNvSpPr/>
          <p:nvPr/>
        </p:nvSpPr>
        <p:spPr>
          <a:xfrm>
            <a:off x="3886200" y="270648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3-tier network segmentation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27"/>
          <p:cNvSpPr/>
          <p:nvPr/>
        </p:nvSpPr>
        <p:spPr>
          <a:xfrm>
            <a:off x="3886200" y="345636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Named volumes + bind mounts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28"/>
          <p:cNvSpPr/>
          <p:nvPr/>
        </p:nvSpPr>
        <p:spPr>
          <a:xfrm>
            <a:off x="3886200" y="420624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Volume backup automation script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29"/>
          <p:cNvSpPr/>
          <p:nvPr/>
        </p:nvSpPr>
        <p:spPr>
          <a:xfrm>
            <a:off x="5431680" y="1664280"/>
            <a:ext cx="1534320" cy="33084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30"/>
          <p:cNvSpPr/>
          <p:nvPr/>
        </p:nvSpPr>
        <p:spPr>
          <a:xfrm>
            <a:off x="5431680" y="1664280"/>
            <a:ext cx="1534320" cy="36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31"/>
          <p:cNvSpPr/>
          <p:nvPr/>
        </p:nvSpPr>
        <p:spPr>
          <a:xfrm>
            <a:off x="5431680" y="1737360"/>
            <a:ext cx="1534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dc2626"/>
                </a:solidFill>
                <a:latin typeface="Calibri"/>
                <a:ea typeface="Calibri"/>
              </a:rPr>
              <a:t>Day 4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32"/>
          <p:cNvSpPr/>
          <p:nvPr/>
        </p:nvSpPr>
        <p:spPr>
          <a:xfrm>
            <a:off x="5541120" y="1993320"/>
            <a:ext cx="13150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33"/>
          <p:cNvSpPr/>
          <p:nvPr/>
        </p:nvSpPr>
        <p:spPr>
          <a:xfrm>
            <a:off x="5568840" y="2597040"/>
            <a:ext cx="12600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4"/>
          <p:cNvSpPr/>
          <p:nvPr/>
        </p:nvSpPr>
        <p:spPr>
          <a:xfrm>
            <a:off x="5568840" y="270648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Trivy — CRITICAL CVE pipeline gate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35"/>
          <p:cNvSpPr/>
          <p:nvPr/>
        </p:nvSpPr>
        <p:spPr>
          <a:xfrm>
            <a:off x="5568840" y="345636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Non-root users in every container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36"/>
          <p:cNvSpPr/>
          <p:nvPr/>
        </p:nvSpPr>
        <p:spPr>
          <a:xfrm>
            <a:off x="5568840" y="420624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Resource limits + cap-drop ALL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37"/>
          <p:cNvSpPr/>
          <p:nvPr/>
        </p:nvSpPr>
        <p:spPr>
          <a:xfrm>
            <a:off x="7113960" y="1664280"/>
            <a:ext cx="1534320" cy="33084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38"/>
          <p:cNvSpPr/>
          <p:nvPr/>
        </p:nvSpPr>
        <p:spPr>
          <a:xfrm>
            <a:off x="7113960" y="1664280"/>
            <a:ext cx="153432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39"/>
          <p:cNvSpPr/>
          <p:nvPr/>
        </p:nvSpPr>
        <p:spPr>
          <a:xfrm>
            <a:off x="7113960" y="1737360"/>
            <a:ext cx="1534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86" strike="noStrike">
                <a:solidFill>
                  <a:srgbClr val="059669"/>
                </a:solidFill>
                <a:latin typeface="Calibri"/>
                <a:ea typeface="Calibri"/>
              </a:rPr>
              <a:t>Day 5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40"/>
          <p:cNvSpPr/>
          <p:nvPr/>
        </p:nvSpPr>
        <p:spPr>
          <a:xfrm>
            <a:off x="7223760" y="1993320"/>
            <a:ext cx="13150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Registry &amp; Deploy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41"/>
          <p:cNvSpPr/>
          <p:nvPr/>
        </p:nvSpPr>
        <p:spPr>
          <a:xfrm>
            <a:off x="7251120" y="2597040"/>
            <a:ext cx="12600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42"/>
          <p:cNvSpPr/>
          <p:nvPr/>
        </p:nvSpPr>
        <p:spPr>
          <a:xfrm>
            <a:off x="7251120" y="270648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Docker Hub + private registry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43"/>
          <p:cNvSpPr/>
          <p:nvPr/>
        </p:nvSpPr>
        <p:spPr>
          <a:xfrm>
            <a:off x="7251120" y="345636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Blue-green container deployments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44"/>
          <p:cNvSpPr/>
          <p:nvPr/>
        </p:nvSpPr>
        <p:spPr>
          <a:xfrm>
            <a:off x="7251120" y="4206240"/>
            <a:ext cx="12600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cAdvisor + Prometheus + Grafana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22d3ee"/>
                </a:solidFill>
                <a:latin typeface="Calibri"/>
                <a:ea typeface="Calibri"/>
              </a:rPr>
              <a:t>WEEK 3  ·  FINAL PROJECT ARCHITECTURE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12-Component Distributed Platform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4"/>
          <p:cNvSpPr/>
          <p:nvPr/>
        </p:nvSpPr>
        <p:spPr>
          <a:xfrm>
            <a:off x="73080" y="841320"/>
            <a:ext cx="68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6" strike="noStrike">
                <a:solidFill>
                  <a:srgbClr val="94a3b8"/>
                </a:solidFill>
                <a:latin typeface="Calibri"/>
                <a:ea typeface="Calibri"/>
              </a:rPr>
              <a:t>CLIENT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73080" y="1463040"/>
            <a:ext cx="68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6" strike="noStrike">
                <a:solidFill>
                  <a:srgbClr val="94a3b8"/>
                </a:solidFill>
                <a:latin typeface="Calibri"/>
                <a:ea typeface="Calibri"/>
              </a:rPr>
              <a:t>GATEWAY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73080" y="2139840"/>
            <a:ext cx="68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6" strike="noStrike">
                <a:solidFill>
                  <a:srgbClr val="94a3b8"/>
                </a:solidFill>
                <a:latin typeface="Calibri"/>
                <a:ea typeface="Calibri"/>
              </a:rPr>
              <a:t>SERVICES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7"/>
          <p:cNvSpPr/>
          <p:nvPr/>
        </p:nvSpPr>
        <p:spPr>
          <a:xfrm>
            <a:off x="73080" y="3090600"/>
            <a:ext cx="68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6" strike="noStrike">
                <a:solidFill>
                  <a:srgbClr val="94a3b8"/>
                </a:solidFill>
                <a:latin typeface="Calibri"/>
                <a:ea typeface="Calibri"/>
              </a:rPr>
              <a:t>DATA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8"/>
          <p:cNvSpPr/>
          <p:nvPr/>
        </p:nvSpPr>
        <p:spPr>
          <a:xfrm>
            <a:off x="73080" y="4041720"/>
            <a:ext cx="68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pc="86" strike="noStrike">
                <a:solidFill>
                  <a:srgbClr val="94a3b8"/>
                </a:solidFill>
                <a:latin typeface="Calibri"/>
                <a:ea typeface="Calibri"/>
              </a:rPr>
              <a:t>OPS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9"/>
          <p:cNvSpPr/>
          <p:nvPr/>
        </p:nvSpPr>
        <p:spPr>
          <a:xfrm>
            <a:off x="804600" y="841320"/>
            <a:ext cx="14760" cy="415872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10"/>
          <p:cNvSpPr/>
          <p:nvPr/>
        </p:nvSpPr>
        <p:spPr>
          <a:xfrm>
            <a:off x="2907720" y="932760"/>
            <a:ext cx="3107160" cy="455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11"/>
          <p:cNvSpPr/>
          <p:nvPr/>
        </p:nvSpPr>
        <p:spPr>
          <a:xfrm>
            <a:off x="2907720" y="932760"/>
            <a:ext cx="310716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Frontend  ·  React + Nginx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12"/>
          <p:cNvSpPr/>
          <p:nvPr/>
        </p:nvSpPr>
        <p:spPr>
          <a:xfrm>
            <a:off x="4443840" y="1389960"/>
            <a:ext cx="34920" cy="181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3"/>
          <p:cNvSpPr/>
          <p:nvPr/>
        </p:nvSpPr>
        <p:spPr>
          <a:xfrm>
            <a:off x="2176200" y="1572840"/>
            <a:ext cx="4551840" cy="51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14"/>
          <p:cNvSpPr/>
          <p:nvPr/>
        </p:nvSpPr>
        <p:spPr>
          <a:xfrm>
            <a:off x="2176200" y="1627560"/>
            <a:ext cx="45518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API Gateway  ·  Node.js Express  ·  Rate Limiting  ·  JWT Routing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15"/>
          <p:cNvSpPr/>
          <p:nvPr/>
        </p:nvSpPr>
        <p:spPr>
          <a:xfrm>
            <a:off x="2816280" y="2084760"/>
            <a:ext cx="34920" cy="181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6"/>
          <p:cNvSpPr/>
          <p:nvPr/>
        </p:nvSpPr>
        <p:spPr>
          <a:xfrm>
            <a:off x="4443840" y="2084760"/>
            <a:ext cx="34920" cy="181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7"/>
          <p:cNvSpPr/>
          <p:nvPr/>
        </p:nvSpPr>
        <p:spPr>
          <a:xfrm>
            <a:off x="6071760" y="2084760"/>
            <a:ext cx="34920" cy="181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8"/>
          <p:cNvSpPr/>
          <p:nvPr/>
        </p:nvSpPr>
        <p:spPr>
          <a:xfrm>
            <a:off x="1298520" y="2267640"/>
            <a:ext cx="2174400" cy="748080"/>
          </a:xfrm>
          <a:prstGeom prst="rect">
            <a:avLst/>
          </a:prstGeom>
          <a:solidFill>
            <a:srgbClr val="0d1e35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19"/>
          <p:cNvSpPr/>
          <p:nvPr/>
        </p:nvSpPr>
        <p:spPr>
          <a:xfrm>
            <a:off x="1298520" y="2267640"/>
            <a:ext cx="21744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20"/>
          <p:cNvSpPr/>
          <p:nvPr/>
        </p:nvSpPr>
        <p:spPr>
          <a:xfrm>
            <a:off x="1298520" y="2340720"/>
            <a:ext cx="217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User Service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21"/>
          <p:cNvSpPr/>
          <p:nvPr/>
        </p:nvSpPr>
        <p:spPr>
          <a:xfrm>
            <a:off x="1298520" y="2615040"/>
            <a:ext cx="217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Python FastAPI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22"/>
          <p:cNvSpPr/>
          <p:nvPr/>
        </p:nvSpPr>
        <p:spPr>
          <a:xfrm>
            <a:off x="3712320" y="2267640"/>
            <a:ext cx="2174400" cy="748080"/>
          </a:xfrm>
          <a:prstGeom prst="rect">
            <a:avLst/>
          </a:prstGeom>
          <a:solidFill>
            <a:srgbClr val="0d1e35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23"/>
          <p:cNvSpPr/>
          <p:nvPr/>
        </p:nvSpPr>
        <p:spPr>
          <a:xfrm>
            <a:off x="3712320" y="2267640"/>
            <a:ext cx="2174400" cy="36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24"/>
          <p:cNvSpPr/>
          <p:nvPr/>
        </p:nvSpPr>
        <p:spPr>
          <a:xfrm>
            <a:off x="3712320" y="2340720"/>
            <a:ext cx="217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Product Service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25"/>
          <p:cNvSpPr/>
          <p:nvPr/>
        </p:nvSpPr>
        <p:spPr>
          <a:xfrm>
            <a:off x="3712320" y="2615040"/>
            <a:ext cx="217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Node.js Express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26"/>
          <p:cNvSpPr/>
          <p:nvPr/>
        </p:nvSpPr>
        <p:spPr>
          <a:xfrm>
            <a:off x="6126480" y="2267640"/>
            <a:ext cx="2174400" cy="748080"/>
          </a:xfrm>
          <a:prstGeom prst="rect">
            <a:avLst/>
          </a:prstGeom>
          <a:solidFill>
            <a:srgbClr val="0d1e35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27"/>
          <p:cNvSpPr/>
          <p:nvPr/>
        </p:nvSpPr>
        <p:spPr>
          <a:xfrm>
            <a:off x="6126480" y="2267640"/>
            <a:ext cx="217440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8"/>
          <p:cNvSpPr/>
          <p:nvPr/>
        </p:nvSpPr>
        <p:spPr>
          <a:xfrm>
            <a:off x="6126480" y="2340720"/>
            <a:ext cx="217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Order Service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9"/>
          <p:cNvSpPr/>
          <p:nvPr/>
        </p:nvSpPr>
        <p:spPr>
          <a:xfrm>
            <a:off x="6126480" y="2615040"/>
            <a:ext cx="2174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Python FastAPI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30"/>
          <p:cNvSpPr/>
          <p:nvPr/>
        </p:nvSpPr>
        <p:spPr>
          <a:xfrm>
            <a:off x="2350080" y="3017520"/>
            <a:ext cx="34920" cy="162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1"/>
          <p:cNvSpPr/>
          <p:nvPr/>
        </p:nvSpPr>
        <p:spPr>
          <a:xfrm>
            <a:off x="4279320" y="3017520"/>
            <a:ext cx="34920" cy="162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32"/>
          <p:cNvSpPr/>
          <p:nvPr/>
        </p:nvSpPr>
        <p:spPr>
          <a:xfrm>
            <a:off x="6071760" y="3017520"/>
            <a:ext cx="34920" cy="162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3"/>
          <p:cNvSpPr/>
          <p:nvPr/>
        </p:nvSpPr>
        <p:spPr>
          <a:xfrm>
            <a:off x="960120" y="3182040"/>
            <a:ext cx="1717200" cy="656640"/>
          </a:xfrm>
          <a:prstGeom prst="rect">
            <a:avLst/>
          </a:prstGeom>
          <a:solidFill>
            <a:srgbClr val="0d1e35"/>
          </a:solidFill>
          <a:ln w="9525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34"/>
          <p:cNvSpPr/>
          <p:nvPr/>
        </p:nvSpPr>
        <p:spPr>
          <a:xfrm>
            <a:off x="960120" y="3255120"/>
            <a:ext cx="1717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PostgreSQL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35"/>
          <p:cNvSpPr/>
          <p:nvPr/>
        </p:nvSpPr>
        <p:spPr>
          <a:xfrm>
            <a:off x="960120" y="3511440"/>
            <a:ext cx="17172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Users · Orders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36"/>
          <p:cNvSpPr/>
          <p:nvPr/>
        </p:nvSpPr>
        <p:spPr>
          <a:xfrm>
            <a:off x="2898720" y="3182040"/>
            <a:ext cx="1717200" cy="656640"/>
          </a:xfrm>
          <a:prstGeom prst="rect">
            <a:avLst/>
          </a:prstGeom>
          <a:solidFill>
            <a:srgbClr val="0d1e35"/>
          </a:solidFill>
          <a:ln w="952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37"/>
          <p:cNvSpPr/>
          <p:nvPr/>
        </p:nvSpPr>
        <p:spPr>
          <a:xfrm>
            <a:off x="2898720" y="3255120"/>
            <a:ext cx="1717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MongoDB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8"/>
          <p:cNvSpPr/>
          <p:nvPr/>
        </p:nvSpPr>
        <p:spPr>
          <a:xfrm>
            <a:off x="2898720" y="3511440"/>
            <a:ext cx="17172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Products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39"/>
          <p:cNvSpPr/>
          <p:nvPr/>
        </p:nvSpPr>
        <p:spPr>
          <a:xfrm>
            <a:off x="4837320" y="3182040"/>
            <a:ext cx="1717200" cy="656640"/>
          </a:xfrm>
          <a:prstGeom prst="rect">
            <a:avLst/>
          </a:prstGeom>
          <a:solidFill>
            <a:srgbClr val="0d1e35"/>
          </a:solidFill>
          <a:ln w="9525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40"/>
          <p:cNvSpPr/>
          <p:nvPr/>
        </p:nvSpPr>
        <p:spPr>
          <a:xfrm>
            <a:off x="4837320" y="3255120"/>
            <a:ext cx="1717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Redis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41"/>
          <p:cNvSpPr/>
          <p:nvPr/>
        </p:nvSpPr>
        <p:spPr>
          <a:xfrm>
            <a:off x="4837320" y="3511440"/>
            <a:ext cx="17172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Cache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42"/>
          <p:cNvSpPr/>
          <p:nvPr/>
        </p:nvSpPr>
        <p:spPr>
          <a:xfrm>
            <a:off x="6775560" y="3182040"/>
            <a:ext cx="1717200" cy="656640"/>
          </a:xfrm>
          <a:prstGeom prst="rect">
            <a:avLst/>
          </a:prstGeom>
          <a:solidFill>
            <a:srgbClr val="0d1e35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3"/>
          <p:cNvSpPr/>
          <p:nvPr/>
        </p:nvSpPr>
        <p:spPr>
          <a:xfrm>
            <a:off x="6775560" y="3255120"/>
            <a:ext cx="1717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RabbitMQ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44"/>
          <p:cNvSpPr/>
          <p:nvPr/>
        </p:nvSpPr>
        <p:spPr>
          <a:xfrm>
            <a:off x="6775560" y="3511440"/>
            <a:ext cx="17172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Queue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45"/>
          <p:cNvSpPr/>
          <p:nvPr/>
        </p:nvSpPr>
        <p:spPr>
          <a:xfrm>
            <a:off x="960120" y="4041720"/>
            <a:ext cx="1936800" cy="802800"/>
          </a:xfrm>
          <a:prstGeom prst="rect">
            <a:avLst/>
          </a:prstGeom>
          <a:solidFill>
            <a:srgbClr val="0d1e35"/>
          </a:solidFill>
          <a:ln w="9525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46"/>
          <p:cNvSpPr/>
          <p:nvPr/>
        </p:nvSpPr>
        <p:spPr>
          <a:xfrm>
            <a:off x="960120" y="4260960"/>
            <a:ext cx="1936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Prometheus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47"/>
          <p:cNvSpPr/>
          <p:nvPr/>
        </p:nvSpPr>
        <p:spPr>
          <a:xfrm>
            <a:off x="3136320" y="4041720"/>
            <a:ext cx="1936800" cy="802800"/>
          </a:xfrm>
          <a:prstGeom prst="rect">
            <a:avLst/>
          </a:prstGeom>
          <a:solidFill>
            <a:srgbClr val="0d1e35"/>
          </a:solidFill>
          <a:ln w="9525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8"/>
          <p:cNvSpPr/>
          <p:nvPr/>
        </p:nvSpPr>
        <p:spPr>
          <a:xfrm>
            <a:off x="3136320" y="4260960"/>
            <a:ext cx="1936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Grafana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49"/>
          <p:cNvSpPr/>
          <p:nvPr/>
        </p:nvSpPr>
        <p:spPr>
          <a:xfrm>
            <a:off x="5312520" y="4041720"/>
            <a:ext cx="1936800" cy="802800"/>
          </a:xfrm>
          <a:prstGeom prst="rect">
            <a:avLst/>
          </a:prstGeom>
          <a:solidFill>
            <a:srgbClr val="0d1e35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50"/>
          <p:cNvSpPr/>
          <p:nvPr/>
        </p:nvSpPr>
        <p:spPr>
          <a:xfrm>
            <a:off x="5312520" y="4260960"/>
            <a:ext cx="19368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cAdvisor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51"/>
          <p:cNvSpPr/>
          <p:nvPr/>
        </p:nvSpPr>
        <p:spPr>
          <a:xfrm>
            <a:off x="7479720" y="4041720"/>
            <a:ext cx="1506960" cy="80280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52"/>
          <p:cNvSpPr/>
          <p:nvPr/>
        </p:nvSpPr>
        <p:spPr>
          <a:xfrm>
            <a:off x="7479720" y="4169520"/>
            <a:ext cx="15069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Trivy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Scanned ✓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1"/>
          <p:cNvSpPr/>
          <p:nvPr/>
        </p:nvSpPr>
        <p:spPr>
          <a:xfrm>
            <a:off x="45720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64748b"/>
                </a:solidFill>
                <a:latin typeface="Calibri"/>
                <a:ea typeface="Calibri"/>
              </a:rPr>
              <a:t>WEEK 3  ·  ARCHITECTURE DECISION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2"/>
          <p:cNvSpPr/>
          <p:nvPr/>
        </p:nvSpPr>
        <p:spPr>
          <a:xfrm>
            <a:off x="45720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Why Microservices?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"/>
          <p:cNvSpPr/>
          <p:nvPr/>
        </p:nvSpPr>
        <p:spPr>
          <a:xfrm>
            <a:off x="457200" y="1097280"/>
            <a:ext cx="822780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4"/>
          <p:cNvSpPr/>
          <p:nvPr/>
        </p:nvSpPr>
        <p:spPr>
          <a:xfrm>
            <a:off x="411480" y="1261800"/>
            <a:ext cx="3820320" cy="370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5"/>
          <p:cNvSpPr/>
          <p:nvPr/>
        </p:nvSpPr>
        <p:spPr>
          <a:xfrm>
            <a:off x="411480" y="1261800"/>
            <a:ext cx="3820320" cy="36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6"/>
          <p:cNvSpPr/>
          <p:nvPr/>
        </p:nvSpPr>
        <p:spPr>
          <a:xfrm>
            <a:off x="576000" y="1353240"/>
            <a:ext cx="2284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Calibri"/>
              </a:rPr>
              <a:t>Monolith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9"/>
          <p:cNvSpPr/>
          <p:nvPr/>
        </p:nvSpPr>
        <p:spPr>
          <a:xfrm>
            <a:off x="411480" y="1847160"/>
            <a:ext cx="3820320" cy="5925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548640" y="199332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1"/>
          <p:cNvSpPr/>
          <p:nvPr/>
        </p:nvSpPr>
        <p:spPr>
          <a:xfrm>
            <a:off x="850320" y="190188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Single codebase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850320" y="215784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Every change risks the entire system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3"/>
          <p:cNvSpPr/>
          <p:nvPr/>
        </p:nvSpPr>
        <p:spPr>
          <a:xfrm>
            <a:off x="411480" y="2441520"/>
            <a:ext cx="3820320" cy="5925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14"/>
          <p:cNvSpPr/>
          <p:nvPr/>
        </p:nvSpPr>
        <p:spPr>
          <a:xfrm>
            <a:off x="548640" y="258768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5"/>
          <p:cNvSpPr/>
          <p:nvPr/>
        </p:nvSpPr>
        <p:spPr>
          <a:xfrm>
            <a:off x="850320" y="249624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One database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6"/>
          <p:cNvSpPr/>
          <p:nvPr/>
        </p:nvSpPr>
        <p:spPr>
          <a:xfrm>
            <a:off x="850320" y="275220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Schema changes block all teams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7"/>
          <p:cNvSpPr/>
          <p:nvPr/>
        </p:nvSpPr>
        <p:spPr>
          <a:xfrm>
            <a:off x="411480" y="3035880"/>
            <a:ext cx="3820320" cy="5925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18"/>
          <p:cNvSpPr/>
          <p:nvPr/>
        </p:nvSpPr>
        <p:spPr>
          <a:xfrm>
            <a:off x="548640" y="318204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19"/>
          <p:cNvSpPr/>
          <p:nvPr/>
        </p:nvSpPr>
        <p:spPr>
          <a:xfrm>
            <a:off x="850320" y="309060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Full redeploy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20"/>
          <p:cNvSpPr/>
          <p:nvPr/>
        </p:nvSpPr>
        <p:spPr>
          <a:xfrm>
            <a:off x="850320" y="334656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1 bug fix = entire application restarted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1"/>
          <p:cNvSpPr/>
          <p:nvPr/>
        </p:nvSpPr>
        <p:spPr>
          <a:xfrm>
            <a:off x="411480" y="3630240"/>
            <a:ext cx="3820320" cy="5925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548640" y="377640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23"/>
          <p:cNvSpPr/>
          <p:nvPr/>
        </p:nvSpPr>
        <p:spPr>
          <a:xfrm>
            <a:off x="850320" y="368496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No fault boundary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24"/>
          <p:cNvSpPr/>
          <p:nvPr/>
        </p:nvSpPr>
        <p:spPr>
          <a:xfrm>
            <a:off x="850320" y="394092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One crash takes the whole site down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25"/>
          <p:cNvSpPr/>
          <p:nvPr/>
        </p:nvSpPr>
        <p:spPr>
          <a:xfrm>
            <a:off x="411480" y="4224600"/>
            <a:ext cx="3820320" cy="5925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26"/>
          <p:cNvSpPr/>
          <p:nvPr/>
        </p:nvSpPr>
        <p:spPr>
          <a:xfrm>
            <a:off x="548640" y="437076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Calibri"/>
                <a:ea typeface="Calibri"/>
              </a:rPr>
              <a:t>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27"/>
          <p:cNvSpPr/>
          <p:nvPr/>
        </p:nvSpPr>
        <p:spPr>
          <a:xfrm>
            <a:off x="850320" y="427932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Technology lock-in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28"/>
          <p:cNvSpPr/>
          <p:nvPr/>
        </p:nvSpPr>
        <p:spPr>
          <a:xfrm>
            <a:off x="850320" y="453528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Cannot mix Python and Node.js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29"/>
          <p:cNvSpPr/>
          <p:nvPr/>
        </p:nvSpPr>
        <p:spPr>
          <a:xfrm>
            <a:off x="4937760" y="1261800"/>
            <a:ext cx="3820320" cy="370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30"/>
          <p:cNvSpPr/>
          <p:nvPr/>
        </p:nvSpPr>
        <p:spPr>
          <a:xfrm>
            <a:off x="4937760" y="1261800"/>
            <a:ext cx="382032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1"/>
          <p:cNvSpPr/>
          <p:nvPr/>
        </p:nvSpPr>
        <p:spPr>
          <a:xfrm>
            <a:off x="5102280" y="1353240"/>
            <a:ext cx="2284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  <a:ea typeface="Calibri"/>
              </a:rPr>
              <a:t>Microservices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4"/>
          <p:cNvSpPr/>
          <p:nvPr/>
        </p:nvSpPr>
        <p:spPr>
          <a:xfrm>
            <a:off x="4937760" y="1847160"/>
            <a:ext cx="3820320" cy="5925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35"/>
          <p:cNvSpPr/>
          <p:nvPr/>
        </p:nvSpPr>
        <p:spPr>
          <a:xfrm>
            <a:off x="5074920" y="199332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36"/>
          <p:cNvSpPr/>
          <p:nvPr/>
        </p:nvSpPr>
        <p:spPr>
          <a:xfrm>
            <a:off x="5376600" y="190188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Independent scaling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37"/>
          <p:cNvSpPr/>
          <p:nvPr/>
        </p:nvSpPr>
        <p:spPr>
          <a:xfrm>
            <a:off x="5376600" y="215784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Product scales without touching User service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38"/>
          <p:cNvSpPr/>
          <p:nvPr/>
        </p:nvSpPr>
        <p:spPr>
          <a:xfrm>
            <a:off x="4937760" y="2441520"/>
            <a:ext cx="3820320" cy="5925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39"/>
          <p:cNvSpPr/>
          <p:nvPr/>
        </p:nvSpPr>
        <p:spPr>
          <a:xfrm>
            <a:off x="5074920" y="258768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40"/>
          <p:cNvSpPr/>
          <p:nvPr/>
        </p:nvSpPr>
        <p:spPr>
          <a:xfrm>
            <a:off x="5376600" y="249624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Fault isolation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41"/>
          <p:cNvSpPr/>
          <p:nvPr/>
        </p:nvSpPr>
        <p:spPr>
          <a:xfrm>
            <a:off x="5376600" y="275220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Order crash does not affect the site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42"/>
          <p:cNvSpPr/>
          <p:nvPr/>
        </p:nvSpPr>
        <p:spPr>
          <a:xfrm>
            <a:off x="4937760" y="3035880"/>
            <a:ext cx="3820320" cy="5925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43"/>
          <p:cNvSpPr/>
          <p:nvPr/>
        </p:nvSpPr>
        <p:spPr>
          <a:xfrm>
            <a:off x="5074920" y="318204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44"/>
          <p:cNvSpPr/>
          <p:nvPr/>
        </p:nvSpPr>
        <p:spPr>
          <a:xfrm>
            <a:off x="5376600" y="309060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Continuous delivery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45"/>
          <p:cNvSpPr/>
          <p:nvPr/>
        </p:nvSpPr>
        <p:spPr>
          <a:xfrm>
            <a:off x="5376600" y="334656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Deploy one service any time, safely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46"/>
          <p:cNvSpPr/>
          <p:nvPr/>
        </p:nvSpPr>
        <p:spPr>
          <a:xfrm>
            <a:off x="4937760" y="3630240"/>
            <a:ext cx="3820320" cy="5925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47"/>
          <p:cNvSpPr/>
          <p:nvPr/>
        </p:nvSpPr>
        <p:spPr>
          <a:xfrm>
            <a:off x="5074920" y="377640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48"/>
          <p:cNvSpPr/>
          <p:nvPr/>
        </p:nvSpPr>
        <p:spPr>
          <a:xfrm>
            <a:off x="5376600" y="368496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Tech flexibility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49"/>
          <p:cNvSpPr/>
          <p:nvPr/>
        </p:nvSpPr>
        <p:spPr>
          <a:xfrm>
            <a:off x="5376600" y="394092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Python FastAPI + Node.js coexisting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50"/>
          <p:cNvSpPr/>
          <p:nvPr/>
        </p:nvSpPr>
        <p:spPr>
          <a:xfrm>
            <a:off x="4937760" y="4224600"/>
            <a:ext cx="3820320" cy="59256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51"/>
          <p:cNvSpPr/>
          <p:nvPr/>
        </p:nvSpPr>
        <p:spPr>
          <a:xfrm>
            <a:off x="5074920" y="4370760"/>
            <a:ext cx="254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Calibri"/>
                <a:ea typeface="Calibri"/>
              </a:rPr>
              <a:t>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52"/>
          <p:cNvSpPr/>
          <p:nvPr/>
        </p:nvSpPr>
        <p:spPr>
          <a:xfrm>
            <a:off x="5376600" y="4279320"/>
            <a:ext cx="31986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Team autonomy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53"/>
          <p:cNvSpPr/>
          <p:nvPr/>
        </p:nvSpPr>
        <p:spPr>
          <a:xfrm>
            <a:off x="5376600" y="4535280"/>
            <a:ext cx="31986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Each team owns and ships their domain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54"/>
          <p:cNvSpPr/>
          <p:nvPr/>
        </p:nvSpPr>
        <p:spPr>
          <a:xfrm>
            <a:off x="4334400" y="2926080"/>
            <a:ext cx="437760" cy="437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55"/>
          <p:cNvSpPr/>
          <p:nvPr/>
        </p:nvSpPr>
        <p:spPr>
          <a:xfrm>
            <a:off x="4270320" y="2926080"/>
            <a:ext cx="58356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891b2"/>
                </a:solidFill>
                <a:latin typeface="Calibri"/>
                <a:ea typeface="Calibri"/>
              </a:rPr>
              <a:t>WEEK 3  ·  CONTAINERISATION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Docker &amp; Compose Orchestration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4"/>
          <p:cNvSpPr/>
          <p:nvPr/>
        </p:nvSpPr>
        <p:spPr>
          <a:xfrm>
            <a:off x="502920" y="1207080"/>
            <a:ext cx="4113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Multi-Stage Builds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5"/>
          <p:cNvSpPr/>
          <p:nvPr/>
        </p:nvSpPr>
        <p:spPr>
          <a:xfrm>
            <a:off x="502920" y="1645920"/>
            <a:ext cx="4113000" cy="7844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6"/>
          <p:cNvSpPr/>
          <p:nvPr/>
        </p:nvSpPr>
        <p:spPr>
          <a:xfrm>
            <a:off x="502920" y="1647000"/>
            <a:ext cx="43920" cy="782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7"/>
          <p:cNvSpPr/>
          <p:nvPr/>
        </p:nvSpPr>
        <p:spPr>
          <a:xfrm>
            <a:off x="685800" y="1755720"/>
            <a:ext cx="2284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Stage 1  ·  Builder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8"/>
          <p:cNvSpPr/>
          <p:nvPr/>
        </p:nvSpPr>
        <p:spPr>
          <a:xfrm>
            <a:off x="685800" y="2030040"/>
            <a:ext cx="37288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Full runtime + all dependencies + compile step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9"/>
          <p:cNvSpPr/>
          <p:nvPr/>
        </p:nvSpPr>
        <p:spPr>
          <a:xfrm>
            <a:off x="502920" y="2541960"/>
            <a:ext cx="4113000" cy="7844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10"/>
          <p:cNvSpPr/>
          <p:nvPr/>
        </p:nvSpPr>
        <p:spPr>
          <a:xfrm>
            <a:off x="502920" y="2543040"/>
            <a:ext cx="43920" cy="782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11"/>
          <p:cNvSpPr/>
          <p:nvPr/>
        </p:nvSpPr>
        <p:spPr>
          <a:xfrm>
            <a:off x="685800" y="2651760"/>
            <a:ext cx="2284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Stage 2  ·  Runtime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12"/>
          <p:cNvSpPr/>
          <p:nvPr/>
        </p:nvSpPr>
        <p:spPr>
          <a:xfrm>
            <a:off x="685800" y="2926080"/>
            <a:ext cx="37288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Copy /dist only → alpine base → final image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13"/>
          <p:cNvSpPr/>
          <p:nvPr/>
        </p:nvSpPr>
        <p:spPr>
          <a:xfrm>
            <a:off x="502920" y="3474720"/>
            <a:ext cx="4113000" cy="592560"/>
          </a:xfrm>
          <a:prstGeom prst="rect">
            <a:avLst/>
          </a:prstGeom>
          <a:solidFill>
            <a:srgbClr val="0d1e3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14"/>
          <p:cNvSpPr/>
          <p:nvPr/>
        </p:nvSpPr>
        <p:spPr>
          <a:xfrm>
            <a:off x="685800" y="3566160"/>
            <a:ext cx="821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Result: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15"/>
          <p:cNvSpPr/>
          <p:nvPr/>
        </p:nvSpPr>
        <p:spPr>
          <a:xfrm>
            <a:off x="1536120" y="3566160"/>
            <a:ext cx="29242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59669"/>
                </a:solidFill>
                <a:latin typeface="Calibri"/>
                <a:ea typeface="Calibri"/>
              </a:rPr>
              <a:t>450 MB  →  185 MB  (59% reduction)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6"/>
          <p:cNvSpPr/>
          <p:nvPr/>
        </p:nvSpPr>
        <p:spPr>
          <a:xfrm>
            <a:off x="685800" y="3813120"/>
            <a:ext cx="374724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Faster pulls  ·  fewer CVEs  ·  smaller attack surface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17"/>
          <p:cNvSpPr/>
          <p:nvPr/>
        </p:nvSpPr>
        <p:spPr>
          <a:xfrm>
            <a:off x="4800600" y="1207080"/>
            <a:ext cx="40215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Network Segmentation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18"/>
          <p:cNvSpPr/>
          <p:nvPr/>
        </p:nvSpPr>
        <p:spPr>
          <a:xfrm>
            <a:off x="4800600" y="1645920"/>
            <a:ext cx="4021560" cy="675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19"/>
          <p:cNvSpPr/>
          <p:nvPr/>
        </p:nvSpPr>
        <p:spPr>
          <a:xfrm>
            <a:off x="4800600" y="1647000"/>
            <a:ext cx="43920" cy="673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20"/>
          <p:cNvSpPr/>
          <p:nvPr/>
        </p:nvSpPr>
        <p:spPr>
          <a:xfrm>
            <a:off x="4983480" y="1719000"/>
            <a:ext cx="2284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frontend-net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21"/>
          <p:cNvSpPr/>
          <p:nvPr/>
        </p:nvSpPr>
        <p:spPr>
          <a:xfrm>
            <a:off x="4983480" y="1974960"/>
            <a:ext cx="36558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alibri"/>
                <a:ea typeface="Calibri"/>
              </a:rPr>
              <a:t>External access permitted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Shape 22"/>
          <p:cNvSpPr/>
          <p:nvPr/>
        </p:nvSpPr>
        <p:spPr>
          <a:xfrm>
            <a:off x="4800600" y="2423160"/>
            <a:ext cx="4021560" cy="675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23"/>
          <p:cNvSpPr/>
          <p:nvPr/>
        </p:nvSpPr>
        <p:spPr>
          <a:xfrm>
            <a:off x="4800600" y="2424240"/>
            <a:ext cx="43920" cy="67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24"/>
          <p:cNvSpPr/>
          <p:nvPr/>
        </p:nvSpPr>
        <p:spPr>
          <a:xfrm>
            <a:off x="4983480" y="2496240"/>
            <a:ext cx="2284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backend-net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25"/>
          <p:cNvSpPr/>
          <p:nvPr/>
        </p:nvSpPr>
        <p:spPr>
          <a:xfrm>
            <a:off x="4983480" y="2752200"/>
            <a:ext cx="36558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c3aed"/>
                </a:solidFill>
                <a:latin typeface="Calibri"/>
                <a:ea typeface="Calibri"/>
              </a:rPr>
              <a:t>Internal only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26"/>
          <p:cNvSpPr/>
          <p:nvPr/>
        </p:nvSpPr>
        <p:spPr>
          <a:xfrm>
            <a:off x="4800600" y="3200400"/>
            <a:ext cx="4021560" cy="67500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27"/>
          <p:cNvSpPr/>
          <p:nvPr/>
        </p:nvSpPr>
        <p:spPr>
          <a:xfrm>
            <a:off x="4800600" y="3201480"/>
            <a:ext cx="43920" cy="673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28"/>
          <p:cNvSpPr/>
          <p:nvPr/>
        </p:nvSpPr>
        <p:spPr>
          <a:xfrm>
            <a:off x="4983480" y="3273480"/>
            <a:ext cx="22842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database-net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29"/>
          <p:cNvSpPr/>
          <p:nvPr/>
        </p:nvSpPr>
        <p:spPr>
          <a:xfrm>
            <a:off x="4983480" y="3529440"/>
            <a:ext cx="36558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97706"/>
                </a:solidFill>
                <a:latin typeface="Calibri"/>
                <a:ea typeface="Calibri"/>
              </a:rPr>
              <a:t>internal: true  —  no egress at all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30"/>
          <p:cNvSpPr/>
          <p:nvPr/>
        </p:nvSpPr>
        <p:spPr>
          <a:xfrm>
            <a:off x="4800600" y="3886200"/>
            <a:ext cx="402156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Compose Essentials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31"/>
          <p:cNvSpPr/>
          <p:nvPr/>
        </p:nvSpPr>
        <p:spPr>
          <a:xfrm>
            <a:off x="4800600" y="453096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2"/>
          <p:cNvSpPr/>
          <p:nvPr/>
        </p:nvSpPr>
        <p:spPr>
          <a:xfrm>
            <a:off x="4946760" y="4425840"/>
            <a:ext cx="3857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depends_on condition: service_healthy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33"/>
          <p:cNvSpPr/>
          <p:nvPr/>
        </p:nvSpPr>
        <p:spPr>
          <a:xfrm>
            <a:off x="4800600" y="477792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34"/>
          <p:cNvSpPr/>
          <p:nvPr/>
        </p:nvSpPr>
        <p:spPr>
          <a:xfrm>
            <a:off x="4946760" y="4672440"/>
            <a:ext cx="3857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healthcheck: interval 30s · retries 3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35"/>
          <p:cNvSpPr/>
          <p:nvPr/>
        </p:nvSpPr>
        <p:spPr>
          <a:xfrm>
            <a:off x="4800600" y="5024520"/>
            <a:ext cx="62280" cy="62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36"/>
          <p:cNvSpPr/>
          <p:nvPr/>
        </p:nvSpPr>
        <p:spPr>
          <a:xfrm>
            <a:off x="4946760" y="4919400"/>
            <a:ext cx="3857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restart: unless-stopped on all services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38"/>
          <p:cNvSpPr/>
          <p:nvPr/>
        </p:nvSpPr>
        <p:spPr>
          <a:xfrm>
            <a:off x="4946760" y="4151880"/>
            <a:ext cx="3857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Calibri"/>
                <a:ea typeface="Calibri"/>
              </a:rPr>
              <a:t>env_file: .env — no secrets in compose.yml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60"/>
          <p:cNvSpPr/>
          <p:nvPr/>
        </p:nvSpPr>
        <p:spPr>
          <a:xfrm>
            <a:off x="4800600" y="4279320"/>
            <a:ext cx="62640" cy="62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" bIns="3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f87171"/>
                </a:solidFill>
                <a:latin typeface="Calibri"/>
                <a:ea typeface="Calibri"/>
              </a:rPr>
              <a:t>WEEK 3  ·  SECURITY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Container Security &amp; Hardening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4"/>
          <p:cNvSpPr/>
          <p:nvPr/>
        </p:nvSpPr>
        <p:spPr>
          <a:xfrm>
            <a:off x="502920" y="1207080"/>
            <a:ext cx="8136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Defence in depth — attack surface reduced at the image, runtime, network, and secrets layer.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5"/>
          <p:cNvSpPr/>
          <p:nvPr/>
        </p:nvSpPr>
        <p:spPr>
          <a:xfrm>
            <a:off x="384120" y="1664280"/>
            <a:ext cx="270468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6"/>
          <p:cNvSpPr/>
          <p:nvPr/>
        </p:nvSpPr>
        <p:spPr>
          <a:xfrm>
            <a:off x="384120" y="1664280"/>
            <a:ext cx="36720" cy="1571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7"/>
          <p:cNvSpPr/>
          <p:nvPr/>
        </p:nvSpPr>
        <p:spPr>
          <a:xfrm>
            <a:off x="567000" y="1792080"/>
            <a:ext cx="2421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Non-Root Users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8"/>
          <p:cNvSpPr/>
          <p:nvPr/>
        </p:nvSpPr>
        <p:spPr>
          <a:xfrm>
            <a:off x="567000" y="215784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9"/>
          <p:cNvSpPr/>
          <p:nvPr/>
        </p:nvSpPr>
        <p:spPr>
          <a:xfrm>
            <a:off x="567000" y="2267640"/>
            <a:ext cx="242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RUN addgroup + adduser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USER appuser in every Dockerfile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Eliminates host privilege escalation path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Shape 10"/>
          <p:cNvSpPr/>
          <p:nvPr/>
        </p:nvSpPr>
        <p:spPr>
          <a:xfrm>
            <a:off x="3237120" y="1664280"/>
            <a:ext cx="270468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11"/>
          <p:cNvSpPr/>
          <p:nvPr/>
        </p:nvSpPr>
        <p:spPr>
          <a:xfrm>
            <a:off x="3237120" y="1664280"/>
            <a:ext cx="36720" cy="1571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12"/>
          <p:cNvSpPr/>
          <p:nvPr/>
        </p:nvSpPr>
        <p:spPr>
          <a:xfrm>
            <a:off x="3420000" y="1792080"/>
            <a:ext cx="2421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Minimal Base Images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13"/>
          <p:cNvSpPr/>
          <p:nvPr/>
        </p:nvSpPr>
        <p:spPr>
          <a:xfrm>
            <a:off x="3420000" y="215784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14"/>
          <p:cNvSpPr/>
          <p:nvPr/>
        </p:nvSpPr>
        <p:spPr>
          <a:xfrm>
            <a:off x="3420000" y="2267640"/>
            <a:ext cx="242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node:20-alpine vs node:20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Alpine = 5 MB vs 900 MB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Fewer packages = fewer CVEs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15"/>
          <p:cNvSpPr/>
          <p:nvPr/>
        </p:nvSpPr>
        <p:spPr>
          <a:xfrm>
            <a:off x="6089760" y="1664280"/>
            <a:ext cx="270468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16"/>
          <p:cNvSpPr/>
          <p:nvPr/>
        </p:nvSpPr>
        <p:spPr>
          <a:xfrm>
            <a:off x="6089760" y="1664280"/>
            <a:ext cx="36720" cy="1571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17"/>
          <p:cNvSpPr/>
          <p:nvPr/>
        </p:nvSpPr>
        <p:spPr>
          <a:xfrm>
            <a:off x="6272640" y="1792080"/>
            <a:ext cx="2421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Multi-Stage Builds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18"/>
          <p:cNvSpPr/>
          <p:nvPr/>
        </p:nvSpPr>
        <p:spPr>
          <a:xfrm>
            <a:off x="6272640" y="215784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19"/>
          <p:cNvSpPr/>
          <p:nvPr/>
        </p:nvSpPr>
        <p:spPr>
          <a:xfrm>
            <a:off x="6272640" y="2267640"/>
            <a:ext cx="242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Compilers never reach production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Only /dist artifacts copied forward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 build-tool attack surface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Shape 20"/>
          <p:cNvSpPr/>
          <p:nvPr/>
        </p:nvSpPr>
        <p:spPr>
          <a:xfrm>
            <a:off x="384120" y="3383280"/>
            <a:ext cx="270468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21"/>
          <p:cNvSpPr/>
          <p:nvPr/>
        </p:nvSpPr>
        <p:spPr>
          <a:xfrm>
            <a:off x="384120" y="3383280"/>
            <a:ext cx="36720" cy="1571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22"/>
          <p:cNvSpPr/>
          <p:nvPr/>
        </p:nvSpPr>
        <p:spPr>
          <a:xfrm>
            <a:off x="567000" y="3511440"/>
            <a:ext cx="2421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Trivy CVE Scanning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23"/>
          <p:cNvSpPr/>
          <p:nvPr/>
        </p:nvSpPr>
        <p:spPr>
          <a:xfrm>
            <a:off x="567000" y="387720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24"/>
          <p:cNvSpPr/>
          <p:nvPr/>
        </p:nvSpPr>
        <p:spPr>
          <a:xfrm>
            <a:off x="567000" y="3986640"/>
            <a:ext cx="242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Scans OS + dependencies + pip/npm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Pipeline gates on CRITICAL severity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Severity: CRITICAL &gt; HIGH &gt; MEDIUM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25"/>
          <p:cNvSpPr/>
          <p:nvPr/>
        </p:nvSpPr>
        <p:spPr>
          <a:xfrm>
            <a:off x="3237120" y="3383280"/>
            <a:ext cx="270468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Shape 26"/>
          <p:cNvSpPr/>
          <p:nvPr/>
        </p:nvSpPr>
        <p:spPr>
          <a:xfrm>
            <a:off x="3237120" y="3383280"/>
            <a:ext cx="36720" cy="1571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27"/>
          <p:cNvSpPr/>
          <p:nvPr/>
        </p:nvSpPr>
        <p:spPr>
          <a:xfrm>
            <a:off x="3420000" y="3511440"/>
            <a:ext cx="2421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Resource Limits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28"/>
          <p:cNvSpPr/>
          <p:nvPr/>
        </p:nvSpPr>
        <p:spPr>
          <a:xfrm>
            <a:off x="3420000" y="387720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29"/>
          <p:cNvSpPr/>
          <p:nvPr/>
        </p:nvSpPr>
        <p:spPr>
          <a:xfrm>
            <a:off x="3420000" y="3986640"/>
            <a:ext cx="242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memory: 512M  cpus: 1.0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Prevents container starving the host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OOM kill contained to one service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30"/>
          <p:cNvSpPr/>
          <p:nvPr/>
        </p:nvSpPr>
        <p:spPr>
          <a:xfrm>
            <a:off x="6089760" y="3383280"/>
            <a:ext cx="2704680" cy="15710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31"/>
          <p:cNvSpPr/>
          <p:nvPr/>
        </p:nvSpPr>
        <p:spPr>
          <a:xfrm>
            <a:off x="6089760" y="3383280"/>
            <a:ext cx="36720" cy="1571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32"/>
          <p:cNvSpPr/>
          <p:nvPr/>
        </p:nvSpPr>
        <p:spPr>
          <a:xfrm>
            <a:off x="6272640" y="3511440"/>
            <a:ext cx="2421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Secrets Management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33"/>
          <p:cNvSpPr/>
          <p:nvPr/>
        </p:nvSpPr>
        <p:spPr>
          <a:xfrm>
            <a:off x="6272640" y="3877200"/>
            <a:ext cx="232992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34"/>
          <p:cNvSpPr/>
          <p:nvPr/>
        </p:nvSpPr>
        <p:spPr>
          <a:xfrm>
            <a:off x="6272640" y="3986640"/>
            <a:ext cx="2421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No credentials in Dockerfile layers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Env vars injected at runtime only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.env excluded from version control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1"/>
          <p:cNvSpPr/>
          <p:nvPr/>
        </p:nvSpPr>
        <p:spPr>
          <a:xfrm>
            <a:off x="45720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64748b"/>
                </a:solidFill>
                <a:latin typeface="Calibri"/>
                <a:ea typeface="Calibri"/>
              </a:rPr>
              <a:t>WEEK 3  ·  OBSERVABILITY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2"/>
          <p:cNvSpPr/>
          <p:nvPr/>
        </p:nvSpPr>
        <p:spPr>
          <a:xfrm>
            <a:off x="45720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Monitoring &amp; Metrics Stack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"/>
          <p:cNvSpPr/>
          <p:nvPr/>
        </p:nvSpPr>
        <p:spPr>
          <a:xfrm>
            <a:off x="457200" y="1097280"/>
            <a:ext cx="822780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4"/>
          <p:cNvSpPr/>
          <p:nvPr/>
        </p:nvSpPr>
        <p:spPr>
          <a:xfrm>
            <a:off x="384120" y="1261800"/>
            <a:ext cx="1918440" cy="1296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5"/>
          <p:cNvSpPr/>
          <p:nvPr/>
        </p:nvSpPr>
        <p:spPr>
          <a:xfrm>
            <a:off x="384120" y="1261800"/>
            <a:ext cx="191844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6"/>
          <p:cNvSpPr/>
          <p:nvPr/>
        </p:nvSpPr>
        <p:spPr>
          <a:xfrm>
            <a:off x="384120" y="1353240"/>
            <a:ext cx="1918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Application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7"/>
          <p:cNvSpPr/>
          <p:nvPr/>
        </p:nvSpPr>
        <p:spPr>
          <a:xfrm>
            <a:off x="384120" y="1664280"/>
            <a:ext cx="1918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/metrics endpoint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8"/>
          <p:cNvSpPr/>
          <p:nvPr/>
        </p:nvSpPr>
        <p:spPr>
          <a:xfrm>
            <a:off x="567000" y="1920240"/>
            <a:ext cx="155268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9"/>
          <p:cNvSpPr/>
          <p:nvPr/>
        </p:nvSpPr>
        <p:spPr>
          <a:xfrm>
            <a:off x="384120" y="1974960"/>
            <a:ext cx="19184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alibri"/>
                <a:ea typeface="Calibri"/>
              </a:rPr>
              <a:t>prometheus-fastapi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891b2"/>
                </a:solidFill>
                <a:latin typeface="Calibri"/>
                <a:ea typeface="Calibri"/>
              </a:rPr>
              <a:t>-instrumentator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0"/>
          <p:cNvSpPr/>
          <p:nvPr/>
        </p:nvSpPr>
        <p:spPr>
          <a:xfrm>
            <a:off x="2322720" y="1774080"/>
            <a:ext cx="181080" cy="18108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1"/>
          <p:cNvSpPr/>
          <p:nvPr/>
        </p:nvSpPr>
        <p:spPr>
          <a:xfrm>
            <a:off x="2532960" y="1261800"/>
            <a:ext cx="1918440" cy="1296720"/>
          </a:xfrm>
          <a:prstGeom prst="rect">
            <a:avLst/>
          </a:prstGeom>
          <a:solidFill>
            <a:srgbClr val="0f172a"/>
          </a:solidFill>
          <a:ln w="12700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12"/>
          <p:cNvSpPr/>
          <p:nvPr/>
        </p:nvSpPr>
        <p:spPr>
          <a:xfrm>
            <a:off x="2532960" y="1261800"/>
            <a:ext cx="1918440" cy="36720"/>
          </a:xfrm>
          <a:prstGeom prst="rect">
            <a:avLst/>
          </a:prstGeom>
          <a:solidFill>
            <a:srgbClr val="e2461b"/>
          </a:solidFill>
          <a:ln w="12700">
            <a:solidFill>
              <a:srgbClr val="e24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13"/>
          <p:cNvSpPr/>
          <p:nvPr/>
        </p:nvSpPr>
        <p:spPr>
          <a:xfrm>
            <a:off x="2532960" y="1353240"/>
            <a:ext cx="1918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Prometheus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14"/>
          <p:cNvSpPr/>
          <p:nvPr/>
        </p:nvSpPr>
        <p:spPr>
          <a:xfrm>
            <a:off x="2532960" y="1664280"/>
            <a:ext cx="1918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Scrapes every 15 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5"/>
          <p:cNvSpPr/>
          <p:nvPr/>
        </p:nvSpPr>
        <p:spPr>
          <a:xfrm>
            <a:off x="2715840" y="1920240"/>
            <a:ext cx="155268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16"/>
          <p:cNvSpPr/>
          <p:nvPr/>
        </p:nvSpPr>
        <p:spPr>
          <a:xfrm>
            <a:off x="2532960" y="1974960"/>
            <a:ext cx="19184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2461b"/>
                </a:solidFill>
                <a:latin typeface="Calibri"/>
                <a:ea typeface="Calibri"/>
              </a:rPr>
              <a:t>Time-series storage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2461b"/>
                </a:solidFill>
                <a:latin typeface="Calibri"/>
                <a:ea typeface="Calibri"/>
              </a:rPr>
              <a:t>(TSDB on disk)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7"/>
          <p:cNvSpPr/>
          <p:nvPr/>
        </p:nvSpPr>
        <p:spPr>
          <a:xfrm>
            <a:off x="4471560" y="1774080"/>
            <a:ext cx="181080" cy="18108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8"/>
          <p:cNvSpPr/>
          <p:nvPr/>
        </p:nvSpPr>
        <p:spPr>
          <a:xfrm>
            <a:off x="4681800" y="1261800"/>
            <a:ext cx="1918440" cy="1296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Shape 19"/>
          <p:cNvSpPr/>
          <p:nvPr/>
        </p:nvSpPr>
        <p:spPr>
          <a:xfrm>
            <a:off x="4681800" y="1261800"/>
            <a:ext cx="191844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20"/>
          <p:cNvSpPr/>
          <p:nvPr/>
        </p:nvSpPr>
        <p:spPr>
          <a:xfrm>
            <a:off x="4681800" y="1353240"/>
            <a:ext cx="1918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cAdvisor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21"/>
          <p:cNvSpPr/>
          <p:nvPr/>
        </p:nvSpPr>
        <p:spPr>
          <a:xfrm>
            <a:off x="4681800" y="1664280"/>
            <a:ext cx="1918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Container metrics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2"/>
          <p:cNvSpPr/>
          <p:nvPr/>
        </p:nvSpPr>
        <p:spPr>
          <a:xfrm>
            <a:off x="4864680" y="1920240"/>
            <a:ext cx="155268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23"/>
          <p:cNvSpPr/>
          <p:nvPr/>
        </p:nvSpPr>
        <p:spPr>
          <a:xfrm>
            <a:off x="4681800" y="1974960"/>
            <a:ext cx="19184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CPU · RAM · Net I/O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59669"/>
                </a:solidFill>
                <a:latin typeface="Calibri"/>
                <a:ea typeface="Calibri"/>
              </a:rPr>
              <a:t>per container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4"/>
          <p:cNvSpPr/>
          <p:nvPr/>
        </p:nvSpPr>
        <p:spPr>
          <a:xfrm>
            <a:off x="6620400" y="1774080"/>
            <a:ext cx="181080" cy="181080"/>
          </a:xfrm>
          <a:prstGeom prst="chevron">
            <a:avLst>
              <a:gd name="adj" fmla="val 50000"/>
            </a:avLst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5"/>
          <p:cNvSpPr/>
          <p:nvPr/>
        </p:nvSpPr>
        <p:spPr>
          <a:xfrm>
            <a:off x="6830640" y="1261800"/>
            <a:ext cx="1918440" cy="1296720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Shape 26"/>
          <p:cNvSpPr/>
          <p:nvPr/>
        </p:nvSpPr>
        <p:spPr>
          <a:xfrm>
            <a:off x="6830640" y="1261800"/>
            <a:ext cx="1918440" cy="36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27"/>
          <p:cNvSpPr/>
          <p:nvPr/>
        </p:nvSpPr>
        <p:spPr>
          <a:xfrm>
            <a:off x="6830640" y="1353240"/>
            <a:ext cx="19184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Grafana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28"/>
          <p:cNvSpPr/>
          <p:nvPr/>
        </p:nvSpPr>
        <p:spPr>
          <a:xfrm>
            <a:off x="6830640" y="1664280"/>
            <a:ext cx="1918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  <a:ea typeface="Calibri"/>
              </a:rPr>
              <a:t>Visualisation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9"/>
          <p:cNvSpPr/>
          <p:nvPr/>
        </p:nvSpPr>
        <p:spPr>
          <a:xfrm>
            <a:off x="7013520" y="1920240"/>
            <a:ext cx="155268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30"/>
          <p:cNvSpPr/>
          <p:nvPr/>
        </p:nvSpPr>
        <p:spPr>
          <a:xfrm>
            <a:off x="6830640" y="1974960"/>
            <a:ext cx="19184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97706"/>
                </a:solidFill>
                <a:latin typeface="Calibri"/>
                <a:ea typeface="Calibri"/>
              </a:rPr>
              <a:t>Dashboards · Graphs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97706"/>
                </a:solidFill>
                <a:latin typeface="Calibri"/>
                <a:ea typeface="Calibri"/>
              </a:rPr>
              <a:t>Threshold alerts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1"/>
          <p:cNvSpPr/>
          <p:nvPr/>
        </p:nvSpPr>
        <p:spPr>
          <a:xfrm>
            <a:off x="384120" y="2697480"/>
            <a:ext cx="8373960" cy="528480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32"/>
          <p:cNvSpPr/>
          <p:nvPr/>
        </p:nvSpPr>
        <p:spPr>
          <a:xfrm>
            <a:off x="567000" y="2834640"/>
            <a:ext cx="10954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Key lesson: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33"/>
          <p:cNvSpPr/>
          <p:nvPr/>
        </p:nvSpPr>
        <p:spPr>
          <a:xfrm>
            <a:off x="1691640" y="2797920"/>
            <a:ext cx="685620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FastAPI does not expose /metrics by default. Installing prometheus-fastapi-instrumentator then adding it to requirements.txt was a hard lesson — container state must come from code, not manual installs.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34"/>
          <p:cNvSpPr/>
          <p:nvPr/>
        </p:nvSpPr>
        <p:spPr>
          <a:xfrm>
            <a:off x="384120" y="3429000"/>
            <a:ext cx="41130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Application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35"/>
          <p:cNvSpPr/>
          <p:nvPr/>
        </p:nvSpPr>
        <p:spPr>
          <a:xfrm>
            <a:off x="4754880" y="3429000"/>
            <a:ext cx="40215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Infrastructure Metrics  (cAdvisor)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36"/>
          <p:cNvSpPr/>
          <p:nvPr/>
        </p:nvSpPr>
        <p:spPr>
          <a:xfrm>
            <a:off x="384120" y="3822120"/>
            <a:ext cx="4204440" cy="4006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37"/>
          <p:cNvSpPr/>
          <p:nvPr/>
        </p:nvSpPr>
        <p:spPr>
          <a:xfrm>
            <a:off x="530280" y="3877200"/>
            <a:ext cx="146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Request Count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38"/>
          <p:cNvSpPr/>
          <p:nvPr/>
        </p:nvSpPr>
        <p:spPr>
          <a:xfrm>
            <a:off x="2030040" y="3877200"/>
            <a:ext cx="2467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Traffic volume by service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39"/>
          <p:cNvSpPr/>
          <p:nvPr/>
        </p:nvSpPr>
        <p:spPr>
          <a:xfrm>
            <a:off x="384120" y="4242960"/>
            <a:ext cx="4204440" cy="4006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40"/>
          <p:cNvSpPr/>
          <p:nvPr/>
        </p:nvSpPr>
        <p:spPr>
          <a:xfrm>
            <a:off x="530280" y="4297680"/>
            <a:ext cx="146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Request Latency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41"/>
          <p:cNvSpPr/>
          <p:nvPr/>
        </p:nvSpPr>
        <p:spPr>
          <a:xfrm>
            <a:off x="2030040" y="4297680"/>
            <a:ext cx="2467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P50 / P95 / P99 per endpoint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42"/>
          <p:cNvSpPr/>
          <p:nvPr/>
        </p:nvSpPr>
        <p:spPr>
          <a:xfrm>
            <a:off x="384120" y="4663440"/>
            <a:ext cx="4204440" cy="4006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43"/>
          <p:cNvSpPr/>
          <p:nvPr/>
        </p:nvSpPr>
        <p:spPr>
          <a:xfrm>
            <a:off x="530280" y="4718160"/>
            <a:ext cx="146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Error Rate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44"/>
          <p:cNvSpPr/>
          <p:nvPr/>
        </p:nvSpPr>
        <p:spPr>
          <a:xfrm>
            <a:off x="2030040" y="4718160"/>
            <a:ext cx="2467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4xx + 5xx per rolling window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45"/>
          <p:cNvSpPr/>
          <p:nvPr/>
        </p:nvSpPr>
        <p:spPr>
          <a:xfrm>
            <a:off x="4754880" y="3822120"/>
            <a:ext cx="4003200" cy="4006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46"/>
          <p:cNvSpPr/>
          <p:nvPr/>
        </p:nvSpPr>
        <p:spPr>
          <a:xfrm>
            <a:off x="4901040" y="3877200"/>
            <a:ext cx="146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CPU Usage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47"/>
          <p:cNvSpPr/>
          <p:nvPr/>
        </p:nvSpPr>
        <p:spPr>
          <a:xfrm>
            <a:off x="6400800" y="3877200"/>
            <a:ext cx="223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Per-container % utilisation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48"/>
          <p:cNvSpPr/>
          <p:nvPr/>
        </p:nvSpPr>
        <p:spPr>
          <a:xfrm>
            <a:off x="4754880" y="4242960"/>
            <a:ext cx="4003200" cy="40068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49"/>
          <p:cNvSpPr/>
          <p:nvPr/>
        </p:nvSpPr>
        <p:spPr>
          <a:xfrm>
            <a:off x="4901040" y="4297680"/>
            <a:ext cx="146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Memory RSS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50"/>
          <p:cNvSpPr/>
          <p:nvPr/>
        </p:nvSpPr>
        <p:spPr>
          <a:xfrm>
            <a:off x="6400800" y="4297680"/>
            <a:ext cx="223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OOM risk and leak detection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51"/>
          <p:cNvSpPr/>
          <p:nvPr/>
        </p:nvSpPr>
        <p:spPr>
          <a:xfrm>
            <a:off x="4754880" y="4663440"/>
            <a:ext cx="4003200" cy="400680"/>
          </a:xfrm>
          <a:prstGeom prst="rect">
            <a:avLst/>
          </a:prstGeom>
          <a:solidFill>
            <a:srgbClr val="f0f4f8"/>
          </a:solidFill>
          <a:ln w="508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52"/>
          <p:cNvSpPr/>
          <p:nvPr/>
        </p:nvSpPr>
        <p:spPr>
          <a:xfrm>
            <a:off x="4901040" y="4718160"/>
            <a:ext cx="1461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172a"/>
                </a:solidFill>
                <a:latin typeface="Calibri"/>
                <a:ea typeface="Calibri"/>
              </a:rPr>
              <a:t>Network I/O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 53"/>
          <p:cNvSpPr/>
          <p:nvPr/>
        </p:nvSpPr>
        <p:spPr>
          <a:xfrm>
            <a:off x="6400800" y="4718160"/>
            <a:ext cx="223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Bytes in/out per container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1"/>
          <p:cNvSpPr/>
          <p:nvPr/>
        </p:nvSpPr>
        <p:spPr>
          <a:xfrm>
            <a:off x="50292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891b2"/>
                </a:solidFill>
                <a:latin typeface="Calibri"/>
                <a:ea typeface="Calibri"/>
              </a:rPr>
              <a:t>WEEK 3  ·  ENVIRONMENT STRATEGY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2"/>
          <p:cNvSpPr/>
          <p:nvPr/>
        </p:nvSpPr>
        <p:spPr>
          <a:xfrm>
            <a:off x="50292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Dev vs Production Environments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Shape 3"/>
          <p:cNvSpPr/>
          <p:nvPr/>
        </p:nvSpPr>
        <p:spPr>
          <a:xfrm>
            <a:off x="502920" y="1097280"/>
            <a:ext cx="813636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Shape 4"/>
          <p:cNvSpPr/>
          <p:nvPr/>
        </p:nvSpPr>
        <p:spPr>
          <a:xfrm>
            <a:off x="384120" y="1261800"/>
            <a:ext cx="4241160" cy="37015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5"/>
          <p:cNvSpPr/>
          <p:nvPr/>
        </p:nvSpPr>
        <p:spPr>
          <a:xfrm>
            <a:off x="384120" y="1261800"/>
            <a:ext cx="4241160" cy="36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6"/>
          <p:cNvSpPr/>
          <p:nvPr/>
        </p:nvSpPr>
        <p:spPr>
          <a:xfrm>
            <a:off x="548640" y="1353240"/>
            <a:ext cx="292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97706"/>
                </a:solidFill>
                <a:latin typeface="Consolas"/>
                <a:ea typeface="Consolas"/>
              </a:rPr>
              <a:t>docker-compose.dev.yml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Shape 9"/>
          <p:cNvSpPr/>
          <p:nvPr/>
        </p:nvSpPr>
        <p:spPr>
          <a:xfrm>
            <a:off x="548640" y="1700640"/>
            <a:ext cx="38844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10"/>
          <p:cNvSpPr/>
          <p:nvPr/>
        </p:nvSpPr>
        <p:spPr>
          <a:xfrm>
            <a:off x="548640" y="1828800"/>
            <a:ext cx="3911760" cy="45540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11"/>
          <p:cNvSpPr/>
          <p:nvPr/>
        </p:nvSpPr>
        <p:spPr>
          <a:xfrm>
            <a:off x="640080" y="192024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Source code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12"/>
          <p:cNvSpPr/>
          <p:nvPr/>
        </p:nvSpPr>
        <p:spPr>
          <a:xfrm>
            <a:off x="1920240" y="192024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Bind-mounted — live hot reload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13"/>
          <p:cNvSpPr/>
          <p:nvPr/>
        </p:nvSpPr>
        <p:spPr>
          <a:xfrm>
            <a:off x="548640" y="2331720"/>
            <a:ext cx="3911760" cy="45540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14"/>
          <p:cNvSpPr/>
          <p:nvPr/>
        </p:nvSpPr>
        <p:spPr>
          <a:xfrm>
            <a:off x="640080" y="242316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Logging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15"/>
          <p:cNvSpPr/>
          <p:nvPr/>
        </p:nvSpPr>
        <p:spPr>
          <a:xfrm>
            <a:off x="1920240" y="242316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DEBUG level — full stack traces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16"/>
          <p:cNvSpPr/>
          <p:nvPr/>
        </p:nvSpPr>
        <p:spPr>
          <a:xfrm>
            <a:off x="548640" y="2834640"/>
            <a:ext cx="3911760" cy="45540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17"/>
          <p:cNvSpPr/>
          <p:nvPr/>
        </p:nvSpPr>
        <p:spPr>
          <a:xfrm>
            <a:off x="640080" y="292608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Debug ports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8"/>
          <p:cNvSpPr/>
          <p:nvPr/>
        </p:nvSpPr>
        <p:spPr>
          <a:xfrm>
            <a:off x="1920240" y="292608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Node inspector 9229, pdb 5678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19"/>
          <p:cNvSpPr/>
          <p:nvPr/>
        </p:nvSpPr>
        <p:spPr>
          <a:xfrm>
            <a:off x="548640" y="3337560"/>
            <a:ext cx="3911760" cy="45540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20"/>
          <p:cNvSpPr/>
          <p:nvPr/>
        </p:nvSpPr>
        <p:spPr>
          <a:xfrm>
            <a:off x="640080" y="342900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Resource limits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21"/>
          <p:cNvSpPr/>
          <p:nvPr/>
        </p:nvSpPr>
        <p:spPr>
          <a:xfrm>
            <a:off x="1920240" y="342900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None — unrestricted host access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Shape 22"/>
          <p:cNvSpPr/>
          <p:nvPr/>
        </p:nvSpPr>
        <p:spPr>
          <a:xfrm>
            <a:off x="548640" y="3840480"/>
            <a:ext cx="3911760" cy="45540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23"/>
          <p:cNvSpPr/>
          <p:nvPr/>
        </p:nvSpPr>
        <p:spPr>
          <a:xfrm>
            <a:off x="640080" y="393192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Databases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24"/>
          <p:cNvSpPr/>
          <p:nvPr/>
        </p:nvSpPr>
        <p:spPr>
          <a:xfrm>
            <a:off x="1920240" y="393192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Pre-seeded with test fixtures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Shape 25"/>
          <p:cNvSpPr/>
          <p:nvPr/>
        </p:nvSpPr>
        <p:spPr>
          <a:xfrm>
            <a:off x="548640" y="4343400"/>
            <a:ext cx="3911760" cy="45540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26"/>
          <p:cNvSpPr/>
          <p:nvPr/>
        </p:nvSpPr>
        <p:spPr>
          <a:xfrm>
            <a:off x="640080" y="443484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Restart policy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27"/>
          <p:cNvSpPr/>
          <p:nvPr/>
        </p:nvSpPr>
        <p:spPr>
          <a:xfrm>
            <a:off x="1920240" y="443484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 — crashes are visible immediately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Shape 28"/>
          <p:cNvSpPr/>
          <p:nvPr/>
        </p:nvSpPr>
        <p:spPr>
          <a:xfrm>
            <a:off x="4827960" y="1261800"/>
            <a:ext cx="4241160" cy="370152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29"/>
          <p:cNvSpPr/>
          <p:nvPr/>
        </p:nvSpPr>
        <p:spPr>
          <a:xfrm>
            <a:off x="4827960" y="1261800"/>
            <a:ext cx="424116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30"/>
          <p:cNvSpPr/>
          <p:nvPr/>
        </p:nvSpPr>
        <p:spPr>
          <a:xfrm>
            <a:off x="4992480" y="1353240"/>
            <a:ext cx="292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59669"/>
                </a:solidFill>
                <a:latin typeface="Consolas"/>
                <a:ea typeface="Consolas"/>
              </a:rPr>
              <a:t>docker-compose.prod.yml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Shape 33"/>
          <p:cNvSpPr/>
          <p:nvPr/>
        </p:nvSpPr>
        <p:spPr>
          <a:xfrm>
            <a:off x="4992480" y="1700640"/>
            <a:ext cx="3884400" cy="14760"/>
          </a:xfrm>
          <a:prstGeom prst="rect">
            <a:avLst/>
          </a:prstGeom>
          <a:solidFill>
            <a:srgbClr val="1a3356"/>
          </a:solidFill>
          <a:ln w="1270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Shape 34"/>
          <p:cNvSpPr/>
          <p:nvPr/>
        </p:nvSpPr>
        <p:spPr>
          <a:xfrm>
            <a:off x="4992480" y="1828800"/>
            <a:ext cx="3911760" cy="45540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35"/>
          <p:cNvSpPr/>
          <p:nvPr/>
        </p:nvSpPr>
        <p:spPr>
          <a:xfrm>
            <a:off x="5083920" y="192024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Image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Text 36"/>
          <p:cNvSpPr/>
          <p:nvPr/>
        </p:nvSpPr>
        <p:spPr>
          <a:xfrm>
            <a:off x="6364080" y="192024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Multi-stage optimised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Shape 37"/>
          <p:cNvSpPr/>
          <p:nvPr/>
        </p:nvSpPr>
        <p:spPr>
          <a:xfrm>
            <a:off x="4992480" y="2331720"/>
            <a:ext cx="3911760" cy="45540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38"/>
          <p:cNvSpPr/>
          <p:nvPr/>
        </p:nvSpPr>
        <p:spPr>
          <a:xfrm>
            <a:off x="5083920" y="242316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Logging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39"/>
          <p:cNvSpPr/>
          <p:nvPr/>
        </p:nvSpPr>
        <p:spPr>
          <a:xfrm>
            <a:off x="6364080" y="242316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WARN / ERROR level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40"/>
          <p:cNvSpPr/>
          <p:nvPr/>
        </p:nvSpPr>
        <p:spPr>
          <a:xfrm>
            <a:off x="4992480" y="2834640"/>
            <a:ext cx="3911760" cy="45540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41"/>
          <p:cNvSpPr/>
          <p:nvPr/>
        </p:nvSpPr>
        <p:spPr>
          <a:xfrm>
            <a:off x="5083920" y="292608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User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42"/>
          <p:cNvSpPr/>
          <p:nvPr/>
        </p:nvSpPr>
        <p:spPr>
          <a:xfrm>
            <a:off x="6364080" y="292608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Non-root  (appuser  UID 1001)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Shape 43"/>
          <p:cNvSpPr/>
          <p:nvPr/>
        </p:nvSpPr>
        <p:spPr>
          <a:xfrm>
            <a:off x="4992480" y="3337560"/>
            <a:ext cx="3911760" cy="45540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44"/>
          <p:cNvSpPr/>
          <p:nvPr/>
        </p:nvSpPr>
        <p:spPr>
          <a:xfrm>
            <a:off x="5083920" y="342900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Resource limits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45"/>
          <p:cNvSpPr/>
          <p:nvPr/>
        </p:nvSpPr>
        <p:spPr>
          <a:xfrm>
            <a:off x="6364080" y="342900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memory: 512M  cpus: 1.0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Shape 46"/>
          <p:cNvSpPr/>
          <p:nvPr/>
        </p:nvSpPr>
        <p:spPr>
          <a:xfrm>
            <a:off x="4992480" y="3840480"/>
            <a:ext cx="3911760" cy="455400"/>
          </a:xfrm>
          <a:prstGeom prst="rect">
            <a:avLst/>
          </a:prstGeom>
          <a:solidFill>
            <a:srgbClr val="08111f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47"/>
          <p:cNvSpPr/>
          <p:nvPr/>
        </p:nvSpPr>
        <p:spPr>
          <a:xfrm>
            <a:off x="5083920" y="393192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Health checks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48"/>
          <p:cNvSpPr/>
          <p:nvPr/>
        </p:nvSpPr>
        <p:spPr>
          <a:xfrm>
            <a:off x="6364080" y="393192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Every 30 s · 3 retries · 5 s timeout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49"/>
          <p:cNvSpPr/>
          <p:nvPr/>
        </p:nvSpPr>
        <p:spPr>
          <a:xfrm>
            <a:off x="4992480" y="4343400"/>
            <a:ext cx="3911760" cy="455400"/>
          </a:xfrm>
          <a:prstGeom prst="rect">
            <a:avLst/>
          </a:prstGeom>
          <a:solidFill>
            <a:srgbClr val="132844"/>
          </a:solidFill>
          <a:ln w="508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50"/>
          <p:cNvSpPr/>
          <p:nvPr/>
        </p:nvSpPr>
        <p:spPr>
          <a:xfrm>
            <a:off x="5083920" y="4434840"/>
            <a:ext cx="1232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Restart policy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51"/>
          <p:cNvSpPr/>
          <p:nvPr/>
        </p:nvSpPr>
        <p:spPr>
          <a:xfrm>
            <a:off x="6364080" y="4434840"/>
            <a:ext cx="2421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unless-stopped — auto-recovery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1"/>
          <p:cNvSpPr/>
          <p:nvPr/>
        </p:nvSpPr>
        <p:spPr>
          <a:xfrm>
            <a:off x="457200" y="18288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64748b"/>
                </a:solidFill>
                <a:latin typeface="Calibri"/>
                <a:ea typeface="Calibri"/>
              </a:rPr>
              <a:t>PROGRAMME SUMMARY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 2"/>
          <p:cNvSpPr/>
          <p:nvPr/>
        </p:nvSpPr>
        <p:spPr>
          <a:xfrm>
            <a:off x="457200" y="420480"/>
            <a:ext cx="81363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  <a:ea typeface="Calibri"/>
              </a:rPr>
              <a:t>Five Core Competencies Gained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3"/>
          <p:cNvSpPr/>
          <p:nvPr/>
        </p:nvSpPr>
        <p:spPr>
          <a:xfrm>
            <a:off x="457200" y="1097280"/>
            <a:ext cx="822780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4"/>
          <p:cNvSpPr/>
          <p:nvPr/>
        </p:nvSpPr>
        <p:spPr>
          <a:xfrm>
            <a:off x="274320" y="1298520"/>
            <a:ext cx="1571040" cy="35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5"/>
          <p:cNvSpPr/>
          <p:nvPr/>
        </p:nvSpPr>
        <p:spPr>
          <a:xfrm>
            <a:off x="274320" y="1298520"/>
            <a:ext cx="1571040" cy="36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6"/>
          <p:cNvSpPr/>
          <p:nvPr/>
        </p:nvSpPr>
        <p:spPr>
          <a:xfrm>
            <a:off x="274320" y="1334880"/>
            <a:ext cx="15710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  <a:ea typeface="Calibri"/>
              </a:rPr>
              <a:t>I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 7"/>
          <p:cNvSpPr/>
          <p:nvPr/>
        </p:nvSpPr>
        <p:spPr>
          <a:xfrm>
            <a:off x="274320" y="2103120"/>
            <a:ext cx="15710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Infrastructure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8"/>
          <p:cNvSpPr/>
          <p:nvPr/>
        </p:nvSpPr>
        <p:spPr>
          <a:xfrm>
            <a:off x="438840" y="2541960"/>
            <a:ext cx="124164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9"/>
          <p:cNvSpPr/>
          <p:nvPr/>
        </p:nvSpPr>
        <p:spPr>
          <a:xfrm>
            <a:off x="274320" y="265176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bash / systemd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10"/>
          <p:cNvSpPr/>
          <p:nvPr/>
        </p:nvSpPr>
        <p:spPr>
          <a:xfrm>
            <a:off x="274320" y="320040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UFW · fail2ban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11"/>
          <p:cNvSpPr/>
          <p:nvPr/>
        </p:nvSpPr>
        <p:spPr>
          <a:xfrm>
            <a:off x="274320" y="374904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BIND9 DNS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12"/>
          <p:cNvSpPr/>
          <p:nvPr/>
        </p:nvSpPr>
        <p:spPr>
          <a:xfrm>
            <a:off x="274320" y="429768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LVM · rsyslog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13"/>
          <p:cNvSpPr/>
          <p:nvPr/>
        </p:nvSpPr>
        <p:spPr>
          <a:xfrm>
            <a:off x="1993320" y="1298520"/>
            <a:ext cx="1571040" cy="35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14"/>
          <p:cNvSpPr/>
          <p:nvPr/>
        </p:nvSpPr>
        <p:spPr>
          <a:xfrm>
            <a:off x="1993320" y="1298520"/>
            <a:ext cx="157104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 15"/>
          <p:cNvSpPr/>
          <p:nvPr/>
        </p:nvSpPr>
        <p:spPr>
          <a:xfrm>
            <a:off x="1993320" y="1334880"/>
            <a:ext cx="15710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729fcf"/>
                </a:solidFill>
                <a:latin typeface="Calibri"/>
                <a:ea typeface="Calibri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 16"/>
          <p:cNvSpPr/>
          <p:nvPr/>
        </p:nvSpPr>
        <p:spPr>
          <a:xfrm>
            <a:off x="1993320" y="2103120"/>
            <a:ext cx="15710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Deployment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17"/>
          <p:cNvSpPr/>
          <p:nvPr/>
        </p:nvSpPr>
        <p:spPr>
          <a:xfrm>
            <a:off x="2157840" y="2541960"/>
            <a:ext cx="124164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18"/>
          <p:cNvSpPr/>
          <p:nvPr/>
        </p:nvSpPr>
        <p:spPr>
          <a:xfrm>
            <a:off x="1993320" y="265176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Nginx / Apache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19"/>
          <p:cNvSpPr/>
          <p:nvPr/>
        </p:nvSpPr>
        <p:spPr>
          <a:xfrm>
            <a:off x="1993320" y="320040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PM2 · systemd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20"/>
          <p:cNvSpPr/>
          <p:nvPr/>
        </p:nvSpPr>
        <p:spPr>
          <a:xfrm>
            <a:off x="1993320" y="374904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SSL/TLS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21"/>
          <p:cNvSpPr/>
          <p:nvPr/>
        </p:nvSpPr>
        <p:spPr>
          <a:xfrm>
            <a:off x="1993320" y="429768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Blue-green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22"/>
          <p:cNvSpPr/>
          <p:nvPr/>
        </p:nvSpPr>
        <p:spPr>
          <a:xfrm>
            <a:off x="3712320" y="1298520"/>
            <a:ext cx="1571040" cy="35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23"/>
          <p:cNvSpPr/>
          <p:nvPr/>
        </p:nvSpPr>
        <p:spPr>
          <a:xfrm>
            <a:off x="3712320" y="1298520"/>
            <a:ext cx="1571040" cy="36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24"/>
          <p:cNvSpPr/>
          <p:nvPr/>
        </p:nvSpPr>
        <p:spPr>
          <a:xfrm>
            <a:off x="3712320" y="1334880"/>
            <a:ext cx="15710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2a6099"/>
                </a:solidFill>
                <a:latin typeface="Calibri"/>
                <a:ea typeface="Calibri"/>
              </a:rPr>
              <a:t>C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25"/>
          <p:cNvSpPr/>
          <p:nvPr/>
        </p:nvSpPr>
        <p:spPr>
          <a:xfrm>
            <a:off x="3712320" y="2103120"/>
            <a:ext cx="15710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Containers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26"/>
          <p:cNvSpPr/>
          <p:nvPr/>
        </p:nvSpPr>
        <p:spPr>
          <a:xfrm>
            <a:off x="3877200" y="2541960"/>
            <a:ext cx="124164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27"/>
          <p:cNvSpPr/>
          <p:nvPr/>
        </p:nvSpPr>
        <p:spPr>
          <a:xfrm>
            <a:off x="3712320" y="265176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Docker multi-stage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28"/>
          <p:cNvSpPr/>
          <p:nvPr/>
        </p:nvSpPr>
        <p:spPr>
          <a:xfrm>
            <a:off x="3712320" y="320040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Docker Compose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29"/>
          <p:cNvSpPr/>
          <p:nvPr/>
        </p:nvSpPr>
        <p:spPr>
          <a:xfrm>
            <a:off x="3712320" y="374904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Trivy scanning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30"/>
          <p:cNvSpPr/>
          <p:nvPr/>
        </p:nvSpPr>
        <p:spPr>
          <a:xfrm>
            <a:off x="3712320" y="429768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Non-root hardening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31"/>
          <p:cNvSpPr/>
          <p:nvPr/>
        </p:nvSpPr>
        <p:spPr>
          <a:xfrm>
            <a:off x="5431680" y="1298520"/>
            <a:ext cx="1571040" cy="35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32"/>
          <p:cNvSpPr/>
          <p:nvPr/>
        </p:nvSpPr>
        <p:spPr>
          <a:xfrm>
            <a:off x="5431680" y="1298520"/>
            <a:ext cx="1571040" cy="36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33"/>
          <p:cNvSpPr/>
          <p:nvPr/>
        </p:nvSpPr>
        <p:spPr>
          <a:xfrm>
            <a:off x="5431680" y="1334880"/>
            <a:ext cx="15710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55308d"/>
                </a:solidFill>
                <a:latin typeface="Calibri"/>
                <a:ea typeface="Calibri"/>
              </a:rPr>
              <a:t>O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34"/>
          <p:cNvSpPr/>
          <p:nvPr/>
        </p:nvSpPr>
        <p:spPr>
          <a:xfrm>
            <a:off x="5431680" y="2103120"/>
            <a:ext cx="15710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Observability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35"/>
          <p:cNvSpPr/>
          <p:nvPr/>
        </p:nvSpPr>
        <p:spPr>
          <a:xfrm>
            <a:off x="5596200" y="2541960"/>
            <a:ext cx="124164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Text 36"/>
          <p:cNvSpPr/>
          <p:nvPr/>
        </p:nvSpPr>
        <p:spPr>
          <a:xfrm>
            <a:off x="5431680" y="265176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Prometheus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37"/>
          <p:cNvSpPr/>
          <p:nvPr/>
        </p:nvSpPr>
        <p:spPr>
          <a:xfrm>
            <a:off x="5431680" y="320040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Grafana dashboards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38"/>
          <p:cNvSpPr/>
          <p:nvPr/>
        </p:nvSpPr>
        <p:spPr>
          <a:xfrm>
            <a:off x="5431680" y="374904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cAdvisor metrics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39"/>
          <p:cNvSpPr/>
          <p:nvPr/>
        </p:nvSpPr>
        <p:spPr>
          <a:xfrm>
            <a:off x="5431680" y="429768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Health checks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40"/>
          <p:cNvSpPr/>
          <p:nvPr/>
        </p:nvSpPr>
        <p:spPr>
          <a:xfrm>
            <a:off x="7150680" y="1298520"/>
            <a:ext cx="1571040" cy="354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41"/>
          <p:cNvSpPr/>
          <p:nvPr/>
        </p:nvSpPr>
        <p:spPr>
          <a:xfrm>
            <a:off x="7150680" y="1298520"/>
            <a:ext cx="1571040" cy="36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42"/>
          <p:cNvSpPr/>
          <p:nvPr/>
        </p:nvSpPr>
        <p:spPr>
          <a:xfrm>
            <a:off x="7150680" y="1334880"/>
            <a:ext cx="15710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58466"/>
                </a:solidFill>
                <a:latin typeface="Calibri"/>
                <a:ea typeface="Calibri"/>
              </a:rPr>
              <a:t>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43"/>
          <p:cNvSpPr/>
          <p:nvPr/>
        </p:nvSpPr>
        <p:spPr>
          <a:xfrm>
            <a:off x="7150680" y="2103120"/>
            <a:ext cx="157104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  <a:ea typeface="Calibri"/>
              </a:rPr>
              <a:t>Reliability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44"/>
          <p:cNvSpPr/>
          <p:nvPr/>
        </p:nvSpPr>
        <p:spPr>
          <a:xfrm>
            <a:off x="7315200" y="2541960"/>
            <a:ext cx="1241640" cy="147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45"/>
          <p:cNvSpPr/>
          <p:nvPr/>
        </p:nvSpPr>
        <p:spPr>
          <a:xfrm>
            <a:off x="7150680" y="265176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Backup automation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46"/>
          <p:cNvSpPr/>
          <p:nvPr/>
        </p:nvSpPr>
        <p:spPr>
          <a:xfrm>
            <a:off x="7150680" y="320040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Rollback scripts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47"/>
          <p:cNvSpPr/>
          <p:nvPr/>
        </p:nvSpPr>
        <p:spPr>
          <a:xfrm>
            <a:off x="7150680" y="374904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Restart policies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48"/>
          <p:cNvSpPr/>
          <p:nvPr/>
        </p:nvSpPr>
        <p:spPr>
          <a:xfrm>
            <a:off x="7150680" y="4297680"/>
            <a:ext cx="157104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DR procedures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49"/>
          <p:cNvSpPr/>
          <p:nvPr/>
        </p:nvSpPr>
        <p:spPr>
          <a:xfrm>
            <a:off x="274320" y="4736520"/>
            <a:ext cx="8593560" cy="290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50"/>
          <p:cNvSpPr/>
          <p:nvPr/>
        </p:nvSpPr>
        <p:spPr>
          <a:xfrm>
            <a:off x="274320" y="4763880"/>
            <a:ext cx="85935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"Running software is MUCH harder than writing software — that is what these 3 weeks were truly about."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0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1"/>
          <p:cNvSpPr/>
          <p:nvPr/>
        </p:nvSpPr>
        <p:spPr>
          <a:xfrm>
            <a:off x="502920" y="25596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0891b2"/>
                </a:solidFill>
                <a:latin typeface="Calibri"/>
                <a:ea typeface="Calibri"/>
              </a:rPr>
              <a:t>THE CORE TAKEAWAY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2"/>
          <p:cNvSpPr/>
          <p:nvPr/>
        </p:nvSpPr>
        <p:spPr>
          <a:xfrm>
            <a:off x="502920" y="567000"/>
            <a:ext cx="80449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Production Engineering Is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3"/>
          <p:cNvSpPr/>
          <p:nvPr/>
        </p:nvSpPr>
        <p:spPr>
          <a:xfrm>
            <a:off x="502920" y="1188720"/>
            <a:ext cx="80449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2d3ee"/>
                </a:solidFill>
                <a:latin typeface="Calibri"/>
                <a:ea typeface="Calibri"/>
              </a:rPr>
              <a:t>More Than Writing Code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Shape 4"/>
          <p:cNvSpPr/>
          <p:nvPr/>
        </p:nvSpPr>
        <p:spPr>
          <a:xfrm>
            <a:off x="502920" y="1901880"/>
            <a:ext cx="4387320" cy="14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5"/>
          <p:cNvSpPr/>
          <p:nvPr/>
        </p:nvSpPr>
        <p:spPr>
          <a:xfrm>
            <a:off x="502920" y="2030040"/>
            <a:ext cx="8044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Running software in production requires mastery across eight disciplines simultaneously: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6"/>
          <p:cNvSpPr/>
          <p:nvPr/>
        </p:nvSpPr>
        <p:spPr>
          <a:xfrm>
            <a:off x="384120" y="251460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7"/>
          <p:cNvSpPr/>
          <p:nvPr/>
        </p:nvSpPr>
        <p:spPr>
          <a:xfrm>
            <a:off x="384120" y="2514600"/>
            <a:ext cx="36720" cy="115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8"/>
          <p:cNvSpPr/>
          <p:nvPr/>
        </p:nvSpPr>
        <p:spPr>
          <a:xfrm>
            <a:off x="1737360" y="253296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9"/>
          <p:cNvSpPr/>
          <p:nvPr/>
        </p:nvSpPr>
        <p:spPr>
          <a:xfrm>
            <a:off x="567000" y="286200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10"/>
          <p:cNvSpPr/>
          <p:nvPr/>
        </p:nvSpPr>
        <p:spPr>
          <a:xfrm>
            <a:off x="2560320" y="251460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11"/>
          <p:cNvSpPr/>
          <p:nvPr/>
        </p:nvSpPr>
        <p:spPr>
          <a:xfrm>
            <a:off x="2560320" y="2514600"/>
            <a:ext cx="36720" cy="115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12"/>
          <p:cNvSpPr/>
          <p:nvPr/>
        </p:nvSpPr>
        <p:spPr>
          <a:xfrm>
            <a:off x="3913560" y="253296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O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13"/>
          <p:cNvSpPr/>
          <p:nvPr/>
        </p:nvSpPr>
        <p:spPr>
          <a:xfrm>
            <a:off x="2743200" y="286200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14"/>
          <p:cNvSpPr/>
          <p:nvPr/>
        </p:nvSpPr>
        <p:spPr>
          <a:xfrm>
            <a:off x="4736520" y="251460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15"/>
          <p:cNvSpPr/>
          <p:nvPr/>
        </p:nvSpPr>
        <p:spPr>
          <a:xfrm>
            <a:off x="4736520" y="2514600"/>
            <a:ext cx="36720" cy="115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16"/>
          <p:cNvSpPr/>
          <p:nvPr/>
        </p:nvSpPr>
        <p:spPr>
          <a:xfrm>
            <a:off x="6089760" y="253296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17"/>
          <p:cNvSpPr/>
          <p:nvPr/>
        </p:nvSpPr>
        <p:spPr>
          <a:xfrm>
            <a:off x="4919400" y="286200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Deployment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Shape 18"/>
          <p:cNvSpPr/>
          <p:nvPr/>
        </p:nvSpPr>
        <p:spPr>
          <a:xfrm>
            <a:off x="6912720" y="251460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Shape 19"/>
          <p:cNvSpPr/>
          <p:nvPr/>
        </p:nvSpPr>
        <p:spPr>
          <a:xfrm>
            <a:off x="6912720" y="2514600"/>
            <a:ext cx="36720" cy="115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20"/>
          <p:cNvSpPr/>
          <p:nvPr/>
        </p:nvSpPr>
        <p:spPr>
          <a:xfrm>
            <a:off x="8266320" y="253296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21"/>
          <p:cNvSpPr/>
          <p:nvPr/>
        </p:nvSpPr>
        <p:spPr>
          <a:xfrm>
            <a:off x="7095600" y="286200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Shape 22"/>
          <p:cNvSpPr/>
          <p:nvPr/>
        </p:nvSpPr>
        <p:spPr>
          <a:xfrm>
            <a:off x="384120" y="381312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23"/>
          <p:cNvSpPr/>
          <p:nvPr/>
        </p:nvSpPr>
        <p:spPr>
          <a:xfrm>
            <a:off x="384120" y="3813120"/>
            <a:ext cx="36720" cy="115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4"/>
          <p:cNvSpPr/>
          <p:nvPr/>
        </p:nvSpPr>
        <p:spPr>
          <a:xfrm>
            <a:off x="1737360" y="383148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25"/>
          <p:cNvSpPr/>
          <p:nvPr/>
        </p:nvSpPr>
        <p:spPr>
          <a:xfrm>
            <a:off x="567000" y="416052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Resilience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26"/>
          <p:cNvSpPr/>
          <p:nvPr/>
        </p:nvSpPr>
        <p:spPr>
          <a:xfrm>
            <a:off x="2560320" y="381312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27"/>
          <p:cNvSpPr/>
          <p:nvPr/>
        </p:nvSpPr>
        <p:spPr>
          <a:xfrm>
            <a:off x="2560320" y="3813120"/>
            <a:ext cx="36720" cy="115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28"/>
          <p:cNvSpPr/>
          <p:nvPr/>
        </p:nvSpPr>
        <p:spPr>
          <a:xfrm>
            <a:off x="3913560" y="383148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29"/>
          <p:cNvSpPr/>
          <p:nvPr/>
        </p:nvSpPr>
        <p:spPr>
          <a:xfrm>
            <a:off x="2743200" y="416052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30"/>
          <p:cNvSpPr/>
          <p:nvPr/>
        </p:nvSpPr>
        <p:spPr>
          <a:xfrm>
            <a:off x="4736520" y="381312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31"/>
          <p:cNvSpPr/>
          <p:nvPr/>
        </p:nvSpPr>
        <p:spPr>
          <a:xfrm>
            <a:off x="4736520" y="3813120"/>
            <a:ext cx="36720" cy="1150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 32"/>
          <p:cNvSpPr/>
          <p:nvPr/>
        </p:nvSpPr>
        <p:spPr>
          <a:xfrm>
            <a:off x="6089760" y="383148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33"/>
          <p:cNvSpPr/>
          <p:nvPr/>
        </p:nvSpPr>
        <p:spPr>
          <a:xfrm>
            <a:off x="4919400" y="416052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Automation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Shape 34"/>
          <p:cNvSpPr/>
          <p:nvPr/>
        </p:nvSpPr>
        <p:spPr>
          <a:xfrm>
            <a:off x="6912720" y="3813120"/>
            <a:ext cx="2009880" cy="1150200"/>
          </a:xfrm>
          <a:prstGeom prst="rect">
            <a:avLst/>
          </a:prstGeom>
          <a:solidFill>
            <a:srgbClr val="0d1e35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35"/>
          <p:cNvSpPr/>
          <p:nvPr/>
        </p:nvSpPr>
        <p:spPr>
          <a:xfrm>
            <a:off x="6912720" y="3813120"/>
            <a:ext cx="36720" cy="115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Text 36"/>
          <p:cNvSpPr/>
          <p:nvPr/>
        </p:nvSpPr>
        <p:spPr>
          <a:xfrm>
            <a:off x="8266320" y="3831480"/>
            <a:ext cx="5925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3356"/>
                </a:solidFill>
                <a:latin typeface="Calibri"/>
                <a:ea typeface="Calibri"/>
              </a:rPr>
              <a:t>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37"/>
          <p:cNvSpPr/>
          <p:nvPr/>
        </p:nvSpPr>
        <p:spPr>
          <a:xfrm>
            <a:off x="7095600" y="4160520"/>
            <a:ext cx="166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Recovery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Shape 0"/>
          <p:cNvSpPr/>
          <p:nvPr/>
        </p:nvSpPr>
        <p:spPr>
          <a:xfrm>
            <a:off x="6080760" y="0"/>
            <a:ext cx="3061440" cy="514188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1"/>
          <p:cNvSpPr/>
          <p:nvPr/>
        </p:nvSpPr>
        <p:spPr>
          <a:xfrm>
            <a:off x="6062400" y="457200"/>
            <a:ext cx="25560" cy="4222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Shape 2"/>
          <p:cNvSpPr/>
          <p:nvPr/>
        </p:nvSpPr>
        <p:spPr>
          <a:xfrm>
            <a:off x="0" y="0"/>
            <a:ext cx="9142200" cy="36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3"/>
          <p:cNvSpPr/>
          <p:nvPr/>
        </p:nvSpPr>
        <p:spPr>
          <a:xfrm>
            <a:off x="502920" y="255960"/>
            <a:ext cx="731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335" strike="noStrike">
                <a:solidFill>
                  <a:srgbClr val="22d3ee"/>
                </a:solidFill>
                <a:latin typeface="Calibri"/>
                <a:ea typeface="Calibri"/>
              </a:rPr>
              <a:t>WHAT'S NEXT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4"/>
          <p:cNvSpPr/>
          <p:nvPr/>
        </p:nvSpPr>
        <p:spPr>
          <a:xfrm>
            <a:off x="502920" y="548640"/>
            <a:ext cx="53931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The Path Forward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5"/>
          <p:cNvSpPr/>
          <p:nvPr/>
        </p:nvSpPr>
        <p:spPr>
          <a:xfrm>
            <a:off x="502920" y="1261800"/>
            <a:ext cx="5393160" cy="14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6"/>
          <p:cNvSpPr/>
          <p:nvPr/>
        </p:nvSpPr>
        <p:spPr>
          <a:xfrm>
            <a:off x="502920" y="1389960"/>
            <a:ext cx="539316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Three weeks built the foundation.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The next phase scales everything learned.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7"/>
          <p:cNvSpPr/>
          <p:nvPr/>
        </p:nvSpPr>
        <p:spPr>
          <a:xfrm>
            <a:off x="384120" y="2121480"/>
            <a:ext cx="5438880" cy="6566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Shape 8"/>
          <p:cNvSpPr/>
          <p:nvPr/>
        </p:nvSpPr>
        <p:spPr>
          <a:xfrm>
            <a:off x="384120" y="2122200"/>
            <a:ext cx="43920" cy="654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9"/>
          <p:cNvSpPr/>
          <p:nvPr/>
        </p:nvSpPr>
        <p:spPr>
          <a:xfrm>
            <a:off x="530280" y="2157840"/>
            <a:ext cx="360" cy="25416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11"/>
          <p:cNvSpPr/>
          <p:nvPr/>
        </p:nvSpPr>
        <p:spPr>
          <a:xfrm>
            <a:off x="1389960" y="2176200"/>
            <a:ext cx="2009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Kubernetes (K8s)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12"/>
          <p:cNvSpPr/>
          <p:nvPr/>
        </p:nvSpPr>
        <p:spPr>
          <a:xfrm>
            <a:off x="1389960" y="2468880"/>
            <a:ext cx="4250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Pods, services, ingress, HPA autoscaling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13"/>
          <p:cNvSpPr/>
          <p:nvPr/>
        </p:nvSpPr>
        <p:spPr>
          <a:xfrm>
            <a:off x="384120" y="2853000"/>
            <a:ext cx="5438880" cy="6566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14"/>
          <p:cNvSpPr/>
          <p:nvPr/>
        </p:nvSpPr>
        <p:spPr>
          <a:xfrm>
            <a:off x="384120" y="2853720"/>
            <a:ext cx="43920" cy="654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15"/>
          <p:cNvSpPr/>
          <p:nvPr/>
        </p:nvSpPr>
        <p:spPr>
          <a:xfrm>
            <a:off x="530280" y="2889360"/>
            <a:ext cx="360" cy="25416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17"/>
          <p:cNvSpPr/>
          <p:nvPr/>
        </p:nvSpPr>
        <p:spPr>
          <a:xfrm>
            <a:off x="1389960" y="2907720"/>
            <a:ext cx="2009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CI/CD Pipelines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18"/>
          <p:cNvSpPr/>
          <p:nvPr/>
        </p:nvSpPr>
        <p:spPr>
          <a:xfrm>
            <a:off x="1389960" y="3200400"/>
            <a:ext cx="4250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GitHub Actions — test → build → scan → deploy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19"/>
          <p:cNvSpPr/>
          <p:nvPr/>
        </p:nvSpPr>
        <p:spPr>
          <a:xfrm>
            <a:off x="384120" y="3584520"/>
            <a:ext cx="5438880" cy="6566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20"/>
          <p:cNvSpPr/>
          <p:nvPr/>
        </p:nvSpPr>
        <p:spPr>
          <a:xfrm>
            <a:off x="384120" y="3585240"/>
            <a:ext cx="43920" cy="654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21"/>
          <p:cNvSpPr/>
          <p:nvPr/>
        </p:nvSpPr>
        <p:spPr>
          <a:xfrm>
            <a:off x="530280" y="3620880"/>
            <a:ext cx="360" cy="25416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23"/>
          <p:cNvSpPr/>
          <p:nvPr/>
        </p:nvSpPr>
        <p:spPr>
          <a:xfrm>
            <a:off x="1389960" y="3639240"/>
            <a:ext cx="2009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Cloud Platforms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24"/>
          <p:cNvSpPr/>
          <p:nvPr/>
        </p:nvSpPr>
        <p:spPr>
          <a:xfrm>
            <a:off x="1389960" y="3931920"/>
            <a:ext cx="4250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AWS ECS/EKS · GCP GKE · IAM · RDS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25"/>
          <p:cNvSpPr/>
          <p:nvPr/>
        </p:nvSpPr>
        <p:spPr>
          <a:xfrm>
            <a:off x="384120" y="4316040"/>
            <a:ext cx="5438880" cy="6566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3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26"/>
          <p:cNvSpPr/>
          <p:nvPr/>
        </p:nvSpPr>
        <p:spPr>
          <a:xfrm>
            <a:off x="384120" y="4316760"/>
            <a:ext cx="43920" cy="654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Shape 27"/>
          <p:cNvSpPr/>
          <p:nvPr/>
        </p:nvSpPr>
        <p:spPr>
          <a:xfrm>
            <a:off x="530280" y="4352400"/>
            <a:ext cx="360" cy="254160"/>
          </a:xfrm>
          <a:prstGeom prst="roundRect">
            <a:avLst>
              <a:gd name="adj" fmla="val 0"/>
            </a:avLst>
          </a:prstGeom>
          <a:solidFill>
            <a:srgbClr val="1a3356"/>
          </a:solidFill>
          <a:ln w="9525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 29"/>
          <p:cNvSpPr/>
          <p:nvPr/>
        </p:nvSpPr>
        <p:spPr>
          <a:xfrm>
            <a:off x="1389960" y="4370760"/>
            <a:ext cx="2009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Infrastructure as Code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 30"/>
          <p:cNvSpPr/>
          <p:nvPr/>
        </p:nvSpPr>
        <p:spPr>
          <a:xfrm>
            <a:off x="1389960" y="4663440"/>
            <a:ext cx="4250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Terraform + Ansible — reproducible infra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Shape 31"/>
          <p:cNvSpPr/>
          <p:nvPr/>
        </p:nvSpPr>
        <p:spPr>
          <a:xfrm>
            <a:off x="384120" y="4681800"/>
            <a:ext cx="5438880" cy="345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Text 32"/>
          <p:cNvSpPr/>
          <p:nvPr/>
        </p:nvSpPr>
        <p:spPr>
          <a:xfrm>
            <a:off x="384120" y="4718160"/>
            <a:ext cx="5438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Week 1: Linux  ·  Week 2: Deployment  ·  Week 3: Microservices 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 33"/>
          <p:cNvSpPr/>
          <p:nvPr/>
        </p:nvSpPr>
        <p:spPr>
          <a:xfrm>
            <a:off x="6291000" y="475560"/>
            <a:ext cx="26499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8" strike="noStrike">
                <a:solidFill>
                  <a:srgbClr val="0891b2"/>
                </a:solidFill>
                <a:latin typeface="Calibri"/>
                <a:ea typeface="Calibri"/>
              </a:rPr>
              <a:t>ALREADY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88" strike="noStrike">
                <a:solidFill>
                  <a:srgbClr val="0891b2"/>
                </a:solidFill>
                <a:latin typeface="Calibri"/>
                <a:ea typeface="Calibri"/>
              </a:rPr>
              <a:t>MASTERED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Shape 34"/>
          <p:cNvSpPr/>
          <p:nvPr/>
        </p:nvSpPr>
        <p:spPr>
          <a:xfrm>
            <a:off x="6291000" y="1170360"/>
            <a:ext cx="2649960" cy="14760"/>
          </a:xfrm>
          <a:prstGeom prst="rect">
            <a:avLst/>
          </a:prstGeom>
          <a:solidFill>
            <a:srgbClr val="0e4d6b"/>
          </a:solidFill>
          <a:ln w="12700">
            <a:solidFill>
              <a:srgbClr val="0e4d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Shape 35"/>
          <p:cNvSpPr/>
          <p:nvPr/>
        </p:nvSpPr>
        <p:spPr>
          <a:xfrm>
            <a:off x="6291000" y="126180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Text 36"/>
          <p:cNvSpPr/>
          <p:nvPr/>
        </p:nvSpPr>
        <p:spPr>
          <a:xfrm>
            <a:off x="6537960" y="124344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Bash automation &amp; scripting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Shape 37"/>
          <p:cNvSpPr/>
          <p:nvPr/>
        </p:nvSpPr>
        <p:spPr>
          <a:xfrm>
            <a:off x="6291000" y="163692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 38"/>
          <p:cNvSpPr/>
          <p:nvPr/>
        </p:nvSpPr>
        <p:spPr>
          <a:xfrm>
            <a:off x="6537960" y="161856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Linux system administration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39"/>
          <p:cNvSpPr/>
          <p:nvPr/>
        </p:nvSpPr>
        <p:spPr>
          <a:xfrm>
            <a:off x="6291000" y="201168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Text 40"/>
          <p:cNvSpPr/>
          <p:nvPr/>
        </p:nvSpPr>
        <p:spPr>
          <a:xfrm>
            <a:off x="6537960" y="199332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DNS, firewall, SSH hardening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Shape 41"/>
          <p:cNvSpPr/>
          <p:nvPr/>
        </p:nvSpPr>
        <p:spPr>
          <a:xfrm>
            <a:off x="6291000" y="238644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 42"/>
          <p:cNvSpPr/>
          <p:nvPr/>
        </p:nvSpPr>
        <p:spPr>
          <a:xfrm>
            <a:off x="6537960" y="236844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Multi-language runtimes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Shape 43"/>
          <p:cNvSpPr/>
          <p:nvPr/>
        </p:nvSpPr>
        <p:spPr>
          <a:xfrm>
            <a:off x="6291000" y="276156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44"/>
          <p:cNvSpPr/>
          <p:nvPr/>
        </p:nvSpPr>
        <p:spPr>
          <a:xfrm>
            <a:off x="6537960" y="274320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Database setup &amp; replication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45"/>
          <p:cNvSpPr/>
          <p:nvPr/>
        </p:nvSpPr>
        <p:spPr>
          <a:xfrm>
            <a:off x="6291000" y="313632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 46"/>
          <p:cNvSpPr/>
          <p:nvPr/>
        </p:nvSpPr>
        <p:spPr>
          <a:xfrm>
            <a:off x="6537960" y="311796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Nginx + SSL + load balancing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Shape 47"/>
          <p:cNvSpPr/>
          <p:nvPr/>
        </p:nvSpPr>
        <p:spPr>
          <a:xfrm>
            <a:off x="6291000" y="351144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48"/>
          <p:cNvSpPr/>
          <p:nvPr/>
        </p:nvSpPr>
        <p:spPr>
          <a:xfrm>
            <a:off x="6537960" y="349308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Docker &amp; Compose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49"/>
          <p:cNvSpPr/>
          <p:nvPr/>
        </p:nvSpPr>
        <p:spPr>
          <a:xfrm>
            <a:off x="6291000" y="388620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Text 50"/>
          <p:cNvSpPr/>
          <p:nvPr/>
        </p:nvSpPr>
        <p:spPr>
          <a:xfrm>
            <a:off x="6537960" y="386784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Container security (Trivy)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Shape 51"/>
          <p:cNvSpPr/>
          <p:nvPr/>
        </p:nvSpPr>
        <p:spPr>
          <a:xfrm>
            <a:off x="6291000" y="426096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52"/>
          <p:cNvSpPr/>
          <p:nvPr/>
        </p:nvSpPr>
        <p:spPr>
          <a:xfrm>
            <a:off x="6537960" y="424296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Prometheus + Grafana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Shape 53"/>
          <p:cNvSpPr/>
          <p:nvPr/>
        </p:nvSpPr>
        <p:spPr>
          <a:xfrm>
            <a:off x="6291000" y="4636080"/>
            <a:ext cx="199440" cy="199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Text 54"/>
          <p:cNvSpPr/>
          <p:nvPr/>
        </p:nvSpPr>
        <p:spPr>
          <a:xfrm>
            <a:off x="6537960" y="4617720"/>
            <a:ext cx="239400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  <a:ea typeface="Calibri"/>
              </a:rPr>
              <a:t>Zero-downtime deployments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2026-05-26T10:46:59Z</dcterms:created>
  <dc:creator>DevOps Launchpad</dc:creator>
  <dc:description/>
  <dc:language>en-US</dc:language>
  <cp:lastModifiedBy/>
  <dcterms:modified xsi:type="dcterms:W3CDTF">2026-05-26T19:37:08Z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