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75D1FB-5B09-494D-8ADF-D9B26EBF1B3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35D763-CD35-4C4A-9A76-741BD088B3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0C1B62-772E-4E1F-BC6A-492E6AC5ED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ED9E28-6EB7-4E63-9970-8DFC2DE3F1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364D25-A066-406F-8F2B-B01BF0CF12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62CA28-EF03-4D7E-BA49-5A07998156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A385A8-8421-45EC-A49D-651FAEB942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37D4E-6673-46FD-9B03-080B0DB15E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D5759C-5343-4F49-80DC-DBFAE74643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9431BA-451C-419F-A4DF-83FE8FD832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A3E073-2408-47DB-A956-1FA41F46CD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A9D033-94EE-4034-A00A-C1F364401D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EC7093-31DC-45A6-97C1-4B1EFF7C40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27040D-B9A5-4ACA-A4C2-44E6F4864D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B147C-77FD-43D0-A629-C6C7B25DDA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17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6.png"/><Relationship Id="rId10" Type="http://schemas.openxmlformats.org/officeDocument/2006/relationships/image" Target="../media/image21.png"/><Relationship Id="rId11" Type="http://schemas.openxmlformats.org/officeDocument/2006/relationships/image" Target="../media/image8.png"/><Relationship Id="rId12" Type="http://schemas.openxmlformats.org/officeDocument/2006/relationships/image" Target="../media/image1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6.png"/><Relationship Id="rId6" Type="http://schemas.openxmlformats.org/officeDocument/2006/relationships/image" Target="../media/image26.png"/><Relationship Id="rId7" Type="http://schemas.openxmlformats.org/officeDocument/2006/relationships/image" Target="../media/image26.png"/><Relationship Id="rId8" Type="http://schemas.openxmlformats.org/officeDocument/2006/relationships/image" Target="../media/image26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2011680"/>
            <a:ext cx="6400440" cy="6400440"/>
          </a:xfrm>
          <a:prstGeom prst="ellipse">
            <a:avLst/>
          </a:prstGeom>
          <a:solidFill>
            <a:srgbClr val="1632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241280" y="3291840"/>
            <a:ext cx="4114440" cy="4114440"/>
          </a:xfrm>
          <a:prstGeom prst="ellipse">
            <a:avLst/>
          </a:prstGeom>
          <a:solidFill>
            <a:srgbClr val="0d24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464040" y="502920"/>
            <a:ext cx="1965600" cy="543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9482400" y="822960"/>
            <a:ext cx="1645560" cy="543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9500760" y="1143000"/>
            <a:ext cx="1325520" cy="543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9518760" y="1463040"/>
            <a:ext cx="1005480" cy="543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123444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7dd3fc"/>
                </a:solidFill>
                <a:latin typeface="Calibri"/>
                <a:ea typeface="Calibri"/>
              </a:rPr>
              <a:t>SERVERLESS ENGINEERING &amp; ARCHITECTURE REVIEW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16916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mbria"/>
                <a:ea typeface="Cambria"/>
              </a:rPr>
              <a:t>Serverless Compute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94360" y="24231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ea5e9"/>
                </a:solidFill>
                <a:latin typeface="Cambria"/>
                <a:ea typeface="Cambria"/>
              </a:rPr>
              <a:t>Research &amp; Platform Analysis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40080" y="3364920"/>
            <a:ext cx="4754880" cy="360"/>
          </a:xfrm>
          <a:prstGeom prst="line">
            <a:avLst/>
          </a:prstGeom>
          <a:ln w="1905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40080" y="3520440"/>
            <a:ext cx="694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c7d6e8"/>
                </a:solidFill>
                <a:latin typeface="Calibri"/>
                <a:ea typeface="Calibri"/>
              </a:rPr>
              <a:t>Evaluating Function-as-a-Service, serverless containers, edge and BaaS platforms to modernize Python and Next.js workloads.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40080" y="4343400"/>
            <a:ext cx="2239920" cy="56664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Image 0" descr="/home/claude/icons/python.png"/>
          <p:cNvPicPr/>
          <p:nvPr/>
        </p:nvPicPr>
        <p:blipFill>
          <a:blip r:embed="rId1"/>
          <a:stretch/>
        </p:blipFill>
        <p:spPr>
          <a:xfrm>
            <a:off x="786240" y="4480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1" name="Text 12"/>
          <p:cNvSpPr/>
          <p:nvPr/>
        </p:nvSpPr>
        <p:spPr>
          <a:xfrm>
            <a:off x="1152000" y="4343400"/>
            <a:ext cx="1691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Python Services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3108960" y="4343400"/>
            <a:ext cx="2239920" cy="56664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3255120" y="4480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4" name="Text 14"/>
          <p:cNvSpPr/>
          <p:nvPr/>
        </p:nvSpPr>
        <p:spPr>
          <a:xfrm>
            <a:off x="3620880" y="4343400"/>
            <a:ext cx="1691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Next.js Frontend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640080" y="5257800"/>
            <a:ext cx="6857640" cy="1051200"/>
          </a:xfrm>
          <a:prstGeom prst="roundRect">
            <a:avLst>
              <a:gd name="adj" fmla="val 7826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914400" y="5394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Presented by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914400" y="565092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DevOps &amp; Cloud Engineering Team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914400" y="599832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Cloud Architecture Review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9052560" y="4480560"/>
            <a:ext cx="1051200" cy="105120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Image 2" descr="/home/claude/icons/cloud.png"/>
          <p:cNvPicPr/>
          <p:nvPr/>
        </p:nvPicPr>
        <p:blipFill>
          <a:blip r:embed="rId3"/>
          <a:stretch/>
        </p:blipFill>
        <p:spPr>
          <a:xfrm>
            <a:off x="9326880" y="4754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1" name="Shape 20"/>
          <p:cNvSpPr/>
          <p:nvPr/>
        </p:nvSpPr>
        <p:spPr>
          <a:xfrm>
            <a:off x="10287000" y="4480560"/>
            <a:ext cx="1051200" cy="105120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3" descr="/home/claude/icons/server.png"/>
          <p:cNvPicPr/>
          <p:nvPr/>
        </p:nvPicPr>
        <p:blipFill>
          <a:blip r:embed="rId4"/>
          <a:stretch/>
        </p:blipFill>
        <p:spPr>
          <a:xfrm>
            <a:off x="10561320" y="4754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3" name="Shape 21"/>
          <p:cNvSpPr/>
          <p:nvPr/>
        </p:nvSpPr>
        <p:spPr>
          <a:xfrm>
            <a:off x="9052560" y="5715000"/>
            <a:ext cx="1051200" cy="105120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4" descr="/home/claude/icons/bolt.png"/>
          <p:cNvPicPr/>
          <p:nvPr/>
        </p:nvPicPr>
        <p:blipFill>
          <a:blip r:embed="rId5"/>
          <a:stretch/>
        </p:blipFill>
        <p:spPr>
          <a:xfrm>
            <a:off x="9326880" y="59893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5" name="Shape 22"/>
          <p:cNvSpPr/>
          <p:nvPr/>
        </p:nvSpPr>
        <p:spPr>
          <a:xfrm>
            <a:off x="10287000" y="5715000"/>
            <a:ext cx="1051200" cy="105120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5" descr="/home/claude/icons/layer.png"/>
          <p:cNvPicPr/>
          <p:nvPr/>
        </p:nvPicPr>
        <p:blipFill>
          <a:blip r:embed="rId6"/>
          <a:stretch/>
        </p:blipFill>
        <p:spPr>
          <a:xfrm>
            <a:off x="10561320" y="5989320"/>
            <a:ext cx="502560" cy="50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WHY WE'RE HERE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Problem Statement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02920" y="11887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7e4f2"/>
                </a:solidFill>
                <a:latin typeface="Calibri"/>
                <a:ea typeface="Calibri"/>
              </a:rPr>
              <a:t>Internal Python and Next.js applications run on always-on, server-based infrastructure — regardless of how many users are active.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02920" y="1691640"/>
            <a:ext cx="6674760" cy="2559960"/>
          </a:xfrm>
          <a:prstGeom prst="roundRect">
            <a:avLst>
              <a:gd name="adj" fmla="val 3214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777240" y="1856160"/>
            <a:ext cx="6126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97" strike="noStrike">
                <a:solidFill>
                  <a:srgbClr val="93aac7"/>
                </a:solidFill>
                <a:latin typeface="Calibri"/>
                <a:ea typeface="Calibri"/>
              </a:rPr>
              <a:t>A TYPICAL WORKDAY — SERVER UTILIZATION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1037160" y="3478320"/>
            <a:ext cx="428400" cy="87480"/>
          </a:xfrm>
          <a:prstGeom prst="roundRect">
            <a:avLst>
              <a:gd name="adj" fmla="val 31250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640" bIns="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94572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12AM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1802880" y="3511440"/>
            <a:ext cx="428400" cy="54360"/>
          </a:xfrm>
          <a:prstGeom prst="roundRect">
            <a:avLst>
              <a:gd name="adj" fmla="val 50000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171144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4AM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2568600" y="3182040"/>
            <a:ext cx="428400" cy="383760"/>
          </a:xfrm>
          <a:prstGeom prst="roundRect">
            <a:avLst>
              <a:gd name="adj" fmla="val 7143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247716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8AM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3334680" y="2600640"/>
            <a:ext cx="428400" cy="965160"/>
          </a:xfrm>
          <a:prstGeom prst="roundRect">
            <a:avLst>
              <a:gd name="adj" fmla="val 639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24324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9AM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4100400" y="2853000"/>
            <a:ext cx="428400" cy="712800"/>
          </a:xfrm>
          <a:prstGeom prst="roundRect">
            <a:avLst>
              <a:gd name="adj" fmla="val 6397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00896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12PM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4866120" y="2556720"/>
            <a:ext cx="428400" cy="1009080"/>
          </a:xfrm>
          <a:prstGeom prst="roundRect">
            <a:avLst>
              <a:gd name="adj" fmla="val 639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477468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3PM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5631840" y="3127320"/>
            <a:ext cx="428400" cy="438480"/>
          </a:xfrm>
          <a:prstGeom prst="roundRect">
            <a:avLst>
              <a:gd name="adj" fmla="val 6397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554040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6PM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6397920" y="3434400"/>
            <a:ext cx="428400" cy="131400"/>
          </a:xfrm>
          <a:prstGeom prst="roundRect">
            <a:avLst>
              <a:gd name="adj" fmla="val 20833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6306480" y="3602880"/>
            <a:ext cx="611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9PM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1"/>
          <p:cNvSpPr/>
          <p:nvPr/>
        </p:nvSpPr>
        <p:spPr>
          <a:xfrm>
            <a:off x="868680" y="3566160"/>
            <a:ext cx="6126480" cy="360"/>
          </a:xfrm>
          <a:prstGeom prst="line">
            <a:avLst/>
          </a:prstGeom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777240" y="3840480"/>
            <a:ext cx="612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Servers stay fully provisioned around the clock even though real demand occupies only a few hours a day — muted bars are paid-for, unused capacity.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7406640" y="1691640"/>
            <a:ext cx="502560" cy="50256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Image 0" descr="/home/claude/icons/clock.png"/>
          <p:cNvPicPr/>
          <p:nvPr/>
        </p:nvPicPr>
        <p:blipFill>
          <a:blip r:embed="rId1"/>
          <a:stretch/>
        </p:blipFill>
        <p:spPr>
          <a:xfrm>
            <a:off x="7472160" y="175716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62" name="Text 24"/>
          <p:cNvSpPr/>
          <p:nvPr/>
        </p:nvSpPr>
        <p:spPr>
          <a:xfrm>
            <a:off x="8028360" y="1673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Idle Compute 24/7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8028360" y="192024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Infrastructure stays active during nights and weekends with minimal traffic.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6"/>
          <p:cNvSpPr/>
          <p:nvPr/>
        </p:nvSpPr>
        <p:spPr>
          <a:xfrm>
            <a:off x="7406640" y="2340720"/>
            <a:ext cx="502560" cy="50256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1" descr="/home/claude/icons/dollar.png"/>
          <p:cNvPicPr/>
          <p:nvPr/>
        </p:nvPicPr>
        <p:blipFill>
          <a:blip r:embed="rId2"/>
          <a:stretch/>
        </p:blipFill>
        <p:spPr>
          <a:xfrm>
            <a:off x="7472160" y="24062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66" name="Text 27"/>
          <p:cNvSpPr/>
          <p:nvPr/>
        </p:nvSpPr>
        <p:spPr>
          <a:xfrm>
            <a:off x="8028360" y="2359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Continuous Cost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8028360" y="252360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Organizations pay for reserved capacity, not actual usage.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7406640" y="3017520"/>
            <a:ext cx="502560" cy="50256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Image 2" descr="/home/claude/icons/cogs.png"/>
          <p:cNvPicPr/>
          <p:nvPr/>
        </p:nvPicPr>
        <p:blipFill>
          <a:blip r:embed="rId3"/>
          <a:stretch/>
        </p:blipFill>
        <p:spPr>
          <a:xfrm>
            <a:off x="7472160" y="309060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70" name="Text 30"/>
          <p:cNvSpPr/>
          <p:nvPr/>
        </p:nvSpPr>
        <p:spPr>
          <a:xfrm>
            <a:off x="8028360" y="2971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Manual Scaling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31"/>
          <p:cNvSpPr/>
          <p:nvPr/>
        </p:nvSpPr>
        <p:spPr>
          <a:xfrm>
            <a:off x="8028360" y="321876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Traffic spikes require manual intervention or pre-provisioned headroom.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7406640" y="3704760"/>
            <a:ext cx="502560" cy="50256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Image 3" descr="/home/claude/icons/users.png"/>
          <p:cNvPicPr/>
          <p:nvPr/>
        </p:nvPicPr>
        <p:blipFill>
          <a:blip r:embed="rId4"/>
          <a:stretch/>
        </p:blipFill>
        <p:spPr>
          <a:xfrm>
            <a:off x="7472160" y="374292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74" name="Text 33"/>
          <p:cNvSpPr/>
          <p:nvPr/>
        </p:nvSpPr>
        <p:spPr>
          <a:xfrm>
            <a:off x="8028360" y="3657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Operational Burden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8028360" y="3931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Engineering time goes into patching, capacity planning, and upkeep.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5"/>
          <p:cNvSpPr/>
          <p:nvPr/>
        </p:nvSpPr>
        <p:spPr>
          <a:xfrm>
            <a:off x="502920" y="4480560"/>
            <a:ext cx="11201040" cy="1919880"/>
          </a:xfrm>
          <a:prstGeom prst="roundRect">
            <a:avLst>
              <a:gd name="adj" fmla="val 4286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6"/>
          <p:cNvSpPr/>
          <p:nvPr/>
        </p:nvSpPr>
        <p:spPr>
          <a:xfrm>
            <a:off x="777240" y="45720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8" strike="noStrike">
                <a:solidFill>
                  <a:srgbClr val="7dd3fc"/>
                </a:solidFill>
                <a:latin typeface="Calibri"/>
                <a:ea typeface="Calibri"/>
              </a:rPr>
              <a:t>RESEARCH OBJECTIVES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37"/>
          <p:cNvSpPr/>
          <p:nvPr/>
        </p:nvSpPr>
        <p:spPr>
          <a:xfrm>
            <a:off x="1366920" y="4956120"/>
            <a:ext cx="511560" cy="511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Image 4" descr="/home/claude/icons/dollar.png"/>
          <p:cNvPicPr/>
          <p:nvPr/>
        </p:nvPicPr>
        <p:blipFill>
          <a:blip r:embed="rId5"/>
          <a:stretch/>
        </p:blipFill>
        <p:spPr>
          <a:xfrm>
            <a:off x="1433520" y="5022720"/>
            <a:ext cx="378720" cy="378720"/>
          </a:xfrm>
          <a:prstGeom prst="rect">
            <a:avLst/>
          </a:prstGeom>
          <a:ln w="0">
            <a:noFill/>
          </a:ln>
        </p:spPr>
      </p:pic>
      <p:sp>
        <p:nvSpPr>
          <p:cNvPr id="80" name="Text 38"/>
          <p:cNvSpPr/>
          <p:nvPr/>
        </p:nvSpPr>
        <p:spPr>
          <a:xfrm>
            <a:off x="594360" y="5504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Reduce Cost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631080" y="5760720"/>
            <a:ext cx="1983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Cut spend on always-on servers and idle capacity.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40"/>
          <p:cNvSpPr/>
          <p:nvPr/>
        </p:nvSpPr>
        <p:spPr>
          <a:xfrm>
            <a:off x="3607200" y="4956120"/>
            <a:ext cx="511560" cy="511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5" descr="/home/claude/icons/gauge.png"/>
          <p:cNvPicPr/>
          <p:nvPr/>
        </p:nvPicPr>
        <p:blipFill>
          <a:blip r:embed="rId6"/>
          <a:stretch/>
        </p:blipFill>
        <p:spPr>
          <a:xfrm>
            <a:off x="3673800" y="5022720"/>
            <a:ext cx="378720" cy="378720"/>
          </a:xfrm>
          <a:prstGeom prst="rect">
            <a:avLst/>
          </a:prstGeom>
          <a:ln w="0">
            <a:noFill/>
          </a:ln>
        </p:spPr>
      </p:pic>
      <p:sp>
        <p:nvSpPr>
          <p:cNvPr id="84" name="Text 41"/>
          <p:cNvSpPr/>
          <p:nvPr/>
        </p:nvSpPr>
        <p:spPr>
          <a:xfrm>
            <a:off x="2834640" y="5504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Improve Utilization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2"/>
          <p:cNvSpPr/>
          <p:nvPr/>
        </p:nvSpPr>
        <p:spPr>
          <a:xfrm>
            <a:off x="2871360" y="5760720"/>
            <a:ext cx="1983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Match compute allocation to real, live demand.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43"/>
          <p:cNvSpPr/>
          <p:nvPr/>
        </p:nvSpPr>
        <p:spPr>
          <a:xfrm>
            <a:off x="5847480" y="4956120"/>
            <a:ext cx="511560" cy="511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6" descr="/home/claude/icons/cogs.png"/>
          <p:cNvPicPr/>
          <p:nvPr/>
        </p:nvPicPr>
        <p:blipFill>
          <a:blip r:embed="rId7"/>
          <a:stretch/>
        </p:blipFill>
        <p:spPr>
          <a:xfrm>
            <a:off x="5914080" y="5022720"/>
            <a:ext cx="378720" cy="378720"/>
          </a:xfrm>
          <a:prstGeom prst="rect">
            <a:avLst/>
          </a:prstGeom>
          <a:ln w="0">
            <a:noFill/>
          </a:ln>
        </p:spPr>
      </p:pic>
      <p:sp>
        <p:nvSpPr>
          <p:cNvPr id="88" name="Text 44"/>
          <p:cNvSpPr/>
          <p:nvPr/>
        </p:nvSpPr>
        <p:spPr>
          <a:xfrm>
            <a:off x="5074920" y="5504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Simplify 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45"/>
          <p:cNvSpPr/>
          <p:nvPr/>
        </p:nvSpPr>
        <p:spPr>
          <a:xfrm>
            <a:off x="5111640" y="5760720"/>
            <a:ext cx="1983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Offload patching, provisioning &amp; capacity planning.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46"/>
          <p:cNvSpPr/>
          <p:nvPr/>
        </p:nvSpPr>
        <p:spPr>
          <a:xfrm>
            <a:off x="8087760" y="4956120"/>
            <a:ext cx="511560" cy="511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Image 7" descr="/home/claude/icons/sync.png"/>
          <p:cNvPicPr/>
          <p:nvPr/>
        </p:nvPicPr>
        <p:blipFill>
          <a:blip r:embed="rId8"/>
          <a:stretch/>
        </p:blipFill>
        <p:spPr>
          <a:xfrm>
            <a:off x="8154360" y="5022720"/>
            <a:ext cx="378720" cy="378720"/>
          </a:xfrm>
          <a:prstGeom prst="rect">
            <a:avLst/>
          </a:prstGeom>
          <a:ln w="0">
            <a:noFill/>
          </a:ln>
        </p:spPr>
      </p:pic>
      <p:sp>
        <p:nvSpPr>
          <p:cNvPr id="92" name="Text 47"/>
          <p:cNvSpPr/>
          <p:nvPr/>
        </p:nvSpPr>
        <p:spPr>
          <a:xfrm>
            <a:off x="7315200" y="5504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Enable Auto Scaling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48"/>
          <p:cNvSpPr/>
          <p:nvPr/>
        </p:nvSpPr>
        <p:spPr>
          <a:xfrm>
            <a:off x="7351920" y="5760720"/>
            <a:ext cx="1983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Handle traffic spikes without manual intervention.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49"/>
          <p:cNvSpPr/>
          <p:nvPr/>
        </p:nvSpPr>
        <p:spPr>
          <a:xfrm>
            <a:off x="10328040" y="4956120"/>
            <a:ext cx="511560" cy="511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8" descr="/home/claude/icons/rocket.png"/>
          <p:cNvPicPr/>
          <p:nvPr/>
        </p:nvPicPr>
        <p:blipFill>
          <a:blip r:embed="rId9"/>
          <a:stretch/>
        </p:blipFill>
        <p:spPr>
          <a:xfrm>
            <a:off x="10394640" y="5022720"/>
            <a:ext cx="378720" cy="378720"/>
          </a:xfrm>
          <a:prstGeom prst="rect">
            <a:avLst/>
          </a:prstGeom>
          <a:ln w="0">
            <a:noFill/>
          </a:ln>
        </p:spPr>
      </p:pic>
      <p:sp>
        <p:nvSpPr>
          <p:cNvPr id="96" name="Text 50"/>
          <p:cNvSpPr/>
          <p:nvPr/>
        </p:nvSpPr>
        <p:spPr>
          <a:xfrm>
            <a:off x="9555480" y="55047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Lift Productivity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51"/>
          <p:cNvSpPr/>
          <p:nvPr/>
        </p:nvSpPr>
        <p:spPr>
          <a:xfrm>
            <a:off x="9592200" y="5760720"/>
            <a:ext cx="1983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Ship faster with less infrastructure overhead.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5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Problem Statement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3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02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FOUNDATIONS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Understanding Serverless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502920" y="120708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ac7"/>
                </a:solidFill>
                <a:latin typeface="Calibri"/>
                <a:ea typeface="Calibri"/>
              </a:rPr>
              <a:t>THE EVOLUTION OF COMPUTE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502920" y="1536120"/>
            <a:ext cx="2571480" cy="2377080"/>
          </a:xfrm>
          <a:prstGeom prst="roundRect">
            <a:avLst>
              <a:gd name="adj" fmla="val 3462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502920" y="1536120"/>
            <a:ext cx="2571480" cy="9108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1546560" y="1774080"/>
            <a:ext cx="621360" cy="62136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0" descr="/home/claude/icons/building.png"/>
          <p:cNvPicPr/>
          <p:nvPr/>
        </p:nvPicPr>
        <p:blipFill>
          <a:blip r:embed="rId1"/>
          <a:stretch/>
        </p:blipFill>
        <p:spPr>
          <a:xfrm>
            <a:off x="1702080" y="19292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07" name="Text 6"/>
          <p:cNvSpPr/>
          <p:nvPr/>
        </p:nvSpPr>
        <p:spPr>
          <a:xfrm>
            <a:off x="502920" y="2505600"/>
            <a:ext cx="257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Physical Servers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722520" y="2990160"/>
            <a:ext cx="54360" cy="5436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68680" y="287136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Owned hardware &amp; data centers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722520" y="3300840"/>
            <a:ext cx="54360" cy="5436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868680" y="318204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High capex, manual upkeep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722520" y="3611880"/>
            <a:ext cx="54360" cy="5436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868680" y="349308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Full control, high effort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1" descr="/home/claude/icons/route.png"/>
          <p:cNvPicPr/>
          <p:nvPr/>
        </p:nvPicPr>
        <p:blipFill>
          <a:blip r:embed="rId2"/>
          <a:stretch/>
        </p:blipFill>
        <p:spPr>
          <a:xfrm>
            <a:off x="3120120" y="26334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15" name="Shape 13"/>
          <p:cNvSpPr/>
          <p:nvPr/>
        </p:nvSpPr>
        <p:spPr>
          <a:xfrm>
            <a:off x="3349080" y="1536120"/>
            <a:ext cx="2594520" cy="2377080"/>
          </a:xfrm>
          <a:prstGeom prst="roundRect">
            <a:avLst>
              <a:gd name="adj" fmla="val 3462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3349080" y="1536120"/>
            <a:ext cx="2594520" cy="9108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4343400" y="1774080"/>
            <a:ext cx="621360" cy="6213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2" descr="/home/claude/icons/server.png"/>
          <p:cNvPicPr/>
          <p:nvPr/>
        </p:nvPicPr>
        <p:blipFill>
          <a:blip r:embed="rId3"/>
          <a:stretch/>
        </p:blipFill>
        <p:spPr>
          <a:xfrm>
            <a:off x="4489920" y="19292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19" name="Text 16"/>
          <p:cNvSpPr/>
          <p:nvPr/>
        </p:nvSpPr>
        <p:spPr>
          <a:xfrm>
            <a:off x="3349080" y="2505600"/>
            <a:ext cx="257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Virtual Machines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3568320" y="2990160"/>
            <a:ext cx="54360" cy="543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3714840" y="287136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Rented compute (EC2, Azure VM)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3568320" y="3300840"/>
            <a:ext cx="54360" cy="543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3714840" y="318204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Still manage OS &amp; patching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3568320" y="3611880"/>
            <a:ext cx="54360" cy="543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3714840" y="349308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Pay-as-you-go infrastructure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Image 3" descr="/home/claude/icons/route.png"/>
          <p:cNvPicPr/>
          <p:nvPr/>
        </p:nvPicPr>
        <p:blipFill>
          <a:blip r:embed="rId4"/>
          <a:stretch/>
        </p:blipFill>
        <p:spPr>
          <a:xfrm>
            <a:off x="5989320" y="26334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27" name="Shape 23"/>
          <p:cNvSpPr/>
          <p:nvPr/>
        </p:nvSpPr>
        <p:spPr>
          <a:xfrm>
            <a:off x="6195240" y="1536120"/>
            <a:ext cx="2571480" cy="2377080"/>
          </a:xfrm>
          <a:prstGeom prst="roundRect">
            <a:avLst>
              <a:gd name="adj" fmla="val 3462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4"/>
          <p:cNvSpPr/>
          <p:nvPr/>
        </p:nvSpPr>
        <p:spPr>
          <a:xfrm>
            <a:off x="6195240" y="1536120"/>
            <a:ext cx="2571480" cy="9108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7151040" y="1774080"/>
            <a:ext cx="621360" cy="62136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" name="Image 4" descr="/home/claude/icons/docker.png"/>
          <p:cNvPicPr/>
          <p:nvPr/>
        </p:nvPicPr>
        <p:blipFill>
          <a:blip r:embed="rId5"/>
          <a:stretch/>
        </p:blipFill>
        <p:spPr>
          <a:xfrm>
            <a:off x="7315200" y="19292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31" name="Text 26"/>
          <p:cNvSpPr/>
          <p:nvPr/>
        </p:nvSpPr>
        <p:spPr>
          <a:xfrm>
            <a:off x="6195240" y="2505600"/>
            <a:ext cx="257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Containers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7"/>
          <p:cNvSpPr/>
          <p:nvPr/>
        </p:nvSpPr>
        <p:spPr>
          <a:xfrm>
            <a:off x="6414480" y="2990160"/>
            <a:ext cx="54360" cy="5436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8"/>
          <p:cNvSpPr/>
          <p:nvPr/>
        </p:nvSpPr>
        <p:spPr>
          <a:xfrm>
            <a:off x="6561000" y="287136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Portable Docker images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9"/>
          <p:cNvSpPr/>
          <p:nvPr/>
        </p:nvSpPr>
        <p:spPr>
          <a:xfrm>
            <a:off x="6414480" y="3300840"/>
            <a:ext cx="54360" cy="5436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0"/>
          <p:cNvSpPr/>
          <p:nvPr/>
        </p:nvSpPr>
        <p:spPr>
          <a:xfrm>
            <a:off x="6561000" y="318204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Faster startup than VMs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1"/>
          <p:cNvSpPr/>
          <p:nvPr/>
        </p:nvSpPr>
        <p:spPr>
          <a:xfrm>
            <a:off x="6414480" y="3611880"/>
            <a:ext cx="54360" cy="5436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2"/>
          <p:cNvSpPr/>
          <p:nvPr/>
        </p:nvSpPr>
        <p:spPr>
          <a:xfrm>
            <a:off x="6561000" y="349308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Orchestrated via Kubernetes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5" descr="/home/claude/icons/route.png"/>
          <p:cNvPicPr/>
          <p:nvPr/>
        </p:nvPicPr>
        <p:blipFill>
          <a:blip r:embed="rId6"/>
          <a:stretch/>
        </p:blipFill>
        <p:spPr>
          <a:xfrm>
            <a:off x="8817840" y="263340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39" name="Shape 33"/>
          <p:cNvSpPr/>
          <p:nvPr/>
        </p:nvSpPr>
        <p:spPr>
          <a:xfrm>
            <a:off x="9041040" y="1536120"/>
            <a:ext cx="2708640" cy="2377080"/>
          </a:xfrm>
          <a:prstGeom prst="roundRect">
            <a:avLst>
              <a:gd name="adj" fmla="val 3462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4"/>
          <p:cNvSpPr/>
          <p:nvPr/>
        </p:nvSpPr>
        <p:spPr>
          <a:xfrm>
            <a:off x="9041040" y="1536120"/>
            <a:ext cx="2708640" cy="9108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5"/>
          <p:cNvSpPr/>
          <p:nvPr/>
        </p:nvSpPr>
        <p:spPr>
          <a:xfrm>
            <a:off x="10084680" y="1774080"/>
            <a:ext cx="621360" cy="6213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Image 6" descr="/home/claude/icons/bolt.png"/>
          <p:cNvPicPr/>
          <p:nvPr/>
        </p:nvPicPr>
        <p:blipFill>
          <a:blip r:embed="rId7"/>
          <a:stretch/>
        </p:blipFill>
        <p:spPr>
          <a:xfrm>
            <a:off x="10240200" y="19292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43" name="Text 36"/>
          <p:cNvSpPr/>
          <p:nvPr/>
        </p:nvSpPr>
        <p:spPr>
          <a:xfrm>
            <a:off x="9178200" y="2505600"/>
            <a:ext cx="2434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Serverless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37"/>
          <p:cNvSpPr/>
          <p:nvPr/>
        </p:nvSpPr>
        <p:spPr>
          <a:xfrm>
            <a:off x="9260640" y="2990160"/>
            <a:ext cx="54360" cy="543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8"/>
          <p:cNvSpPr/>
          <p:nvPr/>
        </p:nvSpPr>
        <p:spPr>
          <a:xfrm>
            <a:off x="9406800" y="287136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Deploy code, not infrastructure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39"/>
          <p:cNvSpPr/>
          <p:nvPr/>
        </p:nvSpPr>
        <p:spPr>
          <a:xfrm>
            <a:off x="9260640" y="3300840"/>
            <a:ext cx="54360" cy="543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0"/>
          <p:cNvSpPr/>
          <p:nvPr/>
        </p:nvSpPr>
        <p:spPr>
          <a:xfrm>
            <a:off x="9406800" y="318204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Provider handles scaling &amp; ops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9260640" y="3611880"/>
            <a:ext cx="54360" cy="543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2"/>
          <p:cNvSpPr/>
          <p:nvPr/>
        </p:nvSpPr>
        <p:spPr>
          <a:xfrm>
            <a:off x="9406800" y="3493080"/>
            <a:ext cx="217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Pay only for what runs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43"/>
          <p:cNvSpPr/>
          <p:nvPr/>
        </p:nvSpPr>
        <p:spPr>
          <a:xfrm>
            <a:off x="502920" y="4041720"/>
            <a:ext cx="5440320" cy="2212560"/>
          </a:xfrm>
          <a:prstGeom prst="roundRect">
            <a:avLst>
              <a:gd name="adj" fmla="val 3719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44"/>
          <p:cNvSpPr/>
          <p:nvPr/>
        </p:nvSpPr>
        <p:spPr>
          <a:xfrm>
            <a:off x="777240" y="419724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93aac7"/>
                </a:solidFill>
                <a:latin typeface="Calibri"/>
                <a:ea typeface="Calibri"/>
              </a:rPr>
              <a:t>TRADITIONAL vs SERVERLESS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5"/>
          <p:cNvSpPr/>
          <p:nvPr/>
        </p:nvSpPr>
        <p:spPr>
          <a:xfrm>
            <a:off x="777240" y="454464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Provisioning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6"/>
          <p:cNvSpPr/>
          <p:nvPr/>
        </p:nvSpPr>
        <p:spPr>
          <a:xfrm>
            <a:off x="2148840" y="454464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Always-on servers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47"/>
          <p:cNvSpPr/>
          <p:nvPr/>
        </p:nvSpPr>
        <p:spPr>
          <a:xfrm>
            <a:off x="3977640" y="454464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On-demand execution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48"/>
          <p:cNvSpPr/>
          <p:nvPr/>
        </p:nvSpPr>
        <p:spPr>
          <a:xfrm>
            <a:off x="777240" y="497448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9"/>
          <p:cNvSpPr/>
          <p:nvPr/>
        </p:nvSpPr>
        <p:spPr>
          <a:xfrm>
            <a:off x="2148840" y="497448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Manual / pre-planned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3977640" y="497448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Automatic, elastic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51"/>
          <p:cNvSpPr/>
          <p:nvPr/>
        </p:nvSpPr>
        <p:spPr>
          <a:xfrm>
            <a:off x="777240" y="540396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Billing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52"/>
          <p:cNvSpPr/>
          <p:nvPr/>
        </p:nvSpPr>
        <p:spPr>
          <a:xfrm>
            <a:off x="2148840" y="54039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Reserved capacity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53"/>
          <p:cNvSpPr/>
          <p:nvPr/>
        </p:nvSpPr>
        <p:spPr>
          <a:xfrm>
            <a:off x="3977640" y="54039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Pay-per-use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54"/>
          <p:cNvSpPr/>
          <p:nvPr/>
        </p:nvSpPr>
        <p:spPr>
          <a:xfrm>
            <a:off x="777240" y="583380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Ops effort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55"/>
          <p:cNvSpPr/>
          <p:nvPr/>
        </p:nvSpPr>
        <p:spPr>
          <a:xfrm>
            <a:off x="2148840" y="58338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High (patching, capacity)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56"/>
          <p:cNvSpPr/>
          <p:nvPr/>
        </p:nvSpPr>
        <p:spPr>
          <a:xfrm>
            <a:off x="3977640" y="583380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Low (provider-managed)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57"/>
          <p:cNvSpPr/>
          <p:nvPr/>
        </p:nvSpPr>
        <p:spPr>
          <a:xfrm>
            <a:off x="6172200" y="4041720"/>
            <a:ext cx="5531760" cy="2212560"/>
          </a:xfrm>
          <a:prstGeom prst="roundRect">
            <a:avLst>
              <a:gd name="adj" fmla="val 3719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58"/>
          <p:cNvSpPr/>
          <p:nvPr/>
        </p:nvSpPr>
        <p:spPr>
          <a:xfrm>
            <a:off x="6446520" y="41972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891b2"/>
                </a:solidFill>
                <a:latin typeface="Calibri"/>
                <a:ea typeface="Calibri"/>
              </a:rPr>
              <a:t>KEY BENEFITS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7" descr="/home/claude/icons/arrowdown.png"/>
          <p:cNvPicPr/>
          <p:nvPr/>
        </p:nvPicPr>
        <p:blipFill>
          <a:blip r:embed="rId8"/>
          <a:stretch/>
        </p:blipFill>
        <p:spPr>
          <a:xfrm>
            <a:off x="6446520" y="46360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67" name="Text 59"/>
          <p:cNvSpPr/>
          <p:nvPr/>
        </p:nvSpPr>
        <p:spPr>
          <a:xfrm>
            <a:off x="6830640" y="4590360"/>
            <a:ext cx="208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Lower infrastructure cost: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 Pay only for what you use — no idle server spend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8" name="Image 8" descr="/home/claude/icons/sync.png"/>
          <p:cNvPicPr/>
          <p:nvPr/>
        </p:nvPicPr>
        <p:blipFill>
          <a:blip r:embed="rId9"/>
          <a:stretch/>
        </p:blipFill>
        <p:spPr>
          <a:xfrm>
            <a:off x="9052560" y="46360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69" name="Text 60"/>
          <p:cNvSpPr/>
          <p:nvPr/>
        </p:nvSpPr>
        <p:spPr>
          <a:xfrm>
            <a:off x="9436680" y="45903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Automatic, elastic scaling: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 Handles traffic spikes without manual provisioning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0" name="Image 9" descr="/home/claude/icons/rocket.png"/>
          <p:cNvPicPr/>
          <p:nvPr/>
        </p:nvPicPr>
        <p:blipFill>
          <a:blip r:embed="rId10"/>
          <a:stretch/>
        </p:blipFill>
        <p:spPr>
          <a:xfrm>
            <a:off x="6446520" y="55047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71" name="Text 61"/>
          <p:cNvSpPr/>
          <p:nvPr/>
        </p:nvSpPr>
        <p:spPr>
          <a:xfrm>
            <a:off x="6830640" y="5394960"/>
            <a:ext cx="208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Faster time to market: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 Ship features without managing servers first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Image 10" descr="/home/claude/icons/cogs.png"/>
          <p:cNvPicPr/>
          <p:nvPr/>
        </p:nvPicPr>
        <p:blipFill>
          <a:blip r:embed="rId11"/>
          <a:stretch/>
        </p:blipFill>
        <p:spPr>
          <a:xfrm>
            <a:off x="9052560" y="55047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73" name="Text 62"/>
          <p:cNvSpPr/>
          <p:nvPr/>
        </p:nvSpPr>
        <p:spPr>
          <a:xfrm>
            <a:off x="9436680" y="539496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Minimal operational overhead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: No patching, capacity planning, or server upkeep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63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Understanding Serverless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4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03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a5e9"/>
                </a:solidFill>
                <a:latin typeface="Calibri"/>
                <a:ea typeface="Calibri"/>
              </a:rPr>
              <a:t>SERVERLESS MODELS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Types of Serverless Computing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502920" y="1325880"/>
            <a:ext cx="2742840" cy="416016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02920" y="1325880"/>
            <a:ext cx="2742840" cy="12780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1490400" y="1618560"/>
            <a:ext cx="767880" cy="76788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0" descr="/home/claude/icons/bolt.png"/>
          <p:cNvPicPr/>
          <p:nvPr/>
        </p:nvPicPr>
        <p:blipFill>
          <a:blip r:embed="rId1"/>
          <a:stretch/>
        </p:blipFill>
        <p:spPr>
          <a:xfrm>
            <a:off x="1682640" y="18104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2" name="Text 5"/>
          <p:cNvSpPr/>
          <p:nvPr/>
        </p:nvSpPr>
        <p:spPr>
          <a:xfrm>
            <a:off x="685800" y="25146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0ea5e9"/>
                </a:solidFill>
                <a:latin typeface="Calibri"/>
                <a:ea typeface="Calibri"/>
              </a:rPr>
              <a:t>FAAS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667440" y="268848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Function as a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722520" y="3319200"/>
            <a:ext cx="63720" cy="6372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 rot="3600">
            <a:off x="886680" y="3219840"/>
            <a:ext cx="2313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Deploy single functions, not full apps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722520" y="3813120"/>
            <a:ext cx="63720" cy="6372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887040" y="370332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Best for independent, event-driven tasks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722520" y="4361760"/>
            <a:ext cx="63720" cy="6372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887040" y="42519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Scheduled reports, email alerts, file processing, webhooks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722520" y="4910400"/>
            <a:ext cx="63720" cy="6372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887040" y="480060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Pay only for actual execution time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3364920" y="1325880"/>
            <a:ext cx="2742840" cy="416016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3364920" y="1325880"/>
            <a:ext cx="2742840" cy="1278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4352400" y="1618560"/>
            <a:ext cx="767880" cy="76788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1" descr="/home/claude/icons/docker.png"/>
          <p:cNvPicPr/>
          <p:nvPr/>
        </p:nvPicPr>
        <p:blipFill>
          <a:blip r:embed="rId2"/>
          <a:stretch/>
        </p:blipFill>
        <p:spPr>
          <a:xfrm>
            <a:off x="4544640" y="18104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96" name="Text 18"/>
          <p:cNvSpPr/>
          <p:nvPr/>
        </p:nvSpPr>
        <p:spPr>
          <a:xfrm>
            <a:off x="3547800" y="25146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10b981"/>
                </a:solidFill>
                <a:latin typeface="Calibri"/>
                <a:ea typeface="Calibri"/>
              </a:rPr>
              <a:t>CONTAINERS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3529440" y="268848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Serverless Containers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3584520" y="3319200"/>
            <a:ext cx="63720" cy="637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3749040" y="32187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Run existing Docker images as-is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3584520" y="3813120"/>
            <a:ext cx="63720" cy="637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3749040" y="370332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Preferred for existing Python apps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3584520" y="4361760"/>
            <a:ext cx="63720" cy="637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5"/>
          <p:cNvSpPr/>
          <p:nvPr/>
        </p:nvSpPr>
        <p:spPr>
          <a:xfrm>
            <a:off x="3749040" y="42519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Minimal migration for FastAPI, Django, Flask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3584520" y="4910400"/>
            <a:ext cx="63720" cy="637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3749040" y="480060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Scale-to-zero supported on most platforms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6226920" y="1325880"/>
            <a:ext cx="2742840" cy="416016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9"/>
          <p:cNvSpPr/>
          <p:nvPr/>
        </p:nvSpPr>
        <p:spPr>
          <a:xfrm>
            <a:off x="6226920" y="1325880"/>
            <a:ext cx="2742840" cy="12780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7214760" y="1618560"/>
            <a:ext cx="767880" cy="7678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2" descr="/home/claude/icons/globe.png"/>
          <p:cNvPicPr/>
          <p:nvPr/>
        </p:nvPicPr>
        <p:blipFill>
          <a:blip r:embed="rId3"/>
          <a:stretch/>
        </p:blipFill>
        <p:spPr>
          <a:xfrm>
            <a:off x="7406640" y="18104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10" name="Text 31"/>
          <p:cNvSpPr/>
          <p:nvPr/>
        </p:nvSpPr>
        <p:spPr>
          <a:xfrm>
            <a:off x="6409800" y="25146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7c3aed"/>
                </a:solidFill>
                <a:latin typeface="Calibri"/>
                <a:ea typeface="Calibri"/>
              </a:rPr>
              <a:t>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2"/>
          <p:cNvSpPr/>
          <p:nvPr/>
        </p:nvSpPr>
        <p:spPr>
          <a:xfrm>
            <a:off x="6391800" y="268848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Edge Computing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3"/>
          <p:cNvSpPr/>
          <p:nvPr/>
        </p:nvSpPr>
        <p:spPr>
          <a:xfrm>
            <a:off x="6446520" y="3319200"/>
            <a:ext cx="63720" cy="637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4"/>
          <p:cNvSpPr/>
          <p:nvPr/>
        </p:nvSpPr>
        <p:spPr>
          <a:xfrm>
            <a:off x="6611040" y="32187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Executes logic near the end user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6446520" y="3813120"/>
            <a:ext cx="63720" cy="637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6611040" y="370332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Reduces latency for global traffic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6446520" y="4361760"/>
            <a:ext cx="63720" cy="637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8"/>
          <p:cNvSpPr/>
          <p:nvPr/>
        </p:nvSpPr>
        <p:spPr>
          <a:xfrm>
            <a:off x="6611040" y="42519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Best for: auth, middleware, personalization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9"/>
          <p:cNvSpPr/>
          <p:nvPr/>
        </p:nvSpPr>
        <p:spPr>
          <a:xfrm>
            <a:off x="6446520" y="4910400"/>
            <a:ext cx="63720" cy="637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6611040" y="480060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Best paired with a primary cloud platform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41"/>
          <p:cNvSpPr/>
          <p:nvPr/>
        </p:nvSpPr>
        <p:spPr>
          <a:xfrm>
            <a:off x="9089280" y="1325880"/>
            <a:ext cx="2742840" cy="416016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9089280" y="1325880"/>
            <a:ext cx="2742840" cy="1278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3"/>
          <p:cNvSpPr/>
          <p:nvPr/>
        </p:nvSpPr>
        <p:spPr>
          <a:xfrm>
            <a:off x="10076760" y="1618560"/>
            <a:ext cx="767880" cy="76788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Image 3" descr="/home/claude/icons/cubes.png"/>
          <p:cNvPicPr/>
          <p:nvPr/>
        </p:nvPicPr>
        <p:blipFill>
          <a:blip r:embed="rId4"/>
          <a:stretch/>
        </p:blipFill>
        <p:spPr>
          <a:xfrm>
            <a:off x="10268640" y="18104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224" name="Text 44"/>
          <p:cNvSpPr/>
          <p:nvPr/>
        </p:nvSpPr>
        <p:spPr>
          <a:xfrm>
            <a:off x="9272160" y="2514600"/>
            <a:ext cx="2377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f59e0b"/>
                </a:solidFill>
                <a:latin typeface="Calibri"/>
                <a:ea typeface="Calibri"/>
              </a:rPr>
              <a:t>BAAS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5"/>
          <p:cNvSpPr/>
          <p:nvPr/>
        </p:nvSpPr>
        <p:spPr>
          <a:xfrm>
            <a:off x="9253800" y="268848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Backend as a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6"/>
          <p:cNvSpPr/>
          <p:nvPr/>
        </p:nvSpPr>
        <p:spPr>
          <a:xfrm>
            <a:off x="9308520" y="3319200"/>
            <a:ext cx="63720" cy="637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7"/>
          <p:cNvSpPr/>
          <p:nvPr/>
        </p:nvSpPr>
        <p:spPr>
          <a:xfrm>
            <a:off x="9473040" y="32187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Managed auth, storage, database, notifications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8"/>
          <p:cNvSpPr/>
          <p:nvPr/>
        </p:nvSpPr>
        <p:spPr>
          <a:xfrm>
            <a:off x="9308520" y="3813120"/>
            <a:ext cx="63720" cy="637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9"/>
          <p:cNvSpPr/>
          <p:nvPr/>
        </p:nvSpPr>
        <p:spPr>
          <a:xfrm>
            <a:off x="9473040" y="370332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Faster development, less backend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50"/>
          <p:cNvSpPr/>
          <p:nvPr/>
        </p:nvSpPr>
        <p:spPr>
          <a:xfrm>
            <a:off x="9308520" y="4361760"/>
            <a:ext cx="63720" cy="637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51"/>
          <p:cNvSpPr/>
          <p:nvPr/>
        </p:nvSpPr>
        <p:spPr>
          <a:xfrm>
            <a:off x="9473040" y="425196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Trade-off: higher vendor dependency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2"/>
          <p:cNvSpPr/>
          <p:nvPr/>
        </p:nvSpPr>
        <p:spPr>
          <a:xfrm>
            <a:off x="9308520" y="4910400"/>
            <a:ext cx="63720" cy="637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3"/>
          <p:cNvSpPr/>
          <p:nvPr/>
        </p:nvSpPr>
        <p:spPr>
          <a:xfrm>
            <a:off x="9473040" y="4800600"/>
            <a:ext cx="2175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Ideal for MVPs and rapid prototyping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54"/>
          <p:cNvSpPr/>
          <p:nvPr/>
        </p:nvSpPr>
        <p:spPr>
          <a:xfrm>
            <a:off x="502920" y="5623560"/>
            <a:ext cx="11338560" cy="621360"/>
          </a:xfrm>
          <a:prstGeom prst="roundRect">
            <a:avLst>
              <a:gd name="adj" fmla="val 1323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5" name="Image 4" descr="/home/claude/icons/exchange.png"/>
          <p:cNvPicPr/>
          <p:nvPr/>
        </p:nvPicPr>
        <p:blipFill>
          <a:blip r:embed="rId5"/>
          <a:stretch/>
        </p:blipFill>
        <p:spPr>
          <a:xfrm>
            <a:off x="713160" y="57880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36" name="Text 55"/>
          <p:cNvSpPr/>
          <p:nvPr/>
        </p:nvSpPr>
        <p:spPr>
          <a:xfrm>
            <a:off x="1143000" y="5623560"/>
            <a:ext cx="10560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Modern applications rarely rely on one model alone — Python backends typically combine Serverless Containers for the core app with Functions for independent, event-driven tasks.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56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Types of Serverless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57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04 / 14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METHODOLOGY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Evaluation Criteria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502920" y="11887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f2"/>
                </a:solidFill>
                <a:latin typeface="Calibri"/>
                <a:ea typeface="Calibri"/>
              </a:rPr>
              <a:t>Every platform in this review is scored consistently against eight criteria that matter most for our Python and Next.js workloads.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502920" y="1783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1572840" y="2039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4" name="Image 0" descr="/home/claude/icons/python.png"/>
          <p:cNvPicPr/>
          <p:nvPr/>
        </p:nvPicPr>
        <p:blipFill>
          <a:blip r:embed="rId1"/>
          <a:stretch/>
        </p:blipFill>
        <p:spPr>
          <a:xfrm>
            <a:off x="1648800" y="2115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45" name="Text 5"/>
          <p:cNvSpPr/>
          <p:nvPr/>
        </p:nvSpPr>
        <p:spPr>
          <a:xfrm>
            <a:off x="640080" y="2743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Python Support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457200" y="3173040"/>
            <a:ext cx="277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FastAPI, Flask, Django compatibility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3319200" y="1783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4389120" y="2039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4465080" y="2115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50" name="Text 9"/>
          <p:cNvSpPr/>
          <p:nvPr/>
        </p:nvSpPr>
        <p:spPr>
          <a:xfrm>
            <a:off x="3456360" y="2743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Next.js Support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3502080" y="317304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SSR, API routes, ISR, middleware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6135480" y="1783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2"/>
          <p:cNvSpPr/>
          <p:nvPr/>
        </p:nvSpPr>
        <p:spPr>
          <a:xfrm>
            <a:off x="7205400" y="2039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Image 2" descr="/home/claude/icons/dollar.png"/>
          <p:cNvPicPr/>
          <p:nvPr/>
        </p:nvPicPr>
        <p:blipFill>
          <a:blip r:embed="rId3"/>
          <a:stretch/>
        </p:blipFill>
        <p:spPr>
          <a:xfrm>
            <a:off x="7281720" y="2115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55" name="Text 13"/>
          <p:cNvSpPr/>
          <p:nvPr/>
        </p:nvSpPr>
        <p:spPr>
          <a:xfrm>
            <a:off x="6272640" y="2743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Cost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4"/>
          <p:cNvSpPr/>
          <p:nvPr/>
        </p:nvSpPr>
        <p:spPr>
          <a:xfrm>
            <a:off x="6135480" y="3173040"/>
            <a:ext cx="272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Idle cost, consumption pricing, free tier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5"/>
          <p:cNvSpPr/>
          <p:nvPr/>
        </p:nvSpPr>
        <p:spPr>
          <a:xfrm>
            <a:off x="8952120" y="1783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10021680" y="2039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Image 3" descr="/home/claude/icons/sync.png"/>
          <p:cNvPicPr/>
          <p:nvPr/>
        </p:nvPicPr>
        <p:blipFill>
          <a:blip r:embed="rId4"/>
          <a:stretch/>
        </p:blipFill>
        <p:spPr>
          <a:xfrm>
            <a:off x="10098000" y="2115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60" name="Text 17"/>
          <p:cNvSpPr/>
          <p:nvPr/>
        </p:nvSpPr>
        <p:spPr>
          <a:xfrm>
            <a:off x="9089280" y="2743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Auto Scaling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8"/>
          <p:cNvSpPr/>
          <p:nvPr/>
        </p:nvSpPr>
        <p:spPr>
          <a:xfrm>
            <a:off x="9135000" y="3173040"/>
            <a:ext cx="2358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Elastic scale-up under traffic spikes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9"/>
          <p:cNvSpPr/>
          <p:nvPr/>
        </p:nvSpPr>
        <p:spPr>
          <a:xfrm>
            <a:off x="502920" y="4069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1572840" y="4325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4" name="Image 4" descr="/home/claude/icons/clock.png"/>
          <p:cNvPicPr/>
          <p:nvPr/>
        </p:nvPicPr>
        <p:blipFill>
          <a:blip r:embed="rId5"/>
          <a:stretch/>
        </p:blipFill>
        <p:spPr>
          <a:xfrm>
            <a:off x="1648800" y="4401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65" name="Text 21"/>
          <p:cNvSpPr/>
          <p:nvPr/>
        </p:nvSpPr>
        <p:spPr>
          <a:xfrm>
            <a:off x="640080" y="5029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Scale-to-Zero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2"/>
          <p:cNvSpPr/>
          <p:nvPr/>
        </p:nvSpPr>
        <p:spPr>
          <a:xfrm>
            <a:off x="502920" y="5459040"/>
            <a:ext cx="272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No cost incurred during idle periods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23"/>
          <p:cNvSpPr/>
          <p:nvPr/>
        </p:nvSpPr>
        <p:spPr>
          <a:xfrm>
            <a:off x="3319200" y="4069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4389120" y="4325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9" name="Image 5" descr="/home/claude/icons/shield.png"/>
          <p:cNvPicPr/>
          <p:nvPr/>
        </p:nvPicPr>
        <p:blipFill>
          <a:blip r:embed="rId6"/>
          <a:stretch/>
        </p:blipFill>
        <p:spPr>
          <a:xfrm>
            <a:off x="4465080" y="4401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70" name="Text 25"/>
          <p:cNvSpPr/>
          <p:nvPr/>
        </p:nvSpPr>
        <p:spPr>
          <a:xfrm>
            <a:off x="3456360" y="5029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6"/>
          <p:cNvSpPr/>
          <p:nvPr/>
        </p:nvSpPr>
        <p:spPr>
          <a:xfrm>
            <a:off x="3319200" y="5459040"/>
            <a:ext cx="272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IAM/RBAC, secrets, encryption, audits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27"/>
          <p:cNvSpPr/>
          <p:nvPr/>
        </p:nvSpPr>
        <p:spPr>
          <a:xfrm>
            <a:off x="6135480" y="4069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8"/>
          <p:cNvSpPr/>
          <p:nvPr/>
        </p:nvSpPr>
        <p:spPr>
          <a:xfrm>
            <a:off x="7205400" y="4325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6" descr="/home/claude/icons/eye.png"/>
          <p:cNvPicPr/>
          <p:nvPr/>
        </p:nvPicPr>
        <p:blipFill>
          <a:blip r:embed="rId7"/>
          <a:stretch/>
        </p:blipFill>
        <p:spPr>
          <a:xfrm>
            <a:off x="7281720" y="4401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75" name="Text 29"/>
          <p:cNvSpPr/>
          <p:nvPr/>
        </p:nvSpPr>
        <p:spPr>
          <a:xfrm>
            <a:off x="6272640" y="5029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6135480" y="5459040"/>
            <a:ext cx="272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Logging, metrics, tracing, diagnostics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8952120" y="4069080"/>
            <a:ext cx="2724480" cy="214848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32"/>
          <p:cNvSpPr/>
          <p:nvPr/>
        </p:nvSpPr>
        <p:spPr>
          <a:xfrm>
            <a:off x="10021680" y="4325040"/>
            <a:ext cx="585000" cy="58500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9" name="Image 7" descr="/home/claude/icons/building.png"/>
          <p:cNvPicPr/>
          <p:nvPr/>
        </p:nvPicPr>
        <p:blipFill>
          <a:blip r:embed="rId8"/>
          <a:stretch/>
        </p:blipFill>
        <p:spPr>
          <a:xfrm>
            <a:off x="10098000" y="4401360"/>
            <a:ext cx="432720" cy="432720"/>
          </a:xfrm>
          <a:prstGeom prst="rect">
            <a:avLst/>
          </a:prstGeom>
          <a:ln w="0">
            <a:noFill/>
          </a:ln>
        </p:spPr>
      </p:pic>
      <p:sp>
        <p:nvSpPr>
          <p:cNvPr id="280" name="Text 33"/>
          <p:cNvSpPr/>
          <p:nvPr/>
        </p:nvSpPr>
        <p:spPr>
          <a:xfrm>
            <a:off x="9089280" y="5029200"/>
            <a:ext cx="245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Enterprise Readiness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4"/>
          <p:cNvSpPr/>
          <p:nvPr/>
        </p:nvSpPr>
        <p:spPr>
          <a:xfrm>
            <a:off x="8952120" y="5459040"/>
            <a:ext cx="272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Compliance, HA, multi-region, support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35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Evaluation Criteria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6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05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HEAD-TO-HEAD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Microsoft Azure vs Amazon Web Services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502920" y="1325880"/>
            <a:ext cx="2239920" cy="456840"/>
          </a:xfrm>
          <a:prstGeom prst="rect">
            <a:avLst/>
          </a:prstGeom>
          <a:solidFill>
            <a:srgbClr val="0d2440"/>
          </a:solidFill>
          <a:ln w="9525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557640" y="13258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2743200" y="1325880"/>
            <a:ext cx="2239920" cy="456840"/>
          </a:xfrm>
          <a:prstGeom prst="rect">
            <a:avLst/>
          </a:prstGeom>
          <a:solidFill>
            <a:srgbClr val="0f3d63"/>
          </a:solidFill>
          <a:ln w="9525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2797920" y="13258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Microsoft Azure</a:t>
            </a:r>
            <a:endParaRPr b="0" lang="en-US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4983480" y="1325880"/>
            <a:ext cx="2239920" cy="456840"/>
          </a:xfrm>
          <a:prstGeom prst="rect">
            <a:avLst/>
          </a:prstGeom>
          <a:solidFill>
            <a:srgbClr val="0891b2"/>
          </a:solidFill>
          <a:ln w="9525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5038200" y="13258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Amazon Web Services</a:t>
            </a:r>
            <a:endParaRPr b="0" lang="en-US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502920" y="178308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576000" y="178308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Primary Function Service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2743200" y="178308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2816280" y="178308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Azure Functions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4983480" y="178308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5056560" y="178308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AWS Lambda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502920" y="222084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576000" y="222084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Primary Container Service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2743200" y="222084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2816280" y="222084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Azure Container Apps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4983480" y="222084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5056560" y="222084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AWS Fargate / App Runner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502920" y="265824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576000" y="265824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Python Support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22"/>
          <p:cNvSpPr/>
          <p:nvPr/>
        </p:nvSpPr>
        <p:spPr>
          <a:xfrm>
            <a:off x="2743200" y="265824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2816280" y="265824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4983480" y="265824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5"/>
          <p:cNvSpPr/>
          <p:nvPr/>
        </p:nvSpPr>
        <p:spPr>
          <a:xfrm>
            <a:off x="5056560" y="265824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502920" y="309600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7"/>
          <p:cNvSpPr/>
          <p:nvPr/>
        </p:nvSpPr>
        <p:spPr>
          <a:xfrm>
            <a:off x="576000" y="309600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Next.js Support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28"/>
          <p:cNvSpPr/>
          <p:nvPr/>
        </p:nvSpPr>
        <p:spPr>
          <a:xfrm>
            <a:off x="2743200" y="309600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9"/>
          <p:cNvSpPr/>
          <p:nvPr/>
        </p:nvSpPr>
        <p:spPr>
          <a:xfrm>
            <a:off x="2816280" y="309600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30"/>
          <p:cNvSpPr/>
          <p:nvPr/>
        </p:nvSpPr>
        <p:spPr>
          <a:xfrm>
            <a:off x="4983480" y="309600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31"/>
          <p:cNvSpPr/>
          <p:nvPr/>
        </p:nvSpPr>
        <p:spPr>
          <a:xfrm>
            <a:off x="5056560" y="309600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32"/>
          <p:cNvSpPr/>
          <p:nvPr/>
        </p:nvSpPr>
        <p:spPr>
          <a:xfrm>
            <a:off x="502920" y="353340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33"/>
          <p:cNvSpPr/>
          <p:nvPr/>
        </p:nvSpPr>
        <p:spPr>
          <a:xfrm>
            <a:off x="576000" y="353340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Auto Scaling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34"/>
          <p:cNvSpPr/>
          <p:nvPr/>
        </p:nvSpPr>
        <p:spPr>
          <a:xfrm>
            <a:off x="2743200" y="353340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35"/>
          <p:cNvSpPr/>
          <p:nvPr/>
        </p:nvSpPr>
        <p:spPr>
          <a:xfrm>
            <a:off x="2816280" y="353340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36"/>
          <p:cNvSpPr/>
          <p:nvPr/>
        </p:nvSpPr>
        <p:spPr>
          <a:xfrm>
            <a:off x="4983480" y="353340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7"/>
          <p:cNvSpPr/>
          <p:nvPr/>
        </p:nvSpPr>
        <p:spPr>
          <a:xfrm>
            <a:off x="5056560" y="353340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38"/>
          <p:cNvSpPr/>
          <p:nvPr/>
        </p:nvSpPr>
        <p:spPr>
          <a:xfrm>
            <a:off x="502920" y="397116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39"/>
          <p:cNvSpPr/>
          <p:nvPr/>
        </p:nvSpPr>
        <p:spPr>
          <a:xfrm>
            <a:off x="576000" y="397116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40"/>
          <p:cNvSpPr/>
          <p:nvPr/>
        </p:nvSpPr>
        <p:spPr>
          <a:xfrm>
            <a:off x="2743200" y="397116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41"/>
          <p:cNvSpPr/>
          <p:nvPr/>
        </p:nvSpPr>
        <p:spPr>
          <a:xfrm>
            <a:off x="2816280" y="397116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Azure Monitor &amp; App Insights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42"/>
          <p:cNvSpPr/>
          <p:nvPr/>
        </p:nvSpPr>
        <p:spPr>
          <a:xfrm>
            <a:off x="4983480" y="3971160"/>
            <a:ext cx="2239920" cy="43740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43"/>
          <p:cNvSpPr/>
          <p:nvPr/>
        </p:nvSpPr>
        <p:spPr>
          <a:xfrm>
            <a:off x="5056560" y="397116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CloudWatch &amp; X-Ray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44"/>
          <p:cNvSpPr/>
          <p:nvPr/>
        </p:nvSpPr>
        <p:spPr>
          <a:xfrm>
            <a:off x="502920" y="440856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45"/>
          <p:cNvSpPr/>
          <p:nvPr/>
        </p:nvSpPr>
        <p:spPr>
          <a:xfrm>
            <a:off x="576000" y="440856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Best Fit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46"/>
          <p:cNvSpPr/>
          <p:nvPr/>
        </p:nvSpPr>
        <p:spPr>
          <a:xfrm>
            <a:off x="2743200" y="440856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47"/>
          <p:cNvSpPr/>
          <p:nvPr/>
        </p:nvSpPr>
        <p:spPr>
          <a:xfrm>
            <a:off x="2816280" y="440856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Microsoft-centric enterprises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48"/>
          <p:cNvSpPr/>
          <p:nvPr/>
        </p:nvSpPr>
        <p:spPr>
          <a:xfrm>
            <a:off x="4983480" y="4408560"/>
            <a:ext cx="2239920" cy="43740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9"/>
          <p:cNvSpPr/>
          <p:nvPr/>
        </p:nvSpPr>
        <p:spPr>
          <a:xfrm>
            <a:off x="5056560" y="4408560"/>
            <a:ext cx="20937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Cloud-native @ scale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50"/>
          <p:cNvSpPr/>
          <p:nvPr/>
        </p:nvSpPr>
        <p:spPr>
          <a:xfrm>
            <a:off x="7406640" y="1325880"/>
            <a:ext cx="4297320" cy="3520080"/>
          </a:xfrm>
          <a:prstGeom prst="roundRect">
            <a:avLst>
              <a:gd name="adj" fmla="val 2338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51"/>
          <p:cNvSpPr/>
          <p:nvPr/>
        </p:nvSpPr>
        <p:spPr>
          <a:xfrm>
            <a:off x="7680960" y="14904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93aac7"/>
                </a:solidFill>
                <a:latin typeface="Calibri"/>
                <a:ea typeface="Calibri"/>
              </a:rPr>
              <a:t>WHY THESE TWO STAND OUT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52"/>
          <p:cNvSpPr/>
          <p:nvPr/>
        </p:nvSpPr>
        <p:spPr>
          <a:xfrm>
            <a:off x="7680960" y="1874520"/>
            <a:ext cx="502560" cy="502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7" name="Image 0" descr="/home/claude/icons/microsoft.png"/>
          <p:cNvPicPr/>
          <p:nvPr/>
        </p:nvPicPr>
        <p:blipFill>
          <a:blip r:embed="rId1"/>
          <a:stretch/>
        </p:blipFill>
        <p:spPr>
          <a:xfrm>
            <a:off x="7746480" y="19400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338" name="Text 53"/>
          <p:cNvSpPr/>
          <p:nvPr/>
        </p:nvSpPr>
        <p:spPr>
          <a:xfrm>
            <a:off x="8321040" y="1883520"/>
            <a:ext cx="3200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Azure Container Apps + Functions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54"/>
          <p:cNvSpPr/>
          <p:nvPr/>
        </p:nvSpPr>
        <p:spPr>
          <a:xfrm>
            <a:off x="7680960" y="2377440"/>
            <a:ext cx="382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Deep Microsoft-ecosystem integration — Active Directory, Azure DevOps, and enterprise governance built in from day one.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55"/>
          <p:cNvSpPr/>
          <p:nvPr/>
        </p:nvSpPr>
        <p:spPr>
          <a:xfrm>
            <a:off x="7680960" y="3383280"/>
            <a:ext cx="502560" cy="502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1" name="Image 1" descr="/home/claude/icons/aws.png"/>
          <p:cNvPicPr/>
          <p:nvPr/>
        </p:nvPicPr>
        <p:blipFill>
          <a:blip r:embed="rId2"/>
          <a:stretch/>
        </p:blipFill>
        <p:spPr>
          <a:xfrm>
            <a:off x="7746480" y="344880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342" name="Text 56"/>
          <p:cNvSpPr/>
          <p:nvPr/>
        </p:nvSpPr>
        <p:spPr>
          <a:xfrm>
            <a:off x="8321040" y="3392280"/>
            <a:ext cx="3200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AWS Lambda + Fargate / App Runner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57"/>
          <p:cNvSpPr/>
          <p:nvPr/>
        </p:nvSpPr>
        <p:spPr>
          <a:xfrm>
            <a:off x="7680960" y="3886200"/>
            <a:ext cx="3748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The broadest managed-service catalog and the most battle-tested serverless ecosystem at hyperscale.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58"/>
          <p:cNvSpPr/>
          <p:nvPr/>
        </p:nvSpPr>
        <p:spPr>
          <a:xfrm>
            <a:off x="502920" y="4983480"/>
            <a:ext cx="11201040" cy="1416960"/>
          </a:xfrm>
          <a:prstGeom prst="roundRect">
            <a:avLst>
              <a:gd name="adj" fmla="val 5806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59"/>
          <p:cNvSpPr/>
          <p:nvPr/>
        </p:nvSpPr>
        <p:spPr>
          <a:xfrm>
            <a:off x="777240" y="51206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891b2"/>
                </a:solidFill>
                <a:latin typeface="Calibri"/>
                <a:ea typeface="Calibri"/>
              </a:rPr>
              <a:t>BEST USE CASES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77240" y="541332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Azure Functions + Container Apps: </a:t>
            </a:r>
            <a:r>
              <a:rPr b="0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 enterprise Python APIs, internal tools, DevOps-integrated CI/CD pipelines.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61"/>
          <p:cNvSpPr/>
          <p:nvPr/>
        </p:nvSpPr>
        <p:spPr>
          <a:xfrm>
            <a:off x="777240" y="57790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AWS Lambda + Fargate / App Runner:</a:t>
            </a:r>
            <a:r>
              <a:rPr b="0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  event-driven microservices, high-scale APIs, broad AWS-native architectures.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2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Azure vs AWS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63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06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a5e9"/>
                </a:solidFill>
                <a:latin typeface="Calibri"/>
                <a:ea typeface="Calibri"/>
              </a:rPr>
              <a:t>HEAD-TO-HEAD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Google Cloud Run vs Vercel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"/>
          <p:cNvSpPr/>
          <p:nvPr/>
        </p:nvSpPr>
        <p:spPr>
          <a:xfrm>
            <a:off x="502920" y="1325880"/>
            <a:ext cx="2239920" cy="456840"/>
          </a:xfrm>
          <a:prstGeom prst="rect">
            <a:avLst/>
          </a:prstGeom>
          <a:solidFill>
            <a:srgbClr val="0a1e3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557640" y="13258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2743200" y="1325880"/>
            <a:ext cx="2239920" cy="456840"/>
          </a:xfrm>
          <a:prstGeom prst="rect">
            <a:avLst/>
          </a:prstGeom>
          <a:solidFill>
            <a:srgbClr val="10b98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2797920" y="13258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Google Cloud Run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4983480" y="1325880"/>
            <a:ext cx="2239920" cy="456840"/>
          </a:xfrm>
          <a:prstGeom prst="rect">
            <a:avLst/>
          </a:prstGeom>
          <a:solidFill>
            <a:srgbClr val="111827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5038200" y="1325880"/>
            <a:ext cx="213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Vercel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502920" y="178308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576000" y="178308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Primary Strength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2743200" y="178308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2816280" y="178308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Serverless containers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4983480" y="178308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5056560" y="178308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Next.js hosting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502920" y="224784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576000" y="224784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Python Support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2743200" y="224784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2816280" y="224784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Excellent (any Docker image)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4983480" y="224784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9"/>
          <p:cNvSpPr/>
          <p:nvPr/>
        </p:nvSpPr>
        <p:spPr>
          <a:xfrm>
            <a:off x="5056560" y="224784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Fair (via serverless functions)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502920" y="271260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576000" y="271260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Next.js Support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2"/>
          <p:cNvSpPr/>
          <p:nvPr/>
        </p:nvSpPr>
        <p:spPr>
          <a:xfrm>
            <a:off x="2743200" y="271260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3"/>
          <p:cNvSpPr/>
          <p:nvPr/>
        </p:nvSpPr>
        <p:spPr>
          <a:xfrm>
            <a:off x="2816280" y="271260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4983480" y="271260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5"/>
          <p:cNvSpPr/>
          <p:nvPr/>
        </p:nvSpPr>
        <p:spPr>
          <a:xfrm>
            <a:off x="5056560" y="271260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Excellent (native, first-party)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>
            <a:off x="502920" y="317772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27"/>
          <p:cNvSpPr/>
          <p:nvPr/>
        </p:nvSpPr>
        <p:spPr>
          <a:xfrm>
            <a:off x="576000" y="317772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Ease of Deployment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8"/>
          <p:cNvSpPr/>
          <p:nvPr/>
        </p:nvSpPr>
        <p:spPr>
          <a:xfrm>
            <a:off x="2743200" y="317772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9"/>
          <p:cNvSpPr/>
          <p:nvPr/>
        </p:nvSpPr>
        <p:spPr>
          <a:xfrm>
            <a:off x="2816280" y="317772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0"/>
          <p:cNvSpPr/>
          <p:nvPr/>
        </p:nvSpPr>
        <p:spPr>
          <a:xfrm>
            <a:off x="4983480" y="317772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1"/>
          <p:cNvSpPr/>
          <p:nvPr/>
        </p:nvSpPr>
        <p:spPr>
          <a:xfrm>
            <a:off x="5056560" y="317772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2"/>
          <p:cNvSpPr/>
          <p:nvPr/>
        </p:nvSpPr>
        <p:spPr>
          <a:xfrm>
            <a:off x="502920" y="364248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3"/>
          <p:cNvSpPr/>
          <p:nvPr/>
        </p:nvSpPr>
        <p:spPr>
          <a:xfrm>
            <a:off x="576000" y="364248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Enterprise Features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4"/>
          <p:cNvSpPr/>
          <p:nvPr/>
        </p:nvSpPr>
        <p:spPr>
          <a:xfrm>
            <a:off x="2743200" y="364248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35"/>
          <p:cNvSpPr/>
          <p:nvPr/>
        </p:nvSpPr>
        <p:spPr>
          <a:xfrm>
            <a:off x="2816280" y="364248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6"/>
          <p:cNvSpPr/>
          <p:nvPr/>
        </p:nvSpPr>
        <p:spPr>
          <a:xfrm>
            <a:off x="4983480" y="3642480"/>
            <a:ext cx="223992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37"/>
          <p:cNvSpPr/>
          <p:nvPr/>
        </p:nvSpPr>
        <p:spPr>
          <a:xfrm>
            <a:off x="5056560" y="364248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Fair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8"/>
          <p:cNvSpPr/>
          <p:nvPr/>
        </p:nvSpPr>
        <p:spPr>
          <a:xfrm>
            <a:off x="502920" y="410724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39"/>
          <p:cNvSpPr/>
          <p:nvPr/>
        </p:nvSpPr>
        <p:spPr>
          <a:xfrm>
            <a:off x="576000" y="410724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Best Fit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0"/>
          <p:cNvSpPr/>
          <p:nvPr/>
        </p:nvSpPr>
        <p:spPr>
          <a:xfrm>
            <a:off x="2743200" y="410724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41"/>
          <p:cNvSpPr/>
          <p:nvPr/>
        </p:nvSpPr>
        <p:spPr>
          <a:xfrm>
            <a:off x="2816280" y="410724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Containerized Python APIs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42"/>
          <p:cNvSpPr/>
          <p:nvPr/>
        </p:nvSpPr>
        <p:spPr>
          <a:xfrm>
            <a:off x="4983480" y="4107240"/>
            <a:ext cx="2239920" cy="46440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43"/>
          <p:cNvSpPr/>
          <p:nvPr/>
        </p:nvSpPr>
        <p:spPr>
          <a:xfrm>
            <a:off x="5056560" y="4107240"/>
            <a:ext cx="209376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Next.js frontend applications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44"/>
          <p:cNvSpPr/>
          <p:nvPr/>
        </p:nvSpPr>
        <p:spPr>
          <a:xfrm>
            <a:off x="7406640" y="1325880"/>
            <a:ext cx="4297320" cy="3245760"/>
          </a:xfrm>
          <a:prstGeom prst="roundRect">
            <a:avLst>
              <a:gd name="adj" fmla="val 2535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45"/>
          <p:cNvSpPr/>
          <p:nvPr/>
        </p:nvSpPr>
        <p:spPr>
          <a:xfrm>
            <a:off x="7680960" y="14904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637488"/>
                </a:solidFill>
                <a:latin typeface="Calibri"/>
                <a:ea typeface="Calibri"/>
              </a:rPr>
              <a:t>WHY THESE TWO STAND OUT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46"/>
          <p:cNvSpPr/>
          <p:nvPr/>
        </p:nvSpPr>
        <p:spPr>
          <a:xfrm>
            <a:off x="7680960" y="1874520"/>
            <a:ext cx="502560" cy="502560"/>
          </a:xfrm>
          <a:prstGeom prst="ellipse">
            <a:avLst/>
          </a:prstGeom>
          <a:solidFill>
            <a:srgbClr val="ee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Image 0" descr="/home/claude/icons/rocket.png"/>
          <p:cNvPicPr/>
          <p:nvPr/>
        </p:nvPicPr>
        <p:blipFill>
          <a:blip r:embed="rId1"/>
          <a:stretch/>
        </p:blipFill>
        <p:spPr>
          <a:xfrm>
            <a:off x="7746480" y="19400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398" name="Text 47"/>
          <p:cNvSpPr/>
          <p:nvPr/>
        </p:nvSpPr>
        <p:spPr>
          <a:xfrm>
            <a:off x="8321040" y="19386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2136"/>
                </a:solidFill>
                <a:latin typeface="Calibri"/>
                <a:ea typeface="Calibri"/>
              </a:rPr>
              <a:t>Cloud Run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48"/>
          <p:cNvSpPr/>
          <p:nvPr/>
        </p:nvSpPr>
        <p:spPr>
          <a:xfrm>
            <a:off x="7680960" y="233172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37488"/>
                </a:solidFill>
                <a:latin typeface="Calibri"/>
                <a:ea typeface="Calibri"/>
              </a:rPr>
              <a:t>Simplest migration path for existing Dockerized Python APIs — deploy the image as-is.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49"/>
          <p:cNvSpPr/>
          <p:nvPr/>
        </p:nvSpPr>
        <p:spPr>
          <a:xfrm>
            <a:off x="7680960" y="3200400"/>
            <a:ext cx="502560" cy="502560"/>
          </a:xfrm>
          <a:prstGeom prst="ellipse">
            <a:avLst/>
          </a:prstGeom>
          <a:solidFill>
            <a:srgbClr val="ee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1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7746480" y="326592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402" name="Text 50"/>
          <p:cNvSpPr/>
          <p:nvPr/>
        </p:nvSpPr>
        <p:spPr>
          <a:xfrm>
            <a:off x="8321040" y="3291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2136"/>
                </a:solidFill>
                <a:latin typeface="Calibri"/>
                <a:ea typeface="Calibri"/>
              </a:rPr>
              <a:t>Vercel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51"/>
          <p:cNvSpPr/>
          <p:nvPr/>
        </p:nvSpPr>
        <p:spPr>
          <a:xfrm>
            <a:off x="7680960" y="365760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37488"/>
                </a:solidFill>
                <a:latin typeface="Calibri"/>
                <a:ea typeface="Calibri"/>
              </a:rPr>
              <a:t>Purpose-built for Next.js: SSR, ISR, edge middleware and image optimization out of the box.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52"/>
          <p:cNvSpPr/>
          <p:nvPr/>
        </p:nvSpPr>
        <p:spPr>
          <a:xfrm>
            <a:off x="502920" y="4800600"/>
            <a:ext cx="11201040" cy="1444320"/>
          </a:xfrm>
          <a:prstGeom prst="roundRect">
            <a:avLst>
              <a:gd name="adj" fmla="val 5696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53"/>
          <p:cNvSpPr/>
          <p:nvPr/>
        </p:nvSpPr>
        <p:spPr>
          <a:xfrm>
            <a:off x="777240" y="49561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7dd3fc"/>
                </a:solidFill>
                <a:latin typeface="Calibri"/>
                <a:ea typeface="Calibri"/>
              </a:rPr>
              <a:t>BEST USE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54"/>
          <p:cNvSpPr/>
          <p:nvPr/>
        </p:nvSpPr>
        <p:spPr>
          <a:xfrm>
            <a:off x="777240" y="52578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Cloud Run:</a:t>
            </a:r>
            <a:r>
              <a:rPr b="0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  containerized FastAPI / Flask / Django services, internal tools, batch and event-driven APIs.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55"/>
          <p:cNvSpPr/>
          <p:nvPr/>
        </p:nvSpPr>
        <p:spPr>
          <a:xfrm>
            <a:off x="777240" y="562356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Vercel:</a:t>
            </a:r>
            <a:r>
              <a:rPr b="0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  customer-facing Next.js sites, marketing pages, dashboards needing fast global delivery.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56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GCP vs Vercel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57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07 / 14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COMPLEMENTARY &amp; EMERGING PLATFORMS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Cloudflare, Railway, Render &amp; Netlify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2"/>
          <p:cNvSpPr/>
          <p:nvPr/>
        </p:nvSpPr>
        <p:spPr>
          <a:xfrm>
            <a:off x="502920" y="1325880"/>
            <a:ext cx="2742840" cy="4891680"/>
          </a:xfrm>
          <a:prstGeom prst="roundRect">
            <a:avLst>
              <a:gd name="adj" fmla="val 3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3"/>
          <p:cNvSpPr/>
          <p:nvPr/>
        </p:nvSpPr>
        <p:spPr>
          <a:xfrm>
            <a:off x="1563480" y="1545480"/>
            <a:ext cx="621360" cy="62136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4" name="Image 0" descr="/home/claude/icons/globe.png"/>
          <p:cNvPicPr/>
          <p:nvPr/>
        </p:nvPicPr>
        <p:blipFill>
          <a:blip r:embed="rId1"/>
          <a:stretch/>
        </p:blipFill>
        <p:spPr>
          <a:xfrm>
            <a:off x="1719000" y="1700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415" name="Text 4"/>
          <p:cNvSpPr/>
          <p:nvPr/>
        </p:nvSpPr>
        <p:spPr>
          <a:xfrm>
            <a:off x="640080" y="2258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Cloudflare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640080" y="25693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Edge network, CDN &amp; security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6"/>
          <p:cNvSpPr/>
          <p:nvPr/>
        </p:nvSpPr>
        <p:spPr>
          <a:xfrm>
            <a:off x="704160" y="29534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7"/>
          <p:cNvSpPr/>
          <p:nvPr/>
        </p:nvSpPr>
        <p:spPr>
          <a:xfrm>
            <a:off x="704160" y="313632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Workers  •  Pages  •  D1  •  R2 Storage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704160" y="37490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704160" y="393192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Lowest latency; DDoS &amp; WAF protection built 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704160" y="452628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704160" y="4709160"/>
            <a:ext cx="249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Python support less mature than hyperscalers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12"/>
          <p:cNvSpPr/>
          <p:nvPr/>
        </p:nvSpPr>
        <p:spPr>
          <a:xfrm>
            <a:off x="667440" y="5486400"/>
            <a:ext cx="2413800" cy="56664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3"/>
          <p:cNvSpPr/>
          <p:nvPr/>
        </p:nvSpPr>
        <p:spPr>
          <a:xfrm>
            <a:off x="758880" y="5486400"/>
            <a:ext cx="223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Pair with a primary cloud for edge + CDN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4"/>
          <p:cNvSpPr/>
          <p:nvPr/>
        </p:nvSpPr>
        <p:spPr>
          <a:xfrm>
            <a:off x="3364920" y="1325880"/>
            <a:ext cx="2742840" cy="4891680"/>
          </a:xfrm>
          <a:prstGeom prst="roundRect">
            <a:avLst>
              <a:gd name="adj" fmla="val 3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4425840" y="1545480"/>
            <a:ext cx="621360" cy="6213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7" name="Image 1" descr="/home/claude/icons/rocket.png"/>
          <p:cNvPicPr/>
          <p:nvPr/>
        </p:nvPicPr>
        <p:blipFill>
          <a:blip r:embed="rId2"/>
          <a:stretch/>
        </p:blipFill>
        <p:spPr>
          <a:xfrm>
            <a:off x="4581000" y="1700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428" name="Text 16"/>
          <p:cNvSpPr/>
          <p:nvPr/>
        </p:nvSpPr>
        <p:spPr>
          <a:xfrm>
            <a:off x="3502080" y="2258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Railway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3502080" y="25693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Developer-first PaaS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18"/>
          <p:cNvSpPr/>
          <p:nvPr/>
        </p:nvSpPr>
        <p:spPr>
          <a:xfrm>
            <a:off x="3566160" y="29534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9"/>
          <p:cNvSpPr/>
          <p:nvPr/>
        </p:nvSpPr>
        <p:spPr>
          <a:xfrm>
            <a:off x="3566160" y="320040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Git Deploys  •  Managed Postgres/Redis  •  Python Workers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0"/>
          <p:cNvSpPr/>
          <p:nvPr/>
        </p:nvSpPr>
        <p:spPr>
          <a:xfrm>
            <a:off x="3566160" y="37490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21"/>
          <p:cNvSpPr/>
          <p:nvPr/>
        </p:nvSpPr>
        <p:spPr>
          <a:xfrm>
            <a:off x="3566160" y="393192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Extremely fast Git-based deploys, minimal config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22"/>
          <p:cNvSpPr/>
          <p:nvPr/>
        </p:nvSpPr>
        <p:spPr>
          <a:xfrm>
            <a:off x="3566160" y="452628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3"/>
          <p:cNvSpPr/>
          <p:nvPr/>
        </p:nvSpPr>
        <p:spPr>
          <a:xfrm>
            <a:off x="3566160" y="470916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Limited enterprise governance &amp; compliance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24"/>
          <p:cNvSpPr/>
          <p:nvPr/>
        </p:nvSpPr>
        <p:spPr>
          <a:xfrm>
            <a:off x="3529440" y="5486400"/>
            <a:ext cx="2413800" cy="56664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25"/>
          <p:cNvSpPr/>
          <p:nvPr/>
        </p:nvSpPr>
        <p:spPr>
          <a:xfrm>
            <a:off x="3620880" y="5486400"/>
            <a:ext cx="223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Startups, MVPs, internal tools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26"/>
          <p:cNvSpPr/>
          <p:nvPr/>
        </p:nvSpPr>
        <p:spPr>
          <a:xfrm>
            <a:off x="6226920" y="1325880"/>
            <a:ext cx="2742840" cy="4891680"/>
          </a:xfrm>
          <a:prstGeom prst="roundRect">
            <a:avLst>
              <a:gd name="adj" fmla="val 3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27"/>
          <p:cNvSpPr/>
          <p:nvPr/>
        </p:nvSpPr>
        <p:spPr>
          <a:xfrm>
            <a:off x="7287840" y="1545480"/>
            <a:ext cx="621360" cy="6213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0" name="Image 2" descr="/home/claude/icons/layer.png"/>
          <p:cNvPicPr/>
          <p:nvPr/>
        </p:nvPicPr>
        <p:blipFill>
          <a:blip r:embed="rId3"/>
          <a:stretch/>
        </p:blipFill>
        <p:spPr>
          <a:xfrm>
            <a:off x="7443360" y="1700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441" name="Text 28"/>
          <p:cNvSpPr/>
          <p:nvPr/>
        </p:nvSpPr>
        <p:spPr>
          <a:xfrm>
            <a:off x="6364080" y="2258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Render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29"/>
          <p:cNvSpPr/>
          <p:nvPr/>
        </p:nvSpPr>
        <p:spPr>
          <a:xfrm>
            <a:off x="6364080" y="25693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Managed app &amp; DB hosting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30"/>
          <p:cNvSpPr/>
          <p:nvPr/>
        </p:nvSpPr>
        <p:spPr>
          <a:xfrm>
            <a:off x="6428160" y="29534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1"/>
          <p:cNvSpPr/>
          <p:nvPr/>
        </p:nvSpPr>
        <p:spPr>
          <a:xfrm>
            <a:off x="6428160" y="320040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Web Services  •  Background Workers  •  Managed DBs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32"/>
          <p:cNvSpPr/>
          <p:nvPr/>
        </p:nvSpPr>
        <p:spPr>
          <a:xfrm>
            <a:off x="6428160" y="37490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33"/>
          <p:cNvSpPr/>
          <p:nvPr/>
        </p:nvSpPr>
        <p:spPr>
          <a:xfrm>
            <a:off x="6428160" y="393192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Simple, predictable deployments from Git or Docker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34"/>
          <p:cNvSpPr/>
          <p:nvPr/>
        </p:nvSpPr>
        <p:spPr>
          <a:xfrm>
            <a:off x="6428160" y="452628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35"/>
          <p:cNvSpPr/>
          <p:nvPr/>
        </p:nvSpPr>
        <p:spPr>
          <a:xfrm>
            <a:off x="6428160" y="470916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Below hyperscaler enterprise scale &amp; ecosystem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36"/>
          <p:cNvSpPr/>
          <p:nvPr/>
        </p:nvSpPr>
        <p:spPr>
          <a:xfrm>
            <a:off x="6391800" y="5486400"/>
            <a:ext cx="2413800" cy="56664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37"/>
          <p:cNvSpPr/>
          <p:nvPr/>
        </p:nvSpPr>
        <p:spPr>
          <a:xfrm>
            <a:off x="6483240" y="5486400"/>
            <a:ext cx="223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Small-to-medium cloud applications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38"/>
          <p:cNvSpPr/>
          <p:nvPr/>
        </p:nvSpPr>
        <p:spPr>
          <a:xfrm>
            <a:off x="9089280" y="1325880"/>
            <a:ext cx="2742840" cy="4891680"/>
          </a:xfrm>
          <a:prstGeom prst="roundRect">
            <a:avLst>
              <a:gd name="adj" fmla="val 3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39"/>
          <p:cNvSpPr/>
          <p:nvPr/>
        </p:nvSpPr>
        <p:spPr>
          <a:xfrm>
            <a:off x="10149840" y="1545480"/>
            <a:ext cx="621360" cy="6213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3" name="Image 3" descr="/home/claude/icons/code.png"/>
          <p:cNvPicPr/>
          <p:nvPr/>
        </p:nvPicPr>
        <p:blipFill>
          <a:blip r:embed="rId4"/>
          <a:stretch/>
        </p:blipFill>
        <p:spPr>
          <a:xfrm>
            <a:off x="10305360" y="17006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454" name="Text 40"/>
          <p:cNvSpPr/>
          <p:nvPr/>
        </p:nvSpPr>
        <p:spPr>
          <a:xfrm>
            <a:off x="9226440" y="2258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Netlify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41"/>
          <p:cNvSpPr/>
          <p:nvPr/>
        </p:nvSpPr>
        <p:spPr>
          <a:xfrm>
            <a:off x="9226440" y="25693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Frontend / JAMstack hosting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42"/>
          <p:cNvSpPr/>
          <p:nvPr/>
        </p:nvSpPr>
        <p:spPr>
          <a:xfrm>
            <a:off x="9290160" y="29534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43"/>
          <p:cNvSpPr/>
          <p:nvPr/>
        </p:nvSpPr>
        <p:spPr>
          <a:xfrm>
            <a:off x="9290160" y="3200400"/>
            <a:ext cx="234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Static Hosting  •  Edge Functions  •  Forms  •  Identity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44"/>
          <p:cNvSpPr/>
          <p:nvPr/>
        </p:nvSpPr>
        <p:spPr>
          <a:xfrm>
            <a:off x="9290160" y="374904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45"/>
          <p:cNvSpPr/>
          <p:nvPr/>
        </p:nvSpPr>
        <p:spPr>
          <a:xfrm>
            <a:off x="9290160" y="393192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Best-in-class static &amp; SSR hosting workflow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46"/>
          <p:cNvSpPr/>
          <p:nvPr/>
        </p:nvSpPr>
        <p:spPr>
          <a:xfrm>
            <a:off x="9290160" y="4526280"/>
            <a:ext cx="2340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47"/>
          <p:cNvSpPr/>
          <p:nvPr/>
        </p:nvSpPr>
        <p:spPr>
          <a:xfrm>
            <a:off x="9290160" y="4709160"/>
            <a:ext cx="234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Not built for large Python backends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48"/>
          <p:cNvSpPr/>
          <p:nvPr/>
        </p:nvSpPr>
        <p:spPr>
          <a:xfrm>
            <a:off x="9253800" y="5486400"/>
            <a:ext cx="2413800" cy="56664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49"/>
          <p:cNvSpPr/>
          <p:nvPr/>
        </p:nvSpPr>
        <p:spPr>
          <a:xfrm>
            <a:off x="9345240" y="5486400"/>
            <a:ext cx="223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Static sites &amp; frontend hosting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50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Cloudflare, Railway, Render &amp; Netlify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51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08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ECONOMICS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Pricing &amp; Cost Comparison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502920" y="1325880"/>
            <a:ext cx="5394600" cy="3977280"/>
          </a:xfrm>
          <a:prstGeom prst="roundRect">
            <a:avLst>
              <a:gd name="adj" fmla="val 2069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777240" y="148140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7" strike="noStrike">
                <a:solidFill>
                  <a:srgbClr val="93aac7"/>
                </a:solidFill>
                <a:latin typeface="Calibri"/>
                <a:ea typeface="Calibri"/>
              </a:rPr>
              <a:t>PRICING PHILOSOPHY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777240" y="1874520"/>
            <a:ext cx="502560" cy="502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1" name="Image 0" descr="/home/claude/icons/dollar.png"/>
          <p:cNvPicPr/>
          <p:nvPr/>
        </p:nvPicPr>
        <p:blipFill>
          <a:blip r:embed="rId1"/>
          <a:stretch/>
        </p:blipFill>
        <p:spPr>
          <a:xfrm>
            <a:off x="842760" y="19400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472" name="Text 5"/>
          <p:cNvSpPr/>
          <p:nvPr/>
        </p:nvSpPr>
        <p:spPr>
          <a:xfrm>
            <a:off x="1417320" y="18561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Consumption-Based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1417320" y="2011680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All platforms bill primarily by requests, execution time, memory and bandwidth — not reserved capacity.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777240" y="3017520"/>
            <a:ext cx="502560" cy="502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5" name="Image 1" descr="/home/claude/icons/clock.png"/>
          <p:cNvPicPr/>
          <p:nvPr/>
        </p:nvPicPr>
        <p:blipFill>
          <a:blip r:embed="rId2"/>
          <a:stretch/>
        </p:blipFill>
        <p:spPr>
          <a:xfrm>
            <a:off x="842760" y="30830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476" name="Text 8"/>
          <p:cNvSpPr/>
          <p:nvPr/>
        </p:nvSpPr>
        <p:spPr>
          <a:xfrm>
            <a:off x="1417320" y="29991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Scale-to-Zero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1417320" y="3154680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Azure, AWS, GCP, Vercel, Cloudflare, Railway &amp; Netlify all reduce idle workloads toward zero cost.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777240" y="4160520"/>
            <a:ext cx="502560" cy="50256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9" name="Image 2" descr="/home/claude/icons/gauge.png"/>
          <p:cNvPicPr/>
          <p:nvPr/>
        </p:nvPicPr>
        <p:blipFill>
          <a:blip r:embed="rId3"/>
          <a:stretch/>
        </p:blipFill>
        <p:spPr>
          <a:xfrm>
            <a:off x="842760" y="4226040"/>
            <a:ext cx="371880" cy="371880"/>
          </a:xfrm>
          <a:prstGeom prst="rect">
            <a:avLst/>
          </a:prstGeom>
          <a:ln w="0">
            <a:noFill/>
          </a:ln>
        </p:spPr>
      </p:pic>
      <p:sp>
        <p:nvSpPr>
          <p:cNvPr id="480" name="Text 11"/>
          <p:cNvSpPr/>
          <p:nvPr/>
        </p:nvSpPr>
        <p:spPr>
          <a:xfrm>
            <a:off x="1417320" y="41421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Free Tiers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2"/>
          <p:cNvSpPr/>
          <p:nvPr/>
        </p:nvSpPr>
        <p:spPr>
          <a:xfrm>
            <a:off x="1417320" y="4297680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Every shortlisted platform offers a free or trial tier suitable for evaluation and small workloads.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13"/>
          <p:cNvSpPr/>
          <p:nvPr/>
        </p:nvSpPr>
        <p:spPr>
          <a:xfrm>
            <a:off x="6035040" y="1325880"/>
            <a:ext cx="5668920" cy="2331360"/>
          </a:xfrm>
          <a:prstGeom prst="roundRect">
            <a:avLst>
              <a:gd name="adj" fmla="val 3529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14"/>
          <p:cNvSpPr/>
          <p:nvPr/>
        </p:nvSpPr>
        <p:spPr>
          <a:xfrm>
            <a:off x="6309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9" strike="noStrike">
                <a:solidFill>
                  <a:srgbClr val="93aac7"/>
                </a:solidFill>
                <a:latin typeface="Calibri"/>
                <a:ea typeface="Calibri"/>
              </a:rPr>
              <a:t>COST EFFICIENCY — LOW-TRAFFIC WORKLOADS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15"/>
          <p:cNvSpPr/>
          <p:nvPr/>
        </p:nvSpPr>
        <p:spPr>
          <a:xfrm>
            <a:off x="6309360" y="1874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Railway / Render / Netlify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16"/>
          <p:cNvSpPr/>
          <p:nvPr/>
        </p:nvSpPr>
        <p:spPr>
          <a:xfrm>
            <a:off x="8823960" y="1929240"/>
            <a:ext cx="2605680" cy="17352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17"/>
          <p:cNvSpPr/>
          <p:nvPr/>
        </p:nvSpPr>
        <p:spPr>
          <a:xfrm>
            <a:off x="8823960" y="1929240"/>
            <a:ext cx="2475360" cy="173520"/>
          </a:xfrm>
          <a:prstGeom prst="roundRect">
            <a:avLst>
              <a:gd name="adj" fmla="val 47368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18"/>
          <p:cNvSpPr/>
          <p:nvPr/>
        </p:nvSpPr>
        <p:spPr>
          <a:xfrm>
            <a:off x="6309360" y="22402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Cloudflare Workers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19"/>
          <p:cNvSpPr/>
          <p:nvPr/>
        </p:nvSpPr>
        <p:spPr>
          <a:xfrm>
            <a:off x="8823960" y="2295000"/>
            <a:ext cx="2605680" cy="17352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20"/>
          <p:cNvSpPr/>
          <p:nvPr/>
        </p:nvSpPr>
        <p:spPr>
          <a:xfrm>
            <a:off x="8823960" y="2295000"/>
            <a:ext cx="2345040" cy="173520"/>
          </a:xfrm>
          <a:prstGeom prst="roundRect">
            <a:avLst>
              <a:gd name="adj" fmla="val 47368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21"/>
          <p:cNvSpPr/>
          <p:nvPr/>
        </p:nvSpPr>
        <p:spPr>
          <a:xfrm>
            <a:off x="6309360" y="26060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Vercel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22"/>
          <p:cNvSpPr/>
          <p:nvPr/>
        </p:nvSpPr>
        <p:spPr>
          <a:xfrm>
            <a:off x="8823960" y="2660760"/>
            <a:ext cx="2605680" cy="17352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23"/>
          <p:cNvSpPr/>
          <p:nvPr/>
        </p:nvSpPr>
        <p:spPr>
          <a:xfrm>
            <a:off x="8823960" y="2660760"/>
            <a:ext cx="2214720" cy="173520"/>
          </a:xfrm>
          <a:prstGeom prst="roundRect">
            <a:avLst>
              <a:gd name="adj" fmla="val 47368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24"/>
          <p:cNvSpPr/>
          <p:nvPr/>
        </p:nvSpPr>
        <p:spPr>
          <a:xfrm>
            <a:off x="6309360" y="29718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Google Cloud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25"/>
          <p:cNvSpPr/>
          <p:nvPr/>
        </p:nvSpPr>
        <p:spPr>
          <a:xfrm>
            <a:off x="8823960" y="3026520"/>
            <a:ext cx="2605680" cy="17352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26"/>
          <p:cNvSpPr/>
          <p:nvPr/>
        </p:nvSpPr>
        <p:spPr>
          <a:xfrm>
            <a:off x="8823960" y="3026520"/>
            <a:ext cx="2136600" cy="173520"/>
          </a:xfrm>
          <a:prstGeom prst="roundRect">
            <a:avLst>
              <a:gd name="adj" fmla="val 47368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27"/>
          <p:cNvSpPr/>
          <p:nvPr/>
        </p:nvSpPr>
        <p:spPr>
          <a:xfrm>
            <a:off x="6309360" y="33375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Azure / AWS Functions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28"/>
          <p:cNvSpPr/>
          <p:nvPr/>
        </p:nvSpPr>
        <p:spPr>
          <a:xfrm>
            <a:off x="8823960" y="3392280"/>
            <a:ext cx="2605680" cy="17352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29"/>
          <p:cNvSpPr/>
          <p:nvPr/>
        </p:nvSpPr>
        <p:spPr>
          <a:xfrm>
            <a:off x="8823960" y="3392280"/>
            <a:ext cx="2032200" cy="173520"/>
          </a:xfrm>
          <a:prstGeom prst="roundRect">
            <a:avLst>
              <a:gd name="adj" fmla="val 47368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30"/>
          <p:cNvSpPr/>
          <p:nvPr/>
        </p:nvSpPr>
        <p:spPr>
          <a:xfrm>
            <a:off x="6035040" y="3794760"/>
            <a:ext cx="5668920" cy="1508400"/>
          </a:xfrm>
          <a:prstGeom prst="roundRect">
            <a:avLst>
              <a:gd name="adj" fmla="val 5455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31"/>
          <p:cNvSpPr/>
          <p:nvPr/>
        </p:nvSpPr>
        <p:spPr>
          <a:xfrm>
            <a:off x="6309360" y="3931920"/>
            <a:ext cx="5120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891b2"/>
                </a:solidFill>
                <a:latin typeface="Calibri"/>
                <a:ea typeface="Calibri"/>
              </a:rPr>
              <a:t>MOST ECONOMICAL BY ORGANIZATION SIZE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32"/>
          <p:cNvSpPr/>
          <p:nvPr/>
        </p:nvSpPr>
        <p:spPr>
          <a:xfrm>
            <a:off x="6309360" y="42246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Startups / MVPs: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33"/>
          <p:cNvSpPr/>
          <p:nvPr/>
        </p:nvSpPr>
        <p:spPr>
          <a:xfrm>
            <a:off x="8229600" y="42246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3445a"/>
                </a:solidFill>
                <a:latin typeface="Calibri"/>
                <a:ea typeface="Calibri"/>
              </a:rPr>
              <a:t>Railway, Render, Netlify, Vercel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34"/>
          <p:cNvSpPr/>
          <p:nvPr/>
        </p:nvSpPr>
        <p:spPr>
          <a:xfrm>
            <a:off x="6309360" y="45536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Enterprise scale: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35"/>
          <p:cNvSpPr/>
          <p:nvPr/>
        </p:nvSpPr>
        <p:spPr>
          <a:xfrm>
            <a:off x="8229600" y="45536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3445a"/>
                </a:solidFill>
                <a:latin typeface="Calibri"/>
                <a:ea typeface="Calibri"/>
              </a:rPr>
              <a:t>Azure, AWS, Google Cloud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6"/>
          <p:cNvSpPr/>
          <p:nvPr/>
        </p:nvSpPr>
        <p:spPr>
          <a:xfrm>
            <a:off x="6309360" y="488304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Global / low-latency: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37"/>
          <p:cNvSpPr/>
          <p:nvPr/>
        </p:nvSpPr>
        <p:spPr>
          <a:xfrm>
            <a:off x="8229600" y="48830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3445a"/>
                </a:solidFill>
                <a:latin typeface="Calibri"/>
                <a:ea typeface="Calibri"/>
              </a:rPr>
              <a:t>Cloudflare (as a complement)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38"/>
          <p:cNvSpPr/>
          <p:nvPr/>
        </p:nvSpPr>
        <p:spPr>
          <a:xfrm>
            <a:off x="502920" y="5468040"/>
            <a:ext cx="11201040" cy="776880"/>
          </a:xfrm>
          <a:prstGeom prst="roundRect">
            <a:avLst>
              <a:gd name="adj" fmla="val 10588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8" name="Image 3" descr="/home/claude/icons/check.png"/>
          <p:cNvPicPr/>
          <p:nvPr/>
        </p:nvPicPr>
        <p:blipFill>
          <a:blip r:embed="rId4"/>
          <a:stretch/>
        </p:blipFill>
        <p:spPr>
          <a:xfrm>
            <a:off x="713160" y="5650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09" name="Text 39"/>
          <p:cNvSpPr/>
          <p:nvPr/>
        </p:nvSpPr>
        <p:spPr>
          <a:xfrm>
            <a:off x="1143000" y="546804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Scale-to-zero is the single biggest lever for low-traffic internal tools — idle applications generate near-zero compute cost across every shortlisted platform.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40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Pricing &amp; Cost Comparison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41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09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a5e9"/>
                </a:solidFill>
                <a:latin typeface="Calibri"/>
                <a:ea typeface="Calibri"/>
              </a:rPr>
              <a:t>FULL PICTURE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Platform Comparison Matrix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"/>
          <p:cNvSpPr/>
          <p:nvPr/>
        </p:nvSpPr>
        <p:spPr>
          <a:xfrm>
            <a:off x="502920" y="1371600"/>
            <a:ext cx="1599840" cy="456840"/>
          </a:xfrm>
          <a:prstGeom prst="rect">
            <a:avLst/>
          </a:prstGeom>
          <a:solidFill>
            <a:srgbClr val="0a1e3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5576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Platform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2103120" y="1371600"/>
            <a:ext cx="1599840" cy="45684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5"/>
          <p:cNvSpPr/>
          <p:nvPr/>
        </p:nvSpPr>
        <p:spPr>
          <a:xfrm>
            <a:off x="21578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Python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3703320" y="1371600"/>
            <a:ext cx="1599840" cy="45684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7"/>
          <p:cNvSpPr/>
          <p:nvPr/>
        </p:nvSpPr>
        <p:spPr>
          <a:xfrm>
            <a:off x="37580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Next.js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8"/>
          <p:cNvSpPr/>
          <p:nvPr/>
        </p:nvSpPr>
        <p:spPr>
          <a:xfrm>
            <a:off x="5303520" y="1371600"/>
            <a:ext cx="1599840" cy="45684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9"/>
          <p:cNvSpPr/>
          <p:nvPr/>
        </p:nvSpPr>
        <p:spPr>
          <a:xfrm>
            <a:off x="53582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0"/>
          <p:cNvSpPr/>
          <p:nvPr/>
        </p:nvSpPr>
        <p:spPr>
          <a:xfrm>
            <a:off x="6903720" y="1371600"/>
            <a:ext cx="1599840" cy="45684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1"/>
          <p:cNvSpPr/>
          <p:nvPr/>
        </p:nvSpPr>
        <p:spPr>
          <a:xfrm>
            <a:off x="69584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Enterprise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12"/>
          <p:cNvSpPr/>
          <p:nvPr/>
        </p:nvSpPr>
        <p:spPr>
          <a:xfrm>
            <a:off x="8503920" y="1371600"/>
            <a:ext cx="1599840" cy="45684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13"/>
          <p:cNvSpPr/>
          <p:nvPr/>
        </p:nvSpPr>
        <p:spPr>
          <a:xfrm>
            <a:off x="85586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Dev Experience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4"/>
          <p:cNvSpPr/>
          <p:nvPr/>
        </p:nvSpPr>
        <p:spPr>
          <a:xfrm>
            <a:off x="10104120" y="1371600"/>
            <a:ext cx="1599840" cy="456840"/>
          </a:xfrm>
          <a:prstGeom prst="rect">
            <a:avLst/>
          </a:prstGeom>
          <a:solidFill>
            <a:srgbClr val="0891b2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5"/>
          <p:cNvSpPr/>
          <p:nvPr/>
        </p:nvSpPr>
        <p:spPr>
          <a:xfrm>
            <a:off x="10158840" y="1371600"/>
            <a:ext cx="149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Best Use Case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6"/>
          <p:cNvSpPr/>
          <p:nvPr/>
        </p:nvSpPr>
        <p:spPr>
          <a:xfrm>
            <a:off x="5029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17"/>
          <p:cNvSpPr/>
          <p:nvPr/>
        </p:nvSpPr>
        <p:spPr>
          <a:xfrm>
            <a:off x="5760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Microsoft Azure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8"/>
          <p:cNvSpPr/>
          <p:nvPr/>
        </p:nvSpPr>
        <p:spPr>
          <a:xfrm>
            <a:off x="21031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19"/>
          <p:cNvSpPr/>
          <p:nvPr/>
        </p:nvSpPr>
        <p:spPr>
          <a:xfrm>
            <a:off x="21762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0"/>
          <p:cNvSpPr/>
          <p:nvPr/>
        </p:nvSpPr>
        <p:spPr>
          <a:xfrm>
            <a:off x="37033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21"/>
          <p:cNvSpPr/>
          <p:nvPr/>
        </p:nvSpPr>
        <p:spPr>
          <a:xfrm>
            <a:off x="37764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22"/>
          <p:cNvSpPr/>
          <p:nvPr/>
        </p:nvSpPr>
        <p:spPr>
          <a:xfrm>
            <a:off x="53035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23"/>
          <p:cNvSpPr/>
          <p:nvPr/>
        </p:nvSpPr>
        <p:spPr>
          <a:xfrm>
            <a:off x="53766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4"/>
          <p:cNvSpPr/>
          <p:nvPr/>
        </p:nvSpPr>
        <p:spPr>
          <a:xfrm>
            <a:off x="69037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5"/>
          <p:cNvSpPr/>
          <p:nvPr/>
        </p:nvSpPr>
        <p:spPr>
          <a:xfrm>
            <a:off x="69768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6"/>
          <p:cNvSpPr/>
          <p:nvPr/>
        </p:nvSpPr>
        <p:spPr>
          <a:xfrm>
            <a:off x="85039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27"/>
          <p:cNvSpPr/>
          <p:nvPr/>
        </p:nvSpPr>
        <p:spPr>
          <a:xfrm>
            <a:off x="85770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8"/>
          <p:cNvSpPr/>
          <p:nvPr/>
        </p:nvSpPr>
        <p:spPr>
          <a:xfrm>
            <a:off x="10104120" y="182880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29"/>
          <p:cNvSpPr/>
          <p:nvPr/>
        </p:nvSpPr>
        <p:spPr>
          <a:xfrm>
            <a:off x="10177200" y="18288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Enterprise Python services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30"/>
          <p:cNvSpPr/>
          <p:nvPr/>
        </p:nvSpPr>
        <p:spPr>
          <a:xfrm>
            <a:off x="5029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31"/>
          <p:cNvSpPr/>
          <p:nvPr/>
        </p:nvSpPr>
        <p:spPr>
          <a:xfrm>
            <a:off x="5760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AWS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32"/>
          <p:cNvSpPr/>
          <p:nvPr/>
        </p:nvSpPr>
        <p:spPr>
          <a:xfrm>
            <a:off x="21031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33"/>
          <p:cNvSpPr/>
          <p:nvPr/>
        </p:nvSpPr>
        <p:spPr>
          <a:xfrm>
            <a:off x="21762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34"/>
          <p:cNvSpPr/>
          <p:nvPr/>
        </p:nvSpPr>
        <p:spPr>
          <a:xfrm>
            <a:off x="37033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35"/>
          <p:cNvSpPr/>
          <p:nvPr/>
        </p:nvSpPr>
        <p:spPr>
          <a:xfrm>
            <a:off x="37764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6"/>
          <p:cNvSpPr/>
          <p:nvPr/>
        </p:nvSpPr>
        <p:spPr>
          <a:xfrm>
            <a:off x="53035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37"/>
          <p:cNvSpPr/>
          <p:nvPr/>
        </p:nvSpPr>
        <p:spPr>
          <a:xfrm>
            <a:off x="53766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8"/>
          <p:cNvSpPr/>
          <p:nvPr/>
        </p:nvSpPr>
        <p:spPr>
          <a:xfrm>
            <a:off x="69037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39"/>
          <p:cNvSpPr/>
          <p:nvPr/>
        </p:nvSpPr>
        <p:spPr>
          <a:xfrm>
            <a:off x="69768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40"/>
          <p:cNvSpPr/>
          <p:nvPr/>
        </p:nvSpPr>
        <p:spPr>
          <a:xfrm>
            <a:off x="85039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41"/>
          <p:cNvSpPr/>
          <p:nvPr/>
        </p:nvSpPr>
        <p:spPr>
          <a:xfrm>
            <a:off x="85770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42"/>
          <p:cNvSpPr/>
          <p:nvPr/>
        </p:nvSpPr>
        <p:spPr>
          <a:xfrm>
            <a:off x="10104120" y="240372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43"/>
          <p:cNvSpPr/>
          <p:nvPr/>
        </p:nvSpPr>
        <p:spPr>
          <a:xfrm>
            <a:off x="10177200" y="240372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Cloud-native enterprise apps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44"/>
          <p:cNvSpPr/>
          <p:nvPr/>
        </p:nvSpPr>
        <p:spPr>
          <a:xfrm>
            <a:off x="5029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45"/>
          <p:cNvSpPr/>
          <p:nvPr/>
        </p:nvSpPr>
        <p:spPr>
          <a:xfrm>
            <a:off x="5760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Google Cloud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46"/>
          <p:cNvSpPr/>
          <p:nvPr/>
        </p:nvSpPr>
        <p:spPr>
          <a:xfrm>
            <a:off x="21031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47"/>
          <p:cNvSpPr/>
          <p:nvPr/>
        </p:nvSpPr>
        <p:spPr>
          <a:xfrm>
            <a:off x="21762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8"/>
          <p:cNvSpPr/>
          <p:nvPr/>
        </p:nvSpPr>
        <p:spPr>
          <a:xfrm>
            <a:off x="37033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49"/>
          <p:cNvSpPr/>
          <p:nvPr/>
        </p:nvSpPr>
        <p:spPr>
          <a:xfrm>
            <a:off x="37764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50"/>
          <p:cNvSpPr/>
          <p:nvPr/>
        </p:nvSpPr>
        <p:spPr>
          <a:xfrm>
            <a:off x="53035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51"/>
          <p:cNvSpPr/>
          <p:nvPr/>
        </p:nvSpPr>
        <p:spPr>
          <a:xfrm>
            <a:off x="53766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52"/>
          <p:cNvSpPr/>
          <p:nvPr/>
        </p:nvSpPr>
        <p:spPr>
          <a:xfrm>
            <a:off x="69037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53"/>
          <p:cNvSpPr/>
          <p:nvPr/>
        </p:nvSpPr>
        <p:spPr>
          <a:xfrm>
            <a:off x="69768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54"/>
          <p:cNvSpPr/>
          <p:nvPr/>
        </p:nvSpPr>
        <p:spPr>
          <a:xfrm>
            <a:off x="85039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55"/>
          <p:cNvSpPr/>
          <p:nvPr/>
        </p:nvSpPr>
        <p:spPr>
          <a:xfrm>
            <a:off x="85770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56"/>
          <p:cNvSpPr/>
          <p:nvPr/>
        </p:nvSpPr>
        <p:spPr>
          <a:xfrm>
            <a:off x="10104120" y="297828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57"/>
          <p:cNvSpPr/>
          <p:nvPr/>
        </p:nvSpPr>
        <p:spPr>
          <a:xfrm>
            <a:off x="10177200" y="29782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Containerized Python apps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58"/>
          <p:cNvSpPr/>
          <p:nvPr/>
        </p:nvSpPr>
        <p:spPr>
          <a:xfrm>
            <a:off x="5029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59"/>
          <p:cNvSpPr/>
          <p:nvPr/>
        </p:nvSpPr>
        <p:spPr>
          <a:xfrm>
            <a:off x="5760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Vercel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60"/>
          <p:cNvSpPr/>
          <p:nvPr/>
        </p:nvSpPr>
        <p:spPr>
          <a:xfrm>
            <a:off x="21031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61"/>
          <p:cNvSpPr/>
          <p:nvPr/>
        </p:nvSpPr>
        <p:spPr>
          <a:xfrm>
            <a:off x="21762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62"/>
          <p:cNvSpPr/>
          <p:nvPr/>
        </p:nvSpPr>
        <p:spPr>
          <a:xfrm>
            <a:off x="37033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63"/>
          <p:cNvSpPr/>
          <p:nvPr/>
        </p:nvSpPr>
        <p:spPr>
          <a:xfrm>
            <a:off x="37764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64"/>
          <p:cNvSpPr/>
          <p:nvPr/>
        </p:nvSpPr>
        <p:spPr>
          <a:xfrm>
            <a:off x="53035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65"/>
          <p:cNvSpPr/>
          <p:nvPr/>
        </p:nvSpPr>
        <p:spPr>
          <a:xfrm>
            <a:off x="53766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66"/>
          <p:cNvSpPr/>
          <p:nvPr/>
        </p:nvSpPr>
        <p:spPr>
          <a:xfrm>
            <a:off x="69037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67"/>
          <p:cNvSpPr/>
          <p:nvPr/>
        </p:nvSpPr>
        <p:spPr>
          <a:xfrm>
            <a:off x="69768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68"/>
          <p:cNvSpPr/>
          <p:nvPr/>
        </p:nvSpPr>
        <p:spPr>
          <a:xfrm>
            <a:off x="85039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69"/>
          <p:cNvSpPr/>
          <p:nvPr/>
        </p:nvSpPr>
        <p:spPr>
          <a:xfrm>
            <a:off x="85770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70"/>
          <p:cNvSpPr/>
          <p:nvPr/>
        </p:nvSpPr>
        <p:spPr>
          <a:xfrm>
            <a:off x="10104120" y="355320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71"/>
          <p:cNvSpPr/>
          <p:nvPr/>
        </p:nvSpPr>
        <p:spPr>
          <a:xfrm>
            <a:off x="10177200" y="355320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Next.js frontend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72"/>
          <p:cNvSpPr/>
          <p:nvPr/>
        </p:nvSpPr>
        <p:spPr>
          <a:xfrm>
            <a:off x="5029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73"/>
          <p:cNvSpPr/>
          <p:nvPr/>
        </p:nvSpPr>
        <p:spPr>
          <a:xfrm>
            <a:off x="5760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Cloudflare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74"/>
          <p:cNvSpPr/>
          <p:nvPr/>
        </p:nvSpPr>
        <p:spPr>
          <a:xfrm>
            <a:off x="21031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75"/>
          <p:cNvSpPr/>
          <p:nvPr/>
        </p:nvSpPr>
        <p:spPr>
          <a:xfrm>
            <a:off x="21762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76"/>
          <p:cNvSpPr/>
          <p:nvPr/>
        </p:nvSpPr>
        <p:spPr>
          <a:xfrm>
            <a:off x="37033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77"/>
          <p:cNvSpPr/>
          <p:nvPr/>
        </p:nvSpPr>
        <p:spPr>
          <a:xfrm>
            <a:off x="37764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78"/>
          <p:cNvSpPr/>
          <p:nvPr/>
        </p:nvSpPr>
        <p:spPr>
          <a:xfrm>
            <a:off x="53035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79"/>
          <p:cNvSpPr/>
          <p:nvPr/>
        </p:nvSpPr>
        <p:spPr>
          <a:xfrm>
            <a:off x="53766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80"/>
          <p:cNvSpPr/>
          <p:nvPr/>
        </p:nvSpPr>
        <p:spPr>
          <a:xfrm>
            <a:off x="69037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81"/>
          <p:cNvSpPr/>
          <p:nvPr/>
        </p:nvSpPr>
        <p:spPr>
          <a:xfrm>
            <a:off x="69768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82"/>
          <p:cNvSpPr/>
          <p:nvPr/>
        </p:nvSpPr>
        <p:spPr>
          <a:xfrm>
            <a:off x="85039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83"/>
          <p:cNvSpPr/>
          <p:nvPr/>
        </p:nvSpPr>
        <p:spPr>
          <a:xfrm>
            <a:off x="85770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84"/>
          <p:cNvSpPr/>
          <p:nvPr/>
        </p:nvSpPr>
        <p:spPr>
          <a:xfrm>
            <a:off x="10104120" y="412776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85"/>
          <p:cNvSpPr/>
          <p:nvPr/>
        </p:nvSpPr>
        <p:spPr>
          <a:xfrm>
            <a:off x="10177200" y="412776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Edge, CDN &amp; security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86"/>
          <p:cNvSpPr/>
          <p:nvPr/>
        </p:nvSpPr>
        <p:spPr>
          <a:xfrm>
            <a:off x="5029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87"/>
          <p:cNvSpPr/>
          <p:nvPr/>
        </p:nvSpPr>
        <p:spPr>
          <a:xfrm>
            <a:off x="5760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Railway / Render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88"/>
          <p:cNvSpPr/>
          <p:nvPr/>
        </p:nvSpPr>
        <p:spPr>
          <a:xfrm>
            <a:off x="21031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89"/>
          <p:cNvSpPr/>
          <p:nvPr/>
        </p:nvSpPr>
        <p:spPr>
          <a:xfrm>
            <a:off x="21762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90"/>
          <p:cNvSpPr/>
          <p:nvPr/>
        </p:nvSpPr>
        <p:spPr>
          <a:xfrm>
            <a:off x="37033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91"/>
          <p:cNvSpPr/>
          <p:nvPr/>
        </p:nvSpPr>
        <p:spPr>
          <a:xfrm>
            <a:off x="37764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92"/>
          <p:cNvSpPr/>
          <p:nvPr/>
        </p:nvSpPr>
        <p:spPr>
          <a:xfrm>
            <a:off x="53035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93"/>
          <p:cNvSpPr/>
          <p:nvPr/>
        </p:nvSpPr>
        <p:spPr>
          <a:xfrm>
            <a:off x="53766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94"/>
          <p:cNvSpPr/>
          <p:nvPr/>
        </p:nvSpPr>
        <p:spPr>
          <a:xfrm>
            <a:off x="69037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95"/>
          <p:cNvSpPr/>
          <p:nvPr/>
        </p:nvSpPr>
        <p:spPr>
          <a:xfrm>
            <a:off x="69768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96"/>
          <p:cNvSpPr/>
          <p:nvPr/>
        </p:nvSpPr>
        <p:spPr>
          <a:xfrm>
            <a:off x="85039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97"/>
          <p:cNvSpPr/>
          <p:nvPr/>
        </p:nvSpPr>
        <p:spPr>
          <a:xfrm>
            <a:off x="85770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98"/>
          <p:cNvSpPr/>
          <p:nvPr/>
        </p:nvSpPr>
        <p:spPr>
          <a:xfrm>
            <a:off x="10104120" y="4702680"/>
            <a:ext cx="1599840" cy="57456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99"/>
          <p:cNvSpPr/>
          <p:nvPr/>
        </p:nvSpPr>
        <p:spPr>
          <a:xfrm>
            <a:off x="10177200" y="470268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Startups &amp; internal tools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00"/>
          <p:cNvSpPr/>
          <p:nvPr/>
        </p:nvSpPr>
        <p:spPr>
          <a:xfrm>
            <a:off x="5029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101"/>
          <p:cNvSpPr/>
          <p:nvPr/>
        </p:nvSpPr>
        <p:spPr>
          <a:xfrm>
            <a:off x="5760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Netlify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02"/>
          <p:cNvSpPr/>
          <p:nvPr/>
        </p:nvSpPr>
        <p:spPr>
          <a:xfrm>
            <a:off x="21031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03"/>
          <p:cNvSpPr/>
          <p:nvPr/>
        </p:nvSpPr>
        <p:spPr>
          <a:xfrm>
            <a:off x="21762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04"/>
          <p:cNvSpPr/>
          <p:nvPr/>
        </p:nvSpPr>
        <p:spPr>
          <a:xfrm>
            <a:off x="37033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05"/>
          <p:cNvSpPr/>
          <p:nvPr/>
        </p:nvSpPr>
        <p:spPr>
          <a:xfrm>
            <a:off x="37764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06"/>
          <p:cNvSpPr/>
          <p:nvPr/>
        </p:nvSpPr>
        <p:spPr>
          <a:xfrm>
            <a:off x="53035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107"/>
          <p:cNvSpPr/>
          <p:nvPr/>
        </p:nvSpPr>
        <p:spPr>
          <a:xfrm>
            <a:off x="53766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08"/>
          <p:cNvSpPr/>
          <p:nvPr/>
        </p:nvSpPr>
        <p:spPr>
          <a:xfrm>
            <a:off x="69037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109"/>
          <p:cNvSpPr/>
          <p:nvPr/>
        </p:nvSpPr>
        <p:spPr>
          <a:xfrm>
            <a:off x="69768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10"/>
          <p:cNvSpPr/>
          <p:nvPr/>
        </p:nvSpPr>
        <p:spPr>
          <a:xfrm>
            <a:off x="85039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111"/>
          <p:cNvSpPr/>
          <p:nvPr/>
        </p:nvSpPr>
        <p:spPr>
          <a:xfrm>
            <a:off x="85770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112"/>
          <p:cNvSpPr/>
          <p:nvPr/>
        </p:nvSpPr>
        <p:spPr>
          <a:xfrm>
            <a:off x="10104120" y="5277240"/>
            <a:ext cx="1599840" cy="57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113"/>
          <p:cNvSpPr/>
          <p:nvPr/>
        </p:nvSpPr>
        <p:spPr>
          <a:xfrm>
            <a:off x="10177200" y="5277240"/>
            <a:ext cx="14536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Static &amp; frontend hosting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114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Platform Comparison Matrix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115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10 / 14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0ea5e9"/>
                </a:solidFill>
                <a:latin typeface="Calibri"/>
                <a:ea typeface="Calibri"/>
              </a:rPr>
              <a:t>SCORING THE FIELD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Decision Matrix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2"/>
          <p:cNvSpPr/>
          <p:nvPr/>
        </p:nvSpPr>
        <p:spPr>
          <a:xfrm>
            <a:off x="502920" y="11887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45a"/>
                </a:solidFill>
                <a:latin typeface="Calibri"/>
                <a:ea typeface="Calibri"/>
              </a:rPr>
              <a:t>Weighted score across 10 criteria (Python, Next.js, migration, scaling, scale-to-zero, cost, enterprise features, dev experience, monitoring, ecosystem) — total out of 50.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3"/>
          <p:cNvSpPr/>
          <p:nvPr/>
        </p:nvSpPr>
        <p:spPr>
          <a:xfrm>
            <a:off x="502920" y="169164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a1e34"/>
                </a:solidFill>
                <a:latin typeface="Calibri"/>
                <a:ea typeface="Calibri"/>
              </a:rPr>
              <a:t>Microsoft Azure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4"/>
          <p:cNvSpPr/>
          <p:nvPr/>
        </p:nvSpPr>
        <p:spPr>
          <a:xfrm>
            <a:off x="2926080" y="174636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5"/>
          <p:cNvSpPr/>
          <p:nvPr/>
        </p:nvSpPr>
        <p:spPr>
          <a:xfrm>
            <a:off x="2926080" y="1746360"/>
            <a:ext cx="6962040" cy="282960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6"/>
          <p:cNvSpPr/>
          <p:nvPr/>
        </p:nvSpPr>
        <p:spPr>
          <a:xfrm>
            <a:off x="10469880" y="169164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47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5" name="Image 0" descr="/home/claude/icons/trophy.png"/>
          <p:cNvPicPr/>
          <p:nvPr/>
        </p:nvPicPr>
        <p:blipFill>
          <a:blip r:embed="rId1"/>
          <a:stretch/>
        </p:blipFill>
        <p:spPr>
          <a:xfrm>
            <a:off x="2468880" y="18151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36" name="Text 7"/>
          <p:cNvSpPr/>
          <p:nvPr/>
        </p:nvSpPr>
        <p:spPr>
          <a:xfrm>
            <a:off x="502920" y="215784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a1e34"/>
                </a:solidFill>
                <a:latin typeface="Calibri"/>
                <a:ea typeface="Calibri"/>
              </a:rPr>
              <a:t>Amazon Web Services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8"/>
          <p:cNvSpPr/>
          <p:nvPr/>
        </p:nvSpPr>
        <p:spPr>
          <a:xfrm>
            <a:off x="2926080" y="221292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9"/>
          <p:cNvSpPr/>
          <p:nvPr/>
        </p:nvSpPr>
        <p:spPr>
          <a:xfrm>
            <a:off x="2926080" y="2212920"/>
            <a:ext cx="6962040" cy="282960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10"/>
          <p:cNvSpPr/>
          <p:nvPr/>
        </p:nvSpPr>
        <p:spPr>
          <a:xfrm>
            <a:off x="10469880" y="215784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47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0" name="Image 1" descr="/home/claude/icons/trophy.png"/>
          <p:cNvPicPr/>
          <p:nvPr/>
        </p:nvPicPr>
        <p:blipFill>
          <a:blip r:embed="rId2"/>
          <a:stretch/>
        </p:blipFill>
        <p:spPr>
          <a:xfrm>
            <a:off x="2468880" y="22813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41" name="Text 11"/>
          <p:cNvSpPr/>
          <p:nvPr/>
        </p:nvSpPr>
        <p:spPr>
          <a:xfrm>
            <a:off x="502920" y="262440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a1e34"/>
                </a:solidFill>
                <a:latin typeface="Calibri"/>
                <a:ea typeface="Calibri"/>
              </a:rPr>
              <a:t>Google Cloud Platform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2"/>
          <p:cNvSpPr/>
          <p:nvPr/>
        </p:nvSpPr>
        <p:spPr>
          <a:xfrm>
            <a:off x="2926080" y="267912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3"/>
          <p:cNvSpPr/>
          <p:nvPr/>
        </p:nvSpPr>
        <p:spPr>
          <a:xfrm>
            <a:off x="2926080" y="2679120"/>
            <a:ext cx="6813720" cy="282960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14"/>
          <p:cNvSpPr/>
          <p:nvPr/>
        </p:nvSpPr>
        <p:spPr>
          <a:xfrm>
            <a:off x="10469880" y="262440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46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5" name="Image 2" descr="/home/claude/icons/trophy.png"/>
          <p:cNvPicPr/>
          <p:nvPr/>
        </p:nvPicPr>
        <p:blipFill>
          <a:blip r:embed="rId3"/>
          <a:stretch/>
        </p:blipFill>
        <p:spPr>
          <a:xfrm>
            <a:off x="2468880" y="27478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46" name="Text 15"/>
          <p:cNvSpPr/>
          <p:nvPr/>
        </p:nvSpPr>
        <p:spPr>
          <a:xfrm>
            <a:off x="502920" y="309060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Vercel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6"/>
          <p:cNvSpPr/>
          <p:nvPr/>
        </p:nvSpPr>
        <p:spPr>
          <a:xfrm>
            <a:off x="2926080" y="314568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7"/>
          <p:cNvSpPr/>
          <p:nvPr/>
        </p:nvSpPr>
        <p:spPr>
          <a:xfrm>
            <a:off x="2926080" y="3145680"/>
            <a:ext cx="6073200" cy="28296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18"/>
          <p:cNvSpPr/>
          <p:nvPr/>
        </p:nvSpPr>
        <p:spPr>
          <a:xfrm>
            <a:off x="10469880" y="309060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41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19"/>
          <p:cNvSpPr/>
          <p:nvPr/>
        </p:nvSpPr>
        <p:spPr>
          <a:xfrm>
            <a:off x="502920" y="35571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Cloudflare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0"/>
          <p:cNvSpPr/>
          <p:nvPr/>
        </p:nvSpPr>
        <p:spPr>
          <a:xfrm>
            <a:off x="2926080" y="361188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1"/>
          <p:cNvSpPr/>
          <p:nvPr/>
        </p:nvSpPr>
        <p:spPr>
          <a:xfrm>
            <a:off x="2926080" y="3611880"/>
            <a:ext cx="6073200" cy="28296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22"/>
          <p:cNvSpPr/>
          <p:nvPr/>
        </p:nvSpPr>
        <p:spPr>
          <a:xfrm>
            <a:off x="10469880" y="355716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41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23"/>
          <p:cNvSpPr/>
          <p:nvPr/>
        </p:nvSpPr>
        <p:spPr>
          <a:xfrm>
            <a:off x="502920" y="40233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Railway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4"/>
          <p:cNvSpPr/>
          <p:nvPr/>
        </p:nvSpPr>
        <p:spPr>
          <a:xfrm>
            <a:off x="2926080" y="407808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5"/>
          <p:cNvSpPr/>
          <p:nvPr/>
        </p:nvSpPr>
        <p:spPr>
          <a:xfrm>
            <a:off x="2926080" y="4078080"/>
            <a:ext cx="5480640" cy="28296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26"/>
          <p:cNvSpPr/>
          <p:nvPr/>
        </p:nvSpPr>
        <p:spPr>
          <a:xfrm>
            <a:off x="10469880" y="402336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37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27"/>
          <p:cNvSpPr/>
          <p:nvPr/>
        </p:nvSpPr>
        <p:spPr>
          <a:xfrm>
            <a:off x="502920" y="44895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Render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8"/>
          <p:cNvSpPr/>
          <p:nvPr/>
        </p:nvSpPr>
        <p:spPr>
          <a:xfrm>
            <a:off x="2926080" y="454464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9"/>
          <p:cNvSpPr/>
          <p:nvPr/>
        </p:nvSpPr>
        <p:spPr>
          <a:xfrm>
            <a:off x="2926080" y="4544640"/>
            <a:ext cx="5480640" cy="28296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30"/>
          <p:cNvSpPr/>
          <p:nvPr/>
        </p:nvSpPr>
        <p:spPr>
          <a:xfrm>
            <a:off x="10469880" y="448956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37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31"/>
          <p:cNvSpPr/>
          <p:nvPr/>
        </p:nvSpPr>
        <p:spPr>
          <a:xfrm>
            <a:off x="502920" y="495612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Netlify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32"/>
          <p:cNvSpPr/>
          <p:nvPr/>
        </p:nvSpPr>
        <p:spPr>
          <a:xfrm>
            <a:off x="2926080" y="5010840"/>
            <a:ext cx="7406280" cy="28296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3"/>
          <p:cNvSpPr/>
          <p:nvPr/>
        </p:nvSpPr>
        <p:spPr>
          <a:xfrm>
            <a:off x="2926080" y="5010840"/>
            <a:ext cx="5480640" cy="28296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 34"/>
          <p:cNvSpPr/>
          <p:nvPr/>
        </p:nvSpPr>
        <p:spPr>
          <a:xfrm>
            <a:off x="10469880" y="49561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37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5"/>
          <p:cNvSpPr/>
          <p:nvPr/>
        </p:nvSpPr>
        <p:spPr>
          <a:xfrm>
            <a:off x="502920" y="5559480"/>
            <a:ext cx="11201040" cy="932400"/>
          </a:xfrm>
          <a:prstGeom prst="roundRect">
            <a:avLst>
              <a:gd name="adj" fmla="val 8824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7" name="Image 3" descr="/home/claude/icons/star.png"/>
          <p:cNvPicPr/>
          <p:nvPr/>
        </p:nvPicPr>
        <p:blipFill>
          <a:blip r:embed="rId4"/>
          <a:stretch/>
        </p:blipFill>
        <p:spPr>
          <a:xfrm>
            <a:off x="731520" y="57880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668" name="Text 36"/>
          <p:cNvSpPr/>
          <p:nvPr/>
        </p:nvSpPr>
        <p:spPr>
          <a:xfrm>
            <a:off x="1234440" y="555948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e4edf7"/>
                </a:solidFill>
                <a:latin typeface="Calibri"/>
                <a:ea typeface="Calibri"/>
              </a:rPr>
              <a:t>Azure, AWS and Google Cloud emerge as the clear top tier — all three combine mature serverless ecosystems, enterprise-grade security, and strong support for containerized Python workloads.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37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Decision Matrix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38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11 / 14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BLUEPRINT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"/>
          <p:cNvSpPr/>
          <p:nvPr/>
        </p:nvSpPr>
        <p:spPr>
          <a:xfrm>
            <a:off x="502920" y="56700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Recommended Architecture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2"/>
          <p:cNvSpPr/>
          <p:nvPr/>
        </p:nvSpPr>
        <p:spPr>
          <a:xfrm>
            <a:off x="502920" y="1188720"/>
            <a:ext cx="11155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4f2"/>
                </a:solidFill>
                <a:latin typeface="Calibri"/>
                <a:ea typeface="Calibri"/>
              </a:rPr>
              <a:t>A workload-driven, hybrid architecture — the right platform for each workload type, not one platform for everything.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3"/>
          <p:cNvSpPr/>
          <p:nvPr/>
        </p:nvSpPr>
        <p:spPr>
          <a:xfrm>
            <a:off x="502920" y="3035880"/>
            <a:ext cx="1416960" cy="822600"/>
          </a:xfrm>
          <a:prstGeom prst="roundRect">
            <a:avLst>
              <a:gd name="adj" fmla="val 10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5" name="Image 0" descr="/home/claude/icons/users.png"/>
          <p:cNvPicPr/>
          <p:nvPr/>
        </p:nvPicPr>
        <p:blipFill>
          <a:blip r:embed="rId1"/>
          <a:stretch/>
        </p:blipFill>
        <p:spPr>
          <a:xfrm>
            <a:off x="1006200" y="32004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676" name="Text 4"/>
          <p:cNvSpPr/>
          <p:nvPr/>
        </p:nvSpPr>
        <p:spPr>
          <a:xfrm>
            <a:off x="502920" y="35661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Users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5"/>
          <p:cNvSpPr/>
          <p:nvPr/>
        </p:nvSpPr>
        <p:spPr>
          <a:xfrm>
            <a:off x="2331720" y="3035880"/>
            <a:ext cx="1737000" cy="822600"/>
          </a:xfrm>
          <a:prstGeom prst="roundRect">
            <a:avLst>
              <a:gd name="adj" fmla="val 10000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8" name="Image 1" descr="/home/claude/icons/globe.png"/>
          <p:cNvPicPr/>
          <p:nvPr/>
        </p:nvPicPr>
        <p:blipFill>
          <a:blip r:embed="rId2"/>
          <a:stretch/>
        </p:blipFill>
        <p:spPr>
          <a:xfrm>
            <a:off x="3017520" y="3108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679" name="Text 6"/>
          <p:cNvSpPr/>
          <p:nvPr/>
        </p:nvSpPr>
        <p:spPr>
          <a:xfrm>
            <a:off x="2331720" y="3456360"/>
            <a:ext cx="1737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7c3aed"/>
                </a:solidFill>
                <a:latin typeface="Calibri"/>
                <a:ea typeface="Calibri"/>
              </a:rPr>
              <a:t>Cloudflare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7"/>
          <p:cNvSpPr/>
          <p:nvPr/>
        </p:nvSpPr>
        <p:spPr>
          <a:xfrm>
            <a:off x="2331720" y="3630240"/>
            <a:ext cx="1737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37488"/>
                </a:solidFill>
                <a:latin typeface="Calibri"/>
                <a:ea typeface="Calibri"/>
              </a:rPr>
              <a:t>CDN + Edge Security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Shape 8"/>
          <p:cNvSpPr/>
          <p:nvPr/>
        </p:nvSpPr>
        <p:spPr>
          <a:xfrm>
            <a:off x="1920240" y="3447000"/>
            <a:ext cx="41148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Shape 9"/>
          <p:cNvSpPr/>
          <p:nvPr/>
        </p:nvSpPr>
        <p:spPr>
          <a:xfrm>
            <a:off x="4069080" y="3447000"/>
            <a:ext cx="365760" cy="360"/>
          </a:xfrm>
          <a:prstGeom prst="line">
            <a:avLst/>
          </a:prstGeom>
          <a:ln w="25400">
            <a:solidFill>
              <a:srgbClr val="4e6e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10"/>
          <p:cNvSpPr/>
          <p:nvPr/>
        </p:nvSpPr>
        <p:spPr>
          <a:xfrm>
            <a:off x="4434840" y="2212560"/>
            <a:ext cx="360" cy="2423160"/>
          </a:xfrm>
          <a:prstGeom prst="line">
            <a:avLst/>
          </a:prstGeom>
          <a:ln w="25400">
            <a:solidFill>
              <a:srgbClr val="4e6e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11"/>
          <p:cNvSpPr/>
          <p:nvPr/>
        </p:nvSpPr>
        <p:spPr>
          <a:xfrm>
            <a:off x="4434840" y="2212560"/>
            <a:ext cx="45720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Shape 12"/>
          <p:cNvSpPr/>
          <p:nvPr/>
        </p:nvSpPr>
        <p:spPr>
          <a:xfrm>
            <a:off x="4434840" y="3447000"/>
            <a:ext cx="45720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Shape 13"/>
          <p:cNvSpPr/>
          <p:nvPr/>
        </p:nvSpPr>
        <p:spPr>
          <a:xfrm>
            <a:off x="4434840" y="4635720"/>
            <a:ext cx="45720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14"/>
          <p:cNvSpPr/>
          <p:nvPr/>
        </p:nvSpPr>
        <p:spPr>
          <a:xfrm>
            <a:off x="4892040" y="1664280"/>
            <a:ext cx="2880000" cy="1096920"/>
          </a:xfrm>
          <a:prstGeom prst="roundRect">
            <a:avLst>
              <a:gd name="adj" fmla="val 75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8" name="Image 2" descr="/home/claude/icons/react.png"/>
          <p:cNvPicPr/>
          <p:nvPr/>
        </p:nvPicPr>
        <p:blipFill>
          <a:blip r:embed="rId3"/>
          <a:stretch/>
        </p:blipFill>
        <p:spPr>
          <a:xfrm>
            <a:off x="5056560" y="181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89" name="Text 15"/>
          <p:cNvSpPr/>
          <p:nvPr/>
        </p:nvSpPr>
        <p:spPr>
          <a:xfrm>
            <a:off x="5486400" y="178308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Next.js Frontend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16"/>
          <p:cNvSpPr/>
          <p:nvPr/>
        </p:nvSpPr>
        <p:spPr>
          <a:xfrm>
            <a:off x="5486400" y="2030040"/>
            <a:ext cx="214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Vercel / Azure Static Web Apps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17"/>
          <p:cNvSpPr/>
          <p:nvPr/>
        </p:nvSpPr>
        <p:spPr>
          <a:xfrm>
            <a:off x="5056560" y="23774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SSR • ISR • API Routes • Edge Middleware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18"/>
          <p:cNvSpPr/>
          <p:nvPr/>
        </p:nvSpPr>
        <p:spPr>
          <a:xfrm>
            <a:off x="4892040" y="2898720"/>
            <a:ext cx="2880000" cy="1096920"/>
          </a:xfrm>
          <a:prstGeom prst="roundRect">
            <a:avLst>
              <a:gd name="adj" fmla="val 75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3" name="Image 3" descr="/home/claude/icons/python.png"/>
          <p:cNvPicPr/>
          <p:nvPr/>
        </p:nvPicPr>
        <p:blipFill>
          <a:blip r:embed="rId4"/>
          <a:stretch/>
        </p:blipFill>
        <p:spPr>
          <a:xfrm>
            <a:off x="5056560" y="30448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94" name="Text 19"/>
          <p:cNvSpPr/>
          <p:nvPr/>
        </p:nvSpPr>
        <p:spPr>
          <a:xfrm>
            <a:off x="5486400" y="301752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Python APIs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20"/>
          <p:cNvSpPr/>
          <p:nvPr/>
        </p:nvSpPr>
        <p:spPr>
          <a:xfrm>
            <a:off x="5486400" y="3264480"/>
            <a:ext cx="214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FastAPI / Flask / Django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21"/>
          <p:cNvSpPr/>
          <p:nvPr/>
        </p:nvSpPr>
        <p:spPr>
          <a:xfrm>
            <a:off x="5056560" y="36118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Azure Container Apps / Cloud Run / AWS App Runner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Shape 22"/>
          <p:cNvSpPr/>
          <p:nvPr/>
        </p:nvSpPr>
        <p:spPr>
          <a:xfrm>
            <a:off x="4892040" y="4133160"/>
            <a:ext cx="2880000" cy="1005480"/>
          </a:xfrm>
          <a:prstGeom prst="roundRect">
            <a:avLst>
              <a:gd name="adj" fmla="val 8182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8" name="Image 4" descr="/home/claude/icons/bolt.png"/>
          <p:cNvPicPr/>
          <p:nvPr/>
        </p:nvPicPr>
        <p:blipFill>
          <a:blip r:embed="rId5"/>
          <a:stretch/>
        </p:blipFill>
        <p:spPr>
          <a:xfrm>
            <a:off x="5056560" y="42703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699" name="Text 23"/>
          <p:cNvSpPr/>
          <p:nvPr/>
        </p:nvSpPr>
        <p:spPr>
          <a:xfrm>
            <a:off x="5486400" y="425196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Event-Driven Jobs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24"/>
          <p:cNvSpPr/>
          <p:nvPr/>
        </p:nvSpPr>
        <p:spPr>
          <a:xfrm>
            <a:off x="5056560" y="45903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Azure Functions / Lambda / Cloud Functions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25"/>
          <p:cNvSpPr/>
          <p:nvPr/>
        </p:nvSpPr>
        <p:spPr>
          <a:xfrm>
            <a:off x="8275320" y="16642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93aac7"/>
                </a:solidFill>
                <a:latin typeface="Calibri"/>
                <a:ea typeface="Calibri"/>
              </a:rPr>
              <a:t>SUPPORTING SERVICES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26"/>
          <p:cNvSpPr/>
          <p:nvPr/>
        </p:nvSpPr>
        <p:spPr>
          <a:xfrm>
            <a:off x="8275320" y="1965960"/>
            <a:ext cx="3382920" cy="914040"/>
          </a:xfrm>
          <a:prstGeom prst="roundRect">
            <a:avLst>
              <a:gd name="adj" fmla="val 9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3" name="Image 5" descr="/home/claude/icons/database.png"/>
          <p:cNvPicPr/>
          <p:nvPr/>
        </p:nvPicPr>
        <p:blipFill>
          <a:blip r:embed="rId6"/>
          <a:stretch/>
        </p:blipFill>
        <p:spPr>
          <a:xfrm>
            <a:off x="8439840" y="2148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04" name="Text 27"/>
          <p:cNvSpPr/>
          <p:nvPr/>
        </p:nvSpPr>
        <p:spPr>
          <a:xfrm>
            <a:off x="8915400" y="207576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Managed Database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28"/>
          <p:cNvSpPr/>
          <p:nvPr/>
        </p:nvSpPr>
        <p:spPr>
          <a:xfrm>
            <a:off x="8915400" y="23317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Cloud SQL / RDS / Cosmos DB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29"/>
          <p:cNvSpPr/>
          <p:nvPr/>
        </p:nvSpPr>
        <p:spPr>
          <a:xfrm>
            <a:off x="8275320" y="3054240"/>
            <a:ext cx="3382920" cy="914040"/>
          </a:xfrm>
          <a:prstGeom prst="roundRect">
            <a:avLst>
              <a:gd name="adj" fmla="val 9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7" name="Image 6" descr="/home/claude/icons/shield.png"/>
          <p:cNvPicPr/>
          <p:nvPr/>
        </p:nvPicPr>
        <p:blipFill>
          <a:blip r:embed="rId7"/>
          <a:stretch/>
        </p:blipFill>
        <p:spPr>
          <a:xfrm>
            <a:off x="8439840" y="323712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08" name="Text 30"/>
          <p:cNvSpPr/>
          <p:nvPr/>
        </p:nvSpPr>
        <p:spPr>
          <a:xfrm>
            <a:off x="8915400" y="316368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Identity &amp; Secrets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31"/>
          <p:cNvSpPr/>
          <p:nvPr/>
        </p:nvSpPr>
        <p:spPr>
          <a:xfrm>
            <a:off x="8915400" y="342000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IAM, RBAC, Key Vault / Secrets Manager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Shape 32"/>
          <p:cNvSpPr/>
          <p:nvPr/>
        </p:nvSpPr>
        <p:spPr>
          <a:xfrm>
            <a:off x="8275320" y="4142160"/>
            <a:ext cx="3382920" cy="914040"/>
          </a:xfrm>
          <a:prstGeom prst="roundRect">
            <a:avLst>
              <a:gd name="adj" fmla="val 9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1" name="Image 7" descr="/home/claude/icons/eye.png"/>
          <p:cNvPicPr/>
          <p:nvPr/>
        </p:nvPicPr>
        <p:blipFill>
          <a:blip r:embed="rId8"/>
          <a:stretch/>
        </p:blipFill>
        <p:spPr>
          <a:xfrm>
            <a:off x="8439840" y="43250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12" name="Text 33"/>
          <p:cNvSpPr/>
          <p:nvPr/>
        </p:nvSpPr>
        <p:spPr>
          <a:xfrm>
            <a:off x="8915400" y="425196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Text 34"/>
          <p:cNvSpPr/>
          <p:nvPr/>
        </p:nvSpPr>
        <p:spPr>
          <a:xfrm>
            <a:off x="8915400" y="45079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Cloud-native monitoring &amp; tracing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35"/>
          <p:cNvSpPr/>
          <p:nvPr/>
        </p:nvSpPr>
        <p:spPr>
          <a:xfrm>
            <a:off x="502920" y="5413320"/>
            <a:ext cx="11201040" cy="914040"/>
          </a:xfrm>
          <a:prstGeom prst="roundRect">
            <a:avLst>
              <a:gd name="adj" fmla="val 9000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36"/>
          <p:cNvSpPr/>
          <p:nvPr/>
        </p:nvSpPr>
        <p:spPr>
          <a:xfrm>
            <a:off x="777240" y="5513760"/>
            <a:ext cx="5486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0891b2"/>
                </a:solidFill>
                <a:latin typeface="Calibri"/>
                <a:ea typeface="Calibri"/>
              </a:rPr>
              <a:t>WHY THIS ARCHITECTURE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6" name="Image 8" descr="/home/claude/icons/check.png"/>
          <p:cNvPicPr/>
          <p:nvPr/>
        </p:nvPicPr>
        <p:blipFill>
          <a:blip r:embed="rId9"/>
          <a:stretch/>
        </p:blipFill>
        <p:spPr>
          <a:xfrm>
            <a:off x="777240" y="57790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17" name="Text 37"/>
          <p:cNvSpPr/>
          <p:nvPr/>
        </p:nvSpPr>
        <p:spPr>
          <a:xfrm>
            <a:off x="1106280" y="57423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Right tool for each workload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8" name="Image 9" descr="/home/claude/icons/shield.png"/>
          <p:cNvPicPr/>
          <p:nvPr/>
        </p:nvPicPr>
        <p:blipFill>
          <a:blip r:embed="rId10"/>
          <a:stretch/>
        </p:blipFill>
        <p:spPr>
          <a:xfrm>
            <a:off x="3520440" y="57790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19" name="Text 38"/>
          <p:cNvSpPr/>
          <p:nvPr/>
        </p:nvSpPr>
        <p:spPr>
          <a:xfrm>
            <a:off x="3849480" y="57423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No single point of failure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0" name="Image 10" descr="/home/claude/icons/dollar.png"/>
          <p:cNvPicPr/>
          <p:nvPr/>
        </p:nvPicPr>
        <p:blipFill>
          <a:blip r:embed="rId11"/>
          <a:stretch/>
        </p:blipFill>
        <p:spPr>
          <a:xfrm>
            <a:off x="6263640" y="57790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21" name="Text 39"/>
          <p:cNvSpPr/>
          <p:nvPr/>
        </p:nvSpPr>
        <p:spPr>
          <a:xfrm>
            <a:off x="6592680" y="57423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Lower cost per workload type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2" name="Image 11" descr="/home/claude/icons/rocket.png"/>
          <p:cNvPicPr/>
          <p:nvPr/>
        </p:nvPicPr>
        <p:blipFill>
          <a:blip r:embed="rId12"/>
          <a:stretch/>
        </p:blipFill>
        <p:spPr>
          <a:xfrm>
            <a:off x="9006840" y="57790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23" name="Text 40"/>
          <p:cNvSpPr/>
          <p:nvPr/>
        </p:nvSpPr>
        <p:spPr>
          <a:xfrm>
            <a:off x="9335880" y="574236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Faster developer onboarding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41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Recommended Architecture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42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12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 0"/>
          <p:cNvSpPr/>
          <p:nvPr/>
        </p:nvSpPr>
        <p:spPr>
          <a:xfrm>
            <a:off x="502920" y="3200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Text 1"/>
          <p:cNvSpPr/>
          <p:nvPr/>
        </p:nvSpPr>
        <p:spPr>
          <a:xfrm>
            <a:off x="502920" y="1828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Migration Strategy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2"/>
          <p:cNvSpPr/>
          <p:nvPr/>
        </p:nvSpPr>
        <p:spPr>
          <a:xfrm>
            <a:off x="3886560" y="502920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f2"/>
                </a:solidFill>
                <a:latin typeface="Calibri"/>
                <a:ea typeface="Calibri"/>
              </a:rPr>
              <a:t>A phased, low-risk migration validates each step before expanding scope.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3"/>
          <p:cNvSpPr/>
          <p:nvPr/>
        </p:nvSpPr>
        <p:spPr>
          <a:xfrm>
            <a:off x="1769040" y="2743200"/>
            <a:ext cx="8668800" cy="360"/>
          </a:xfrm>
          <a:prstGeom prst="line">
            <a:avLst/>
          </a:prstGeom>
          <a:ln w="254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Shape 4"/>
          <p:cNvSpPr/>
          <p:nvPr/>
        </p:nvSpPr>
        <p:spPr>
          <a:xfrm>
            <a:off x="1476720" y="2450520"/>
            <a:ext cx="585000" cy="58500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1" name="Image 0" descr="/home/claude/icons/search.png"/>
          <p:cNvPicPr/>
          <p:nvPr/>
        </p:nvPicPr>
        <p:blipFill>
          <a:blip r:embed="rId1"/>
          <a:stretch/>
        </p:blipFill>
        <p:spPr>
          <a:xfrm>
            <a:off x="1623240" y="2597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32" name="Shape 5"/>
          <p:cNvSpPr/>
          <p:nvPr/>
        </p:nvSpPr>
        <p:spPr>
          <a:xfrm>
            <a:off x="758880" y="3246120"/>
            <a:ext cx="2020320" cy="1462680"/>
          </a:xfrm>
          <a:prstGeom prst="roundRect">
            <a:avLst>
              <a:gd name="adj" fmla="val 562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1769040" y="3035520"/>
            <a:ext cx="360" cy="21060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868680" y="3355920"/>
            <a:ext cx="180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7" strike="noStrike">
                <a:solidFill>
                  <a:srgbClr val="7dd3fc"/>
                </a:solidFill>
                <a:latin typeface="Calibri"/>
                <a:ea typeface="Calibri"/>
              </a:rPr>
              <a:t>PHASE 1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831960" y="35571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Assessment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868680" y="390456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Identify suitable workloads: internal APIs, scheduled jobs, background workers, event-driven services.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3643920" y="2450520"/>
            <a:ext cx="585000" cy="58500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8" name="Image 1" descr="/home/claude/icons/box.png"/>
          <p:cNvPicPr/>
          <p:nvPr/>
        </p:nvPicPr>
        <p:blipFill>
          <a:blip r:embed="rId2"/>
          <a:stretch/>
        </p:blipFill>
        <p:spPr>
          <a:xfrm>
            <a:off x="3790080" y="2597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39" name="Shape 11"/>
          <p:cNvSpPr/>
          <p:nvPr/>
        </p:nvSpPr>
        <p:spPr>
          <a:xfrm>
            <a:off x="2926080" y="777240"/>
            <a:ext cx="2020320" cy="1462680"/>
          </a:xfrm>
          <a:prstGeom prst="roundRect">
            <a:avLst>
              <a:gd name="adj" fmla="val 5625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Shape 12"/>
          <p:cNvSpPr/>
          <p:nvPr/>
        </p:nvSpPr>
        <p:spPr>
          <a:xfrm>
            <a:off x="3936240" y="2240280"/>
            <a:ext cx="360" cy="21024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13"/>
          <p:cNvSpPr/>
          <p:nvPr/>
        </p:nvSpPr>
        <p:spPr>
          <a:xfrm>
            <a:off x="3035880" y="887040"/>
            <a:ext cx="180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7" strike="noStrike">
                <a:solidFill>
                  <a:srgbClr val="7dd3fc"/>
                </a:solidFill>
                <a:latin typeface="Calibri"/>
                <a:ea typeface="Calibri"/>
              </a:rPr>
              <a:t>PHASE 2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14"/>
          <p:cNvSpPr/>
          <p:nvPr/>
        </p:nvSpPr>
        <p:spPr>
          <a:xfrm>
            <a:off x="2999160" y="108828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Containerization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5"/>
          <p:cNvSpPr/>
          <p:nvPr/>
        </p:nvSpPr>
        <p:spPr>
          <a:xfrm>
            <a:off x="3035880" y="141732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Move complete backend applications to serverless containers; migrate independent event-driven tasks to functions.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Shape 16"/>
          <p:cNvSpPr/>
          <p:nvPr/>
        </p:nvSpPr>
        <p:spPr>
          <a:xfrm>
            <a:off x="5811120" y="2450520"/>
            <a:ext cx="585000" cy="58500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5" name="Image 2" descr="/home/claude/icons/play.png"/>
          <p:cNvPicPr/>
          <p:nvPr/>
        </p:nvPicPr>
        <p:blipFill>
          <a:blip r:embed="rId3"/>
          <a:stretch/>
        </p:blipFill>
        <p:spPr>
          <a:xfrm>
            <a:off x="5957280" y="2597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46" name="Shape 17"/>
          <p:cNvSpPr/>
          <p:nvPr/>
        </p:nvSpPr>
        <p:spPr>
          <a:xfrm>
            <a:off x="5093280" y="3246120"/>
            <a:ext cx="2020320" cy="1462680"/>
          </a:xfrm>
          <a:prstGeom prst="roundRect">
            <a:avLst>
              <a:gd name="adj" fmla="val 562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Shape 18"/>
          <p:cNvSpPr/>
          <p:nvPr/>
        </p:nvSpPr>
        <p:spPr>
          <a:xfrm>
            <a:off x="6103440" y="3035520"/>
            <a:ext cx="360" cy="21060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19"/>
          <p:cNvSpPr/>
          <p:nvPr/>
        </p:nvSpPr>
        <p:spPr>
          <a:xfrm>
            <a:off x="5203080" y="3355920"/>
            <a:ext cx="180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7" strike="noStrike">
                <a:solidFill>
                  <a:srgbClr val="7dd3fc"/>
                </a:solidFill>
                <a:latin typeface="Calibri"/>
                <a:ea typeface="Calibri"/>
              </a:rPr>
              <a:t>PHASE 3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20"/>
          <p:cNvSpPr/>
          <p:nvPr/>
        </p:nvSpPr>
        <p:spPr>
          <a:xfrm>
            <a:off x="5166360" y="35571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Pilot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21"/>
          <p:cNvSpPr/>
          <p:nvPr/>
        </p:nvSpPr>
        <p:spPr>
          <a:xfrm>
            <a:off x="5203080" y="390456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Deploy pilot applications to a serverless container platform; monitor performance, cost, reliability and effort.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22"/>
          <p:cNvSpPr/>
          <p:nvPr/>
        </p:nvSpPr>
        <p:spPr>
          <a:xfrm>
            <a:off x="7978320" y="2450520"/>
            <a:ext cx="585000" cy="58500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2" name="Image 3" descr="/home/claude/icons/arrowup.png"/>
          <p:cNvPicPr/>
          <p:nvPr/>
        </p:nvPicPr>
        <p:blipFill>
          <a:blip r:embed="rId4"/>
          <a:stretch/>
        </p:blipFill>
        <p:spPr>
          <a:xfrm>
            <a:off x="8124480" y="2597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53" name="Shape 23"/>
          <p:cNvSpPr/>
          <p:nvPr/>
        </p:nvSpPr>
        <p:spPr>
          <a:xfrm>
            <a:off x="7260480" y="777240"/>
            <a:ext cx="2020320" cy="1462680"/>
          </a:xfrm>
          <a:prstGeom prst="roundRect">
            <a:avLst>
              <a:gd name="adj" fmla="val 5625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24"/>
          <p:cNvSpPr/>
          <p:nvPr/>
        </p:nvSpPr>
        <p:spPr>
          <a:xfrm>
            <a:off x="8270640" y="2240280"/>
            <a:ext cx="360" cy="21024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25"/>
          <p:cNvSpPr/>
          <p:nvPr/>
        </p:nvSpPr>
        <p:spPr>
          <a:xfrm>
            <a:off x="7369920" y="887040"/>
            <a:ext cx="180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7" strike="noStrike">
                <a:solidFill>
                  <a:srgbClr val="7dd3fc"/>
                </a:solidFill>
                <a:latin typeface="Calibri"/>
                <a:ea typeface="Calibri"/>
              </a:rPr>
              <a:t>PHASE 4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26"/>
          <p:cNvSpPr/>
          <p:nvPr/>
        </p:nvSpPr>
        <p:spPr>
          <a:xfrm>
            <a:off x="7333560" y="108828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Production Rollout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27"/>
          <p:cNvSpPr/>
          <p:nvPr/>
        </p:nvSpPr>
        <p:spPr>
          <a:xfrm>
            <a:off x="7369920" y="143568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Measure performance and cost improvements, then gradually migrate additional applications.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Shape 28"/>
          <p:cNvSpPr/>
          <p:nvPr/>
        </p:nvSpPr>
        <p:spPr>
          <a:xfrm>
            <a:off x="10145160" y="2450520"/>
            <a:ext cx="585000" cy="58500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9" name="Image 4" descr="/home/claude/icons/gauge.png"/>
          <p:cNvPicPr/>
          <p:nvPr/>
        </p:nvPicPr>
        <p:blipFill>
          <a:blip r:embed="rId5"/>
          <a:stretch/>
        </p:blipFill>
        <p:spPr>
          <a:xfrm>
            <a:off x="10291680" y="25970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60" name="Shape 29"/>
          <p:cNvSpPr/>
          <p:nvPr/>
        </p:nvSpPr>
        <p:spPr>
          <a:xfrm>
            <a:off x="9427320" y="3246120"/>
            <a:ext cx="2020320" cy="1462680"/>
          </a:xfrm>
          <a:prstGeom prst="roundRect">
            <a:avLst>
              <a:gd name="adj" fmla="val 562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30"/>
          <p:cNvSpPr/>
          <p:nvPr/>
        </p:nvSpPr>
        <p:spPr>
          <a:xfrm>
            <a:off x="10437840" y="3035520"/>
            <a:ext cx="360" cy="21060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31"/>
          <p:cNvSpPr/>
          <p:nvPr/>
        </p:nvSpPr>
        <p:spPr>
          <a:xfrm>
            <a:off x="9537120" y="3355920"/>
            <a:ext cx="180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7" strike="noStrike">
                <a:solidFill>
                  <a:srgbClr val="7dd3fc"/>
                </a:solidFill>
                <a:latin typeface="Calibri"/>
                <a:ea typeface="Calibri"/>
              </a:rPr>
              <a:t>PHASE 5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32"/>
          <p:cNvSpPr/>
          <p:nvPr/>
        </p:nvSpPr>
        <p:spPr>
          <a:xfrm>
            <a:off x="9500760" y="3557160"/>
            <a:ext cx="1874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Optimization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33"/>
          <p:cNvSpPr/>
          <p:nvPr/>
        </p:nvSpPr>
        <p:spPr>
          <a:xfrm>
            <a:off x="9537120" y="3886200"/>
            <a:ext cx="1801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Modernize incrementally rather than a full cutover; retain traditional infra only for long-running or legacy workloads.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34"/>
          <p:cNvSpPr/>
          <p:nvPr/>
        </p:nvSpPr>
        <p:spPr>
          <a:xfrm>
            <a:off x="502920" y="5440680"/>
            <a:ext cx="11201040" cy="914040"/>
          </a:xfrm>
          <a:prstGeom prst="roundRect">
            <a:avLst>
              <a:gd name="adj" fmla="val 9000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35"/>
          <p:cNvSpPr/>
          <p:nvPr/>
        </p:nvSpPr>
        <p:spPr>
          <a:xfrm>
            <a:off x="777240" y="5541120"/>
            <a:ext cx="5486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0891b2"/>
                </a:solidFill>
                <a:latin typeface="Calibri"/>
                <a:ea typeface="Calibri"/>
              </a:rPr>
              <a:t>WHY A PHASED APPROACH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7" name="Image 5" descr="/home/claude/icons/shield.png"/>
          <p:cNvPicPr/>
          <p:nvPr/>
        </p:nvPicPr>
        <p:blipFill>
          <a:blip r:embed="rId6"/>
          <a:stretch/>
        </p:blipFill>
        <p:spPr>
          <a:xfrm>
            <a:off x="777240" y="5806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68" name="Text 36"/>
          <p:cNvSpPr/>
          <p:nvPr/>
        </p:nvSpPr>
        <p:spPr>
          <a:xfrm>
            <a:off x="1106280" y="57697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Minimizes migration risk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9" name="Image 6" descr="/home/claude/icons/check.png"/>
          <p:cNvPicPr/>
          <p:nvPr/>
        </p:nvPicPr>
        <p:blipFill>
          <a:blip r:embed="rId7"/>
          <a:stretch/>
        </p:blipFill>
        <p:spPr>
          <a:xfrm>
            <a:off x="3520440" y="5806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70" name="Text 37"/>
          <p:cNvSpPr/>
          <p:nvPr/>
        </p:nvSpPr>
        <p:spPr>
          <a:xfrm>
            <a:off x="3849480" y="57697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Validates before scaling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1" name="Image 7" descr="/home/claude/icons/gauge.png"/>
          <p:cNvPicPr/>
          <p:nvPr/>
        </p:nvPicPr>
        <p:blipFill>
          <a:blip r:embed="rId8"/>
          <a:stretch/>
        </p:blipFill>
        <p:spPr>
          <a:xfrm>
            <a:off x="6263640" y="5806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72" name="Text 38"/>
          <p:cNvSpPr/>
          <p:nvPr/>
        </p:nvSpPr>
        <p:spPr>
          <a:xfrm>
            <a:off x="6592680" y="57697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Confirms cost &amp; performance gains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3" name="Image 8" descr="/home/claude/icons/rocket.png"/>
          <p:cNvPicPr/>
          <p:nvPr/>
        </p:nvPicPr>
        <p:blipFill>
          <a:blip r:embed="rId9"/>
          <a:stretch/>
        </p:blipFill>
        <p:spPr>
          <a:xfrm>
            <a:off x="9006840" y="5806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74" name="Text 39"/>
          <p:cNvSpPr/>
          <p:nvPr/>
        </p:nvSpPr>
        <p:spPr>
          <a:xfrm>
            <a:off x="9335880" y="576972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Protects business continuity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40"/>
          <p:cNvSpPr/>
          <p:nvPr/>
        </p:nvSpPr>
        <p:spPr>
          <a:xfrm>
            <a:off x="457200" y="6528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Migration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41"/>
          <p:cNvSpPr/>
          <p:nvPr/>
        </p:nvSpPr>
        <p:spPr>
          <a:xfrm>
            <a:off x="11003040" y="652896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13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9326880" y="-2286000"/>
            <a:ext cx="5943240" cy="5943240"/>
          </a:xfrm>
          <a:prstGeom prst="ellipse">
            <a:avLst/>
          </a:prstGeom>
          <a:solidFill>
            <a:srgbClr val="1632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1"/>
          <p:cNvSpPr/>
          <p:nvPr/>
        </p:nvSpPr>
        <p:spPr>
          <a:xfrm>
            <a:off x="502920" y="3657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7dd3fc"/>
                </a:solidFill>
                <a:latin typeface="Calibri"/>
                <a:ea typeface="Calibri"/>
              </a:rPr>
              <a:t>CONCLUSION &amp; NEXT STEPS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"/>
          <p:cNvSpPr/>
          <p:nvPr/>
        </p:nvSpPr>
        <p:spPr>
          <a:xfrm>
            <a:off x="502920" y="6217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Final Recommendations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3"/>
          <p:cNvSpPr/>
          <p:nvPr/>
        </p:nvSpPr>
        <p:spPr>
          <a:xfrm>
            <a:off x="502920" y="1371600"/>
            <a:ext cx="3611520" cy="1554120"/>
          </a:xfrm>
          <a:prstGeom prst="roundRect">
            <a:avLst>
              <a:gd name="adj" fmla="val 5294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1" name="Image 0" descr="/home/claude/icons/microsoft.png"/>
          <p:cNvPicPr/>
          <p:nvPr/>
        </p:nvPicPr>
        <p:blipFill>
          <a:blip r:embed="rId1"/>
          <a:stretch/>
        </p:blipFill>
        <p:spPr>
          <a:xfrm>
            <a:off x="731520" y="15544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782" name="Text 4"/>
          <p:cNvSpPr/>
          <p:nvPr/>
        </p:nvSpPr>
        <p:spPr>
          <a:xfrm>
            <a:off x="1280160" y="15361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10b981"/>
                </a:solidFill>
                <a:latin typeface="Calibri"/>
                <a:ea typeface="Calibri"/>
              </a:rPr>
              <a:t>ENTERPRISE PLATFORM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5"/>
          <p:cNvSpPr/>
          <p:nvPr/>
        </p:nvSpPr>
        <p:spPr>
          <a:xfrm>
            <a:off x="1280160" y="1774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Azure, AWS or Google Cloud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6"/>
          <p:cNvSpPr/>
          <p:nvPr/>
        </p:nvSpPr>
        <p:spPr>
          <a:xfrm>
            <a:off x="731520" y="2377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6d4"/>
                </a:solidFill>
                <a:latin typeface="Calibri"/>
                <a:ea typeface="Calibri"/>
              </a:rPr>
              <a:t>Best fit for our current &amp; near-term workloads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7"/>
          <p:cNvSpPr/>
          <p:nvPr/>
        </p:nvSpPr>
        <p:spPr>
          <a:xfrm>
            <a:off x="4279320" y="1371600"/>
            <a:ext cx="3611520" cy="1554120"/>
          </a:xfrm>
          <a:prstGeom prst="roundRect">
            <a:avLst>
              <a:gd name="adj" fmla="val 5294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6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4507920" y="15544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787" name="Text 8"/>
          <p:cNvSpPr/>
          <p:nvPr/>
        </p:nvSpPr>
        <p:spPr>
          <a:xfrm>
            <a:off x="5056560" y="15361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0ea5e9"/>
                </a:solidFill>
                <a:latin typeface="Calibri"/>
                <a:ea typeface="Calibri"/>
              </a:rPr>
              <a:t>FRONTEND PLATFORM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9"/>
          <p:cNvSpPr/>
          <p:nvPr/>
        </p:nvSpPr>
        <p:spPr>
          <a:xfrm>
            <a:off x="5056560" y="1774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Vercel for Next.js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0"/>
          <p:cNvSpPr/>
          <p:nvPr/>
        </p:nvSpPr>
        <p:spPr>
          <a:xfrm>
            <a:off x="4507920" y="2377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6d4"/>
                </a:solidFill>
                <a:latin typeface="Calibri"/>
                <a:ea typeface="Calibri"/>
              </a:rPr>
              <a:t>Best fit for our current &amp; near-term workloads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11"/>
          <p:cNvSpPr/>
          <p:nvPr/>
        </p:nvSpPr>
        <p:spPr>
          <a:xfrm>
            <a:off x="8055720" y="1371600"/>
            <a:ext cx="3611520" cy="1554120"/>
          </a:xfrm>
          <a:prstGeom prst="roundRect">
            <a:avLst>
              <a:gd name="adj" fmla="val 5294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1" name="Image 2" descr="/home/claude/icons/globe.png"/>
          <p:cNvPicPr/>
          <p:nvPr/>
        </p:nvPicPr>
        <p:blipFill>
          <a:blip r:embed="rId3"/>
          <a:stretch/>
        </p:blipFill>
        <p:spPr>
          <a:xfrm>
            <a:off x="8284320" y="15544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792" name="Text 12"/>
          <p:cNvSpPr/>
          <p:nvPr/>
        </p:nvSpPr>
        <p:spPr>
          <a:xfrm>
            <a:off x="8832960" y="153612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7c3aed"/>
                </a:solidFill>
                <a:latin typeface="Calibri"/>
                <a:ea typeface="Calibri"/>
              </a:rPr>
              <a:t>COMPLEMENTARY LAYER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3"/>
          <p:cNvSpPr/>
          <p:nvPr/>
        </p:nvSpPr>
        <p:spPr>
          <a:xfrm>
            <a:off x="8832960" y="1774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Cloudflare for CDN &amp; security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14"/>
          <p:cNvSpPr/>
          <p:nvPr/>
        </p:nvSpPr>
        <p:spPr>
          <a:xfrm>
            <a:off x="8284320" y="2377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6d4"/>
                </a:solidFill>
                <a:latin typeface="Calibri"/>
                <a:ea typeface="Calibri"/>
              </a:rPr>
              <a:t>Best fit for our current &amp; near-term workloads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15"/>
          <p:cNvSpPr/>
          <p:nvPr/>
        </p:nvSpPr>
        <p:spPr>
          <a:xfrm>
            <a:off x="502920" y="32004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48" strike="noStrike">
                <a:solidFill>
                  <a:srgbClr val="7dd3fc"/>
                </a:solidFill>
                <a:latin typeface="Calibri"/>
                <a:ea typeface="Calibri"/>
              </a:rPr>
              <a:t>EXPECTED BENEFITS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6" name="Image 3" descr="/home/claude/icons/check.png"/>
          <p:cNvPicPr/>
          <p:nvPr/>
        </p:nvPicPr>
        <p:blipFill>
          <a:blip r:embed="rId4"/>
          <a:stretch/>
        </p:blipFill>
        <p:spPr>
          <a:xfrm>
            <a:off x="502920" y="35388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97" name="Text 16"/>
          <p:cNvSpPr/>
          <p:nvPr/>
        </p:nvSpPr>
        <p:spPr>
          <a:xfrm>
            <a:off x="813960" y="35204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Lower infrastructure cost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8" name="Image 4" descr="/home/claude/icons/check.png"/>
          <p:cNvPicPr/>
          <p:nvPr/>
        </p:nvPicPr>
        <p:blipFill>
          <a:blip r:embed="rId5"/>
          <a:stretch/>
        </p:blipFill>
        <p:spPr>
          <a:xfrm>
            <a:off x="4279320" y="35388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99" name="Text 17"/>
          <p:cNvSpPr/>
          <p:nvPr/>
        </p:nvSpPr>
        <p:spPr>
          <a:xfrm>
            <a:off x="4590360" y="35204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Automatic scaling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0" name="Image 5" descr="/home/claude/icons/check.png"/>
          <p:cNvPicPr/>
          <p:nvPr/>
        </p:nvPicPr>
        <p:blipFill>
          <a:blip r:embed="rId6"/>
          <a:stretch/>
        </p:blipFill>
        <p:spPr>
          <a:xfrm>
            <a:off x="8055720" y="35388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01" name="Text 18"/>
          <p:cNvSpPr/>
          <p:nvPr/>
        </p:nvSpPr>
        <p:spPr>
          <a:xfrm>
            <a:off x="8366760" y="35204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Scale-to-zero savings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2" name="Image 6" descr="/home/claude/icons/check.png"/>
          <p:cNvPicPr/>
          <p:nvPr/>
        </p:nvPicPr>
        <p:blipFill>
          <a:blip r:embed="rId7"/>
          <a:stretch/>
        </p:blipFill>
        <p:spPr>
          <a:xfrm>
            <a:off x="502920" y="39960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03" name="Text 19"/>
          <p:cNvSpPr/>
          <p:nvPr/>
        </p:nvSpPr>
        <p:spPr>
          <a:xfrm>
            <a:off x="813960" y="39776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Reduced ops overhead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4" name="Image 7" descr="/home/claude/icons/check.png"/>
          <p:cNvPicPr/>
          <p:nvPr/>
        </p:nvPicPr>
        <p:blipFill>
          <a:blip r:embed="rId8"/>
          <a:stretch/>
        </p:blipFill>
        <p:spPr>
          <a:xfrm>
            <a:off x="4279320" y="39960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05" name="Text 20"/>
          <p:cNvSpPr/>
          <p:nvPr/>
        </p:nvSpPr>
        <p:spPr>
          <a:xfrm>
            <a:off x="4590360" y="39776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Faster deployments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6" name="Image 8" descr="/home/claude/icons/check.png"/>
          <p:cNvPicPr/>
          <p:nvPr/>
        </p:nvPicPr>
        <p:blipFill>
          <a:blip r:embed="rId9"/>
          <a:stretch/>
        </p:blipFill>
        <p:spPr>
          <a:xfrm>
            <a:off x="8055720" y="39960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07" name="Text 21"/>
          <p:cNvSpPr/>
          <p:nvPr/>
        </p:nvSpPr>
        <p:spPr>
          <a:xfrm>
            <a:off x="8366760" y="397764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Better resource utilization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22"/>
          <p:cNvSpPr/>
          <p:nvPr/>
        </p:nvSpPr>
        <p:spPr>
          <a:xfrm>
            <a:off x="502920" y="4617720"/>
            <a:ext cx="11201040" cy="1691280"/>
          </a:xfrm>
          <a:prstGeom prst="roundRect">
            <a:avLst>
              <a:gd name="adj" fmla="val 4865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23"/>
          <p:cNvSpPr/>
          <p:nvPr/>
        </p:nvSpPr>
        <p:spPr>
          <a:xfrm>
            <a:off x="777240" y="475488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148" strike="noStrike">
                <a:solidFill>
                  <a:srgbClr val="7dd3fc"/>
                </a:solidFill>
                <a:latin typeface="Calibri"/>
                <a:ea typeface="Calibri"/>
              </a:rPr>
              <a:t>BOTTOM LINE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24"/>
          <p:cNvSpPr/>
          <p:nvPr/>
        </p:nvSpPr>
        <p:spPr>
          <a:xfrm>
            <a:off x="777240" y="5029200"/>
            <a:ext cx="10606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4edf7"/>
                </a:solidFill>
                <a:latin typeface="Calibri"/>
                <a:ea typeface="Calibri"/>
              </a:rPr>
              <a:t>Serverless is not a replacement for our applications — it's a smarter way to run them. Choosing the right compute model (containers vs. functions) matters more than choosing a cloud provider: Serverless Containers suit existing Python apps with minimal migration, while Functions suit independent, event-driven tasks. Adopt a workload-driven, hybrid architecture — Python APIs on serverless containers, event-driven jobs on functions, Next.js on Vercel, Cloudflare for CDN and security — and modernize incrementally rather than attempting a full cutover.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25"/>
          <p:cNvSpPr/>
          <p:nvPr/>
        </p:nvSpPr>
        <p:spPr>
          <a:xfrm>
            <a:off x="11003040" y="64922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87a8"/>
                </a:solidFill>
                <a:latin typeface="Calibri"/>
                <a:ea typeface="Calibri"/>
              </a:rPr>
              <a:t>14 / 14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ext 66"/>
          <p:cNvSpPr/>
          <p:nvPr/>
        </p:nvSpPr>
        <p:spPr>
          <a:xfrm>
            <a:off x="6105600" y="5014800"/>
            <a:ext cx="10606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2026-07-14T06:01:14Z</dcterms:created>
  <dc:creator>PptxGenJS</dc:creator>
  <dc:description/>
  <dc:language>en-US</dc:language>
  <cp:lastModifiedBy/>
  <dcterms:modified xsi:type="dcterms:W3CDTF">2026-07-14T14:58:10Z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