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56.png" ContentType="image/png"/>
  <Override PartName="/ppt/media/image55.png" ContentType="image/png"/>
  <Override PartName="/ppt/media/image34.png" ContentType="image/png"/>
  <Override PartName="/ppt/media/image39.png" ContentType="image/png"/>
  <Override PartName="/ppt/media/image7.png" ContentType="image/png"/>
  <Override PartName="/ppt/media/image16.png" ContentType="image/png"/>
  <Override PartName="/ppt/media/image47.png" ContentType="image/png"/>
  <Override PartName="/ppt/media/image10.png" ContentType="image/png"/>
  <Override PartName="/ppt/media/image1.png" ContentType="image/png"/>
  <Override PartName="/ppt/media/image33.png" ContentType="image/png"/>
  <Override PartName="/ppt/media/image38.png" ContentType="image/png"/>
  <Override PartName="/ppt/media/image6.png" ContentType="image/png"/>
  <Override PartName="/ppt/media/image15.png" ContentType="image/png"/>
  <Override PartName="/ppt/media/image37.png" ContentType="image/png"/>
  <Override PartName="/ppt/media/image5.png" ContentType="image/png"/>
  <Override PartName="/ppt/media/image14.png" ContentType="image/png"/>
  <Override PartName="/ppt/media/image26.png" ContentType="image/png"/>
  <Override PartName="/ppt/media/image25.png" ContentType="image/png"/>
  <Override PartName="/ppt/media/image29.png" ContentType="image/png"/>
  <Override PartName="/ppt/media/image28.png" ContentType="image/png"/>
  <Override PartName="/ppt/media/image27.png" ContentType="image/png"/>
  <Override PartName="/ppt/media/image61.png" ContentType="image/png"/>
  <Override PartName="/ppt/media/image19.png" ContentType="image/png"/>
  <Override PartName="/ppt/media/image24.png" ContentType="image/png"/>
  <Override PartName="/ppt/media/image59.png" ContentType="image/png"/>
  <Override PartName="/ppt/media/image22.png" ContentType="image/png"/>
  <Override PartName="/ppt/media/image60.png" ContentType="image/png"/>
  <Override PartName="/ppt/media/image23.png" ContentType="image/png"/>
  <Override PartName="/ppt/media/image58.png" ContentType="image/png"/>
  <Override PartName="/ppt/media/image21.png" ContentType="image/png"/>
  <Override PartName="/ppt/media/image2.png" ContentType="image/png"/>
  <Override PartName="/ppt/media/image11.png" ContentType="image/png"/>
  <Override PartName="/ppt/media/image48.png" ContentType="image/png"/>
  <Override PartName="/ppt/media/image17.png" ContentType="image/png"/>
  <Override PartName="/ppt/media/image8.png" ContentType="image/png"/>
  <Override PartName="/ppt/media/image35.png" ContentType="image/png"/>
  <Override PartName="/ppt/media/image3.png" ContentType="image/png"/>
  <Override PartName="/ppt/media/image12.png" ContentType="image/png"/>
  <Override PartName="/ppt/media/image49.png" ContentType="image/png"/>
  <Override PartName="/ppt/media/image20.png" ContentType="image/png"/>
  <Override PartName="/ppt/media/image57.png" ContentType="image/png"/>
  <Override PartName="/ppt/media/image18.png" ContentType="image/png"/>
  <Override PartName="/ppt/media/image9.png" ContentType="image/png"/>
  <Override PartName="/ppt/media/image36.png" ContentType="image/png"/>
  <Override PartName="/ppt/media/image4.png" ContentType="image/png"/>
  <Override PartName="/ppt/media/image13.png" ContentType="image/png"/>
  <Override PartName="/ppt/media/image30.png" ContentType="image/png"/>
  <Override PartName="/ppt/media/image31.png" ContentType="image/png"/>
  <Override PartName="/ppt/media/image32.png" ContentType="image/png"/>
  <Override PartName="/ppt/media/image40.png" ContentType="image/png"/>
  <Override PartName="/ppt/media/image41.png" ContentType="image/png"/>
  <Override PartName="/ppt/media/image42.png" ContentType="image/png"/>
  <Override PartName="/ppt/media/image43.png" ContentType="image/png"/>
  <Override PartName="/ppt/media/image44.png" ContentType="image/png"/>
  <Override PartName="/ppt/media/image45.png" ContentType="image/png"/>
  <Override PartName="/ppt/media/image46.png" ContentType="image/png"/>
  <Override PartName="/ppt/media/image50.png" ContentType="image/png"/>
  <Override PartName="/ppt/media/image51.png" ContentType="image/png"/>
  <Override PartName="/ppt/media/image52.png" ContentType="image/png"/>
  <Override PartName="/ppt/media/image53.png" ContentType="image/png"/>
  <Override PartName="/ppt/media/image54.png" ContentType="image/png"/>
  <Override PartName="/ppt/slides/_rels/slide5.xml.rels" ContentType="application/vnd.openxmlformats-package.relationships+xml"/>
  <Override PartName="/ppt/slides/_rels/slide21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2.xml.rels" ContentType="application/vnd.openxmlformats-package.relationships+xml"/>
  <Override PartName="/ppt/slides/_rels/slide16.xml.rels" ContentType="application/vnd.openxmlformats-package.relationships+xml"/>
  <Override PartName="/ppt/slides/_rels/slide1.xml.rels" ContentType="application/vnd.openxmlformats-package.relationships+xml"/>
  <Override PartName="/ppt/slides/_rels/slide15.xml.rels" ContentType="application/vnd.openxmlformats-package.relationships+xml"/>
  <Override PartName="/ppt/slides/_rels/slide13.xml.rels" ContentType="application/vnd.openxmlformats-package.relationships+xml"/>
  <Override PartName="/ppt/slides/_rels/slide25.xml.rels" ContentType="application/vnd.openxmlformats-package.relationships+xml"/>
  <Override PartName="/ppt/slides/_rels/slide12.xml.rels" ContentType="application/vnd.openxmlformats-package.relationships+xml"/>
  <Override PartName="/ppt/slides/_rels/slide24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23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22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4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25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4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21.xml" ContentType="application/vnd.openxmlformats-officedocument.presentationml.slide+xml"/>
  <Override PartName="/ppt/notesSlides/_rels/notesSlide9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6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.xml.rels" ContentType="application/vnd.openxmlformats-package.relationships+xml"/>
  <Override PartName="/ppt/notesSlides/_rels/notesSlide2.xml.rels" ContentType="application/vnd.openxmlformats-package.relationships+xml"/>
  <Override PartName="/ppt/notesSlides/_rels/notesSlide3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8.xml.rels" ContentType="application/vnd.openxmlformats-package.relationships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move the slide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5989F019-B1B1-45BE-9E6C-EB5BFD2AF0F7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1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4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91D9553-4056-4E6A-A916-DC339947C26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1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7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6B0E4E3-D55D-405F-9914-43A0FF57A55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1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0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42B14D5-5C49-4FA6-B696-25F2B0C5118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1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3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6804664-FCB9-402F-BF23-A8B6850CCBD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1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6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6935412-E100-4725-A74C-79E1312215B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1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9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124C651-EF0D-49F6-ABEB-89F924ED517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1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2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5F1790E-F8D3-4C77-BA8B-3DAA8355BAC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1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5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D934481-09B3-404B-8036-D93BCCF6AB4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1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8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63D29C9-897B-42C2-B97D-7DC05261A4B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1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1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3DA550E-C959-402D-97C4-EC99CE21FA3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1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4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1587200-12EF-4ED0-A7D3-68DAD300768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1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7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DBCADDB-D3AE-4995-92E5-E3061B9B78C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1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0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34B501C-D583-4D0B-B746-0295DA63CC8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1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3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04B84E0-ED59-464A-8332-0891F7EBF68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k to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edit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the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title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text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for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8.png"/><Relationship Id="rId6" Type="http://schemas.openxmlformats.org/officeDocument/2006/relationships/image" Target="../media/image11.png"/><Relationship Id="rId7" Type="http://schemas.openxmlformats.org/officeDocument/2006/relationships/image" Target="../media/image9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png"/><Relationship Id="rId3" Type="http://schemas.openxmlformats.org/officeDocument/2006/relationships/image" Target="../media/image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5.png"/><Relationship Id="rId7" Type="http://schemas.openxmlformats.org/officeDocument/2006/relationships/image" Target="../media/image5.png"/><Relationship Id="rId8" Type="http://schemas.openxmlformats.org/officeDocument/2006/relationships/image" Target="../media/image17.png"/><Relationship Id="rId9" Type="http://schemas.openxmlformats.org/officeDocument/2006/relationships/image" Target="../media/image12.png"/><Relationship Id="rId10" Type="http://schemas.openxmlformats.org/officeDocument/2006/relationships/image" Target="../media/image13.png"/><Relationship Id="rId11" Type="http://schemas.openxmlformats.org/officeDocument/2006/relationships/image" Target="../media/image9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16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8.png"/><Relationship Id="rId4" Type="http://schemas.openxmlformats.org/officeDocument/2006/relationships/image" Target="../media/image12.png"/><Relationship Id="rId5" Type="http://schemas.openxmlformats.org/officeDocument/2006/relationships/image" Target="../media/image7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14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4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image" Target="../media/image13.png"/><Relationship Id="rId3" Type="http://schemas.openxmlformats.org/officeDocument/2006/relationships/image" Target="../media/image6.png"/><Relationship Id="rId4" Type="http://schemas.openxmlformats.org/officeDocument/2006/relationships/image" Target="../media/image25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7.png"/><Relationship Id="rId3" Type="http://schemas.openxmlformats.org/officeDocument/2006/relationships/image" Target="../media/image11.png"/><Relationship Id="rId4" Type="http://schemas.openxmlformats.org/officeDocument/2006/relationships/image" Target="../media/image26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image" Target="../media/image27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8.png"/><Relationship Id="rId3" Type="http://schemas.openxmlformats.org/officeDocument/2006/relationships/image" Target="../media/image2.png"/><Relationship Id="rId4" Type="http://schemas.openxmlformats.org/officeDocument/2006/relationships/image" Target="../media/image1.png"/><Relationship Id="rId5" Type="http://schemas.openxmlformats.org/officeDocument/2006/relationships/image" Target="../media/image5.png"/><Relationship Id="rId6" Type="http://schemas.openxmlformats.org/officeDocument/2006/relationships/image" Target="../media/image29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26.png"/><Relationship Id="rId10" Type="http://schemas.openxmlformats.org/officeDocument/2006/relationships/image" Target="../media/image21.png"/><Relationship Id="rId11" Type="http://schemas.openxmlformats.org/officeDocument/2006/relationships/image" Target="../media/image8.png"/><Relationship Id="rId12" Type="http://schemas.openxmlformats.org/officeDocument/2006/relationships/image" Target="../media/image13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11.png"/><Relationship Id="rId6" Type="http://schemas.openxmlformats.org/officeDocument/2006/relationships/image" Target="../media/image21.png"/><Relationship Id="rId7" Type="http://schemas.openxmlformats.org/officeDocument/2006/relationships/image" Target="../media/image26.png"/><Relationship Id="rId8" Type="http://schemas.openxmlformats.org/officeDocument/2006/relationships/image" Target="../media/image11.png"/><Relationship Id="rId9" Type="http://schemas.openxmlformats.org/officeDocument/2006/relationships/image" Target="../media/image13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.png"/><Relationship Id="rId3" Type="http://schemas.openxmlformats.org/officeDocument/2006/relationships/image" Target="../media/image18.png"/><Relationship Id="rId4" Type="http://schemas.openxmlformats.org/officeDocument/2006/relationships/image" Target="../media/image26.png"/><Relationship Id="rId5" Type="http://schemas.openxmlformats.org/officeDocument/2006/relationships/image" Target="../media/image26.png"/><Relationship Id="rId6" Type="http://schemas.openxmlformats.org/officeDocument/2006/relationships/image" Target="../media/image26.png"/><Relationship Id="rId7" Type="http://schemas.openxmlformats.org/officeDocument/2006/relationships/image" Target="../media/image26.png"/><Relationship Id="rId8" Type="http://schemas.openxmlformats.org/officeDocument/2006/relationships/image" Target="../media/image26.png"/><Relationship Id="rId9" Type="http://schemas.openxmlformats.org/officeDocument/2006/relationships/image" Target="../media/image26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34.png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Relationship Id="rId5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38.png"/><Relationship Id="rId2" Type="http://schemas.openxmlformats.org/officeDocument/2006/relationships/image" Target="../media/image39.png"/><Relationship Id="rId3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40.png"/><Relationship Id="rId2" Type="http://schemas.openxmlformats.org/officeDocument/2006/relationships/image" Target="../media/image40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0.png"/><Relationship Id="rId6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42.png"/><Relationship Id="rId2" Type="http://schemas.openxmlformats.org/officeDocument/2006/relationships/image" Target="../media/image43.png"/><Relationship Id="rId3" Type="http://schemas.openxmlformats.org/officeDocument/2006/relationships/image" Target="../media/image44.png"/><Relationship Id="rId4" Type="http://schemas.openxmlformats.org/officeDocument/2006/relationships/image" Target="../media/image45.png"/><Relationship Id="rId5" Type="http://schemas.openxmlformats.org/officeDocument/2006/relationships/image" Target="../media/image46.png"/><Relationship Id="rId6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47.png"/><Relationship Id="rId2" Type="http://schemas.openxmlformats.org/officeDocument/2006/relationships/image" Target="../media/image48.png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Relationship Id="rId6" Type="http://schemas.openxmlformats.org/officeDocument/2006/relationships/image" Target="../media/image52.png"/><Relationship Id="rId7" Type="http://schemas.openxmlformats.org/officeDocument/2006/relationships/image" Target="../media/image53.png"/><Relationship Id="rId8" Type="http://schemas.openxmlformats.org/officeDocument/2006/relationships/image" Target="../media/image53.png"/><Relationship Id="rId9" Type="http://schemas.openxmlformats.org/officeDocument/2006/relationships/image" Target="../media/image47.png"/><Relationship Id="rId10" Type="http://schemas.openxmlformats.org/officeDocument/2006/relationships/image" Target="../media/image53.png"/><Relationship Id="rId11" Type="http://schemas.openxmlformats.org/officeDocument/2006/relationships/image" Target="../media/image48.png"/><Relationship Id="rId12" Type="http://schemas.openxmlformats.org/officeDocument/2006/relationships/image" Target="../media/image53.png"/><Relationship Id="rId13" Type="http://schemas.openxmlformats.org/officeDocument/2006/relationships/image" Target="../media/image50.png"/><Relationship Id="rId14" Type="http://schemas.openxmlformats.org/officeDocument/2006/relationships/image" Target="../media/image53.png"/><Relationship Id="rId15" Type="http://schemas.openxmlformats.org/officeDocument/2006/relationships/image" Target="../media/image49.png"/><Relationship Id="rId16" Type="http://schemas.openxmlformats.org/officeDocument/2006/relationships/image" Target="../media/image41.png"/><Relationship Id="rId17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54.png"/><Relationship Id="rId2" Type="http://schemas.openxmlformats.org/officeDocument/2006/relationships/image" Target="../media/image52.png"/><Relationship Id="rId3" Type="http://schemas.openxmlformats.org/officeDocument/2006/relationships/image" Target="../media/image47.png"/><Relationship Id="rId4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55.png"/><Relationship Id="rId2" Type="http://schemas.openxmlformats.org/officeDocument/2006/relationships/image" Target="../media/image56.png"/><Relationship Id="rId3" Type="http://schemas.openxmlformats.org/officeDocument/2006/relationships/image" Target="../media/image47.png"/><Relationship Id="rId4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49.png"/><Relationship Id="rId2" Type="http://schemas.openxmlformats.org/officeDocument/2006/relationships/image" Target="../media/image48.png"/><Relationship Id="rId3" Type="http://schemas.openxmlformats.org/officeDocument/2006/relationships/image" Target="../media/image47.png"/><Relationship Id="rId4" Type="http://schemas.openxmlformats.org/officeDocument/2006/relationships/image" Target="../media/image39.png"/><Relationship Id="rId5" Type="http://schemas.openxmlformats.org/officeDocument/2006/relationships/image" Target="../media/image57.png"/><Relationship Id="rId6" Type="http://schemas.openxmlformats.org/officeDocument/2006/relationships/image" Target="../media/image58.png"/><Relationship Id="rId7" Type="http://schemas.openxmlformats.org/officeDocument/2006/relationships/image" Target="../media/image59.png"/><Relationship Id="rId8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37.png"/><Relationship Id="rId2" Type="http://schemas.openxmlformats.org/officeDocument/2006/relationships/image" Target="../media/image60.png"/><Relationship Id="rId3" Type="http://schemas.openxmlformats.org/officeDocument/2006/relationships/image" Target="../media/image54.png"/><Relationship Id="rId4" Type="http://schemas.openxmlformats.org/officeDocument/2006/relationships/image" Target="../media/image61.png"/><Relationship Id="rId5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e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8778240" y="-2011680"/>
            <a:ext cx="6399360" cy="6399360"/>
          </a:xfrm>
          <a:prstGeom prst="ellipse">
            <a:avLst/>
          </a:prstGeom>
          <a:solidFill>
            <a:srgbClr val="16324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Shape 1"/>
          <p:cNvSpPr/>
          <p:nvPr/>
        </p:nvSpPr>
        <p:spPr>
          <a:xfrm>
            <a:off x="10241280" y="3291840"/>
            <a:ext cx="4113360" cy="4113360"/>
          </a:xfrm>
          <a:prstGeom prst="ellipse">
            <a:avLst/>
          </a:prstGeom>
          <a:solidFill>
            <a:srgbClr val="0d24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Shape 2"/>
          <p:cNvSpPr/>
          <p:nvPr/>
        </p:nvSpPr>
        <p:spPr>
          <a:xfrm>
            <a:off x="9464040" y="502920"/>
            <a:ext cx="1964520" cy="53280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6480" bIns="-648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Shape 3"/>
          <p:cNvSpPr/>
          <p:nvPr/>
        </p:nvSpPr>
        <p:spPr>
          <a:xfrm>
            <a:off x="9482400" y="822960"/>
            <a:ext cx="1644480" cy="53280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6480" bIns="-648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Shape 4"/>
          <p:cNvSpPr/>
          <p:nvPr/>
        </p:nvSpPr>
        <p:spPr>
          <a:xfrm>
            <a:off x="9500760" y="1143000"/>
            <a:ext cx="1324440" cy="53280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6480" bIns="-648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Shape 5"/>
          <p:cNvSpPr/>
          <p:nvPr/>
        </p:nvSpPr>
        <p:spPr>
          <a:xfrm>
            <a:off x="9518760" y="1463040"/>
            <a:ext cx="1004400" cy="53280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6480" bIns="-648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Text 6"/>
          <p:cNvSpPr/>
          <p:nvPr/>
        </p:nvSpPr>
        <p:spPr>
          <a:xfrm>
            <a:off x="640080" y="1234440"/>
            <a:ext cx="86853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239" strike="noStrike">
                <a:solidFill>
                  <a:srgbClr val="7dd3fc"/>
                </a:solidFill>
                <a:latin typeface="Calibri"/>
                <a:ea typeface="Calibri"/>
              </a:rPr>
              <a:t>SERVERLESS ENGINEERING &amp; ARCHITECTURE REVIEW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Text 7"/>
          <p:cNvSpPr/>
          <p:nvPr/>
        </p:nvSpPr>
        <p:spPr>
          <a:xfrm>
            <a:off x="594360" y="1691640"/>
            <a:ext cx="1051416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5000" spc="-1" strike="noStrike">
                <a:solidFill>
                  <a:srgbClr val="ffffff"/>
                </a:solidFill>
                <a:latin typeface="Cambria"/>
                <a:ea typeface="Cambria"/>
              </a:rPr>
              <a:t>Serverless Compute</a:t>
            </a:r>
            <a:endParaRPr b="0" lang="en-US" sz="5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Text 8"/>
          <p:cNvSpPr/>
          <p:nvPr/>
        </p:nvSpPr>
        <p:spPr>
          <a:xfrm>
            <a:off x="594360" y="2423160"/>
            <a:ext cx="1051416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400" spc="-1" strike="noStrike">
                <a:solidFill>
                  <a:srgbClr val="0ea5e9"/>
                </a:solidFill>
                <a:latin typeface="Cambria"/>
                <a:ea typeface="Cambria"/>
              </a:rPr>
              <a:t>Research &amp; Platform Analysis</a:t>
            </a:r>
            <a:endParaRPr b="0" lang="en-US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Shape 9"/>
          <p:cNvSpPr/>
          <p:nvPr/>
        </p:nvSpPr>
        <p:spPr>
          <a:xfrm>
            <a:off x="640080" y="3364920"/>
            <a:ext cx="4754880" cy="360"/>
          </a:xfrm>
          <a:prstGeom prst="line">
            <a:avLst/>
          </a:prstGeom>
          <a:ln w="19050">
            <a:solidFill>
              <a:srgbClr val="1d3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Text 10"/>
          <p:cNvSpPr/>
          <p:nvPr/>
        </p:nvSpPr>
        <p:spPr>
          <a:xfrm>
            <a:off x="640080" y="3520440"/>
            <a:ext cx="694800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50" spc="-1" strike="noStrike">
                <a:solidFill>
                  <a:srgbClr val="c7d6e8"/>
                </a:solidFill>
                <a:latin typeface="Calibri"/>
                <a:ea typeface="Calibri"/>
              </a:rPr>
              <a:t>Evaluating Function-as-a-Service, serverless containers, edge and BaaS platforms to modernize Python and Next.js workloads.</a:t>
            </a:r>
            <a:endParaRPr b="0" lang="en-US" sz="14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Shape 11"/>
          <p:cNvSpPr/>
          <p:nvPr/>
        </p:nvSpPr>
        <p:spPr>
          <a:xfrm>
            <a:off x="640080" y="4343400"/>
            <a:ext cx="2238840" cy="565560"/>
          </a:xfrm>
          <a:prstGeom prst="roundRect">
            <a:avLst>
              <a:gd name="adj" fmla="val 50000"/>
            </a:avLst>
          </a:prstGeom>
          <a:solidFill>
            <a:srgbClr val="16324f"/>
          </a:solidFill>
          <a:ln w="12700">
            <a:solidFill>
              <a:srgbClr val="1d3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0" name="Image 0" descr="/home/claude/icons/python.png"/>
          <p:cNvPicPr/>
          <p:nvPr/>
        </p:nvPicPr>
        <p:blipFill>
          <a:blip r:embed="rId1"/>
          <a:stretch/>
        </p:blipFill>
        <p:spPr>
          <a:xfrm>
            <a:off x="786240" y="4480560"/>
            <a:ext cx="291240" cy="291240"/>
          </a:xfrm>
          <a:prstGeom prst="rect">
            <a:avLst/>
          </a:prstGeom>
          <a:ln w="0">
            <a:noFill/>
          </a:ln>
        </p:spPr>
      </p:pic>
      <p:sp>
        <p:nvSpPr>
          <p:cNvPr id="21" name="Text 12"/>
          <p:cNvSpPr/>
          <p:nvPr/>
        </p:nvSpPr>
        <p:spPr>
          <a:xfrm>
            <a:off x="1152000" y="4343400"/>
            <a:ext cx="1690200" cy="56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Python Services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Shape 13"/>
          <p:cNvSpPr/>
          <p:nvPr/>
        </p:nvSpPr>
        <p:spPr>
          <a:xfrm>
            <a:off x="3108960" y="4343400"/>
            <a:ext cx="2238840" cy="565560"/>
          </a:xfrm>
          <a:prstGeom prst="roundRect">
            <a:avLst>
              <a:gd name="adj" fmla="val 50000"/>
            </a:avLst>
          </a:prstGeom>
          <a:solidFill>
            <a:srgbClr val="16324f"/>
          </a:solidFill>
          <a:ln w="12700">
            <a:solidFill>
              <a:srgbClr val="1d3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3" name="Image 1" descr="/home/claude/icons/react.png"/>
          <p:cNvPicPr/>
          <p:nvPr/>
        </p:nvPicPr>
        <p:blipFill>
          <a:blip r:embed="rId2"/>
          <a:stretch/>
        </p:blipFill>
        <p:spPr>
          <a:xfrm>
            <a:off x="3255120" y="4480560"/>
            <a:ext cx="291240" cy="291240"/>
          </a:xfrm>
          <a:prstGeom prst="rect">
            <a:avLst/>
          </a:prstGeom>
          <a:ln w="0">
            <a:noFill/>
          </a:ln>
        </p:spPr>
      </p:pic>
      <p:sp>
        <p:nvSpPr>
          <p:cNvPr id="24" name="Text 14"/>
          <p:cNvSpPr/>
          <p:nvPr/>
        </p:nvSpPr>
        <p:spPr>
          <a:xfrm>
            <a:off x="3620880" y="4343400"/>
            <a:ext cx="1690200" cy="56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Next.js Frontend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Shape 15"/>
          <p:cNvSpPr/>
          <p:nvPr/>
        </p:nvSpPr>
        <p:spPr>
          <a:xfrm>
            <a:off x="640080" y="5257800"/>
            <a:ext cx="6856560" cy="1050120"/>
          </a:xfrm>
          <a:prstGeom prst="roundRect">
            <a:avLst>
              <a:gd name="adj" fmla="val 7826"/>
            </a:avLst>
          </a:prstGeom>
          <a:solidFill>
            <a:srgbClr val="1d3e63"/>
          </a:solidFill>
          <a:ln w="12700">
            <a:solidFill>
              <a:srgbClr val="27476e"/>
            </a:solidFill>
            <a:round/>
          </a:ln>
          <a:effectLst>
            <a:outerShdw algn="bl" blurRad="88920" dir="5400000" dist="25560" kx="0" ky="0" rotWithShape="0" sx="100000" sy="100000">
              <a:srgbClr val="01050c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Text 16"/>
          <p:cNvSpPr/>
          <p:nvPr/>
        </p:nvSpPr>
        <p:spPr>
          <a:xfrm>
            <a:off x="914400" y="5394960"/>
            <a:ext cx="2741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8ca3be"/>
                </a:solidFill>
                <a:latin typeface="Calibri"/>
                <a:ea typeface="Calibri"/>
              </a:rPr>
              <a:t>Presented by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" name="Text 17"/>
          <p:cNvSpPr/>
          <p:nvPr/>
        </p:nvSpPr>
        <p:spPr>
          <a:xfrm>
            <a:off x="914400" y="5650920"/>
            <a:ext cx="62164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mbria"/>
                <a:ea typeface="Cambria"/>
              </a:rPr>
              <a:t>DevOps &amp; Cloud Engineering Team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Text 18"/>
          <p:cNvSpPr/>
          <p:nvPr/>
        </p:nvSpPr>
        <p:spPr>
          <a:xfrm>
            <a:off x="914400" y="5998320"/>
            <a:ext cx="62164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8ca3be"/>
                </a:solidFill>
                <a:latin typeface="Calibri"/>
                <a:ea typeface="Calibri"/>
              </a:rPr>
              <a:t>Cloud Architecture Review 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Shape 19"/>
          <p:cNvSpPr/>
          <p:nvPr/>
        </p:nvSpPr>
        <p:spPr>
          <a:xfrm>
            <a:off x="9052560" y="4480560"/>
            <a:ext cx="1050120" cy="1050120"/>
          </a:xfrm>
          <a:prstGeom prst="roundRect">
            <a:avLst>
              <a:gd name="adj" fmla="val 13913"/>
            </a:avLst>
          </a:prstGeom>
          <a:solidFill>
            <a:srgbClr val="16324f"/>
          </a:solidFill>
          <a:ln w="12700">
            <a:solidFill>
              <a:srgbClr val="1d3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0" name="Image 2" descr="/home/claude/icons/cloud.png"/>
          <p:cNvPicPr/>
          <p:nvPr/>
        </p:nvPicPr>
        <p:blipFill>
          <a:blip r:embed="rId3"/>
          <a:stretch/>
        </p:blipFill>
        <p:spPr>
          <a:xfrm>
            <a:off x="9326880" y="4754880"/>
            <a:ext cx="501480" cy="501480"/>
          </a:xfrm>
          <a:prstGeom prst="rect">
            <a:avLst/>
          </a:prstGeom>
          <a:ln w="0">
            <a:noFill/>
          </a:ln>
        </p:spPr>
      </p:pic>
      <p:sp>
        <p:nvSpPr>
          <p:cNvPr id="31" name="Shape 20"/>
          <p:cNvSpPr/>
          <p:nvPr/>
        </p:nvSpPr>
        <p:spPr>
          <a:xfrm>
            <a:off x="10287000" y="4480560"/>
            <a:ext cx="1050120" cy="1050120"/>
          </a:xfrm>
          <a:prstGeom prst="roundRect">
            <a:avLst>
              <a:gd name="adj" fmla="val 13913"/>
            </a:avLst>
          </a:prstGeom>
          <a:solidFill>
            <a:srgbClr val="16324f"/>
          </a:solidFill>
          <a:ln w="12700">
            <a:solidFill>
              <a:srgbClr val="1d3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2" name="Image 3" descr="/home/claude/icons/server.png"/>
          <p:cNvPicPr/>
          <p:nvPr/>
        </p:nvPicPr>
        <p:blipFill>
          <a:blip r:embed="rId4"/>
          <a:stretch/>
        </p:blipFill>
        <p:spPr>
          <a:xfrm>
            <a:off x="10561320" y="4754880"/>
            <a:ext cx="501480" cy="501480"/>
          </a:xfrm>
          <a:prstGeom prst="rect">
            <a:avLst/>
          </a:prstGeom>
          <a:ln w="0">
            <a:noFill/>
          </a:ln>
        </p:spPr>
      </p:pic>
      <p:sp>
        <p:nvSpPr>
          <p:cNvPr id="33" name="Shape 21"/>
          <p:cNvSpPr/>
          <p:nvPr/>
        </p:nvSpPr>
        <p:spPr>
          <a:xfrm>
            <a:off x="9052560" y="5715000"/>
            <a:ext cx="1050120" cy="1050120"/>
          </a:xfrm>
          <a:prstGeom prst="roundRect">
            <a:avLst>
              <a:gd name="adj" fmla="val 13913"/>
            </a:avLst>
          </a:prstGeom>
          <a:solidFill>
            <a:srgbClr val="16324f"/>
          </a:solidFill>
          <a:ln w="12700">
            <a:solidFill>
              <a:srgbClr val="1d3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4" name="Image 4" descr="/home/claude/icons/bolt.png"/>
          <p:cNvPicPr/>
          <p:nvPr/>
        </p:nvPicPr>
        <p:blipFill>
          <a:blip r:embed="rId5"/>
          <a:stretch/>
        </p:blipFill>
        <p:spPr>
          <a:xfrm>
            <a:off x="9326880" y="5989320"/>
            <a:ext cx="501480" cy="501480"/>
          </a:xfrm>
          <a:prstGeom prst="rect">
            <a:avLst/>
          </a:prstGeom>
          <a:ln w="0">
            <a:noFill/>
          </a:ln>
        </p:spPr>
      </p:pic>
      <p:sp>
        <p:nvSpPr>
          <p:cNvPr id="35" name="Shape 22"/>
          <p:cNvSpPr/>
          <p:nvPr/>
        </p:nvSpPr>
        <p:spPr>
          <a:xfrm>
            <a:off x="10287000" y="5715000"/>
            <a:ext cx="1050120" cy="1050120"/>
          </a:xfrm>
          <a:prstGeom prst="roundRect">
            <a:avLst>
              <a:gd name="adj" fmla="val 13913"/>
            </a:avLst>
          </a:prstGeom>
          <a:solidFill>
            <a:srgbClr val="16324f"/>
          </a:solidFill>
          <a:ln w="12700">
            <a:solidFill>
              <a:srgbClr val="1d3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6" name="Image 5" descr="/home/claude/icons/layer.png"/>
          <p:cNvPicPr/>
          <p:nvPr/>
        </p:nvPicPr>
        <p:blipFill>
          <a:blip r:embed="rId6"/>
          <a:stretch/>
        </p:blipFill>
        <p:spPr>
          <a:xfrm>
            <a:off x="10561320" y="5989320"/>
            <a:ext cx="501480" cy="5014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e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 0"/>
          <p:cNvSpPr/>
          <p:nvPr/>
        </p:nvSpPr>
        <p:spPr>
          <a:xfrm>
            <a:off x="502920" y="320040"/>
            <a:ext cx="9142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191" strike="noStrike">
                <a:solidFill>
                  <a:srgbClr val="7dd3fc"/>
                </a:solidFill>
                <a:latin typeface="Calibri"/>
                <a:ea typeface="Calibri"/>
              </a:rPr>
              <a:t>WHY WE'RE HERE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" name="Text 1"/>
          <p:cNvSpPr/>
          <p:nvPr/>
        </p:nvSpPr>
        <p:spPr>
          <a:xfrm>
            <a:off x="502920" y="567000"/>
            <a:ext cx="11154240" cy="56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ffffff"/>
                </a:solidFill>
                <a:latin typeface="Cambria"/>
                <a:ea typeface="Cambria"/>
              </a:rPr>
              <a:t>Problem Statement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" name="Text 2"/>
          <p:cNvSpPr/>
          <p:nvPr/>
        </p:nvSpPr>
        <p:spPr>
          <a:xfrm>
            <a:off x="502920" y="1188720"/>
            <a:ext cx="111542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d7e4f2"/>
                </a:solidFill>
                <a:latin typeface="Calibri"/>
                <a:ea typeface="Calibri"/>
              </a:rPr>
              <a:t>Internal Python and Next.js applications run on always-on, server-based infrastructure — regardless of how many users are active.</a:t>
            </a:r>
            <a:endParaRPr b="0" lang="en-US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" name="Shape 3"/>
          <p:cNvSpPr/>
          <p:nvPr/>
        </p:nvSpPr>
        <p:spPr>
          <a:xfrm>
            <a:off x="502920" y="1691640"/>
            <a:ext cx="6673680" cy="2558880"/>
          </a:xfrm>
          <a:prstGeom prst="roundRect">
            <a:avLst>
              <a:gd name="adj" fmla="val 3214"/>
            </a:avLst>
          </a:prstGeom>
          <a:solidFill>
            <a:srgbClr val="16324f"/>
          </a:solidFill>
          <a:ln w="12700">
            <a:solidFill>
              <a:srgbClr val="27476e"/>
            </a:solidFill>
            <a:round/>
          </a:ln>
          <a:effectLst>
            <a:outerShdw algn="bl" blurRad="88920" dir="5400000" dist="25560" kx="0" ky="0" rotWithShape="0" sx="100000" sy="100000">
              <a:srgbClr val="01050c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Text 4"/>
          <p:cNvSpPr/>
          <p:nvPr/>
        </p:nvSpPr>
        <p:spPr>
          <a:xfrm>
            <a:off x="777240" y="1856160"/>
            <a:ext cx="61250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89" strike="noStrike">
                <a:solidFill>
                  <a:srgbClr val="93aac7"/>
                </a:solidFill>
                <a:latin typeface="Calibri"/>
                <a:ea typeface="Calibri"/>
              </a:rPr>
              <a:t>A TYPICAL WORKDAY — SERVER UTILIZATION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" name="Shape 5"/>
          <p:cNvSpPr/>
          <p:nvPr/>
        </p:nvSpPr>
        <p:spPr>
          <a:xfrm>
            <a:off x="1037160" y="3478320"/>
            <a:ext cx="427320" cy="86400"/>
          </a:xfrm>
          <a:prstGeom prst="roundRect">
            <a:avLst>
              <a:gd name="adj" fmla="val 31250"/>
            </a:avLst>
          </a:prstGeom>
          <a:solidFill>
            <a:srgbClr val="3c59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6640" bIns="2664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" name="Text 6"/>
          <p:cNvSpPr/>
          <p:nvPr/>
        </p:nvSpPr>
        <p:spPr>
          <a:xfrm>
            <a:off x="945720" y="3602880"/>
            <a:ext cx="6102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93aac7"/>
                </a:solidFill>
                <a:latin typeface="Calibri"/>
                <a:ea typeface="Calibri"/>
              </a:rPr>
              <a:t>12AM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" name="Shape 7"/>
          <p:cNvSpPr/>
          <p:nvPr/>
        </p:nvSpPr>
        <p:spPr>
          <a:xfrm>
            <a:off x="1802880" y="3511440"/>
            <a:ext cx="427320" cy="53280"/>
          </a:xfrm>
          <a:prstGeom prst="roundRect">
            <a:avLst>
              <a:gd name="adj" fmla="val 50000"/>
            </a:avLst>
          </a:prstGeom>
          <a:solidFill>
            <a:srgbClr val="3c59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6480" bIns="-648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" name="Text 8"/>
          <p:cNvSpPr/>
          <p:nvPr/>
        </p:nvSpPr>
        <p:spPr>
          <a:xfrm>
            <a:off x="1711440" y="3602880"/>
            <a:ext cx="6102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93aac7"/>
                </a:solidFill>
                <a:latin typeface="Calibri"/>
                <a:ea typeface="Calibri"/>
              </a:rPr>
              <a:t>4AM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" name="Shape 9"/>
          <p:cNvSpPr/>
          <p:nvPr/>
        </p:nvSpPr>
        <p:spPr>
          <a:xfrm>
            <a:off x="2568600" y="3182040"/>
            <a:ext cx="427320" cy="382680"/>
          </a:xfrm>
          <a:prstGeom prst="roundRect">
            <a:avLst>
              <a:gd name="adj" fmla="val 7143"/>
            </a:avLst>
          </a:prstGeom>
          <a:solidFill>
            <a:srgbClr val="3c59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" name="Text 10"/>
          <p:cNvSpPr/>
          <p:nvPr/>
        </p:nvSpPr>
        <p:spPr>
          <a:xfrm>
            <a:off x="2477160" y="3602880"/>
            <a:ext cx="6102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93aac7"/>
                </a:solidFill>
                <a:latin typeface="Calibri"/>
                <a:ea typeface="Calibri"/>
              </a:rPr>
              <a:t>8AM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" name="Shape 11"/>
          <p:cNvSpPr/>
          <p:nvPr/>
        </p:nvSpPr>
        <p:spPr>
          <a:xfrm>
            <a:off x="3334680" y="2600640"/>
            <a:ext cx="427320" cy="964080"/>
          </a:xfrm>
          <a:prstGeom prst="roundRect">
            <a:avLst>
              <a:gd name="adj" fmla="val 6397"/>
            </a:avLst>
          </a:prstGeom>
          <a:solidFill>
            <a:srgbClr val="0ea5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" name="Text 12"/>
          <p:cNvSpPr/>
          <p:nvPr/>
        </p:nvSpPr>
        <p:spPr>
          <a:xfrm>
            <a:off x="3243240" y="3602880"/>
            <a:ext cx="6102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93aac7"/>
                </a:solidFill>
                <a:latin typeface="Calibri"/>
                <a:ea typeface="Calibri"/>
              </a:rPr>
              <a:t>9AM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" name="Shape 13"/>
          <p:cNvSpPr/>
          <p:nvPr/>
        </p:nvSpPr>
        <p:spPr>
          <a:xfrm>
            <a:off x="4100400" y="2853000"/>
            <a:ext cx="427320" cy="711720"/>
          </a:xfrm>
          <a:prstGeom prst="roundRect">
            <a:avLst>
              <a:gd name="adj" fmla="val 6397"/>
            </a:avLst>
          </a:prstGeom>
          <a:solidFill>
            <a:srgbClr val="3c59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" name="Text 14"/>
          <p:cNvSpPr/>
          <p:nvPr/>
        </p:nvSpPr>
        <p:spPr>
          <a:xfrm>
            <a:off x="4008960" y="3602880"/>
            <a:ext cx="6102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93aac7"/>
                </a:solidFill>
                <a:latin typeface="Calibri"/>
                <a:ea typeface="Calibri"/>
              </a:rPr>
              <a:t>12PM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" name="Shape 15"/>
          <p:cNvSpPr/>
          <p:nvPr/>
        </p:nvSpPr>
        <p:spPr>
          <a:xfrm>
            <a:off x="4866120" y="2556720"/>
            <a:ext cx="427320" cy="1008000"/>
          </a:xfrm>
          <a:prstGeom prst="roundRect">
            <a:avLst>
              <a:gd name="adj" fmla="val 6397"/>
            </a:avLst>
          </a:prstGeom>
          <a:solidFill>
            <a:srgbClr val="0ea5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" name="Text 16"/>
          <p:cNvSpPr/>
          <p:nvPr/>
        </p:nvSpPr>
        <p:spPr>
          <a:xfrm>
            <a:off x="4774680" y="3602880"/>
            <a:ext cx="6102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93aac7"/>
                </a:solidFill>
                <a:latin typeface="Calibri"/>
                <a:ea typeface="Calibri"/>
              </a:rPr>
              <a:t>3PM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" name="Shape 17"/>
          <p:cNvSpPr/>
          <p:nvPr/>
        </p:nvSpPr>
        <p:spPr>
          <a:xfrm>
            <a:off x="5631840" y="3127320"/>
            <a:ext cx="427320" cy="437400"/>
          </a:xfrm>
          <a:prstGeom prst="roundRect">
            <a:avLst>
              <a:gd name="adj" fmla="val 6397"/>
            </a:avLst>
          </a:prstGeom>
          <a:solidFill>
            <a:srgbClr val="3c59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" name="Text 18"/>
          <p:cNvSpPr/>
          <p:nvPr/>
        </p:nvSpPr>
        <p:spPr>
          <a:xfrm>
            <a:off x="5540400" y="3602880"/>
            <a:ext cx="6102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93aac7"/>
                </a:solidFill>
                <a:latin typeface="Calibri"/>
                <a:ea typeface="Calibri"/>
              </a:rPr>
              <a:t>6PM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" name="Shape 19"/>
          <p:cNvSpPr/>
          <p:nvPr/>
        </p:nvSpPr>
        <p:spPr>
          <a:xfrm>
            <a:off x="6397920" y="3434400"/>
            <a:ext cx="427320" cy="130320"/>
          </a:xfrm>
          <a:prstGeom prst="roundRect">
            <a:avLst>
              <a:gd name="adj" fmla="val 20833"/>
            </a:avLst>
          </a:prstGeom>
          <a:solidFill>
            <a:srgbClr val="3c59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" name="Text 20"/>
          <p:cNvSpPr/>
          <p:nvPr/>
        </p:nvSpPr>
        <p:spPr>
          <a:xfrm>
            <a:off x="6306480" y="3602880"/>
            <a:ext cx="6102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93aac7"/>
                </a:solidFill>
                <a:latin typeface="Calibri"/>
                <a:ea typeface="Calibri"/>
              </a:rPr>
              <a:t>9PM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Shape 21"/>
          <p:cNvSpPr/>
          <p:nvPr/>
        </p:nvSpPr>
        <p:spPr>
          <a:xfrm>
            <a:off x="868680" y="3566160"/>
            <a:ext cx="6126480" cy="360"/>
          </a:xfrm>
          <a:prstGeom prst="line">
            <a:avLst/>
          </a:prstGeom>
          <a:ln w="12700">
            <a:solidFill>
              <a:srgbClr val="1d3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" name="Text 22"/>
          <p:cNvSpPr/>
          <p:nvPr/>
        </p:nvSpPr>
        <p:spPr>
          <a:xfrm>
            <a:off x="777240" y="3840480"/>
            <a:ext cx="6125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93aac7"/>
                </a:solidFill>
                <a:latin typeface="Calibri"/>
                <a:ea typeface="Calibri"/>
              </a:rPr>
              <a:t>Servers stay fully provisioned around the clock even though real demand occupies only a few hours a day — muted bars are paid-for, unused capacity.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" name="Shape 23"/>
          <p:cNvSpPr/>
          <p:nvPr/>
        </p:nvSpPr>
        <p:spPr>
          <a:xfrm>
            <a:off x="7406640" y="1691640"/>
            <a:ext cx="501480" cy="501480"/>
          </a:xfrm>
          <a:prstGeom prst="ellipse">
            <a:avLst/>
          </a:prstGeom>
          <a:solidFill>
            <a:srgbClr val="1d3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61" name="Image 0" descr="/home/claude/icons/clock.png"/>
          <p:cNvPicPr/>
          <p:nvPr/>
        </p:nvPicPr>
        <p:blipFill>
          <a:blip r:embed="rId1"/>
          <a:stretch/>
        </p:blipFill>
        <p:spPr>
          <a:xfrm>
            <a:off x="7472160" y="1757160"/>
            <a:ext cx="370800" cy="370800"/>
          </a:xfrm>
          <a:prstGeom prst="rect">
            <a:avLst/>
          </a:prstGeom>
          <a:ln w="0">
            <a:noFill/>
          </a:ln>
        </p:spPr>
      </p:pic>
      <p:sp>
        <p:nvSpPr>
          <p:cNvPr id="62" name="Text 24"/>
          <p:cNvSpPr/>
          <p:nvPr/>
        </p:nvSpPr>
        <p:spPr>
          <a:xfrm>
            <a:off x="8028360" y="167328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fffff"/>
                </a:solidFill>
                <a:latin typeface="Calibri"/>
                <a:ea typeface="Calibri"/>
              </a:rPr>
              <a:t>Idle Compute 24/7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" name="Text 25"/>
          <p:cNvSpPr/>
          <p:nvPr/>
        </p:nvSpPr>
        <p:spPr>
          <a:xfrm>
            <a:off x="8028360" y="1920240"/>
            <a:ext cx="365616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93aac7"/>
                </a:solidFill>
                <a:latin typeface="Calibri"/>
                <a:ea typeface="Calibri"/>
              </a:rPr>
              <a:t>Infrastructure stays active during nights and weekends with minimal traffic.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Shape 26"/>
          <p:cNvSpPr/>
          <p:nvPr/>
        </p:nvSpPr>
        <p:spPr>
          <a:xfrm>
            <a:off x="7406640" y="2340720"/>
            <a:ext cx="501480" cy="501480"/>
          </a:xfrm>
          <a:prstGeom prst="ellipse">
            <a:avLst/>
          </a:prstGeom>
          <a:solidFill>
            <a:srgbClr val="1d3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65" name="Image 1" descr="/home/claude/icons/dollar.png"/>
          <p:cNvPicPr/>
          <p:nvPr/>
        </p:nvPicPr>
        <p:blipFill>
          <a:blip r:embed="rId2"/>
          <a:stretch/>
        </p:blipFill>
        <p:spPr>
          <a:xfrm>
            <a:off x="7472160" y="2406240"/>
            <a:ext cx="370800" cy="370800"/>
          </a:xfrm>
          <a:prstGeom prst="rect">
            <a:avLst/>
          </a:prstGeom>
          <a:ln w="0">
            <a:noFill/>
          </a:ln>
        </p:spPr>
      </p:pic>
      <p:sp>
        <p:nvSpPr>
          <p:cNvPr id="66" name="Text 27"/>
          <p:cNvSpPr/>
          <p:nvPr/>
        </p:nvSpPr>
        <p:spPr>
          <a:xfrm>
            <a:off x="8028360" y="235908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fffff"/>
                </a:solidFill>
                <a:latin typeface="Calibri"/>
                <a:ea typeface="Calibri"/>
              </a:rPr>
              <a:t>Continuous Cost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" name="Text 28"/>
          <p:cNvSpPr/>
          <p:nvPr/>
        </p:nvSpPr>
        <p:spPr>
          <a:xfrm>
            <a:off x="8028360" y="2523600"/>
            <a:ext cx="365616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93aac7"/>
                </a:solidFill>
                <a:latin typeface="Calibri"/>
                <a:ea typeface="Calibri"/>
              </a:rPr>
              <a:t>Organizations pay for reserved capacity, not actual usage.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" name="Shape 29"/>
          <p:cNvSpPr/>
          <p:nvPr/>
        </p:nvSpPr>
        <p:spPr>
          <a:xfrm>
            <a:off x="7406640" y="3017520"/>
            <a:ext cx="501480" cy="501480"/>
          </a:xfrm>
          <a:prstGeom prst="ellipse">
            <a:avLst/>
          </a:prstGeom>
          <a:solidFill>
            <a:srgbClr val="1d3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69" name="Image 2" descr="/home/claude/icons/cogs.png"/>
          <p:cNvPicPr/>
          <p:nvPr/>
        </p:nvPicPr>
        <p:blipFill>
          <a:blip r:embed="rId3"/>
          <a:stretch/>
        </p:blipFill>
        <p:spPr>
          <a:xfrm>
            <a:off x="7472160" y="3090600"/>
            <a:ext cx="370800" cy="370800"/>
          </a:xfrm>
          <a:prstGeom prst="rect">
            <a:avLst/>
          </a:prstGeom>
          <a:ln w="0">
            <a:noFill/>
          </a:ln>
        </p:spPr>
      </p:pic>
      <p:sp>
        <p:nvSpPr>
          <p:cNvPr id="70" name="Text 30"/>
          <p:cNvSpPr/>
          <p:nvPr/>
        </p:nvSpPr>
        <p:spPr>
          <a:xfrm>
            <a:off x="8028360" y="297180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fffff"/>
                </a:solidFill>
                <a:latin typeface="Calibri"/>
                <a:ea typeface="Calibri"/>
              </a:rPr>
              <a:t>Manual Scaling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" name="Text 31"/>
          <p:cNvSpPr/>
          <p:nvPr/>
        </p:nvSpPr>
        <p:spPr>
          <a:xfrm>
            <a:off x="8028360" y="3218760"/>
            <a:ext cx="365616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93aac7"/>
                </a:solidFill>
                <a:latin typeface="Calibri"/>
                <a:ea typeface="Calibri"/>
              </a:rPr>
              <a:t>Traffic spikes require manual intervention or pre-provisioned headroom.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" name="Shape 32"/>
          <p:cNvSpPr/>
          <p:nvPr/>
        </p:nvSpPr>
        <p:spPr>
          <a:xfrm>
            <a:off x="7406640" y="3704760"/>
            <a:ext cx="501480" cy="501480"/>
          </a:xfrm>
          <a:prstGeom prst="ellipse">
            <a:avLst/>
          </a:prstGeom>
          <a:solidFill>
            <a:srgbClr val="1d3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73" name="Image 3" descr="/home/claude/icons/users.png"/>
          <p:cNvPicPr/>
          <p:nvPr/>
        </p:nvPicPr>
        <p:blipFill>
          <a:blip r:embed="rId4"/>
          <a:stretch/>
        </p:blipFill>
        <p:spPr>
          <a:xfrm>
            <a:off x="7472160" y="3742920"/>
            <a:ext cx="370800" cy="370800"/>
          </a:xfrm>
          <a:prstGeom prst="rect">
            <a:avLst/>
          </a:prstGeom>
          <a:ln w="0">
            <a:noFill/>
          </a:ln>
        </p:spPr>
      </p:pic>
      <p:sp>
        <p:nvSpPr>
          <p:cNvPr id="74" name="Text 33"/>
          <p:cNvSpPr/>
          <p:nvPr/>
        </p:nvSpPr>
        <p:spPr>
          <a:xfrm>
            <a:off x="8028360" y="365760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fffff"/>
                </a:solidFill>
                <a:latin typeface="Calibri"/>
                <a:ea typeface="Calibri"/>
              </a:rPr>
              <a:t>Operational Burden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" name="Text 34"/>
          <p:cNvSpPr/>
          <p:nvPr/>
        </p:nvSpPr>
        <p:spPr>
          <a:xfrm>
            <a:off x="8028360" y="3931920"/>
            <a:ext cx="3656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93aac7"/>
                </a:solidFill>
                <a:latin typeface="Calibri"/>
                <a:ea typeface="Calibri"/>
              </a:rPr>
              <a:t>Engineering time goes into patching, capacity planning, and upkeep.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" name="Shape 35"/>
          <p:cNvSpPr/>
          <p:nvPr/>
        </p:nvSpPr>
        <p:spPr>
          <a:xfrm>
            <a:off x="502920" y="4480560"/>
            <a:ext cx="11199960" cy="1918800"/>
          </a:xfrm>
          <a:prstGeom prst="roundRect">
            <a:avLst>
              <a:gd name="adj" fmla="val 4286"/>
            </a:avLst>
          </a:prstGeom>
          <a:solidFill>
            <a:srgbClr val="1d3e63"/>
          </a:solidFill>
          <a:ln w="12700">
            <a:solidFill>
              <a:srgbClr val="27476e"/>
            </a:solidFill>
            <a:round/>
          </a:ln>
          <a:effectLst>
            <a:outerShdw algn="bl" blurRad="88920" dir="5400000" dist="25560" kx="0" ky="0" rotWithShape="0" sx="100000" sy="100000">
              <a:srgbClr val="01050c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" name="Text 36"/>
          <p:cNvSpPr/>
          <p:nvPr/>
        </p:nvSpPr>
        <p:spPr>
          <a:xfrm>
            <a:off x="777240" y="4572000"/>
            <a:ext cx="5484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140" strike="noStrike">
                <a:solidFill>
                  <a:srgbClr val="7dd3fc"/>
                </a:solidFill>
                <a:latin typeface="Calibri"/>
                <a:ea typeface="Calibri"/>
              </a:rPr>
              <a:t>RESEARCH OBJECTIVES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" name="Shape 37"/>
          <p:cNvSpPr/>
          <p:nvPr/>
        </p:nvSpPr>
        <p:spPr>
          <a:xfrm>
            <a:off x="1366920" y="4956120"/>
            <a:ext cx="510480" cy="510480"/>
          </a:xfrm>
          <a:prstGeom prst="ellipse">
            <a:avLst/>
          </a:prstGeom>
          <a:solidFill>
            <a:srgbClr val="26507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79" name="Image 4" descr="/home/claude/icons/dollar.png"/>
          <p:cNvPicPr/>
          <p:nvPr/>
        </p:nvPicPr>
        <p:blipFill>
          <a:blip r:embed="rId5"/>
          <a:stretch/>
        </p:blipFill>
        <p:spPr>
          <a:xfrm>
            <a:off x="1433520" y="5022720"/>
            <a:ext cx="377640" cy="377640"/>
          </a:xfrm>
          <a:prstGeom prst="rect">
            <a:avLst/>
          </a:prstGeom>
          <a:ln w="0">
            <a:noFill/>
          </a:ln>
        </p:spPr>
      </p:pic>
      <p:sp>
        <p:nvSpPr>
          <p:cNvPr id="80" name="Text 38"/>
          <p:cNvSpPr/>
          <p:nvPr/>
        </p:nvSpPr>
        <p:spPr>
          <a:xfrm>
            <a:off x="594360" y="5504760"/>
            <a:ext cx="20559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Reduce Cost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" name="Text 39"/>
          <p:cNvSpPr/>
          <p:nvPr/>
        </p:nvSpPr>
        <p:spPr>
          <a:xfrm>
            <a:off x="631080" y="5760720"/>
            <a:ext cx="1982880" cy="56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93aac7"/>
                </a:solidFill>
                <a:latin typeface="Calibri"/>
                <a:ea typeface="Calibri"/>
              </a:rPr>
              <a:t>Cut spend on always-on servers and idle capacity.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" name="Shape 40"/>
          <p:cNvSpPr/>
          <p:nvPr/>
        </p:nvSpPr>
        <p:spPr>
          <a:xfrm>
            <a:off x="3607200" y="4956120"/>
            <a:ext cx="510480" cy="510480"/>
          </a:xfrm>
          <a:prstGeom prst="ellipse">
            <a:avLst/>
          </a:prstGeom>
          <a:solidFill>
            <a:srgbClr val="26507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3" name="Image 5" descr="/home/claude/icons/gauge.png"/>
          <p:cNvPicPr/>
          <p:nvPr/>
        </p:nvPicPr>
        <p:blipFill>
          <a:blip r:embed="rId6"/>
          <a:stretch/>
        </p:blipFill>
        <p:spPr>
          <a:xfrm>
            <a:off x="3673800" y="5022720"/>
            <a:ext cx="377640" cy="377640"/>
          </a:xfrm>
          <a:prstGeom prst="rect">
            <a:avLst/>
          </a:prstGeom>
          <a:ln w="0">
            <a:noFill/>
          </a:ln>
        </p:spPr>
      </p:pic>
      <p:sp>
        <p:nvSpPr>
          <p:cNvPr id="84" name="Text 41"/>
          <p:cNvSpPr/>
          <p:nvPr/>
        </p:nvSpPr>
        <p:spPr>
          <a:xfrm>
            <a:off x="2834640" y="5504760"/>
            <a:ext cx="20559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Improve Utilization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" name="Text 42"/>
          <p:cNvSpPr/>
          <p:nvPr/>
        </p:nvSpPr>
        <p:spPr>
          <a:xfrm>
            <a:off x="2871360" y="5760720"/>
            <a:ext cx="1982880" cy="56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93aac7"/>
                </a:solidFill>
                <a:latin typeface="Calibri"/>
                <a:ea typeface="Calibri"/>
              </a:rPr>
              <a:t>Match compute allocation to real, live demand.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" name="Shape 43"/>
          <p:cNvSpPr/>
          <p:nvPr/>
        </p:nvSpPr>
        <p:spPr>
          <a:xfrm>
            <a:off x="5847480" y="4956120"/>
            <a:ext cx="510480" cy="510480"/>
          </a:xfrm>
          <a:prstGeom prst="ellipse">
            <a:avLst/>
          </a:prstGeom>
          <a:solidFill>
            <a:srgbClr val="26507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7" name="Image 6" descr="/home/claude/icons/cogs.png"/>
          <p:cNvPicPr/>
          <p:nvPr/>
        </p:nvPicPr>
        <p:blipFill>
          <a:blip r:embed="rId7"/>
          <a:stretch/>
        </p:blipFill>
        <p:spPr>
          <a:xfrm>
            <a:off x="5914080" y="5022720"/>
            <a:ext cx="377640" cy="377640"/>
          </a:xfrm>
          <a:prstGeom prst="rect">
            <a:avLst/>
          </a:prstGeom>
          <a:ln w="0">
            <a:noFill/>
          </a:ln>
        </p:spPr>
      </p:pic>
      <p:sp>
        <p:nvSpPr>
          <p:cNvPr id="88" name="Text 44"/>
          <p:cNvSpPr/>
          <p:nvPr/>
        </p:nvSpPr>
        <p:spPr>
          <a:xfrm>
            <a:off x="5074920" y="5504760"/>
            <a:ext cx="20559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Simplify Operations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" name="Text 45"/>
          <p:cNvSpPr/>
          <p:nvPr/>
        </p:nvSpPr>
        <p:spPr>
          <a:xfrm>
            <a:off x="5111640" y="5760720"/>
            <a:ext cx="1982880" cy="56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93aac7"/>
                </a:solidFill>
                <a:latin typeface="Calibri"/>
                <a:ea typeface="Calibri"/>
              </a:rPr>
              <a:t>Offload patching, provisioning &amp; capacity planning.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Shape 46"/>
          <p:cNvSpPr/>
          <p:nvPr/>
        </p:nvSpPr>
        <p:spPr>
          <a:xfrm>
            <a:off x="8087760" y="4956120"/>
            <a:ext cx="510480" cy="510480"/>
          </a:xfrm>
          <a:prstGeom prst="ellipse">
            <a:avLst/>
          </a:prstGeom>
          <a:solidFill>
            <a:srgbClr val="26507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91" name="Image 7" descr="/home/claude/icons/sync.png"/>
          <p:cNvPicPr/>
          <p:nvPr/>
        </p:nvPicPr>
        <p:blipFill>
          <a:blip r:embed="rId8"/>
          <a:stretch/>
        </p:blipFill>
        <p:spPr>
          <a:xfrm>
            <a:off x="8154360" y="5022720"/>
            <a:ext cx="377640" cy="377640"/>
          </a:xfrm>
          <a:prstGeom prst="rect">
            <a:avLst/>
          </a:prstGeom>
          <a:ln w="0">
            <a:noFill/>
          </a:ln>
        </p:spPr>
      </p:pic>
      <p:sp>
        <p:nvSpPr>
          <p:cNvPr id="92" name="Text 47"/>
          <p:cNvSpPr/>
          <p:nvPr/>
        </p:nvSpPr>
        <p:spPr>
          <a:xfrm>
            <a:off x="7315200" y="5504760"/>
            <a:ext cx="20559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Enable Auto Scaling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" name="Text 48"/>
          <p:cNvSpPr/>
          <p:nvPr/>
        </p:nvSpPr>
        <p:spPr>
          <a:xfrm>
            <a:off x="7351920" y="5760720"/>
            <a:ext cx="1982880" cy="56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93aac7"/>
                </a:solidFill>
                <a:latin typeface="Calibri"/>
                <a:ea typeface="Calibri"/>
              </a:rPr>
              <a:t>Handle traffic spikes without manual intervention.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" name="Shape 49"/>
          <p:cNvSpPr/>
          <p:nvPr/>
        </p:nvSpPr>
        <p:spPr>
          <a:xfrm>
            <a:off x="10328040" y="4956120"/>
            <a:ext cx="510480" cy="510480"/>
          </a:xfrm>
          <a:prstGeom prst="ellipse">
            <a:avLst/>
          </a:prstGeom>
          <a:solidFill>
            <a:srgbClr val="26507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95" name="Image 8" descr="/home/claude/icons/rocket.png"/>
          <p:cNvPicPr/>
          <p:nvPr/>
        </p:nvPicPr>
        <p:blipFill>
          <a:blip r:embed="rId9"/>
          <a:stretch/>
        </p:blipFill>
        <p:spPr>
          <a:xfrm>
            <a:off x="10394640" y="5022720"/>
            <a:ext cx="377640" cy="377640"/>
          </a:xfrm>
          <a:prstGeom prst="rect">
            <a:avLst/>
          </a:prstGeom>
          <a:ln w="0">
            <a:noFill/>
          </a:ln>
        </p:spPr>
      </p:pic>
      <p:sp>
        <p:nvSpPr>
          <p:cNvPr id="96" name="Text 50"/>
          <p:cNvSpPr/>
          <p:nvPr/>
        </p:nvSpPr>
        <p:spPr>
          <a:xfrm>
            <a:off x="9555480" y="5504760"/>
            <a:ext cx="20559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Lift Productivity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" name="Text 51"/>
          <p:cNvSpPr/>
          <p:nvPr/>
        </p:nvSpPr>
        <p:spPr>
          <a:xfrm>
            <a:off x="9592200" y="5760720"/>
            <a:ext cx="1982880" cy="56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93aac7"/>
                </a:solidFill>
                <a:latin typeface="Calibri"/>
                <a:ea typeface="Calibri"/>
              </a:rPr>
              <a:t>Ship faster with less infrastructure overhead.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" name="Text 52"/>
          <p:cNvSpPr/>
          <p:nvPr/>
        </p:nvSpPr>
        <p:spPr>
          <a:xfrm>
            <a:off x="457200" y="652896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93aac7"/>
                </a:solidFill>
                <a:latin typeface="Calibri"/>
                <a:ea typeface="Calibri"/>
              </a:rPr>
              <a:t>Problem Statement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" name="Text 53"/>
          <p:cNvSpPr/>
          <p:nvPr/>
        </p:nvSpPr>
        <p:spPr>
          <a:xfrm>
            <a:off x="11003040" y="6528960"/>
            <a:ext cx="8215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93aac7"/>
                </a:solidFill>
                <a:latin typeface="Calibri"/>
                <a:ea typeface="Calibri"/>
              </a:rPr>
              <a:t>02 / 25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e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ext 0"/>
          <p:cNvSpPr/>
          <p:nvPr/>
        </p:nvSpPr>
        <p:spPr>
          <a:xfrm>
            <a:off x="502920" y="320040"/>
            <a:ext cx="9142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191" strike="noStrike">
                <a:solidFill>
                  <a:srgbClr val="7dd3fc"/>
                </a:solidFill>
                <a:latin typeface="Calibri"/>
                <a:ea typeface="Calibri"/>
              </a:rPr>
              <a:t>FOUNDATIONS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" name="Text 1"/>
          <p:cNvSpPr/>
          <p:nvPr/>
        </p:nvSpPr>
        <p:spPr>
          <a:xfrm>
            <a:off x="502920" y="567000"/>
            <a:ext cx="11154240" cy="56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ffffff"/>
                </a:solidFill>
                <a:latin typeface="Cambria"/>
                <a:ea typeface="Cambria"/>
              </a:rPr>
              <a:t>Understanding Serverless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" name="Text 2"/>
          <p:cNvSpPr/>
          <p:nvPr/>
        </p:nvSpPr>
        <p:spPr>
          <a:xfrm>
            <a:off x="502920" y="1207080"/>
            <a:ext cx="73137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89" strike="noStrike">
                <a:solidFill>
                  <a:srgbClr val="93aac7"/>
                </a:solidFill>
                <a:latin typeface="Calibri"/>
                <a:ea typeface="Calibri"/>
              </a:rPr>
              <a:t>THE EVOLUTION OF COMPUTE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" name="Shape 3"/>
          <p:cNvSpPr/>
          <p:nvPr/>
        </p:nvSpPr>
        <p:spPr>
          <a:xfrm>
            <a:off x="502920" y="1536120"/>
            <a:ext cx="2570400" cy="2376000"/>
          </a:xfrm>
          <a:prstGeom prst="roundRect">
            <a:avLst>
              <a:gd name="adj" fmla="val 3462"/>
            </a:avLst>
          </a:prstGeom>
          <a:solidFill>
            <a:srgbClr val="16324f"/>
          </a:solidFill>
          <a:ln w="12700">
            <a:solidFill>
              <a:srgbClr val="27476e"/>
            </a:solidFill>
            <a:round/>
          </a:ln>
          <a:effectLst>
            <a:outerShdw algn="bl" blurRad="88920" dir="5400000" dist="25560" kx="0" ky="0" rotWithShape="0" sx="100000" sy="100000">
              <a:srgbClr val="01050c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" name="Shape 4"/>
          <p:cNvSpPr/>
          <p:nvPr/>
        </p:nvSpPr>
        <p:spPr>
          <a:xfrm>
            <a:off x="502920" y="1536120"/>
            <a:ext cx="2570400" cy="90000"/>
          </a:xfrm>
          <a:prstGeom prst="roundRect">
            <a:avLst>
              <a:gd name="adj" fmla="val 16667"/>
            </a:avLst>
          </a:prstGeom>
          <a:solidFill>
            <a:srgbClr val="64748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7440" bIns="3744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Shape 5"/>
          <p:cNvSpPr/>
          <p:nvPr/>
        </p:nvSpPr>
        <p:spPr>
          <a:xfrm>
            <a:off x="1546560" y="1774080"/>
            <a:ext cx="620280" cy="620280"/>
          </a:xfrm>
          <a:prstGeom prst="ellipse">
            <a:avLst/>
          </a:prstGeom>
          <a:solidFill>
            <a:srgbClr val="64748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06" name="Image 0" descr="/home/claude/icons/building.png"/>
          <p:cNvPicPr/>
          <p:nvPr/>
        </p:nvPicPr>
        <p:blipFill>
          <a:blip r:embed="rId1"/>
          <a:stretch/>
        </p:blipFill>
        <p:spPr>
          <a:xfrm>
            <a:off x="1702080" y="1929240"/>
            <a:ext cx="309600" cy="309600"/>
          </a:xfrm>
          <a:prstGeom prst="rect">
            <a:avLst/>
          </a:prstGeom>
          <a:ln w="0">
            <a:noFill/>
          </a:ln>
        </p:spPr>
      </p:pic>
      <p:sp>
        <p:nvSpPr>
          <p:cNvPr id="107" name="Text 6"/>
          <p:cNvSpPr/>
          <p:nvPr/>
        </p:nvSpPr>
        <p:spPr>
          <a:xfrm>
            <a:off x="502920" y="2505600"/>
            <a:ext cx="257040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ffffff"/>
                </a:solidFill>
                <a:latin typeface="Cambria"/>
                <a:ea typeface="Cambria"/>
              </a:rPr>
              <a:t>Physical Servers</a:t>
            </a:r>
            <a:endParaRPr b="0" lang="en-US" sz="14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Shape 7"/>
          <p:cNvSpPr/>
          <p:nvPr/>
        </p:nvSpPr>
        <p:spPr>
          <a:xfrm>
            <a:off x="722520" y="2990160"/>
            <a:ext cx="53280" cy="53280"/>
          </a:xfrm>
          <a:prstGeom prst="ellipse">
            <a:avLst/>
          </a:prstGeom>
          <a:solidFill>
            <a:srgbClr val="64748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6480" bIns="-648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Text 8"/>
          <p:cNvSpPr/>
          <p:nvPr/>
        </p:nvSpPr>
        <p:spPr>
          <a:xfrm>
            <a:off x="868680" y="2871360"/>
            <a:ext cx="217728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7e4f2"/>
                </a:solidFill>
                <a:latin typeface="Calibri"/>
                <a:ea typeface="Calibri"/>
              </a:rPr>
              <a:t>Owned hardware &amp; data centers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Shape 9"/>
          <p:cNvSpPr/>
          <p:nvPr/>
        </p:nvSpPr>
        <p:spPr>
          <a:xfrm>
            <a:off x="722520" y="3300840"/>
            <a:ext cx="53280" cy="53280"/>
          </a:xfrm>
          <a:prstGeom prst="ellipse">
            <a:avLst/>
          </a:prstGeom>
          <a:solidFill>
            <a:srgbClr val="64748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6480" bIns="-648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Text 10"/>
          <p:cNvSpPr/>
          <p:nvPr/>
        </p:nvSpPr>
        <p:spPr>
          <a:xfrm>
            <a:off x="868680" y="3182040"/>
            <a:ext cx="217728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7e4f2"/>
                </a:solidFill>
                <a:latin typeface="Calibri"/>
                <a:ea typeface="Calibri"/>
              </a:rPr>
              <a:t>High capex, manual upkeep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" name="Shape 11"/>
          <p:cNvSpPr/>
          <p:nvPr/>
        </p:nvSpPr>
        <p:spPr>
          <a:xfrm>
            <a:off x="722520" y="3611880"/>
            <a:ext cx="53280" cy="53280"/>
          </a:xfrm>
          <a:prstGeom prst="ellipse">
            <a:avLst/>
          </a:prstGeom>
          <a:solidFill>
            <a:srgbClr val="64748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6480" bIns="-648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" name="Text 12"/>
          <p:cNvSpPr/>
          <p:nvPr/>
        </p:nvSpPr>
        <p:spPr>
          <a:xfrm>
            <a:off x="868680" y="3493080"/>
            <a:ext cx="217728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7e4f2"/>
                </a:solidFill>
                <a:latin typeface="Calibri"/>
                <a:ea typeface="Calibri"/>
              </a:rPr>
              <a:t>Full control, high effort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14" name="Image 1" descr="/home/claude/icons/route.png"/>
          <p:cNvPicPr/>
          <p:nvPr/>
        </p:nvPicPr>
        <p:blipFill>
          <a:blip r:embed="rId2"/>
          <a:stretch/>
        </p:blipFill>
        <p:spPr>
          <a:xfrm>
            <a:off x="3120120" y="2633400"/>
            <a:ext cx="181440" cy="181440"/>
          </a:xfrm>
          <a:prstGeom prst="rect">
            <a:avLst/>
          </a:prstGeom>
          <a:ln w="0">
            <a:noFill/>
          </a:ln>
        </p:spPr>
      </p:pic>
      <p:sp>
        <p:nvSpPr>
          <p:cNvPr id="115" name="Shape 13"/>
          <p:cNvSpPr/>
          <p:nvPr/>
        </p:nvSpPr>
        <p:spPr>
          <a:xfrm>
            <a:off x="3349080" y="1536120"/>
            <a:ext cx="2593440" cy="2376000"/>
          </a:xfrm>
          <a:prstGeom prst="roundRect">
            <a:avLst>
              <a:gd name="adj" fmla="val 3462"/>
            </a:avLst>
          </a:prstGeom>
          <a:solidFill>
            <a:srgbClr val="1d3e63"/>
          </a:solidFill>
          <a:ln w="12700">
            <a:solidFill>
              <a:srgbClr val="27476e"/>
            </a:solidFill>
            <a:round/>
          </a:ln>
          <a:effectLst>
            <a:outerShdw algn="bl" blurRad="88920" dir="5400000" dist="25560" kx="0" ky="0" rotWithShape="0" sx="100000" sy="100000">
              <a:srgbClr val="01050c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Shape 14"/>
          <p:cNvSpPr/>
          <p:nvPr/>
        </p:nvSpPr>
        <p:spPr>
          <a:xfrm>
            <a:off x="3349080" y="1536120"/>
            <a:ext cx="2593440" cy="90000"/>
          </a:xfrm>
          <a:prstGeom prst="roundRect">
            <a:avLst>
              <a:gd name="adj" fmla="val 16667"/>
            </a:avLst>
          </a:prstGeom>
          <a:solidFill>
            <a:srgbClr val="3b82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7440" bIns="3744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" name="Shape 15"/>
          <p:cNvSpPr/>
          <p:nvPr/>
        </p:nvSpPr>
        <p:spPr>
          <a:xfrm>
            <a:off x="4343400" y="1774080"/>
            <a:ext cx="620280" cy="620280"/>
          </a:xfrm>
          <a:prstGeom prst="ellipse">
            <a:avLst/>
          </a:prstGeom>
          <a:solidFill>
            <a:srgbClr val="3b82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18" name="Image 2" descr="/home/claude/icons/server.png"/>
          <p:cNvPicPr/>
          <p:nvPr/>
        </p:nvPicPr>
        <p:blipFill>
          <a:blip r:embed="rId3"/>
          <a:stretch/>
        </p:blipFill>
        <p:spPr>
          <a:xfrm>
            <a:off x="4489920" y="1929240"/>
            <a:ext cx="309600" cy="309600"/>
          </a:xfrm>
          <a:prstGeom prst="rect">
            <a:avLst/>
          </a:prstGeom>
          <a:ln w="0">
            <a:noFill/>
          </a:ln>
        </p:spPr>
      </p:pic>
      <p:sp>
        <p:nvSpPr>
          <p:cNvPr id="119" name="Text 16"/>
          <p:cNvSpPr/>
          <p:nvPr/>
        </p:nvSpPr>
        <p:spPr>
          <a:xfrm>
            <a:off x="3349080" y="2505600"/>
            <a:ext cx="257040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ffffff"/>
                </a:solidFill>
                <a:latin typeface="Cambria"/>
                <a:ea typeface="Cambria"/>
              </a:rPr>
              <a:t>Virtual Machines</a:t>
            </a:r>
            <a:endParaRPr b="0" lang="en-US" sz="14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" name="Shape 17"/>
          <p:cNvSpPr/>
          <p:nvPr/>
        </p:nvSpPr>
        <p:spPr>
          <a:xfrm>
            <a:off x="3568320" y="2990160"/>
            <a:ext cx="53280" cy="53280"/>
          </a:xfrm>
          <a:prstGeom prst="ellipse">
            <a:avLst/>
          </a:prstGeom>
          <a:solidFill>
            <a:srgbClr val="3b82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6480" bIns="-648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" name="Text 18"/>
          <p:cNvSpPr/>
          <p:nvPr/>
        </p:nvSpPr>
        <p:spPr>
          <a:xfrm>
            <a:off x="3714840" y="2871360"/>
            <a:ext cx="217728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7e4f2"/>
                </a:solidFill>
                <a:latin typeface="Calibri"/>
                <a:ea typeface="Calibri"/>
              </a:rPr>
              <a:t>Rented compute (EC2, Azure VM)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" name="Shape 19"/>
          <p:cNvSpPr/>
          <p:nvPr/>
        </p:nvSpPr>
        <p:spPr>
          <a:xfrm>
            <a:off x="3568320" y="3300840"/>
            <a:ext cx="53280" cy="53280"/>
          </a:xfrm>
          <a:prstGeom prst="ellipse">
            <a:avLst/>
          </a:prstGeom>
          <a:solidFill>
            <a:srgbClr val="3b82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6480" bIns="-648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" name="Text 20"/>
          <p:cNvSpPr/>
          <p:nvPr/>
        </p:nvSpPr>
        <p:spPr>
          <a:xfrm>
            <a:off x="3714840" y="3182040"/>
            <a:ext cx="217728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7e4f2"/>
                </a:solidFill>
                <a:latin typeface="Calibri"/>
                <a:ea typeface="Calibri"/>
              </a:rPr>
              <a:t>Still manage OS &amp; patching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" name="Shape 21"/>
          <p:cNvSpPr/>
          <p:nvPr/>
        </p:nvSpPr>
        <p:spPr>
          <a:xfrm>
            <a:off x="3568320" y="3611880"/>
            <a:ext cx="53280" cy="53280"/>
          </a:xfrm>
          <a:prstGeom prst="ellipse">
            <a:avLst/>
          </a:prstGeom>
          <a:solidFill>
            <a:srgbClr val="3b82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6480" bIns="-648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" name="Text 22"/>
          <p:cNvSpPr/>
          <p:nvPr/>
        </p:nvSpPr>
        <p:spPr>
          <a:xfrm>
            <a:off x="3714840" y="3493080"/>
            <a:ext cx="217728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7e4f2"/>
                </a:solidFill>
                <a:latin typeface="Calibri"/>
                <a:ea typeface="Calibri"/>
              </a:rPr>
              <a:t>Pay-as-you-go infrastructure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26" name="Image 3" descr="/home/claude/icons/route.png"/>
          <p:cNvPicPr/>
          <p:nvPr/>
        </p:nvPicPr>
        <p:blipFill>
          <a:blip r:embed="rId4"/>
          <a:stretch/>
        </p:blipFill>
        <p:spPr>
          <a:xfrm>
            <a:off x="5989320" y="2633400"/>
            <a:ext cx="181440" cy="181440"/>
          </a:xfrm>
          <a:prstGeom prst="rect">
            <a:avLst/>
          </a:prstGeom>
          <a:ln w="0">
            <a:noFill/>
          </a:ln>
        </p:spPr>
      </p:pic>
      <p:sp>
        <p:nvSpPr>
          <p:cNvPr id="127" name="Shape 23"/>
          <p:cNvSpPr/>
          <p:nvPr/>
        </p:nvSpPr>
        <p:spPr>
          <a:xfrm>
            <a:off x="6195240" y="1536120"/>
            <a:ext cx="2570400" cy="2376000"/>
          </a:xfrm>
          <a:prstGeom prst="roundRect">
            <a:avLst>
              <a:gd name="adj" fmla="val 3462"/>
            </a:avLst>
          </a:prstGeom>
          <a:solidFill>
            <a:srgbClr val="16324f"/>
          </a:solidFill>
          <a:ln w="12700">
            <a:solidFill>
              <a:srgbClr val="27476e"/>
            </a:solidFill>
            <a:round/>
          </a:ln>
          <a:effectLst>
            <a:outerShdw algn="bl" blurRad="88920" dir="5400000" dist="25560" kx="0" ky="0" rotWithShape="0" sx="100000" sy="100000">
              <a:srgbClr val="01050c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" name="Shape 24"/>
          <p:cNvSpPr/>
          <p:nvPr/>
        </p:nvSpPr>
        <p:spPr>
          <a:xfrm>
            <a:off x="6195240" y="1536120"/>
            <a:ext cx="2570400" cy="90000"/>
          </a:xfrm>
          <a:prstGeom prst="roundRect">
            <a:avLst>
              <a:gd name="adj" fmla="val 16667"/>
            </a:avLst>
          </a:prstGeom>
          <a:solidFill>
            <a:srgbClr val="0891b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7440" bIns="3744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" name="Shape 25"/>
          <p:cNvSpPr/>
          <p:nvPr/>
        </p:nvSpPr>
        <p:spPr>
          <a:xfrm>
            <a:off x="7151040" y="1774080"/>
            <a:ext cx="620280" cy="620280"/>
          </a:xfrm>
          <a:prstGeom prst="ellipse">
            <a:avLst/>
          </a:prstGeom>
          <a:solidFill>
            <a:srgbClr val="0891b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30" name="Image 4" descr="/home/claude/icons/docker.png"/>
          <p:cNvPicPr/>
          <p:nvPr/>
        </p:nvPicPr>
        <p:blipFill>
          <a:blip r:embed="rId5"/>
          <a:stretch/>
        </p:blipFill>
        <p:spPr>
          <a:xfrm>
            <a:off x="7315200" y="1929240"/>
            <a:ext cx="309600" cy="309600"/>
          </a:xfrm>
          <a:prstGeom prst="rect">
            <a:avLst/>
          </a:prstGeom>
          <a:ln w="0">
            <a:noFill/>
          </a:ln>
        </p:spPr>
      </p:pic>
      <p:sp>
        <p:nvSpPr>
          <p:cNvPr id="131" name="Text 26"/>
          <p:cNvSpPr/>
          <p:nvPr/>
        </p:nvSpPr>
        <p:spPr>
          <a:xfrm>
            <a:off x="6195240" y="2505600"/>
            <a:ext cx="257040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ffffff"/>
                </a:solidFill>
                <a:latin typeface="Cambria"/>
                <a:ea typeface="Cambria"/>
              </a:rPr>
              <a:t>Containers</a:t>
            </a:r>
            <a:endParaRPr b="0" lang="en-US" sz="14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" name="Shape 27"/>
          <p:cNvSpPr/>
          <p:nvPr/>
        </p:nvSpPr>
        <p:spPr>
          <a:xfrm>
            <a:off x="6414480" y="2990160"/>
            <a:ext cx="53280" cy="53280"/>
          </a:xfrm>
          <a:prstGeom prst="ellipse">
            <a:avLst/>
          </a:prstGeom>
          <a:solidFill>
            <a:srgbClr val="0891b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6480" bIns="-648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" name="Text 28"/>
          <p:cNvSpPr/>
          <p:nvPr/>
        </p:nvSpPr>
        <p:spPr>
          <a:xfrm>
            <a:off x="6561000" y="2871360"/>
            <a:ext cx="217728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7e4f2"/>
                </a:solidFill>
                <a:latin typeface="Calibri"/>
                <a:ea typeface="Calibri"/>
              </a:rPr>
              <a:t>Portable Docker images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" name="Shape 29"/>
          <p:cNvSpPr/>
          <p:nvPr/>
        </p:nvSpPr>
        <p:spPr>
          <a:xfrm>
            <a:off x="6414480" y="3300840"/>
            <a:ext cx="53280" cy="53280"/>
          </a:xfrm>
          <a:prstGeom prst="ellipse">
            <a:avLst/>
          </a:prstGeom>
          <a:solidFill>
            <a:srgbClr val="0891b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6480" bIns="-648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" name="Text 30"/>
          <p:cNvSpPr/>
          <p:nvPr/>
        </p:nvSpPr>
        <p:spPr>
          <a:xfrm>
            <a:off x="6561000" y="3182040"/>
            <a:ext cx="217728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7e4f2"/>
                </a:solidFill>
                <a:latin typeface="Calibri"/>
                <a:ea typeface="Calibri"/>
              </a:rPr>
              <a:t>Faster startup than VMs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Shape 31"/>
          <p:cNvSpPr/>
          <p:nvPr/>
        </p:nvSpPr>
        <p:spPr>
          <a:xfrm>
            <a:off x="6414480" y="3611880"/>
            <a:ext cx="53280" cy="53280"/>
          </a:xfrm>
          <a:prstGeom prst="ellipse">
            <a:avLst/>
          </a:prstGeom>
          <a:solidFill>
            <a:srgbClr val="0891b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6480" bIns="-648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" name="Text 32"/>
          <p:cNvSpPr/>
          <p:nvPr/>
        </p:nvSpPr>
        <p:spPr>
          <a:xfrm>
            <a:off x="6561000" y="3493080"/>
            <a:ext cx="217728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7e4f2"/>
                </a:solidFill>
                <a:latin typeface="Calibri"/>
                <a:ea typeface="Calibri"/>
              </a:rPr>
              <a:t>Orchestrated via Kubernetes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38" name="Image 5" descr="/home/claude/icons/route.png"/>
          <p:cNvPicPr/>
          <p:nvPr/>
        </p:nvPicPr>
        <p:blipFill>
          <a:blip r:embed="rId6"/>
          <a:stretch/>
        </p:blipFill>
        <p:spPr>
          <a:xfrm>
            <a:off x="8817840" y="2633400"/>
            <a:ext cx="181440" cy="181440"/>
          </a:xfrm>
          <a:prstGeom prst="rect">
            <a:avLst/>
          </a:prstGeom>
          <a:ln w="0">
            <a:noFill/>
          </a:ln>
        </p:spPr>
      </p:pic>
      <p:sp>
        <p:nvSpPr>
          <p:cNvPr id="139" name="Shape 33"/>
          <p:cNvSpPr/>
          <p:nvPr/>
        </p:nvSpPr>
        <p:spPr>
          <a:xfrm>
            <a:off x="9041040" y="1536120"/>
            <a:ext cx="2707560" cy="2376000"/>
          </a:xfrm>
          <a:prstGeom prst="roundRect">
            <a:avLst>
              <a:gd name="adj" fmla="val 3462"/>
            </a:avLst>
          </a:prstGeom>
          <a:solidFill>
            <a:srgbClr val="1d3e63"/>
          </a:solidFill>
          <a:ln w="12700">
            <a:solidFill>
              <a:srgbClr val="27476e"/>
            </a:solidFill>
            <a:round/>
          </a:ln>
          <a:effectLst>
            <a:outerShdw algn="bl" blurRad="88920" dir="5400000" dist="25560" kx="0" ky="0" rotWithShape="0" sx="100000" sy="100000">
              <a:srgbClr val="01050c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Shape 34"/>
          <p:cNvSpPr/>
          <p:nvPr/>
        </p:nvSpPr>
        <p:spPr>
          <a:xfrm>
            <a:off x="9041040" y="1536120"/>
            <a:ext cx="2707560" cy="90000"/>
          </a:xfrm>
          <a:prstGeom prst="roundRect">
            <a:avLst>
              <a:gd name="adj" fmla="val 16667"/>
            </a:avLst>
          </a:prstGeom>
          <a:solidFill>
            <a:srgbClr val="0ea5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7440" bIns="3744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" name="Shape 35"/>
          <p:cNvSpPr/>
          <p:nvPr/>
        </p:nvSpPr>
        <p:spPr>
          <a:xfrm>
            <a:off x="10084680" y="1774080"/>
            <a:ext cx="620280" cy="620280"/>
          </a:xfrm>
          <a:prstGeom prst="ellipse">
            <a:avLst/>
          </a:prstGeom>
          <a:solidFill>
            <a:srgbClr val="0ea5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42" name="Image 6" descr="/home/claude/icons/bolt.png"/>
          <p:cNvPicPr/>
          <p:nvPr/>
        </p:nvPicPr>
        <p:blipFill>
          <a:blip r:embed="rId7"/>
          <a:stretch/>
        </p:blipFill>
        <p:spPr>
          <a:xfrm>
            <a:off x="10240200" y="1929240"/>
            <a:ext cx="309600" cy="309600"/>
          </a:xfrm>
          <a:prstGeom prst="rect">
            <a:avLst/>
          </a:prstGeom>
          <a:ln w="0">
            <a:noFill/>
          </a:ln>
        </p:spPr>
      </p:pic>
      <p:sp>
        <p:nvSpPr>
          <p:cNvPr id="143" name="Text 36"/>
          <p:cNvSpPr/>
          <p:nvPr/>
        </p:nvSpPr>
        <p:spPr>
          <a:xfrm>
            <a:off x="9178200" y="2505600"/>
            <a:ext cx="243324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ffffff"/>
                </a:solidFill>
                <a:latin typeface="Cambria"/>
                <a:ea typeface="Cambria"/>
              </a:rPr>
              <a:t>Serverless</a:t>
            </a:r>
            <a:endParaRPr b="0" lang="en-US" sz="14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Shape 37"/>
          <p:cNvSpPr/>
          <p:nvPr/>
        </p:nvSpPr>
        <p:spPr>
          <a:xfrm>
            <a:off x="9260640" y="2990160"/>
            <a:ext cx="53280" cy="53280"/>
          </a:xfrm>
          <a:prstGeom prst="ellipse">
            <a:avLst/>
          </a:prstGeom>
          <a:solidFill>
            <a:srgbClr val="0ea5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6480" bIns="-648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" name="Text 38"/>
          <p:cNvSpPr/>
          <p:nvPr/>
        </p:nvSpPr>
        <p:spPr>
          <a:xfrm>
            <a:off x="9406800" y="2871360"/>
            <a:ext cx="217728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7e4f2"/>
                </a:solidFill>
                <a:latin typeface="Calibri"/>
                <a:ea typeface="Calibri"/>
              </a:rPr>
              <a:t>Deploy code, not infrastructure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" name="Shape 39"/>
          <p:cNvSpPr/>
          <p:nvPr/>
        </p:nvSpPr>
        <p:spPr>
          <a:xfrm>
            <a:off x="9260640" y="3300840"/>
            <a:ext cx="53280" cy="53280"/>
          </a:xfrm>
          <a:prstGeom prst="ellipse">
            <a:avLst/>
          </a:prstGeom>
          <a:solidFill>
            <a:srgbClr val="0ea5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6480" bIns="-648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" name="Text 40"/>
          <p:cNvSpPr/>
          <p:nvPr/>
        </p:nvSpPr>
        <p:spPr>
          <a:xfrm>
            <a:off x="9406800" y="3182040"/>
            <a:ext cx="217728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7e4f2"/>
                </a:solidFill>
                <a:latin typeface="Calibri"/>
                <a:ea typeface="Calibri"/>
              </a:rPr>
              <a:t>Provider handles scaling &amp; ops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" name="Shape 41"/>
          <p:cNvSpPr/>
          <p:nvPr/>
        </p:nvSpPr>
        <p:spPr>
          <a:xfrm>
            <a:off x="9260640" y="3611880"/>
            <a:ext cx="53280" cy="53280"/>
          </a:xfrm>
          <a:prstGeom prst="ellipse">
            <a:avLst/>
          </a:prstGeom>
          <a:solidFill>
            <a:srgbClr val="0ea5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6480" bIns="-648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" name="Text 42"/>
          <p:cNvSpPr/>
          <p:nvPr/>
        </p:nvSpPr>
        <p:spPr>
          <a:xfrm>
            <a:off x="9406800" y="3493080"/>
            <a:ext cx="217728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7e4f2"/>
                </a:solidFill>
                <a:latin typeface="Calibri"/>
                <a:ea typeface="Calibri"/>
              </a:rPr>
              <a:t>Pay only for what runs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" name="Shape 43"/>
          <p:cNvSpPr/>
          <p:nvPr/>
        </p:nvSpPr>
        <p:spPr>
          <a:xfrm>
            <a:off x="502920" y="4041720"/>
            <a:ext cx="5439240" cy="2211480"/>
          </a:xfrm>
          <a:prstGeom prst="roundRect">
            <a:avLst>
              <a:gd name="adj" fmla="val 3719"/>
            </a:avLst>
          </a:prstGeom>
          <a:solidFill>
            <a:srgbClr val="1d3e63"/>
          </a:solidFill>
          <a:ln w="12700">
            <a:solidFill>
              <a:srgbClr val="27476e"/>
            </a:solidFill>
            <a:round/>
          </a:ln>
          <a:effectLst>
            <a:outerShdw algn="bl" blurRad="88920" dir="5400000" dist="25560" kx="0" ky="0" rotWithShape="0" sx="100000" sy="100000">
              <a:srgbClr val="01050c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" name="Text 44"/>
          <p:cNvSpPr/>
          <p:nvPr/>
        </p:nvSpPr>
        <p:spPr>
          <a:xfrm>
            <a:off x="777240" y="4197240"/>
            <a:ext cx="493632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89" strike="noStrike">
                <a:solidFill>
                  <a:srgbClr val="93aac7"/>
                </a:solidFill>
                <a:latin typeface="Calibri"/>
                <a:ea typeface="Calibri"/>
              </a:rPr>
              <a:t>TRADITIONAL vs SERVERLESS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" name="Text 45"/>
          <p:cNvSpPr/>
          <p:nvPr/>
        </p:nvSpPr>
        <p:spPr>
          <a:xfrm>
            <a:off x="777240" y="4544640"/>
            <a:ext cx="137016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30" spc="-1" strike="noStrike">
                <a:solidFill>
                  <a:srgbClr val="ffffff"/>
                </a:solidFill>
                <a:latin typeface="Calibri"/>
                <a:ea typeface="Calibri"/>
              </a:rPr>
              <a:t>Provisioning</a:t>
            </a:r>
            <a:endParaRPr b="0" lang="en-US" sz="103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" name="Text 46"/>
          <p:cNvSpPr/>
          <p:nvPr/>
        </p:nvSpPr>
        <p:spPr>
          <a:xfrm>
            <a:off x="2148840" y="4544640"/>
            <a:ext cx="182736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1a9a9"/>
                </a:solidFill>
                <a:latin typeface="Calibri"/>
                <a:ea typeface="Calibri"/>
              </a:rPr>
              <a:t>Always-on servers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" name="Text 47"/>
          <p:cNvSpPr/>
          <p:nvPr/>
        </p:nvSpPr>
        <p:spPr>
          <a:xfrm>
            <a:off x="3977640" y="4544640"/>
            <a:ext cx="18730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6ee7b7"/>
                </a:solidFill>
                <a:latin typeface="Calibri"/>
                <a:ea typeface="Calibri"/>
              </a:rPr>
              <a:t>On-demand execution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" name="Text 48"/>
          <p:cNvSpPr/>
          <p:nvPr/>
        </p:nvSpPr>
        <p:spPr>
          <a:xfrm>
            <a:off x="777240" y="4974480"/>
            <a:ext cx="137016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30" spc="-1" strike="noStrike">
                <a:solidFill>
                  <a:srgbClr val="ffffff"/>
                </a:solidFill>
                <a:latin typeface="Calibri"/>
                <a:ea typeface="Calibri"/>
              </a:rPr>
              <a:t>Scaling</a:t>
            </a:r>
            <a:endParaRPr b="0" lang="en-US" sz="103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" name="Text 49"/>
          <p:cNvSpPr/>
          <p:nvPr/>
        </p:nvSpPr>
        <p:spPr>
          <a:xfrm>
            <a:off x="2148840" y="4974480"/>
            <a:ext cx="182736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1a9a9"/>
                </a:solidFill>
                <a:latin typeface="Calibri"/>
                <a:ea typeface="Calibri"/>
              </a:rPr>
              <a:t>Manual / pre-planned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" name="Text 50"/>
          <p:cNvSpPr/>
          <p:nvPr/>
        </p:nvSpPr>
        <p:spPr>
          <a:xfrm>
            <a:off x="3977640" y="4974480"/>
            <a:ext cx="18730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6ee7b7"/>
                </a:solidFill>
                <a:latin typeface="Calibri"/>
                <a:ea typeface="Calibri"/>
              </a:rPr>
              <a:t>Automatic, elastic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8" name="Text 51"/>
          <p:cNvSpPr/>
          <p:nvPr/>
        </p:nvSpPr>
        <p:spPr>
          <a:xfrm>
            <a:off x="777240" y="5403960"/>
            <a:ext cx="137016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30" spc="-1" strike="noStrike">
                <a:solidFill>
                  <a:srgbClr val="ffffff"/>
                </a:solidFill>
                <a:latin typeface="Calibri"/>
                <a:ea typeface="Calibri"/>
              </a:rPr>
              <a:t>Billing</a:t>
            </a:r>
            <a:endParaRPr b="0" lang="en-US" sz="103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" name="Text 52"/>
          <p:cNvSpPr/>
          <p:nvPr/>
        </p:nvSpPr>
        <p:spPr>
          <a:xfrm>
            <a:off x="2148840" y="5403960"/>
            <a:ext cx="182736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1a9a9"/>
                </a:solidFill>
                <a:latin typeface="Calibri"/>
                <a:ea typeface="Calibri"/>
              </a:rPr>
              <a:t>Reserved capacity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" name="Text 53"/>
          <p:cNvSpPr/>
          <p:nvPr/>
        </p:nvSpPr>
        <p:spPr>
          <a:xfrm>
            <a:off x="3977640" y="5403960"/>
            <a:ext cx="18730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6ee7b7"/>
                </a:solidFill>
                <a:latin typeface="Calibri"/>
                <a:ea typeface="Calibri"/>
              </a:rPr>
              <a:t>Pay-per-use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" name="Text 54"/>
          <p:cNvSpPr/>
          <p:nvPr/>
        </p:nvSpPr>
        <p:spPr>
          <a:xfrm>
            <a:off x="777240" y="5833800"/>
            <a:ext cx="137016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30" spc="-1" strike="noStrike">
                <a:solidFill>
                  <a:srgbClr val="ffffff"/>
                </a:solidFill>
                <a:latin typeface="Calibri"/>
                <a:ea typeface="Calibri"/>
              </a:rPr>
              <a:t>Ops effort</a:t>
            </a:r>
            <a:endParaRPr b="0" lang="en-US" sz="103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 55"/>
          <p:cNvSpPr/>
          <p:nvPr/>
        </p:nvSpPr>
        <p:spPr>
          <a:xfrm>
            <a:off x="2148840" y="5833800"/>
            <a:ext cx="182736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1a9a9"/>
                </a:solidFill>
                <a:latin typeface="Calibri"/>
                <a:ea typeface="Calibri"/>
              </a:rPr>
              <a:t>High (patching, capacity)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3" name="Text 56"/>
          <p:cNvSpPr/>
          <p:nvPr/>
        </p:nvSpPr>
        <p:spPr>
          <a:xfrm>
            <a:off x="3977640" y="5833800"/>
            <a:ext cx="18730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6ee7b7"/>
                </a:solidFill>
                <a:latin typeface="Calibri"/>
                <a:ea typeface="Calibri"/>
              </a:rPr>
              <a:t>Low (provider-managed)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" name="Shape 57"/>
          <p:cNvSpPr/>
          <p:nvPr/>
        </p:nvSpPr>
        <p:spPr>
          <a:xfrm>
            <a:off x="6172200" y="4041720"/>
            <a:ext cx="5530680" cy="2211480"/>
          </a:xfrm>
          <a:prstGeom prst="roundRect">
            <a:avLst>
              <a:gd name="adj" fmla="val 3719"/>
            </a:avLst>
          </a:prstGeom>
          <a:solidFill>
            <a:srgbClr val="eaf4fd"/>
          </a:solidFill>
          <a:ln w="12700">
            <a:solidFill>
              <a:srgbClr val="bfe0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Text 58"/>
          <p:cNvSpPr/>
          <p:nvPr/>
        </p:nvSpPr>
        <p:spPr>
          <a:xfrm>
            <a:off x="6446520" y="4197240"/>
            <a:ext cx="45705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89" strike="noStrike">
                <a:solidFill>
                  <a:srgbClr val="0891b2"/>
                </a:solidFill>
                <a:latin typeface="Calibri"/>
                <a:ea typeface="Calibri"/>
              </a:rPr>
              <a:t>KEY BENEFITS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66" name="Image 7" descr="/home/claude/icons/arrowdown.png"/>
          <p:cNvPicPr/>
          <p:nvPr/>
        </p:nvPicPr>
        <p:blipFill>
          <a:blip r:embed="rId8"/>
          <a:stretch/>
        </p:blipFill>
        <p:spPr>
          <a:xfrm>
            <a:off x="6446520" y="4636080"/>
            <a:ext cx="291240" cy="291240"/>
          </a:xfrm>
          <a:prstGeom prst="rect">
            <a:avLst/>
          </a:prstGeom>
          <a:ln w="0">
            <a:noFill/>
          </a:ln>
        </p:spPr>
      </p:pic>
      <p:sp>
        <p:nvSpPr>
          <p:cNvPr id="167" name="Text 59"/>
          <p:cNvSpPr/>
          <p:nvPr/>
        </p:nvSpPr>
        <p:spPr>
          <a:xfrm>
            <a:off x="6830640" y="4590360"/>
            <a:ext cx="20836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US" sz="1100" spc="-1" strike="noStrike">
                <a:solidFill>
                  <a:srgbClr val="0f2136"/>
                </a:solidFill>
                <a:latin typeface="Calibri"/>
                <a:ea typeface="Calibri"/>
              </a:rPr>
              <a:t>Lower infrastructure cost:</a:t>
            </a:r>
            <a:r>
              <a:rPr b="0" lang="en-US" sz="1100" spc="-1" strike="noStrike">
                <a:solidFill>
                  <a:srgbClr val="0f2136"/>
                </a:solidFill>
                <a:latin typeface="Calibri"/>
                <a:ea typeface="Calibri"/>
              </a:rPr>
              <a:t> Pay only for what you use — no idle server spend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68" name="Image 8" descr="/home/claude/icons/sync.png"/>
          <p:cNvPicPr/>
          <p:nvPr/>
        </p:nvPicPr>
        <p:blipFill>
          <a:blip r:embed="rId9"/>
          <a:stretch/>
        </p:blipFill>
        <p:spPr>
          <a:xfrm>
            <a:off x="9052560" y="4636080"/>
            <a:ext cx="291240" cy="291240"/>
          </a:xfrm>
          <a:prstGeom prst="rect">
            <a:avLst/>
          </a:prstGeom>
          <a:ln w="0">
            <a:noFill/>
          </a:ln>
        </p:spPr>
      </p:pic>
      <p:sp>
        <p:nvSpPr>
          <p:cNvPr id="169" name="Text 60"/>
          <p:cNvSpPr/>
          <p:nvPr/>
        </p:nvSpPr>
        <p:spPr>
          <a:xfrm>
            <a:off x="9436680" y="4590360"/>
            <a:ext cx="21474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US" sz="1100" spc="-1" strike="noStrike">
                <a:solidFill>
                  <a:srgbClr val="0f2136"/>
                </a:solidFill>
                <a:latin typeface="Calibri"/>
                <a:ea typeface="Calibri"/>
              </a:rPr>
              <a:t>Automatic, elastic scaling:</a:t>
            </a:r>
            <a:r>
              <a:rPr b="0" lang="en-US" sz="1100" spc="-1" strike="noStrike">
                <a:solidFill>
                  <a:srgbClr val="0f2136"/>
                </a:solidFill>
                <a:latin typeface="Calibri"/>
                <a:ea typeface="Calibri"/>
              </a:rPr>
              <a:t> Handles traffic spikes without manual provisioning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70" name="Image 9" descr="/home/claude/icons/rocket.png"/>
          <p:cNvPicPr/>
          <p:nvPr/>
        </p:nvPicPr>
        <p:blipFill>
          <a:blip r:embed="rId10"/>
          <a:stretch/>
        </p:blipFill>
        <p:spPr>
          <a:xfrm>
            <a:off x="6446520" y="5504760"/>
            <a:ext cx="291240" cy="291240"/>
          </a:xfrm>
          <a:prstGeom prst="rect">
            <a:avLst/>
          </a:prstGeom>
          <a:ln w="0">
            <a:noFill/>
          </a:ln>
        </p:spPr>
      </p:pic>
      <p:sp>
        <p:nvSpPr>
          <p:cNvPr id="171" name="Text 61"/>
          <p:cNvSpPr/>
          <p:nvPr/>
        </p:nvSpPr>
        <p:spPr>
          <a:xfrm>
            <a:off x="6830640" y="5394960"/>
            <a:ext cx="20836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US" sz="1100" spc="-1" strike="noStrike">
                <a:solidFill>
                  <a:srgbClr val="0f2136"/>
                </a:solidFill>
                <a:latin typeface="Calibri"/>
                <a:ea typeface="Calibri"/>
              </a:rPr>
              <a:t>Faster time to market:</a:t>
            </a:r>
            <a:r>
              <a:rPr b="0" lang="en-US" sz="1100" spc="-1" strike="noStrike">
                <a:solidFill>
                  <a:srgbClr val="0f2136"/>
                </a:solidFill>
                <a:latin typeface="Calibri"/>
                <a:ea typeface="Calibri"/>
              </a:rPr>
              <a:t> Ship features without managing servers first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72" name="Image 10" descr="/home/claude/icons/cogs.png"/>
          <p:cNvPicPr/>
          <p:nvPr/>
        </p:nvPicPr>
        <p:blipFill>
          <a:blip r:embed="rId11"/>
          <a:stretch/>
        </p:blipFill>
        <p:spPr>
          <a:xfrm>
            <a:off x="9052560" y="5504760"/>
            <a:ext cx="291240" cy="291240"/>
          </a:xfrm>
          <a:prstGeom prst="rect">
            <a:avLst/>
          </a:prstGeom>
          <a:ln w="0">
            <a:noFill/>
          </a:ln>
        </p:spPr>
      </p:pic>
      <p:sp>
        <p:nvSpPr>
          <p:cNvPr id="173" name="Text 62"/>
          <p:cNvSpPr/>
          <p:nvPr/>
        </p:nvSpPr>
        <p:spPr>
          <a:xfrm>
            <a:off x="9436680" y="5394960"/>
            <a:ext cx="21474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US" sz="1100" spc="-1" strike="noStrike">
                <a:solidFill>
                  <a:srgbClr val="0f2136"/>
                </a:solidFill>
                <a:latin typeface="Calibri"/>
                <a:ea typeface="Calibri"/>
              </a:rPr>
              <a:t>Minimal operational overhead</a:t>
            </a:r>
            <a:r>
              <a:rPr b="0" lang="en-US" sz="1100" spc="-1" strike="noStrike">
                <a:solidFill>
                  <a:srgbClr val="0f2136"/>
                </a:solidFill>
                <a:latin typeface="Calibri"/>
                <a:ea typeface="Calibri"/>
              </a:rPr>
              <a:t>: No patching, capacity planning, or server upkeep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" name="Text 63"/>
          <p:cNvSpPr/>
          <p:nvPr/>
        </p:nvSpPr>
        <p:spPr>
          <a:xfrm>
            <a:off x="457200" y="652896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93aac7"/>
                </a:solidFill>
                <a:latin typeface="Calibri"/>
                <a:ea typeface="Calibri"/>
              </a:rPr>
              <a:t>Understanding Serverless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" name="Text 64"/>
          <p:cNvSpPr/>
          <p:nvPr/>
        </p:nvSpPr>
        <p:spPr>
          <a:xfrm>
            <a:off x="11003040" y="6528960"/>
            <a:ext cx="8215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93aac7"/>
                </a:solidFill>
                <a:latin typeface="Calibri"/>
                <a:ea typeface="Calibri"/>
              </a:rPr>
              <a:t>03 / 25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a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Text 0"/>
          <p:cNvSpPr/>
          <p:nvPr/>
        </p:nvSpPr>
        <p:spPr>
          <a:xfrm>
            <a:off x="502920" y="320040"/>
            <a:ext cx="9142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191" strike="noStrike">
                <a:solidFill>
                  <a:srgbClr val="0ea5e9"/>
                </a:solidFill>
                <a:latin typeface="Calibri"/>
                <a:ea typeface="Calibri"/>
              </a:rPr>
              <a:t>SERVERLESS MODELS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Text 1"/>
          <p:cNvSpPr/>
          <p:nvPr/>
        </p:nvSpPr>
        <p:spPr>
          <a:xfrm>
            <a:off x="502920" y="567000"/>
            <a:ext cx="11154240" cy="56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0f2136"/>
                </a:solidFill>
                <a:latin typeface="Cambria"/>
                <a:ea typeface="Cambria"/>
              </a:rPr>
              <a:t>Types of Serverless Computing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Shape 2"/>
          <p:cNvSpPr/>
          <p:nvPr/>
        </p:nvSpPr>
        <p:spPr>
          <a:xfrm>
            <a:off x="502920" y="1325880"/>
            <a:ext cx="2741760" cy="4159080"/>
          </a:xfrm>
          <a:prstGeom prst="roundRect">
            <a:avLst>
              <a:gd name="adj" fmla="val 3000"/>
            </a:avLst>
          </a:prstGeom>
          <a:solidFill>
            <a:srgbClr val="eef4fb"/>
          </a:solidFill>
          <a:ln w="12700">
            <a:solidFill>
              <a:srgbClr val="dce7f3"/>
            </a:solidFill>
            <a:round/>
          </a:ln>
          <a:effectLst>
            <a:outerShdw algn="bl" blurRad="88920" dir="5400000" dist="25560" kx="0" ky="0" rotWithShape="0" sx="100000" sy="100000">
              <a:srgbClr val="01050c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Shape 3"/>
          <p:cNvSpPr/>
          <p:nvPr/>
        </p:nvSpPr>
        <p:spPr>
          <a:xfrm>
            <a:off x="502920" y="1325880"/>
            <a:ext cx="2741760" cy="126720"/>
          </a:xfrm>
          <a:prstGeom prst="roundRect">
            <a:avLst>
              <a:gd name="adj" fmla="val 16667"/>
            </a:avLst>
          </a:prstGeom>
          <a:solidFill>
            <a:srgbClr val="0ea5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" name="Shape 4"/>
          <p:cNvSpPr/>
          <p:nvPr/>
        </p:nvSpPr>
        <p:spPr>
          <a:xfrm>
            <a:off x="1490400" y="1618560"/>
            <a:ext cx="766800" cy="766800"/>
          </a:xfrm>
          <a:prstGeom prst="ellipse">
            <a:avLst/>
          </a:prstGeom>
          <a:solidFill>
            <a:srgbClr val="0ea5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81" name="Image 0" descr="/home/claude/icons/bolt.png"/>
          <p:cNvPicPr/>
          <p:nvPr/>
        </p:nvPicPr>
        <p:blipFill>
          <a:blip r:embed="rId1"/>
          <a:stretch/>
        </p:blipFill>
        <p:spPr>
          <a:xfrm>
            <a:off x="1682640" y="1810440"/>
            <a:ext cx="382680" cy="382680"/>
          </a:xfrm>
          <a:prstGeom prst="rect">
            <a:avLst/>
          </a:prstGeom>
          <a:ln w="0">
            <a:noFill/>
          </a:ln>
        </p:spPr>
      </p:pic>
      <p:sp>
        <p:nvSpPr>
          <p:cNvPr id="182" name="Text 5"/>
          <p:cNvSpPr/>
          <p:nvPr/>
        </p:nvSpPr>
        <p:spPr>
          <a:xfrm>
            <a:off x="685800" y="2514600"/>
            <a:ext cx="2376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140" strike="noStrike">
                <a:solidFill>
                  <a:srgbClr val="0ea5e9"/>
                </a:solidFill>
                <a:latin typeface="Calibri"/>
                <a:ea typeface="Calibri"/>
              </a:rPr>
              <a:t>FAAS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Text 6"/>
          <p:cNvSpPr/>
          <p:nvPr/>
        </p:nvSpPr>
        <p:spPr>
          <a:xfrm>
            <a:off x="667440" y="2688480"/>
            <a:ext cx="24127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0f2136"/>
                </a:solidFill>
                <a:latin typeface="Cambria"/>
                <a:ea typeface="Cambria"/>
              </a:rPr>
              <a:t>Function as a Service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Shape 7"/>
          <p:cNvSpPr/>
          <p:nvPr/>
        </p:nvSpPr>
        <p:spPr>
          <a:xfrm>
            <a:off x="722520" y="3319200"/>
            <a:ext cx="62640" cy="62640"/>
          </a:xfrm>
          <a:prstGeom prst="ellipse">
            <a:avLst/>
          </a:prstGeom>
          <a:solidFill>
            <a:srgbClr val="0ea5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" name="Text 8"/>
          <p:cNvSpPr/>
          <p:nvPr/>
        </p:nvSpPr>
        <p:spPr>
          <a:xfrm rot="3600">
            <a:off x="886680" y="3219840"/>
            <a:ext cx="2312640" cy="51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33445a"/>
                </a:solidFill>
                <a:latin typeface="Calibri"/>
                <a:ea typeface="Calibri"/>
              </a:rPr>
              <a:t>Deploy single functions, not full apps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Shape 9"/>
          <p:cNvSpPr/>
          <p:nvPr/>
        </p:nvSpPr>
        <p:spPr>
          <a:xfrm>
            <a:off x="722520" y="3813120"/>
            <a:ext cx="62640" cy="62640"/>
          </a:xfrm>
          <a:prstGeom prst="ellipse">
            <a:avLst/>
          </a:prstGeom>
          <a:solidFill>
            <a:srgbClr val="0ea5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" name="Text 10"/>
          <p:cNvSpPr/>
          <p:nvPr/>
        </p:nvSpPr>
        <p:spPr>
          <a:xfrm>
            <a:off x="887040" y="3703320"/>
            <a:ext cx="2174760" cy="51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33445a"/>
                </a:solidFill>
                <a:latin typeface="Calibri"/>
                <a:ea typeface="Calibri"/>
              </a:rPr>
              <a:t>Best for independent, event-driven tasks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Shape 11"/>
          <p:cNvSpPr/>
          <p:nvPr/>
        </p:nvSpPr>
        <p:spPr>
          <a:xfrm>
            <a:off x="722520" y="4361760"/>
            <a:ext cx="62640" cy="62640"/>
          </a:xfrm>
          <a:prstGeom prst="ellipse">
            <a:avLst/>
          </a:prstGeom>
          <a:solidFill>
            <a:srgbClr val="0ea5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" name="Text 12"/>
          <p:cNvSpPr/>
          <p:nvPr/>
        </p:nvSpPr>
        <p:spPr>
          <a:xfrm>
            <a:off x="887040" y="4251960"/>
            <a:ext cx="2174760" cy="51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33445a"/>
                </a:solidFill>
                <a:latin typeface="Calibri"/>
                <a:ea typeface="Calibri"/>
              </a:rPr>
              <a:t>Scheduled reports, email alerts, file processing, webhooks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Shape 13"/>
          <p:cNvSpPr/>
          <p:nvPr/>
        </p:nvSpPr>
        <p:spPr>
          <a:xfrm>
            <a:off x="722520" y="4910400"/>
            <a:ext cx="62640" cy="62640"/>
          </a:xfrm>
          <a:prstGeom prst="ellipse">
            <a:avLst/>
          </a:prstGeom>
          <a:solidFill>
            <a:srgbClr val="0ea5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1" name="Text 14"/>
          <p:cNvSpPr/>
          <p:nvPr/>
        </p:nvSpPr>
        <p:spPr>
          <a:xfrm>
            <a:off x="887040" y="4800600"/>
            <a:ext cx="2174760" cy="51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33445a"/>
                </a:solidFill>
                <a:latin typeface="Calibri"/>
                <a:ea typeface="Calibri"/>
              </a:rPr>
              <a:t>Pay only for actual execution time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Shape 15"/>
          <p:cNvSpPr/>
          <p:nvPr/>
        </p:nvSpPr>
        <p:spPr>
          <a:xfrm>
            <a:off x="3364920" y="1325880"/>
            <a:ext cx="2741760" cy="4159080"/>
          </a:xfrm>
          <a:prstGeom prst="roundRect">
            <a:avLst>
              <a:gd name="adj" fmla="val 3000"/>
            </a:avLst>
          </a:prstGeom>
          <a:solidFill>
            <a:srgbClr val="eef4fb"/>
          </a:solidFill>
          <a:ln w="12700">
            <a:solidFill>
              <a:srgbClr val="dce7f3"/>
            </a:solidFill>
            <a:round/>
          </a:ln>
          <a:effectLst>
            <a:outerShdw algn="bl" blurRad="88920" dir="5400000" dist="25560" kx="0" ky="0" rotWithShape="0" sx="100000" sy="100000">
              <a:srgbClr val="01050c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Shape 16"/>
          <p:cNvSpPr/>
          <p:nvPr/>
        </p:nvSpPr>
        <p:spPr>
          <a:xfrm>
            <a:off x="3364920" y="1325880"/>
            <a:ext cx="2741760" cy="126720"/>
          </a:xfrm>
          <a:prstGeom prst="roundRect">
            <a:avLst>
              <a:gd name="adj" fmla="val 16667"/>
            </a:avLst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Shape 17"/>
          <p:cNvSpPr/>
          <p:nvPr/>
        </p:nvSpPr>
        <p:spPr>
          <a:xfrm>
            <a:off x="4352400" y="1618560"/>
            <a:ext cx="766800" cy="7668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95" name="Image 1" descr="/home/claude/icons/docker.png"/>
          <p:cNvPicPr/>
          <p:nvPr/>
        </p:nvPicPr>
        <p:blipFill>
          <a:blip r:embed="rId2"/>
          <a:stretch/>
        </p:blipFill>
        <p:spPr>
          <a:xfrm>
            <a:off x="4544640" y="1810440"/>
            <a:ext cx="382680" cy="382680"/>
          </a:xfrm>
          <a:prstGeom prst="rect">
            <a:avLst/>
          </a:prstGeom>
          <a:ln w="0">
            <a:noFill/>
          </a:ln>
        </p:spPr>
      </p:pic>
      <p:sp>
        <p:nvSpPr>
          <p:cNvPr id="196" name="Text 18"/>
          <p:cNvSpPr/>
          <p:nvPr/>
        </p:nvSpPr>
        <p:spPr>
          <a:xfrm>
            <a:off x="3547800" y="2514600"/>
            <a:ext cx="2376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140" strike="noStrike">
                <a:solidFill>
                  <a:srgbClr val="10b981"/>
                </a:solidFill>
                <a:latin typeface="Calibri"/>
                <a:ea typeface="Calibri"/>
              </a:rPr>
              <a:t>CONTAINERS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Text 19"/>
          <p:cNvSpPr/>
          <p:nvPr/>
        </p:nvSpPr>
        <p:spPr>
          <a:xfrm>
            <a:off x="3529440" y="2688480"/>
            <a:ext cx="24127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0f2136"/>
                </a:solidFill>
                <a:latin typeface="Cambria"/>
                <a:ea typeface="Cambria"/>
              </a:rPr>
              <a:t>Serverless Containers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Shape 20"/>
          <p:cNvSpPr/>
          <p:nvPr/>
        </p:nvSpPr>
        <p:spPr>
          <a:xfrm>
            <a:off x="3584520" y="3319200"/>
            <a:ext cx="62640" cy="6264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" name="Text 21"/>
          <p:cNvSpPr/>
          <p:nvPr/>
        </p:nvSpPr>
        <p:spPr>
          <a:xfrm>
            <a:off x="3749040" y="3218760"/>
            <a:ext cx="2174760" cy="51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33445a"/>
                </a:solidFill>
                <a:latin typeface="Calibri"/>
                <a:ea typeface="Calibri"/>
              </a:rPr>
              <a:t>Run existing Docker images as-is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Shape 22"/>
          <p:cNvSpPr/>
          <p:nvPr/>
        </p:nvSpPr>
        <p:spPr>
          <a:xfrm>
            <a:off x="3584520" y="3813120"/>
            <a:ext cx="62640" cy="6264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" name="Text 23"/>
          <p:cNvSpPr/>
          <p:nvPr/>
        </p:nvSpPr>
        <p:spPr>
          <a:xfrm>
            <a:off x="3749040" y="3703320"/>
            <a:ext cx="2174760" cy="51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33445a"/>
                </a:solidFill>
                <a:latin typeface="Calibri"/>
                <a:ea typeface="Calibri"/>
              </a:rPr>
              <a:t>Preferred for existing Python apps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Shape 24"/>
          <p:cNvSpPr/>
          <p:nvPr/>
        </p:nvSpPr>
        <p:spPr>
          <a:xfrm>
            <a:off x="3584520" y="4361760"/>
            <a:ext cx="62640" cy="6264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" name="Text 25"/>
          <p:cNvSpPr/>
          <p:nvPr/>
        </p:nvSpPr>
        <p:spPr>
          <a:xfrm>
            <a:off x="3749040" y="4251960"/>
            <a:ext cx="2174760" cy="51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33445a"/>
                </a:solidFill>
                <a:latin typeface="Calibri"/>
                <a:ea typeface="Calibri"/>
              </a:rPr>
              <a:t>Minimal migration for FastAPI, Django, Flask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Shape 26"/>
          <p:cNvSpPr/>
          <p:nvPr/>
        </p:nvSpPr>
        <p:spPr>
          <a:xfrm>
            <a:off x="3584520" y="4910400"/>
            <a:ext cx="62640" cy="6264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5" name="Text 27"/>
          <p:cNvSpPr/>
          <p:nvPr/>
        </p:nvSpPr>
        <p:spPr>
          <a:xfrm>
            <a:off x="3749040" y="4800600"/>
            <a:ext cx="2174760" cy="51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33445a"/>
                </a:solidFill>
                <a:latin typeface="Calibri"/>
                <a:ea typeface="Calibri"/>
              </a:rPr>
              <a:t>Scale-to-zero supported on most platforms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Shape 28"/>
          <p:cNvSpPr/>
          <p:nvPr/>
        </p:nvSpPr>
        <p:spPr>
          <a:xfrm>
            <a:off x="6226920" y="1325880"/>
            <a:ext cx="2741760" cy="4159080"/>
          </a:xfrm>
          <a:prstGeom prst="roundRect">
            <a:avLst>
              <a:gd name="adj" fmla="val 3000"/>
            </a:avLst>
          </a:prstGeom>
          <a:solidFill>
            <a:srgbClr val="eef4fb"/>
          </a:solidFill>
          <a:ln w="12700">
            <a:solidFill>
              <a:srgbClr val="dce7f3"/>
            </a:solidFill>
            <a:round/>
          </a:ln>
          <a:effectLst>
            <a:outerShdw algn="bl" blurRad="88920" dir="5400000" dist="25560" kx="0" ky="0" rotWithShape="0" sx="100000" sy="100000">
              <a:srgbClr val="01050c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Shape 29"/>
          <p:cNvSpPr/>
          <p:nvPr/>
        </p:nvSpPr>
        <p:spPr>
          <a:xfrm>
            <a:off x="6226920" y="1325880"/>
            <a:ext cx="2741760" cy="126720"/>
          </a:xfrm>
          <a:prstGeom prst="roundRect">
            <a:avLst>
              <a:gd name="adj" fmla="val 16667"/>
            </a:avLst>
          </a:prstGeom>
          <a:solidFill>
            <a:srgbClr val="7c3ae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" name="Shape 30"/>
          <p:cNvSpPr/>
          <p:nvPr/>
        </p:nvSpPr>
        <p:spPr>
          <a:xfrm>
            <a:off x="7214760" y="1618560"/>
            <a:ext cx="766800" cy="766800"/>
          </a:xfrm>
          <a:prstGeom prst="ellipse">
            <a:avLst/>
          </a:prstGeom>
          <a:solidFill>
            <a:srgbClr val="7c3ae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09" name="Image 2" descr="/home/claude/icons/globe.png"/>
          <p:cNvPicPr/>
          <p:nvPr/>
        </p:nvPicPr>
        <p:blipFill>
          <a:blip r:embed="rId3"/>
          <a:stretch/>
        </p:blipFill>
        <p:spPr>
          <a:xfrm>
            <a:off x="7406640" y="1810440"/>
            <a:ext cx="382680" cy="382680"/>
          </a:xfrm>
          <a:prstGeom prst="rect">
            <a:avLst/>
          </a:prstGeom>
          <a:ln w="0">
            <a:noFill/>
          </a:ln>
        </p:spPr>
      </p:pic>
      <p:sp>
        <p:nvSpPr>
          <p:cNvPr id="210" name="Text 31"/>
          <p:cNvSpPr/>
          <p:nvPr/>
        </p:nvSpPr>
        <p:spPr>
          <a:xfrm>
            <a:off x="6409800" y="2514600"/>
            <a:ext cx="2376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140" strike="noStrike">
                <a:solidFill>
                  <a:srgbClr val="7c3aed"/>
                </a:solidFill>
                <a:latin typeface="Calibri"/>
                <a:ea typeface="Calibri"/>
              </a:rPr>
              <a:t>EDGE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Text 32"/>
          <p:cNvSpPr/>
          <p:nvPr/>
        </p:nvSpPr>
        <p:spPr>
          <a:xfrm>
            <a:off x="6391800" y="2688480"/>
            <a:ext cx="24127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0f2136"/>
                </a:solidFill>
                <a:latin typeface="Cambria"/>
                <a:ea typeface="Cambria"/>
              </a:rPr>
              <a:t>Edge Computing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Shape 33"/>
          <p:cNvSpPr/>
          <p:nvPr/>
        </p:nvSpPr>
        <p:spPr>
          <a:xfrm>
            <a:off x="6446520" y="3319200"/>
            <a:ext cx="62640" cy="62640"/>
          </a:xfrm>
          <a:prstGeom prst="ellipse">
            <a:avLst/>
          </a:prstGeom>
          <a:solidFill>
            <a:srgbClr val="7c3ae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" name="Text 34"/>
          <p:cNvSpPr/>
          <p:nvPr/>
        </p:nvSpPr>
        <p:spPr>
          <a:xfrm>
            <a:off x="6611040" y="3218760"/>
            <a:ext cx="2174760" cy="51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33445a"/>
                </a:solidFill>
                <a:latin typeface="Calibri"/>
                <a:ea typeface="Calibri"/>
              </a:rPr>
              <a:t>Executes logic near the end user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Shape 35"/>
          <p:cNvSpPr/>
          <p:nvPr/>
        </p:nvSpPr>
        <p:spPr>
          <a:xfrm>
            <a:off x="6446520" y="3813120"/>
            <a:ext cx="62640" cy="62640"/>
          </a:xfrm>
          <a:prstGeom prst="ellipse">
            <a:avLst/>
          </a:prstGeom>
          <a:solidFill>
            <a:srgbClr val="7c3ae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5" name="Text 36"/>
          <p:cNvSpPr/>
          <p:nvPr/>
        </p:nvSpPr>
        <p:spPr>
          <a:xfrm>
            <a:off x="6611040" y="3703320"/>
            <a:ext cx="2174760" cy="51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33445a"/>
                </a:solidFill>
                <a:latin typeface="Calibri"/>
                <a:ea typeface="Calibri"/>
              </a:rPr>
              <a:t>Reduces latency for global traffic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Shape 37"/>
          <p:cNvSpPr/>
          <p:nvPr/>
        </p:nvSpPr>
        <p:spPr>
          <a:xfrm>
            <a:off x="6446520" y="4361760"/>
            <a:ext cx="62640" cy="62640"/>
          </a:xfrm>
          <a:prstGeom prst="ellipse">
            <a:avLst/>
          </a:prstGeom>
          <a:solidFill>
            <a:srgbClr val="7c3ae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7" name="Text 38"/>
          <p:cNvSpPr/>
          <p:nvPr/>
        </p:nvSpPr>
        <p:spPr>
          <a:xfrm>
            <a:off x="6611040" y="4251960"/>
            <a:ext cx="2174760" cy="51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33445a"/>
                </a:solidFill>
                <a:latin typeface="Calibri"/>
                <a:ea typeface="Calibri"/>
              </a:rPr>
              <a:t>Best for: auth, middleware, personalization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Shape 39"/>
          <p:cNvSpPr/>
          <p:nvPr/>
        </p:nvSpPr>
        <p:spPr>
          <a:xfrm>
            <a:off x="6446520" y="4910400"/>
            <a:ext cx="62640" cy="62640"/>
          </a:xfrm>
          <a:prstGeom prst="ellipse">
            <a:avLst/>
          </a:prstGeom>
          <a:solidFill>
            <a:srgbClr val="7c3ae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9" name="Text 40"/>
          <p:cNvSpPr/>
          <p:nvPr/>
        </p:nvSpPr>
        <p:spPr>
          <a:xfrm>
            <a:off x="6611040" y="4800600"/>
            <a:ext cx="2174760" cy="51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33445a"/>
                </a:solidFill>
                <a:latin typeface="Calibri"/>
                <a:ea typeface="Calibri"/>
              </a:rPr>
              <a:t>Best paired with a primary cloud platform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Shape 41"/>
          <p:cNvSpPr/>
          <p:nvPr/>
        </p:nvSpPr>
        <p:spPr>
          <a:xfrm>
            <a:off x="9089280" y="1325880"/>
            <a:ext cx="2741760" cy="4159080"/>
          </a:xfrm>
          <a:prstGeom prst="roundRect">
            <a:avLst>
              <a:gd name="adj" fmla="val 3000"/>
            </a:avLst>
          </a:prstGeom>
          <a:solidFill>
            <a:srgbClr val="eef4fb"/>
          </a:solidFill>
          <a:ln w="12700">
            <a:solidFill>
              <a:srgbClr val="dce7f3"/>
            </a:solidFill>
            <a:round/>
          </a:ln>
          <a:effectLst>
            <a:outerShdw algn="bl" blurRad="88920" dir="5400000" dist="25560" kx="0" ky="0" rotWithShape="0" sx="100000" sy="100000">
              <a:srgbClr val="01050c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Shape 42"/>
          <p:cNvSpPr/>
          <p:nvPr/>
        </p:nvSpPr>
        <p:spPr>
          <a:xfrm>
            <a:off x="9089280" y="1325880"/>
            <a:ext cx="2741760" cy="126720"/>
          </a:xfrm>
          <a:prstGeom prst="roundRect">
            <a:avLst>
              <a:gd name="adj" fmla="val 16667"/>
            </a:avLst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Shape 43"/>
          <p:cNvSpPr/>
          <p:nvPr/>
        </p:nvSpPr>
        <p:spPr>
          <a:xfrm>
            <a:off x="10076760" y="1618560"/>
            <a:ext cx="766800" cy="766800"/>
          </a:xfrm>
          <a:prstGeom prst="ellipse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23" name="Image 3" descr="/home/claude/icons/cubes.png"/>
          <p:cNvPicPr/>
          <p:nvPr/>
        </p:nvPicPr>
        <p:blipFill>
          <a:blip r:embed="rId4"/>
          <a:stretch/>
        </p:blipFill>
        <p:spPr>
          <a:xfrm>
            <a:off x="10268640" y="1810440"/>
            <a:ext cx="382680" cy="382680"/>
          </a:xfrm>
          <a:prstGeom prst="rect">
            <a:avLst/>
          </a:prstGeom>
          <a:ln w="0">
            <a:noFill/>
          </a:ln>
        </p:spPr>
      </p:pic>
      <p:sp>
        <p:nvSpPr>
          <p:cNvPr id="224" name="Text 44"/>
          <p:cNvSpPr/>
          <p:nvPr/>
        </p:nvSpPr>
        <p:spPr>
          <a:xfrm>
            <a:off x="9272160" y="2514600"/>
            <a:ext cx="2376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140" strike="noStrike">
                <a:solidFill>
                  <a:srgbClr val="f59e0b"/>
                </a:solidFill>
                <a:latin typeface="Calibri"/>
                <a:ea typeface="Calibri"/>
              </a:rPr>
              <a:t>BAAS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Text 45"/>
          <p:cNvSpPr/>
          <p:nvPr/>
        </p:nvSpPr>
        <p:spPr>
          <a:xfrm>
            <a:off x="9253800" y="2688480"/>
            <a:ext cx="24127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0f2136"/>
                </a:solidFill>
                <a:latin typeface="Cambria"/>
                <a:ea typeface="Cambria"/>
              </a:rPr>
              <a:t>Backend as a Service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Shape 46"/>
          <p:cNvSpPr/>
          <p:nvPr/>
        </p:nvSpPr>
        <p:spPr>
          <a:xfrm>
            <a:off x="9308520" y="3319200"/>
            <a:ext cx="62640" cy="62640"/>
          </a:xfrm>
          <a:prstGeom prst="ellipse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Text 47"/>
          <p:cNvSpPr/>
          <p:nvPr/>
        </p:nvSpPr>
        <p:spPr>
          <a:xfrm>
            <a:off x="9473040" y="3218760"/>
            <a:ext cx="2174760" cy="51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33445a"/>
                </a:solidFill>
                <a:latin typeface="Calibri"/>
                <a:ea typeface="Calibri"/>
              </a:rPr>
              <a:t>Managed auth, storage, database, notifications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Shape 48"/>
          <p:cNvSpPr/>
          <p:nvPr/>
        </p:nvSpPr>
        <p:spPr>
          <a:xfrm>
            <a:off x="9308520" y="3813120"/>
            <a:ext cx="62640" cy="62640"/>
          </a:xfrm>
          <a:prstGeom prst="ellipse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Text 49"/>
          <p:cNvSpPr/>
          <p:nvPr/>
        </p:nvSpPr>
        <p:spPr>
          <a:xfrm>
            <a:off x="9473040" y="3703320"/>
            <a:ext cx="2174760" cy="51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33445a"/>
                </a:solidFill>
                <a:latin typeface="Calibri"/>
                <a:ea typeface="Calibri"/>
              </a:rPr>
              <a:t>Faster development, less backend code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Shape 50"/>
          <p:cNvSpPr/>
          <p:nvPr/>
        </p:nvSpPr>
        <p:spPr>
          <a:xfrm>
            <a:off x="9308520" y="4361760"/>
            <a:ext cx="62640" cy="62640"/>
          </a:xfrm>
          <a:prstGeom prst="ellipse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Text 51"/>
          <p:cNvSpPr/>
          <p:nvPr/>
        </p:nvSpPr>
        <p:spPr>
          <a:xfrm>
            <a:off x="9473040" y="4251960"/>
            <a:ext cx="2174760" cy="51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33445a"/>
                </a:solidFill>
                <a:latin typeface="Calibri"/>
                <a:ea typeface="Calibri"/>
              </a:rPr>
              <a:t>Trade-off: higher vendor dependency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Shape 52"/>
          <p:cNvSpPr/>
          <p:nvPr/>
        </p:nvSpPr>
        <p:spPr>
          <a:xfrm>
            <a:off x="9308520" y="4910400"/>
            <a:ext cx="62640" cy="62640"/>
          </a:xfrm>
          <a:prstGeom prst="ellipse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Text 53"/>
          <p:cNvSpPr/>
          <p:nvPr/>
        </p:nvSpPr>
        <p:spPr>
          <a:xfrm>
            <a:off x="9473040" y="4800600"/>
            <a:ext cx="2174760" cy="51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33445a"/>
                </a:solidFill>
                <a:latin typeface="Calibri"/>
                <a:ea typeface="Calibri"/>
              </a:rPr>
              <a:t>Ideal for MVPs and rapid prototyping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Shape 54"/>
          <p:cNvSpPr/>
          <p:nvPr/>
        </p:nvSpPr>
        <p:spPr>
          <a:xfrm>
            <a:off x="502920" y="5623560"/>
            <a:ext cx="11337480" cy="620280"/>
          </a:xfrm>
          <a:prstGeom prst="roundRect">
            <a:avLst>
              <a:gd name="adj" fmla="val 13235"/>
            </a:avLst>
          </a:prstGeom>
          <a:solidFill>
            <a:srgbClr val="16324f"/>
          </a:solidFill>
          <a:ln w="12700">
            <a:solidFill>
              <a:srgbClr val="27476e"/>
            </a:solidFill>
            <a:round/>
          </a:ln>
          <a:effectLst>
            <a:outerShdw algn="bl" blurRad="88920" dir="5400000" dist="25560" kx="0" ky="0" rotWithShape="0" sx="100000" sy="100000">
              <a:srgbClr val="01050c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35" name="Image 4" descr="/home/claude/icons/exchange.png"/>
          <p:cNvPicPr/>
          <p:nvPr/>
        </p:nvPicPr>
        <p:blipFill>
          <a:blip r:embed="rId5"/>
          <a:stretch/>
        </p:blipFill>
        <p:spPr>
          <a:xfrm>
            <a:off x="713160" y="5788080"/>
            <a:ext cx="291240" cy="291240"/>
          </a:xfrm>
          <a:prstGeom prst="rect">
            <a:avLst/>
          </a:prstGeom>
          <a:ln w="0">
            <a:noFill/>
          </a:ln>
        </p:spPr>
      </p:pic>
      <p:sp>
        <p:nvSpPr>
          <p:cNvPr id="236" name="Text 55"/>
          <p:cNvSpPr/>
          <p:nvPr/>
        </p:nvSpPr>
        <p:spPr>
          <a:xfrm>
            <a:off x="1143000" y="5623560"/>
            <a:ext cx="10559880" cy="62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d7e4f2"/>
                </a:solidFill>
                <a:latin typeface="Calibri"/>
                <a:ea typeface="Calibri"/>
              </a:rPr>
              <a:t>Modern applications rarely rely on one model alone — Python backends typically combine Serverless Containers for the core app with Functions for independent, event-driven tasks.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Text 56"/>
          <p:cNvSpPr/>
          <p:nvPr/>
        </p:nvSpPr>
        <p:spPr>
          <a:xfrm>
            <a:off x="457200" y="652896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637488"/>
                </a:solidFill>
                <a:latin typeface="Calibri"/>
                <a:ea typeface="Calibri"/>
              </a:rPr>
              <a:t>Types of Serverless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Text 57"/>
          <p:cNvSpPr/>
          <p:nvPr/>
        </p:nvSpPr>
        <p:spPr>
          <a:xfrm>
            <a:off x="11003040" y="6528960"/>
            <a:ext cx="8215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637488"/>
                </a:solidFill>
                <a:latin typeface="Calibri"/>
                <a:ea typeface="Calibri"/>
              </a:rPr>
              <a:t>04 / 25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e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Text 0"/>
          <p:cNvSpPr/>
          <p:nvPr/>
        </p:nvSpPr>
        <p:spPr>
          <a:xfrm>
            <a:off x="502920" y="320040"/>
            <a:ext cx="9142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191" strike="noStrike">
                <a:solidFill>
                  <a:srgbClr val="7dd3fc"/>
                </a:solidFill>
                <a:latin typeface="Calibri"/>
                <a:ea typeface="Calibri"/>
              </a:rPr>
              <a:t>METHODOLOGY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Text 1"/>
          <p:cNvSpPr/>
          <p:nvPr/>
        </p:nvSpPr>
        <p:spPr>
          <a:xfrm>
            <a:off x="502920" y="567000"/>
            <a:ext cx="11154240" cy="56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ffffff"/>
                </a:solidFill>
                <a:latin typeface="Cambria"/>
                <a:ea typeface="Cambria"/>
              </a:rPr>
              <a:t>Evaluation Criteria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1" name="Text 2"/>
          <p:cNvSpPr/>
          <p:nvPr/>
        </p:nvSpPr>
        <p:spPr>
          <a:xfrm>
            <a:off x="502920" y="1188720"/>
            <a:ext cx="107884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d7e4f2"/>
                </a:solidFill>
                <a:latin typeface="Calibri"/>
                <a:ea typeface="Calibri"/>
              </a:rPr>
              <a:t>Every platform in this review is scored consistently against eight criteria that matter most for our Python and Next.js workloads.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2" name="Shape 3"/>
          <p:cNvSpPr/>
          <p:nvPr/>
        </p:nvSpPr>
        <p:spPr>
          <a:xfrm>
            <a:off x="502920" y="1783080"/>
            <a:ext cx="2723400" cy="2147400"/>
          </a:xfrm>
          <a:prstGeom prst="roundRect">
            <a:avLst>
              <a:gd name="adj" fmla="val 3830"/>
            </a:avLst>
          </a:prstGeom>
          <a:solidFill>
            <a:srgbClr val="16324f"/>
          </a:solidFill>
          <a:ln w="12700">
            <a:solidFill>
              <a:srgbClr val="27476e"/>
            </a:solidFill>
            <a:round/>
          </a:ln>
          <a:effectLst>
            <a:outerShdw algn="bl" blurRad="88920" dir="5400000" dist="25560" kx="0" ky="0" rotWithShape="0" sx="100000" sy="100000">
              <a:srgbClr val="01050c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3" name="Shape 4"/>
          <p:cNvSpPr/>
          <p:nvPr/>
        </p:nvSpPr>
        <p:spPr>
          <a:xfrm>
            <a:off x="1572840" y="2039040"/>
            <a:ext cx="583920" cy="583920"/>
          </a:xfrm>
          <a:prstGeom prst="ellipse">
            <a:avLst/>
          </a:prstGeom>
          <a:solidFill>
            <a:srgbClr val="26507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44" name="Image 0" descr="/home/claude/icons/python.png"/>
          <p:cNvPicPr/>
          <p:nvPr/>
        </p:nvPicPr>
        <p:blipFill>
          <a:blip r:embed="rId1"/>
          <a:stretch/>
        </p:blipFill>
        <p:spPr>
          <a:xfrm>
            <a:off x="1648800" y="2115360"/>
            <a:ext cx="431640" cy="431640"/>
          </a:xfrm>
          <a:prstGeom prst="rect">
            <a:avLst/>
          </a:prstGeom>
          <a:ln w="0">
            <a:noFill/>
          </a:ln>
        </p:spPr>
      </p:pic>
      <p:sp>
        <p:nvSpPr>
          <p:cNvPr id="245" name="Text 5"/>
          <p:cNvSpPr/>
          <p:nvPr/>
        </p:nvSpPr>
        <p:spPr>
          <a:xfrm>
            <a:off x="640080" y="2743200"/>
            <a:ext cx="24490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Python Support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" name="Text 6"/>
          <p:cNvSpPr/>
          <p:nvPr/>
        </p:nvSpPr>
        <p:spPr>
          <a:xfrm>
            <a:off x="457200" y="3173040"/>
            <a:ext cx="27691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93aac7"/>
                </a:solidFill>
                <a:latin typeface="Calibri"/>
                <a:ea typeface="Calibri"/>
              </a:rPr>
              <a:t>FastAPI, Flask, Django compatibility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" name="Shape 7"/>
          <p:cNvSpPr/>
          <p:nvPr/>
        </p:nvSpPr>
        <p:spPr>
          <a:xfrm>
            <a:off x="3319200" y="1783080"/>
            <a:ext cx="2723400" cy="2147400"/>
          </a:xfrm>
          <a:prstGeom prst="roundRect">
            <a:avLst>
              <a:gd name="adj" fmla="val 3830"/>
            </a:avLst>
          </a:prstGeom>
          <a:solidFill>
            <a:srgbClr val="16324f"/>
          </a:solidFill>
          <a:ln w="12700">
            <a:solidFill>
              <a:srgbClr val="27476e"/>
            </a:solidFill>
            <a:round/>
          </a:ln>
          <a:effectLst>
            <a:outerShdw algn="bl" blurRad="88920" dir="5400000" dist="25560" kx="0" ky="0" rotWithShape="0" sx="100000" sy="100000">
              <a:srgbClr val="01050c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Shape 8"/>
          <p:cNvSpPr/>
          <p:nvPr/>
        </p:nvSpPr>
        <p:spPr>
          <a:xfrm>
            <a:off x="4389120" y="2039040"/>
            <a:ext cx="583920" cy="583920"/>
          </a:xfrm>
          <a:prstGeom prst="ellipse">
            <a:avLst/>
          </a:prstGeom>
          <a:solidFill>
            <a:srgbClr val="26507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49" name="Image 1" descr="/home/claude/icons/react.png"/>
          <p:cNvPicPr/>
          <p:nvPr/>
        </p:nvPicPr>
        <p:blipFill>
          <a:blip r:embed="rId2"/>
          <a:stretch/>
        </p:blipFill>
        <p:spPr>
          <a:xfrm>
            <a:off x="4465080" y="2115360"/>
            <a:ext cx="431640" cy="431640"/>
          </a:xfrm>
          <a:prstGeom prst="rect">
            <a:avLst/>
          </a:prstGeom>
          <a:ln w="0">
            <a:noFill/>
          </a:ln>
        </p:spPr>
      </p:pic>
      <p:sp>
        <p:nvSpPr>
          <p:cNvPr id="250" name="Text 9"/>
          <p:cNvSpPr/>
          <p:nvPr/>
        </p:nvSpPr>
        <p:spPr>
          <a:xfrm>
            <a:off x="3456360" y="2743200"/>
            <a:ext cx="24490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Next.js Support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1" name="Text 10"/>
          <p:cNvSpPr/>
          <p:nvPr/>
        </p:nvSpPr>
        <p:spPr>
          <a:xfrm>
            <a:off x="3502080" y="3173040"/>
            <a:ext cx="2357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93aac7"/>
                </a:solidFill>
                <a:latin typeface="Calibri"/>
                <a:ea typeface="Calibri"/>
              </a:rPr>
              <a:t>SSR, API routes, ISR, middleware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" name="Shape 11"/>
          <p:cNvSpPr/>
          <p:nvPr/>
        </p:nvSpPr>
        <p:spPr>
          <a:xfrm>
            <a:off x="6135480" y="1783080"/>
            <a:ext cx="2723400" cy="2147400"/>
          </a:xfrm>
          <a:prstGeom prst="roundRect">
            <a:avLst>
              <a:gd name="adj" fmla="val 3830"/>
            </a:avLst>
          </a:prstGeom>
          <a:solidFill>
            <a:srgbClr val="16324f"/>
          </a:solidFill>
          <a:ln w="12700">
            <a:solidFill>
              <a:srgbClr val="27476e"/>
            </a:solidFill>
            <a:round/>
          </a:ln>
          <a:effectLst>
            <a:outerShdw algn="bl" blurRad="88920" dir="5400000" dist="25560" kx="0" ky="0" rotWithShape="0" sx="100000" sy="100000">
              <a:srgbClr val="01050c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3" name="Shape 12"/>
          <p:cNvSpPr/>
          <p:nvPr/>
        </p:nvSpPr>
        <p:spPr>
          <a:xfrm>
            <a:off x="7205400" y="2039040"/>
            <a:ext cx="583920" cy="583920"/>
          </a:xfrm>
          <a:prstGeom prst="ellipse">
            <a:avLst/>
          </a:prstGeom>
          <a:solidFill>
            <a:srgbClr val="26507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54" name="Image 2" descr="/home/claude/icons/dollar.png"/>
          <p:cNvPicPr/>
          <p:nvPr/>
        </p:nvPicPr>
        <p:blipFill>
          <a:blip r:embed="rId3"/>
          <a:stretch/>
        </p:blipFill>
        <p:spPr>
          <a:xfrm>
            <a:off x="7281720" y="2115360"/>
            <a:ext cx="431640" cy="431640"/>
          </a:xfrm>
          <a:prstGeom prst="rect">
            <a:avLst/>
          </a:prstGeom>
          <a:ln w="0">
            <a:noFill/>
          </a:ln>
        </p:spPr>
      </p:pic>
      <p:sp>
        <p:nvSpPr>
          <p:cNvPr id="255" name="Text 13"/>
          <p:cNvSpPr/>
          <p:nvPr/>
        </p:nvSpPr>
        <p:spPr>
          <a:xfrm>
            <a:off x="6272640" y="2743200"/>
            <a:ext cx="24490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Cost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6" name="Text 14"/>
          <p:cNvSpPr/>
          <p:nvPr/>
        </p:nvSpPr>
        <p:spPr>
          <a:xfrm>
            <a:off x="6135480" y="3173040"/>
            <a:ext cx="27234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93aac7"/>
                </a:solidFill>
                <a:latin typeface="Calibri"/>
                <a:ea typeface="Calibri"/>
              </a:rPr>
              <a:t>Idle cost, consumption pricing, free tier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7" name="Shape 15"/>
          <p:cNvSpPr/>
          <p:nvPr/>
        </p:nvSpPr>
        <p:spPr>
          <a:xfrm>
            <a:off x="8952120" y="1783080"/>
            <a:ext cx="2723400" cy="2147400"/>
          </a:xfrm>
          <a:prstGeom prst="roundRect">
            <a:avLst>
              <a:gd name="adj" fmla="val 3830"/>
            </a:avLst>
          </a:prstGeom>
          <a:solidFill>
            <a:srgbClr val="16324f"/>
          </a:solidFill>
          <a:ln w="12700">
            <a:solidFill>
              <a:srgbClr val="27476e"/>
            </a:solidFill>
            <a:round/>
          </a:ln>
          <a:effectLst>
            <a:outerShdw algn="bl" blurRad="88920" dir="5400000" dist="25560" kx="0" ky="0" rotWithShape="0" sx="100000" sy="100000">
              <a:srgbClr val="01050c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8" name="Shape 16"/>
          <p:cNvSpPr/>
          <p:nvPr/>
        </p:nvSpPr>
        <p:spPr>
          <a:xfrm>
            <a:off x="10021680" y="2039040"/>
            <a:ext cx="583920" cy="583920"/>
          </a:xfrm>
          <a:prstGeom prst="ellipse">
            <a:avLst/>
          </a:prstGeom>
          <a:solidFill>
            <a:srgbClr val="26507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59" name="Image 3" descr="/home/claude/icons/sync.png"/>
          <p:cNvPicPr/>
          <p:nvPr/>
        </p:nvPicPr>
        <p:blipFill>
          <a:blip r:embed="rId4"/>
          <a:stretch/>
        </p:blipFill>
        <p:spPr>
          <a:xfrm>
            <a:off x="10098000" y="2115360"/>
            <a:ext cx="431640" cy="431640"/>
          </a:xfrm>
          <a:prstGeom prst="rect">
            <a:avLst/>
          </a:prstGeom>
          <a:ln w="0">
            <a:noFill/>
          </a:ln>
        </p:spPr>
      </p:pic>
      <p:sp>
        <p:nvSpPr>
          <p:cNvPr id="260" name="Text 17"/>
          <p:cNvSpPr/>
          <p:nvPr/>
        </p:nvSpPr>
        <p:spPr>
          <a:xfrm>
            <a:off x="9089280" y="2743200"/>
            <a:ext cx="24490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Auto Scaling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1" name="Text 18"/>
          <p:cNvSpPr/>
          <p:nvPr/>
        </p:nvSpPr>
        <p:spPr>
          <a:xfrm>
            <a:off x="9135000" y="3173040"/>
            <a:ext cx="2357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93aac7"/>
                </a:solidFill>
                <a:latin typeface="Calibri"/>
                <a:ea typeface="Calibri"/>
              </a:rPr>
              <a:t>Elastic scale-up under traffic spikes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2" name="Shape 19"/>
          <p:cNvSpPr/>
          <p:nvPr/>
        </p:nvSpPr>
        <p:spPr>
          <a:xfrm>
            <a:off x="502920" y="4069080"/>
            <a:ext cx="2723400" cy="2147400"/>
          </a:xfrm>
          <a:prstGeom prst="roundRect">
            <a:avLst>
              <a:gd name="adj" fmla="val 3830"/>
            </a:avLst>
          </a:prstGeom>
          <a:solidFill>
            <a:srgbClr val="1d3e63"/>
          </a:solidFill>
          <a:ln w="12700">
            <a:solidFill>
              <a:srgbClr val="27476e"/>
            </a:solidFill>
            <a:round/>
          </a:ln>
          <a:effectLst>
            <a:outerShdw algn="bl" blurRad="88920" dir="5400000" dist="25560" kx="0" ky="0" rotWithShape="0" sx="100000" sy="100000">
              <a:srgbClr val="01050c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3" name="Shape 20"/>
          <p:cNvSpPr/>
          <p:nvPr/>
        </p:nvSpPr>
        <p:spPr>
          <a:xfrm>
            <a:off x="1572840" y="4325040"/>
            <a:ext cx="583920" cy="583920"/>
          </a:xfrm>
          <a:prstGeom prst="ellipse">
            <a:avLst/>
          </a:prstGeom>
          <a:solidFill>
            <a:srgbClr val="26507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64" name="Image 4" descr="/home/claude/icons/clock.png"/>
          <p:cNvPicPr/>
          <p:nvPr/>
        </p:nvPicPr>
        <p:blipFill>
          <a:blip r:embed="rId5"/>
          <a:stretch/>
        </p:blipFill>
        <p:spPr>
          <a:xfrm>
            <a:off x="1648800" y="4401360"/>
            <a:ext cx="431640" cy="431640"/>
          </a:xfrm>
          <a:prstGeom prst="rect">
            <a:avLst/>
          </a:prstGeom>
          <a:ln w="0">
            <a:noFill/>
          </a:ln>
        </p:spPr>
      </p:pic>
      <p:sp>
        <p:nvSpPr>
          <p:cNvPr id="265" name="Text 21"/>
          <p:cNvSpPr/>
          <p:nvPr/>
        </p:nvSpPr>
        <p:spPr>
          <a:xfrm>
            <a:off x="640080" y="5029200"/>
            <a:ext cx="24490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Scale-to-Zero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" name="Text 22"/>
          <p:cNvSpPr/>
          <p:nvPr/>
        </p:nvSpPr>
        <p:spPr>
          <a:xfrm>
            <a:off x="502920" y="5459040"/>
            <a:ext cx="27234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93aac7"/>
                </a:solidFill>
                <a:latin typeface="Calibri"/>
                <a:ea typeface="Calibri"/>
              </a:rPr>
              <a:t>No cost incurred during idle periods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7" name="Shape 23"/>
          <p:cNvSpPr/>
          <p:nvPr/>
        </p:nvSpPr>
        <p:spPr>
          <a:xfrm>
            <a:off x="3319200" y="4069080"/>
            <a:ext cx="2723400" cy="2147400"/>
          </a:xfrm>
          <a:prstGeom prst="roundRect">
            <a:avLst>
              <a:gd name="adj" fmla="val 3830"/>
            </a:avLst>
          </a:prstGeom>
          <a:solidFill>
            <a:srgbClr val="1d3e63"/>
          </a:solidFill>
          <a:ln w="12700">
            <a:solidFill>
              <a:srgbClr val="27476e"/>
            </a:solidFill>
            <a:round/>
          </a:ln>
          <a:effectLst>
            <a:outerShdw algn="bl" blurRad="88920" dir="5400000" dist="25560" kx="0" ky="0" rotWithShape="0" sx="100000" sy="100000">
              <a:srgbClr val="01050c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8" name="Shape 24"/>
          <p:cNvSpPr/>
          <p:nvPr/>
        </p:nvSpPr>
        <p:spPr>
          <a:xfrm>
            <a:off x="4389120" y="4325040"/>
            <a:ext cx="583920" cy="583920"/>
          </a:xfrm>
          <a:prstGeom prst="ellipse">
            <a:avLst/>
          </a:prstGeom>
          <a:solidFill>
            <a:srgbClr val="26507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69" name="Image 5" descr="/home/claude/icons/shield.png"/>
          <p:cNvPicPr/>
          <p:nvPr/>
        </p:nvPicPr>
        <p:blipFill>
          <a:blip r:embed="rId6"/>
          <a:stretch/>
        </p:blipFill>
        <p:spPr>
          <a:xfrm>
            <a:off x="4465080" y="4401360"/>
            <a:ext cx="431640" cy="431640"/>
          </a:xfrm>
          <a:prstGeom prst="rect">
            <a:avLst/>
          </a:prstGeom>
          <a:ln w="0">
            <a:noFill/>
          </a:ln>
        </p:spPr>
      </p:pic>
      <p:sp>
        <p:nvSpPr>
          <p:cNvPr id="270" name="Text 25"/>
          <p:cNvSpPr/>
          <p:nvPr/>
        </p:nvSpPr>
        <p:spPr>
          <a:xfrm>
            <a:off x="3456360" y="5029200"/>
            <a:ext cx="24490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Security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1" name="Text 26"/>
          <p:cNvSpPr/>
          <p:nvPr/>
        </p:nvSpPr>
        <p:spPr>
          <a:xfrm>
            <a:off x="3319200" y="5459040"/>
            <a:ext cx="27234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93aac7"/>
                </a:solidFill>
                <a:latin typeface="Calibri"/>
                <a:ea typeface="Calibri"/>
              </a:rPr>
              <a:t>IAM/RBAC, secrets, encryption, audits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2" name="Shape 27"/>
          <p:cNvSpPr/>
          <p:nvPr/>
        </p:nvSpPr>
        <p:spPr>
          <a:xfrm>
            <a:off x="6135480" y="4069080"/>
            <a:ext cx="2723400" cy="2147400"/>
          </a:xfrm>
          <a:prstGeom prst="roundRect">
            <a:avLst>
              <a:gd name="adj" fmla="val 3830"/>
            </a:avLst>
          </a:prstGeom>
          <a:solidFill>
            <a:srgbClr val="1d3e63"/>
          </a:solidFill>
          <a:ln w="12700">
            <a:solidFill>
              <a:srgbClr val="27476e"/>
            </a:solidFill>
            <a:round/>
          </a:ln>
          <a:effectLst>
            <a:outerShdw algn="bl" blurRad="88920" dir="5400000" dist="25560" kx="0" ky="0" rotWithShape="0" sx="100000" sy="100000">
              <a:srgbClr val="01050c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3" name="Shape 28"/>
          <p:cNvSpPr/>
          <p:nvPr/>
        </p:nvSpPr>
        <p:spPr>
          <a:xfrm>
            <a:off x="7205400" y="4325040"/>
            <a:ext cx="583920" cy="583920"/>
          </a:xfrm>
          <a:prstGeom prst="ellipse">
            <a:avLst/>
          </a:prstGeom>
          <a:solidFill>
            <a:srgbClr val="26507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74" name="Image 6" descr="/home/claude/icons/eye.png"/>
          <p:cNvPicPr/>
          <p:nvPr/>
        </p:nvPicPr>
        <p:blipFill>
          <a:blip r:embed="rId7"/>
          <a:stretch/>
        </p:blipFill>
        <p:spPr>
          <a:xfrm>
            <a:off x="7281720" y="4401360"/>
            <a:ext cx="431640" cy="431640"/>
          </a:xfrm>
          <a:prstGeom prst="rect">
            <a:avLst/>
          </a:prstGeom>
          <a:ln w="0">
            <a:noFill/>
          </a:ln>
        </p:spPr>
      </p:pic>
      <p:sp>
        <p:nvSpPr>
          <p:cNvPr id="275" name="Text 29"/>
          <p:cNvSpPr/>
          <p:nvPr/>
        </p:nvSpPr>
        <p:spPr>
          <a:xfrm>
            <a:off x="6272640" y="5029200"/>
            <a:ext cx="24490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Monitoring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6" name="Text 30"/>
          <p:cNvSpPr/>
          <p:nvPr/>
        </p:nvSpPr>
        <p:spPr>
          <a:xfrm>
            <a:off x="6135480" y="5459040"/>
            <a:ext cx="27234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93aac7"/>
                </a:solidFill>
                <a:latin typeface="Calibri"/>
                <a:ea typeface="Calibri"/>
              </a:rPr>
              <a:t>Logging, metrics, tracing, diagnostics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7" name="Shape 31"/>
          <p:cNvSpPr/>
          <p:nvPr/>
        </p:nvSpPr>
        <p:spPr>
          <a:xfrm>
            <a:off x="8952120" y="4069080"/>
            <a:ext cx="2723400" cy="2147400"/>
          </a:xfrm>
          <a:prstGeom prst="roundRect">
            <a:avLst>
              <a:gd name="adj" fmla="val 3830"/>
            </a:avLst>
          </a:prstGeom>
          <a:solidFill>
            <a:srgbClr val="1d3e63"/>
          </a:solidFill>
          <a:ln w="12700">
            <a:solidFill>
              <a:srgbClr val="27476e"/>
            </a:solidFill>
            <a:round/>
          </a:ln>
          <a:effectLst>
            <a:outerShdw algn="bl" blurRad="88920" dir="5400000" dist="25560" kx="0" ky="0" rotWithShape="0" sx="100000" sy="100000">
              <a:srgbClr val="01050c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8" name="Shape 32"/>
          <p:cNvSpPr/>
          <p:nvPr/>
        </p:nvSpPr>
        <p:spPr>
          <a:xfrm>
            <a:off x="10021680" y="4325040"/>
            <a:ext cx="583920" cy="583920"/>
          </a:xfrm>
          <a:prstGeom prst="ellipse">
            <a:avLst/>
          </a:prstGeom>
          <a:solidFill>
            <a:srgbClr val="26507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79" name="Image 7" descr="/home/claude/icons/building.png"/>
          <p:cNvPicPr/>
          <p:nvPr/>
        </p:nvPicPr>
        <p:blipFill>
          <a:blip r:embed="rId8"/>
          <a:stretch/>
        </p:blipFill>
        <p:spPr>
          <a:xfrm>
            <a:off x="10098000" y="4401360"/>
            <a:ext cx="431640" cy="431640"/>
          </a:xfrm>
          <a:prstGeom prst="rect">
            <a:avLst/>
          </a:prstGeom>
          <a:ln w="0">
            <a:noFill/>
          </a:ln>
        </p:spPr>
      </p:pic>
      <p:sp>
        <p:nvSpPr>
          <p:cNvPr id="280" name="Text 33"/>
          <p:cNvSpPr/>
          <p:nvPr/>
        </p:nvSpPr>
        <p:spPr>
          <a:xfrm>
            <a:off x="9089280" y="5029200"/>
            <a:ext cx="24490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Enterprise Readiness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1" name="Text 34"/>
          <p:cNvSpPr/>
          <p:nvPr/>
        </p:nvSpPr>
        <p:spPr>
          <a:xfrm>
            <a:off x="8952120" y="5459040"/>
            <a:ext cx="27234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93aac7"/>
                </a:solidFill>
                <a:latin typeface="Calibri"/>
                <a:ea typeface="Calibri"/>
              </a:rPr>
              <a:t>Compliance, HA, multi-region, support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2" name="Text 35"/>
          <p:cNvSpPr/>
          <p:nvPr/>
        </p:nvSpPr>
        <p:spPr>
          <a:xfrm>
            <a:off x="457200" y="652896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93aac7"/>
                </a:solidFill>
                <a:latin typeface="Calibri"/>
                <a:ea typeface="Calibri"/>
              </a:rPr>
              <a:t>Evaluation Criteria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3" name="Text 36"/>
          <p:cNvSpPr/>
          <p:nvPr/>
        </p:nvSpPr>
        <p:spPr>
          <a:xfrm>
            <a:off x="11003040" y="6528960"/>
            <a:ext cx="8215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93aac7"/>
                </a:solidFill>
                <a:latin typeface="Calibri"/>
                <a:ea typeface="Calibri"/>
              </a:rPr>
              <a:t>05 / 25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e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Text 0"/>
          <p:cNvSpPr/>
          <p:nvPr/>
        </p:nvSpPr>
        <p:spPr>
          <a:xfrm>
            <a:off x="502920" y="320040"/>
            <a:ext cx="9142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191" strike="noStrike">
                <a:solidFill>
                  <a:srgbClr val="7dd3fc"/>
                </a:solidFill>
                <a:latin typeface="Calibri"/>
                <a:ea typeface="Calibri"/>
              </a:rPr>
              <a:t>HEAD-TO-HEAD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5" name="Text 1"/>
          <p:cNvSpPr/>
          <p:nvPr/>
        </p:nvSpPr>
        <p:spPr>
          <a:xfrm>
            <a:off x="502920" y="567000"/>
            <a:ext cx="11154240" cy="56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ffffff"/>
                </a:solidFill>
                <a:latin typeface="Cambria"/>
                <a:ea typeface="Cambria"/>
              </a:rPr>
              <a:t>Microsoft Azure vs Amazon Web Services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6" name="Shape 2"/>
          <p:cNvSpPr/>
          <p:nvPr/>
        </p:nvSpPr>
        <p:spPr>
          <a:xfrm>
            <a:off x="502920" y="1325880"/>
            <a:ext cx="2238840" cy="455760"/>
          </a:xfrm>
          <a:prstGeom prst="rect">
            <a:avLst/>
          </a:prstGeom>
          <a:solidFill>
            <a:srgbClr val="0d2440"/>
          </a:solidFill>
          <a:ln w="9525">
            <a:solidFill>
              <a:srgbClr val="0a1e3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7" name="Text 3"/>
          <p:cNvSpPr/>
          <p:nvPr/>
        </p:nvSpPr>
        <p:spPr>
          <a:xfrm>
            <a:off x="557640" y="1325880"/>
            <a:ext cx="21290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70" spc="-1" strike="noStrike">
                <a:solidFill>
                  <a:srgbClr val="ffffff"/>
                </a:solidFill>
                <a:latin typeface="Calibri"/>
                <a:ea typeface="Calibri"/>
              </a:rPr>
              <a:t>Feature</a:t>
            </a:r>
            <a:endParaRPr b="0" lang="en-US" sz="10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8" name="Shape 4"/>
          <p:cNvSpPr/>
          <p:nvPr/>
        </p:nvSpPr>
        <p:spPr>
          <a:xfrm>
            <a:off x="2743200" y="1325880"/>
            <a:ext cx="2238840" cy="455760"/>
          </a:xfrm>
          <a:prstGeom prst="rect">
            <a:avLst/>
          </a:prstGeom>
          <a:solidFill>
            <a:srgbClr val="0f3d63"/>
          </a:solidFill>
          <a:ln w="9525">
            <a:solidFill>
              <a:srgbClr val="0a1e3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9" name="Text 5"/>
          <p:cNvSpPr/>
          <p:nvPr/>
        </p:nvSpPr>
        <p:spPr>
          <a:xfrm>
            <a:off x="2797920" y="1325880"/>
            <a:ext cx="21290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70" spc="-1" strike="noStrike">
                <a:solidFill>
                  <a:srgbClr val="ffffff"/>
                </a:solidFill>
                <a:latin typeface="Calibri"/>
                <a:ea typeface="Calibri"/>
              </a:rPr>
              <a:t>Microsoft Azure</a:t>
            </a:r>
            <a:endParaRPr b="0" lang="en-US" sz="10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0" name="Shape 6"/>
          <p:cNvSpPr/>
          <p:nvPr/>
        </p:nvSpPr>
        <p:spPr>
          <a:xfrm>
            <a:off x="4983480" y="1325880"/>
            <a:ext cx="2238840" cy="455760"/>
          </a:xfrm>
          <a:prstGeom prst="rect">
            <a:avLst/>
          </a:prstGeom>
          <a:solidFill>
            <a:srgbClr val="0891b2"/>
          </a:solidFill>
          <a:ln w="9525">
            <a:solidFill>
              <a:srgbClr val="0a1e3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1" name="Text 7"/>
          <p:cNvSpPr/>
          <p:nvPr/>
        </p:nvSpPr>
        <p:spPr>
          <a:xfrm>
            <a:off x="5038200" y="1325880"/>
            <a:ext cx="21290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70" spc="-1" strike="noStrike">
                <a:solidFill>
                  <a:srgbClr val="ffffff"/>
                </a:solidFill>
                <a:latin typeface="Calibri"/>
                <a:ea typeface="Calibri"/>
              </a:rPr>
              <a:t>Amazon Web Services</a:t>
            </a:r>
            <a:endParaRPr b="0" lang="en-US" sz="10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" name="Shape 8"/>
          <p:cNvSpPr/>
          <p:nvPr/>
        </p:nvSpPr>
        <p:spPr>
          <a:xfrm>
            <a:off x="502920" y="1783080"/>
            <a:ext cx="2238840" cy="436320"/>
          </a:xfrm>
          <a:prstGeom prst="rect">
            <a:avLst/>
          </a:prstGeom>
          <a:solidFill>
            <a:srgbClr val="16324f"/>
          </a:solidFill>
          <a:ln w="9525">
            <a:solidFill>
              <a:srgbClr val="2747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3" name="Text 9"/>
          <p:cNvSpPr/>
          <p:nvPr/>
        </p:nvSpPr>
        <p:spPr>
          <a:xfrm>
            <a:off x="576000" y="1783080"/>
            <a:ext cx="2092680" cy="43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30" spc="-1" strike="noStrike">
                <a:solidFill>
                  <a:srgbClr val="ffffff"/>
                </a:solidFill>
                <a:latin typeface="Calibri"/>
                <a:ea typeface="Calibri"/>
              </a:rPr>
              <a:t>Primary Function Service</a:t>
            </a:r>
            <a:endParaRPr b="0" lang="en-US" sz="103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4" name="Shape 10"/>
          <p:cNvSpPr/>
          <p:nvPr/>
        </p:nvSpPr>
        <p:spPr>
          <a:xfrm>
            <a:off x="2743200" y="1783080"/>
            <a:ext cx="2238840" cy="436320"/>
          </a:xfrm>
          <a:prstGeom prst="rect">
            <a:avLst/>
          </a:prstGeom>
          <a:solidFill>
            <a:srgbClr val="16324f"/>
          </a:solidFill>
          <a:ln w="9525">
            <a:solidFill>
              <a:srgbClr val="2747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5" name="Text 11"/>
          <p:cNvSpPr/>
          <p:nvPr/>
        </p:nvSpPr>
        <p:spPr>
          <a:xfrm>
            <a:off x="2816280" y="1783080"/>
            <a:ext cx="2092680" cy="43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d7e4f2"/>
                </a:solidFill>
                <a:latin typeface="Calibri"/>
                <a:ea typeface="Calibri"/>
              </a:rPr>
              <a:t>Azure Functions</a:t>
            </a:r>
            <a:endParaRPr b="0" lang="en-US" sz="9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" name="Shape 12"/>
          <p:cNvSpPr/>
          <p:nvPr/>
        </p:nvSpPr>
        <p:spPr>
          <a:xfrm>
            <a:off x="4983480" y="1783080"/>
            <a:ext cx="2238840" cy="436320"/>
          </a:xfrm>
          <a:prstGeom prst="rect">
            <a:avLst/>
          </a:prstGeom>
          <a:solidFill>
            <a:srgbClr val="16324f"/>
          </a:solidFill>
          <a:ln w="9525">
            <a:solidFill>
              <a:srgbClr val="2747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7" name="Text 13"/>
          <p:cNvSpPr/>
          <p:nvPr/>
        </p:nvSpPr>
        <p:spPr>
          <a:xfrm>
            <a:off x="5056560" y="1783080"/>
            <a:ext cx="2092680" cy="43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d7e4f2"/>
                </a:solidFill>
                <a:latin typeface="Calibri"/>
                <a:ea typeface="Calibri"/>
              </a:rPr>
              <a:t>AWS Lambda</a:t>
            </a:r>
            <a:endParaRPr b="0" lang="en-US" sz="9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8" name="Shape 14"/>
          <p:cNvSpPr/>
          <p:nvPr/>
        </p:nvSpPr>
        <p:spPr>
          <a:xfrm>
            <a:off x="502920" y="2220840"/>
            <a:ext cx="2238840" cy="436320"/>
          </a:xfrm>
          <a:prstGeom prst="rect">
            <a:avLst/>
          </a:prstGeom>
          <a:solidFill>
            <a:srgbClr val="1d3e63"/>
          </a:solidFill>
          <a:ln w="9525">
            <a:solidFill>
              <a:srgbClr val="2747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9" name="Text 15"/>
          <p:cNvSpPr/>
          <p:nvPr/>
        </p:nvSpPr>
        <p:spPr>
          <a:xfrm>
            <a:off x="576000" y="2220840"/>
            <a:ext cx="2092680" cy="43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30" spc="-1" strike="noStrike">
                <a:solidFill>
                  <a:srgbClr val="ffffff"/>
                </a:solidFill>
                <a:latin typeface="Calibri"/>
                <a:ea typeface="Calibri"/>
              </a:rPr>
              <a:t>Primary Container Service</a:t>
            </a:r>
            <a:endParaRPr b="0" lang="en-US" sz="103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" name="Shape 16"/>
          <p:cNvSpPr/>
          <p:nvPr/>
        </p:nvSpPr>
        <p:spPr>
          <a:xfrm>
            <a:off x="2743200" y="2220840"/>
            <a:ext cx="2238840" cy="436320"/>
          </a:xfrm>
          <a:prstGeom prst="rect">
            <a:avLst/>
          </a:prstGeom>
          <a:solidFill>
            <a:srgbClr val="1d3e63"/>
          </a:solidFill>
          <a:ln w="9525">
            <a:solidFill>
              <a:srgbClr val="2747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1" name="Text 17"/>
          <p:cNvSpPr/>
          <p:nvPr/>
        </p:nvSpPr>
        <p:spPr>
          <a:xfrm>
            <a:off x="2816280" y="2220840"/>
            <a:ext cx="2092680" cy="43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d7e4f2"/>
                </a:solidFill>
                <a:latin typeface="Calibri"/>
                <a:ea typeface="Calibri"/>
              </a:rPr>
              <a:t>Azure Container Apps</a:t>
            </a:r>
            <a:endParaRPr b="0" lang="en-US" sz="9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2" name="Shape 18"/>
          <p:cNvSpPr/>
          <p:nvPr/>
        </p:nvSpPr>
        <p:spPr>
          <a:xfrm>
            <a:off x="4983480" y="2220840"/>
            <a:ext cx="2238840" cy="436320"/>
          </a:xfrm>
          <a:prstGeom prst="rect">
            <a:avLst/>
          </a:prstGeom>
          <a:solidFill>
            <a:srgbClr val="1d3e63"/>
          </a:solidFill>
          <a:ln w="9525">
            <a:solidFill>
              <a:srgbClr val="2747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3" name="Text 19"/>
          <p:cNvSpPr/>
          <p:nvPr/>
        </p:nvSpPr>
        <p:spPr>
          <a:xfrm>
            <a:off x="5056560" y="2220840"/>
            <a:ext cx="2092680" cy="43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d7e4f2"/>
                </a:solidFill>
                <a:latin typeface="Calibri"/>
                <a:ea typeface="Calibri"/>
              </a:rPr>
              <a:t>AWS Fargate / App Runner</a:t>
            </a:r>
            <a:endParaRPr b="0" lang="en-US" sz="9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4" name="Shape 20"/>
          <p:cNvSpPr/>
          <p:nvPr/>
        </p:nvSpPr>
        <p:spPr>
          <a:xfrm>
            <a:off x="502920" y="2658240"/>
            <a:ext cx="2238840" cy="436320"/>
          </a:xfrm>
          <a:prstGeom prst="rect">
            <a:avLst/>
          </a:prstGeom>
          <a:solidFill>
            <a:srgbClr val="16324f"/>
          </a:solidFill>
          <a:ln w="9525">
            <a:solidFill>
              <a:srgbClr val="2747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5" name="Text 21"/>
          <p:cNvSpPr/>
          <p:nvPr/>
        </p:nvSpPr>
        <p:spPr>
          <a:xfrm>
            <a:off x="576000" y="2658240"/>
            <a:ext cx="2092680" cy="43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30" spc="-1" strike="noStrike">
                <a:solidFill>
                  <a:srgbClr val="ffffff"/>
                </a:solidFill>
                <a:latin typeface="Calibri"/>
                <a:ea typeface="Calibri"/>
              </a:rPr>
              <a:t>Python Support</a:t>
            </a:r>
            <a:endParaRPr b="0" lang="en-US" sz="103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6" name="Shape 22"/>
          <p:cNvSpPr/>
          <p:nvPr/>
        </p:nvSpPr>
        <p:spPr>
          <a:xfrm>
            <a:off x="2743200" y="2658240"/>
            <a:ext cx="2238840" cy="436320"/>
          </a:xfrm>
          <a:prstGeom prst="rect">
            <a:avLst/>
          </a:prstGeom>
          <a:solidFill>
            <a:srgbClr val="16324f"/>
          </a:solidFill>
          <a:ln w="9525">
            <a:solidFill>
              <a:srgbClr val="2747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7" name="Text 23"/>
          <p:cNvSpPr/>
          <p:nvPr/>
        </p:nvSpPr>
        <p:spPr>
          <a:xfrm>
            <a:off x="2816280" y="2658240"/>
            <a:ext cx="2092680" cy="43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d7e4f2"/>
                </a:solidFill>
                <a:latin typeface="Calibri"/>
                <a:ea typeface="Calibri"/>
              </a:rPr>
              <a:t>Excellent</a:t>
            </a:r>
            <a:endParaRPr b="0" lang="en-US" sz="9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8" name="Shape 24"/>
          <p:cNvSpPr/>
          <p:nvPr/>
        </p:nvSpPr>
        <p:spPr>
          <a:xfrm>
            <a:off x="4983480" y="2658240"/>
            <a:ext cx="2238840" cy="436320"/>
          </a:xfrm>
          <a:prstGeom prst="rect">
            <a:avLst/>
          </a:prstGeom>
          <a:solidFill>
            <a:srgbClr val="16324f"/>
          </a:solidFill>
          <a:ln w="9525">
            <a:solidFill>
              <a:srgbClr val="2747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9" name="Text 25"/>
          <p:cNvSpPr/>
          <p:nvPr/>
        </p:nvSpPr>
        <p:spPr>
          <a:xfrm>
            <a:off x="5056560" y="2658240"/>
            <a:ext cx="2092680" cy="43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d7e4f2"/>
                </a:solidFill>
                <a:latin typeface="Calibri"/>
                <a:ea typeface="Calibri"/>
              </a:rPr>
              <a:t>Excellent</a:t>
            </a:r>
            <a:endParaRPr b="0" lang="en-US" sz="9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0" name="Shape 26"/>
          <p:cNvSpPr/>
          <p:nvPr/>
        </p:nvSpPr>
        <p:spPr>
          <a:xfrm>
            <a:off x="502920" y="3096000"/>
            <a:ext cx="2238840" cy="436320"/>
          </a:xfrm>
          <a:prstGeom prst="rect">
            <a:avLst/>
          </a:prstGeom>
          <a:solidFill>
            <a:srgbClr val="1d3e63"/>
          </a:solidFill>
          <a:ln w="9525">
            <a:solidFill>
              <a:srgbClr val="2747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1" name="Text 27"/>
          <p:cNvSpPr/>
          <p:nvPr/>
        </p:nvSpPr>
        <p:spPr>
          <a:xfrm>
            <a:off x="576000" y="3096000"/>
            <a:ext cx="2092680" cy="43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30" spc="-1" strike="noStrike">
                <a:solidFill>
                  <a:srgbClr val="ffffff"/>
                </a:solidFill>
                <a:latin typeface="Calibri"/>
                <a:ea typeface="Calibri"/>
              </a:rPr>
              <a:t>Next.js Support</a:t>
            </a:r>
            <a:endParaRPr b="0" lang="en-US" sz="103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2" name="Shape 28"/>
          <p:cNvSpPr/>
          <p:nvPr/>
        </p:nvSpPr>
        <p:spPr>
          <a:xfrm>
            <a:off x="2743200" y="3096000"/>
            <a:ext cx="2238840" cy="436320"/>
          </a:xfrm>
          <a:prstGeom prst="rect">
            <a:avLst/>
          </a:prstGeom>
          <a:solidFill>
            <a:srgbClr val="1d3e63"/>
          </a:solidFill>
          <a:ln w="9525">
            <a:solidFill>
              <a:srgbClr val="2747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3" name="Text 29"/>
          <p:cNvSpPr/>
          <p:nvPr/>
        </p:nvSpPr>
        <p:spPr>
          <a:xfrm>
            <a:off x="2816280" y="3096000"/>
            <a:ext cx="2092680" cy="43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d7e4f2"/>
                </a:solidFill>
                <a:latin typeface="Calibri"/>
                <a:ea typeface="Calibri"/>
              </a:rPr>
              <a:t>Very Good</a:t>
            </a:r>
            <a:endParaRPr b="0" lang="en-US" sz="9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4" name="Shape 30"/>
          <p:cNvSpPr/>
          <p:nvPr/>
        </p:nvSpPr>
        <p:spPr>
          <a:xfrm>
            <a:off x="4983480" y="3096000"/>
            <a:ext cx="2238840" cy="436320"/>
          </a:xfrm>
          <a:prstGeom prst="rect">
            <a:avLst/>
          </a:prstGeom>
          <a:solidFill>
            <a:srgbClr val="1d3e63"/>
          </a:solidFill>
          <a:ln w="9525">
            <a:solidFill>
              <a:srgbClr val="2747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5" name="Text 31"/>
          <p:cNvSpPr/>
          <p:nvPr/>
        </p:nvSpPr>
        <p:spPr>
          <a:xfrm>
            <a:off x="5056560" y="3096000"/>
            <a:ext cx="2092680" cy="43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d7e4f2"/>
                </a:solidFill>
                <a:latin typeface="Calibri"/>
                <a:ea typeface="Calibri"/>
              </a:rPr>
              <a:t>Very Good</a:t>
            </a:r>
            <a:endParaRPr b="0" lang="en-US" sz="9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6" name="Shape 32"/>
          <p:cNvSpPr/>
          <p:nvPr/>
        </p:nvSpPr>
        <p:spPr>
          <a:xfrm>
            <a:off x="502920" y="3533400"/>
            <a:ext cx="2238840" cy="436320"/>
          </a:xfrm>
          <a:prstGeom prst="rect">
            <a:avLst/>
          </a:prstGeom>
          <a:solidFill>
            <a:srgbClr val="16324f"/>
          </a:solidFill>
          <a:ln w="9525">
            <a:solidFill>
              <a:srgbClr val="2747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7" name="Text 33"/>
          <p:cNvSpPr/>
          <p:nvPr/>
        </p:nvSpPr>
        <p:spPr>
          <a:xfrm>
            <a:off x="576000" y="3533400"/>
            <a:ext cx="2092680" cy="43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30" spc="-1" strike="noStrike">
                <a:solidFill>
                  <a:srgbClr val="ffffff"/>
                </a:solidFill>
                <a:latin typeface="Calibri"/>
                <a:ea typeface="Calibri"/>
              </a:rPr>
              <a:t>Auto Scaling</a:t>
            </a:r>
            <a:endParaRPr b="0" lang="en-US" sz="103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" name="Shape 34"/>
          <p:cNvSpPr/>
          <p:nvPr/>
        </p:nvSpPr>
        <p:spPr>
          <a:xfrm>
            <a:off x="2743200" y="3533400"/>
            <a:ext cx="2238840" cy="436320"/>
          </a:xfrm>
          <a:prstGeom prst="rect">
            <a:avLst/>
          </a:prstGeom>
          <a:solidFill>
            <a:srgbClr val="16324f"/>
          </a:solidFill>
          <a:ln w="9525">
            <a:solidFill>
              <a:srgbClr val="2747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9" name="Text 35"/>
          <p:cNvSpPr/>
          <p:nvPr/>
        </p:nvSpPr>
        <p:spPr>
          <a:xfrm>
            <a:off x="2816280" y="3533400"/>
            <a:ext cx="2092680" cy="43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d7e4f2"/>
                </a:solidFill>
                <a:latin typeface="Calibri"/>
                <a:ea typeface="Calibri"/>
              </a:rPr>
              <a:t>Excellent</a:t>
            </a:r>
            <a:endParaRPr b="0" lang="en-US" sz="9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0" name="Shape 36"/>
          <p:cNvSpPr/>
          <p:nvPr/>
        </p:nvSpPr>
        <p:spPr>
          <a:xfrm>
            <a:off x="4983480" y="3533400"/>
            <a:ext cx="2238840" cy="436320"/>
          </a:xfrm>
          <a:prstGeom prst="rect">
            <a:avLst/>
          </a:prstGeom>
          <a:solidFill>
            <a:srgbClr val="16324f"/>
          </a:solidFill>
          <a:ln w="9525">
            <a:solidFill>
              <a:srgbClr val="2747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1" name="Text 37"/>
          <p:cNvSpPr/>
          <p:nvPr/>
        </p:nvSpPr>
        <p:spPr>
          <a:xfrm>
            <a:off x="5056560" y="3533400"/>
            <a:ext cx="2092680" cy="43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d7e4f2"/>
                </a:solidFill>
                <a:latin typeface="Calibri"/>
                <a:ea typeface="Calibri"/>
              </a:rPr>
              <a:t>Excellent</a:t>
            </a:r>
            <a:endParaRPr b="0" lang="en-US" sz="9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Shape 38"/>
          <p:cNvSpPr/>
          <p:nvPr/>
        </p:nvSpPr>
        <p:spPr>
          <a:xfrm>
            <a:off x="502920" y="3971160"/>
            <a:ext cx="2238840" cy="436320"/>
          </a:xfrm>
          <a:prstGeom prst="rect">
            <a:avLst/>
          </a:prstGeom>
          <a:solidFill>
            <a:srgbClr val="1d3e63"/>
          </a:solidFill>
          <a:ln w="9525">
            <a:solidFill>
              <a:srgbClr val="2747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3" name="Text 39"/>
          <p:cNvSpPr/>
          <p:nvPr/>
        </p:nvSpPr>
        <p:spPr>
          <a:xfrm>
            <a:off x="576000" y="3971160"/>
            <a:ext cx="2092680" cy="43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30" spc="-1" strike="noStrike">
                <a:solidFill>
                  <a:srgbClr val="ffffff"/>
                </a:solidFill>
                <a:latin typeface="Calibri"/>
                <a:ea typeface="Calibri"/>
              </a:rPr>
              <a:t>Monitoring</a:t>
            </a:r>
            <a:endParaRPr b="0" lang="en-US" sz="103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4" name="Shape 40"/>
          <p:cNvSpPr/>
          <p:nvPr/>
        </p:nvSpPr>
        <p:spPr>
          <a:xfrm>
            <a:off x="2743200" y="3971160"/>
            <a:ext cx="2238840" cy="436320"/>
          </a:xfrm>
          <a:prstGeom prst="rect">
            <a:avLst/>
          </a:prstGeom>
          <a:solidFill>
            <a:srgbClr val="1d3e63"/>
          </a:solidFill>
          <a:ln w="9525">
            <a:solidFill>
              <a:srgbClr val="2747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5" name="Text 41"/>
          <p:cNvSpPr/>
          <p:nvPr/>
        </p:nvSpPr>
        <p:spPr>
          <a:xfrm>
            <a:off x="2816280" y="3971160"/>
            <a:ext cx="2092680" cy="43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d7e4f2"/>
                </a:solidFill>
                <a:latin typeface="Calibri"/>
                <a:ea typeface="Calibri"/>
              </a:rPr>
              <a:t>Azure Monitor &amp; App Insights</a:t>
            </a:r>
            <a:endParaRPr b="0" lang="en-US" sz="9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" name="Shape 42"/>
          <p:cNvSpPr/>
          <p:nvPr/>
        </p:nvSpPr>
        <p:spPr>
          <a:xfrm>
            <a:off x="4983480" y="3971160"/>
            <a:ext cx="2238840" cy="436320"/>
          </a:xfrm>
          <a:prstGeom prst="rect">
            <a:avLst/>
          </a:prstGeom>
          <a:solidFill>
            <a:srgbClr val="1d3e63"/>
          </a:solidFill>
          <a:ln w="9525">
            <a:solidFill>
              <a:srgbClr val="2747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7" name="Text 43"/>
          <p:cNvSpPr/>
          <p:nvPr/>
        </p:nvSpPr>
        <p:spPr>
          <a:xfrm>
            <a:off x="5056560" y="3971160"/>
            <a:ext cx="2092680" cy="43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d7e4f2"/>
                </a:solidFill>
                <a:latin typeface="Calibri"/>
                <a:ea typeface="Calibri"/>
              </a:rPr>
              <a:t>CloudWatch &amp; X-Ray</a:t>
            </a:r>
            <a:endParaRPr b="0" lang="en-US" sz="9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8" name="Shape 44"/>
          <p:cNvSpPr/>
          <p:nvPr/>
        </p:nvSpPr>
        <p:spPr>
          <a:xfrm>
            <a:off x="502920" y="4408560"/>
            <a:ext cx="2238840" cy="436320"/>
          </a:xfrm>
          <a:prstGeom prst="rect">
            <a:avLst/>
          </a:prstGeom>
          <a:solidFill>
            <a:srgbClr val="16324f"/>
          </a:solidFill>
          <a:ln w="9525">
            <a:solidFill>
              <a:srgbClr val="2747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9" name="Text 45"/>
          <p:cNvSpPr/>
          <p:nvPr/>
        </p:nvSpPr>
        <p:spPr>
          <a:xfrm>
            <a:off x="576000" y="4408560"/>
            <a:ext cx="2092680" cy="43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30" spc="-1" strike="noStrike">
                <a:solidFill>
                  <a:srgbClr val="ffffff"/>
                </a:solidFill>
                <a:latin typeface="Calibri"/>
                <a:ea typeface="Calibri"/>
              </a:rPr>
              <a:t>Best Fit</a:t>
            </a:r>
            <a:endParaRPr b="0" lang="en-US" sz="103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0" name="Shape 46"/>
          <p:cNvSpPr/>
          <p:nvPr/>
        </p:nvSpPr>
        <p:spPr>
          <a:xfrm>
            <a:off x="2743200" y="4408560"/>
            <a:ext cx="2238840" cy="436320"/>
          </a:xfrm>
          <a:prstGeom prst="rect">
            <a:avLst/>
          </a:prstGeom>
          <a:solidFill>
            <a:srgbClr val="16324f"/>
          </a:solidFill>
          <a:ln w="9525">
            <a:solidFill>
              <a:srgbClr val="2747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1" name="Text 47"/>
          <p:cNvSpPr/>
          <p:nvPr/>
        </p:nvSpPr>
        <p:spPr>
          <a:xfrm>
            <a:off x="2816280" y="4408560"/>
            <a:ext cx="2092680" cy="43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d7e4f2"/>
                </a:solidFill>
                <a:latin typeface="Calibri"/>
                <a:ea typeface="Calibri"/>
              </a:rPr>
              <a:t>Microsoft-centric enterprises</a:t>
            </a:r>
            <a:endParaRPr b="0" lang="en-US" sz="9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2" name="Shape 48"/>
          <p:cNvSpPr/>
          <p:nvPr/>
        </p:nvSpPr>
        <p:spPr>
          <a:xfrm>
            <a:off x="4983480" y="4408560"/>
            <a:ext cx="2238840" cy="436320"/>
          </a:xfrm>
          <a:prstGeom prst="rect">
            <a:avLst/>
          </a:prstGeom>
          <a:solidFill>
            <a:srgbClr val="16324f"/>
          </a:solidFill>
          <a:ln w="9525">
            <a:solidFill>
              <a:srgbClr val="2747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3" name="Text 49"/>
          <p:cNvSpPr/>
          <p:nvPr/>
        </p:nvSpPr>
        <p:spPr>
          <a:xfrm>
            <a:off x="5056560" y="4408560"/>
            <a:ext cx="2092680" cy="43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d7e4f2"/>
                </a:solidFill>
                <a:latin typeface="Calibri"/>
                <a:ea typeface="Calibri"/>
              </a:rPr>
              <a:t>Cloud-native @ scale</a:t>
            </a:r>
            <a:endParaRPr b="0" lang="en-US" sz="9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4" name="Shape 50"/>
          <p:cNvSpPr/>
          <p:nvPr/>
        </p:nvSpPr>
        <p:spPr>
          <a:xfrm>
            <a:off x="7406640" y="1325880"/>
            <a:ext cx="4296240" cy="3519000"/>
          </a:xfrm>
          <a:prstGeom prst="roundRect">
            <a:avLst>
              <a:gd name="adj" fmla="val 2338"/>
            </a:avLst>
          </a:prstGeom>
          <a:solidFill>
            <a:srgbClr val="1d3e63"/>
          </a:solidFill>
          <a:ln w="12700">
            <a:solidFill>
              <a:srgbClr val="27476e"/>
            </a:solidFill>
            <a:round/>
          </a:ln>
          <a:effectLst>
            <a:outerShdw algn="bl" blurRad="88920" dir="5400000" dist="25560" kx="0" ky="0" rotWithShape="0" sx="100000" sy="100000">
              <a:srgbClr val="01050c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5" name="Text 51"/>
          <p:cNvSpPr/>
          <p:nvPr/>
        </p:nvSpPr>
        <p:spPr>
          <a:xfrm>
            <a:off x="7680960" y="1490400"/>
            <a:ext cx="37476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89" strike="noStrike">
                <a:solidFill>
                  <a:srgbClr val="93aac7"/>
                </a:solidFill>
                <a:latin typeface="Calibri"/>
                <a:ea typeface="Calibri"/>
              </a:rPr>
              <a:t>WHY THESE TWO STAND OUT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6" name="Shape 52"/>
          <p:cNvSpPr/>
          <p:nvPr/>
        </p:nvSpPr>
        <p:spPr>
          <a:xfrm>
            <a:off x="7680960" y="1874520"/>
            <a:ext cx="501480" cy="501480"/>
          </a:xfrm>
          <a:prstGeom prst="ellipse">
            <a:avLst/>
          </a:prstGeom>
          <a:solidFill>
            <a:srgbClr val="26507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37" name="Image 0" descr="/home/claude/icons/microsoft.png"/>
          <p:cNvPicPr/>
          <p:nvPr/>
        </p:nvPicPr>
        <p:blipFill>
          <a:blip r:embed="rId1"/>
          <a:stretch/>
        </p:blipFill>
        <p:spPr>
          <a:xfrm>
            <a:off x="7746480" y="1940040"/>
            <a:ext cx="370800" cy="370800"/>
          </a:xfrm>
          <a:prstGeom prst="rect">
            <a:avLst/>
          </a:prstGeom>
          <a:ln w="0">
            <a:noFill/>
          </a:ln>
        </p:spPr>
      </p:pic>
      <p:sp>
        <p:nvSpPr>
          <p:cNvPr id="338" name="Text 53"/>
          <p:cNvSpPr/>
          <p:nvPr/>
        </p:nvSpPr>
        <p:spPr>
          <a:xfrm>
            <a:off x="8321040" y="1883520"/>
            <a:ext cx="3198960" cy="41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Azure Container Apps + Functions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9" name="Text 54"/>
          <p:cNvSpPr/>
          <p:nvPr/>
        </p:nvSpPr>
        <p:spPr>
          <a:xfrm>
            <a:off x="7680960" y="2377440"/>
            <a:ext cx="382104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just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93aac7"/>
                </a:solidFill>
                <a:latin typeface="Calibri"/>
                <a:ea typeface="Calibri"/>
              </a:rPr>
              <a:t>Deep Microsoft-ecosystem integration — Active Directory, Azure DevOps, and enterprise governance built in from day one.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0" name="Shape 55"/>
          <p:cNvSpPr/>
          <p:nvPr/>
        </p:nvSpPr>
        <p:spPr>
          <a:xfrm>
            <a:off x="7680960" y="3383280"/>
            <a:ext cx="501480" cy="501480"/>
          </a:xfrm>
          <a:prstGeom prst="ellipse">
            <a:avLst/>
          </a:prstGeom>
          <a:solidFill>
            <a:srgbClr val="26507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41" name="Image 1" descr="/home/claude/icons/aws.png"/>
          <p:cNvPicPr/>
          <p:nvPr/>
        </p:nvPicPr>
        <p:blipFill>
          <a:blip r:embed="rId2"/>
          <a:stretch/>
        </p:blipFill>
        <p:spPr>
          <a:xfrm>
            <a:off x="7746480" y="3448800"/>
            <a:ext cx="370800" cy="370800"/>
          </a:xfrm>
          <a:prstGeom prst="rect">
            <a:avLst/>
          </a:prstGeom>
          <a:ln w="0">
            <a:noFill/>
          </a:ln>
        </p:spPr>
      </p:pic>
      <p:sp>
        <p:nvSpPr>
          <p:cNvPr id="342" name="Text 56"/>
          <p:cNvSpPr/>
          <p:nvPr/>
        </p:nvSpPr>
        <p:spPr>
          <a:xfrm>
            <a:off x="8321040" y="3392280"/>
            <a:ext cx="3198960" cy="41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AWS Lambda + Fargate / App Runner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3" name="Text 57"/>
          <p:cNvSpPr/>
          <p:nvPr/>
        </p:nvSpPr>
        <p:spPr>
          <a:xfrm>
            <a:off x="7680960" y="3886200"/>
            <a:ext cx="374760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93aac7"/>
                </a:solidFill>
                <a:latin typeface="Calibri"/>
                <a:ea typeface="Calibri"/>
              </a:rPr>
              <a:t>The broadest managed-service catalog and the most battle-tested serverless ecosystem at hyperscale.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4" name="Shape 58"/>
          <p:cNvSpPr/>
          <p:nvPr/>
        </p:nvSpPr>
        <p:spPr>
          <a:xfrm>
            <a:off x="502920" y="4983480"/>
            <a:ext cx="11199960" cy="1415880"/>
          </a:xfrm>
          <a:prstGeom prst="roundRect">
            <a:avLst>
              <a:gd name="adj" fmla="val 5806"/>
            </a:avLst>
          </a:prstGeom>
          <a:solidFill>
            <a:srgbClr val="eaf4fd"/>
          </a:solidFill>
          <a:ln w="12700">
            <a:solidFill>
              <a:srgbClr val="bfe0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Text 59"/>
          <p:cNvSpPr/>
          <p:nvPr/>
        </p:nvSpPr>
        <p:spPr>
          <a:xfrm>
            <a:off x="777240" y="5120640"/>
            <a:ext cx="45705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89" strike="noStrike">
                <a:solidFill>
                  <a:srgbClr val="0891b2"/>
                </a:solidFill>
                <a:latin typeface="Calibri"/>
                <a:ea typeface="Calibri"/>
              </a:rPr>
              <a:t>BEST USE CASES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6" name="Text 60"/>
          <p:cNvSpPr/>
          <p:nvPr/>
        </p:nvSpPr>
        <p:spPr>
          <a:xfrm>
            <a:off x="777240" y="5413320"/>
            <a:ext cx="106056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f2136"/>
                </a:solidFill>
                <a:latin typeface="Calibri"/>
                <a:ea typeface="Calibri"/>
              </a:rPr>
              <a:t>Azure Functions + Container Apps: </a:t>
            </a:r>
            <a:r>
              <a:rPr b="0" lang="en-US" sz="1200" spc="-1" strike="noStrike">
                <a:solidFill>
                  <a:srgbClr val="0f2136"/>
                </a:solidFill>
                <a:latin typeface="Calibri"/>
                <a:ea typeface="Calibri"/>
              </a:rPr>
              <a:t> enterprise Python APIs, internal tools, DevOps-integrated CI/CD pipelines.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7" name="Text 61"/>
          <p:cNvSpPr/>
          <p:nvPr/>
        </p:nvSpPr>
        <p:spPr>
          <a:xfrm>
            <a:off x="777240" y="5779080"/>
            <a:ext cx="106056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f2136"/>
                </a:solidFill>
                <a:latin typeface="Calibri"/>
                <a:ea typeface="Calibri"/>
              </a:rPr>
              <a:t>AWS Lambda + Fargate / App Runner:</a:t>
            </a:r>
            <a:r>
              <a:rPr b="0" lang="en-US" sz="1200" spc="-1" strike="noStrike">
                <a:solidFill>
                  <a:srgbClr val="0f2136"/>
                </a:solidFill>
                <a:latin typeface="Calibri"/>
                <a:ea typeface="Calibri"/>
              </a:rPr>
              <a:t>  event-driven microservices, high-scale APIs, broad AWS-native architectures.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8" name="Text 62"/>
          <p:cNvSpPr/>
          <p:nvPr/>
        </p:nvSpPr>
        <p:spPr>
          <a:xfrm>
            <a:off x="457200" y="652896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93aac7"/>
                </a:solidFill>
                <a:latin typeface="Calibri"/>
                <a:ea typeface="Calibri"/>
              </a:rPr>
              <a:t>Azure vs AWS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9" name="Text 63"/>
          <p:cNvSpPr/>
          <p:nvPr/>
        </p:nvSpPr>
        <p:spPr>
          <a:xfrm>
            <a:off x="11003040" y="6528960"/>
            <a:ext cx="8215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93aac7"/>
                </a:solidFill>
                <a:latin typeface="Calibri"/>
                <a:ea typeface="Calibri"/>
              </a:rPr>
              <a:t>06 / 25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a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Text 0"/>
          <p:cNvSpPr/>
          <p:nvPr/>
        </p:nvSpPr>
        <p:spPr>
          <a:xfrm>
            <a:off x="502920" y="320040"/>
            <a:ext cx="9142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191" strike="noStrike">
                <a:solidFill>
                  <a:srgbClr val="0ea5e9"/>
                </a:solidFill>
                <a:latin typeface="Calibri"/>
                <a:ea typeface="Calibri"/>
              </a:rPr>
              <a:t>HEAD-TO-HEAD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Text 1"/>
          <p:cNvSpPr/>
          <p:nvPr/>
        </p:nvSpPr>
        <p:spPr>
          <a:xfrm>
            <a:off x="502920" y="567000"/>
            <a:ext cx="11154240" cy="56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0f2136"/>
                </a:solidFill>
                <a:latin typeface="Cambria"/>
                <a:ea typeface="Cambria"/>
              </a:rPr>
              <a:t>Google Cloud Run vs Vercel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Shape 2"/>
          <p:cNvSpPr/>
          <p:nvPr/>
        </p:nvSpPr>
        <p:spPr>
          <a:xfrm>
            <a:off x="502920" y="1325880"/>
            <a:ext cx="2238840" cy="455760"/>
          </a:xfrm>
          <a:prstGeom prst="rect">
            <a:avLst/>
          </a:prstGeom>
          <a:solidFill>
            <a:srgbClr val="0a1e34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3" name="Text 3"/>
          <p:cNvSpPr/>
          <p:nvPr/>
        </p:nvSpPr>
        <p:spPr>
          <a:xfrm>
            <a:off x="557640" y="1325880"/>
            <a:ext cx="21290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70" spc="-1" strike="noStrike">
                <a:solidFill>
                  <a:srgbClr val="ffffff"/>
                </a:solidFill>
                <a:latin typeface="Calibri"/>
                <a:ea typeface="Calibri"/>
              </a:rPr>
              <a:t>Feature</a:t>
            </a:r>
            <a:endParaRPr b="0" lang="en-US" sz="10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Shape 4"/>
          <p:cNvSpPr/>
          <p:nvPr/>
        </p:nvSpPr>
        <p:spPr>
          <a:xfrm>
            <a:off x="2743200" y="1325880"/>
            <a:ext cx="2238840" cy="455760"/>
          </a:xfrm>
          <a:prstGeom prst="rect">
            <a:avLst/>
          </a:prstGeom>
          <a:solidFill>
            <a:srgbClr val="10b981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5" name="Text 5"/>
          <p:cNvSpPr/>
          <p:nvPr/>
        </p:nvSpPr>
        <p:spPr>
          <a:xfrm>
            <a:off x="2797920" y="1325880"/>
            <a:ext cx="21290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70" spc="-1" strike="noStrike">
                <a:solidFill>
                  <a:srgbClr val="ffffff"/>
                </a:solidFill>
                <a:latin typeface="Calibri"/>
                <a:ea typeface="Calibri"/>
              </a:rPr>
              <a:t>Google Cloud Run</a:t>
            </a:r>
            <a:endParaRPr b="0" lang="en-US" sz="10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Shape 6"/>
          <p:cNvSpPr/>
          <p:nvPr/>
        </p:nvSpPr>
        <p:spPr>
          <a:xfrm>
            <a:off x="4983480" y="1325880"/>
            <a:ext cx="2238840" cy="455760"/>
          </a:xfrm>
          <a:prstGeom prst="rect">
            <a:avLst/>
          </a:prstGeom>
          <a:solidFill>
            <a:srgbClr val="111827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7" name="Text 7"/>
          <p:cNvSpPr/>
          <p:nvPr/>
        </p:nvSpPr>
        <p:spPr>
          <a:xfrm>
            <a:off x="5038200" y="1325880"/>
            <a:ext cx="21290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70" spc="-1" strike="noStrike">
                <a:solidFill>
                  <a:srgbClr val="ffffff"/>
                </a:solidFill>
                <a:latin typeface="Calibri"/>
                <a:ea typeface="Calibri"/>
              </a:rPr>
              <a:t>Vercel</a:t>
            </a:r>
            <a:endParaRPr b="0" lang="en-US" sz="10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Shape 8"/>
          <p:cNvSpPr/>
          <p:nvPr/>
        </p:nvSpPr>
        <p:spPr>
          <a:xfrm>
            <a:off x="502920" y="1783080"/>
            <a:ext cx="2238840" cy="4633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7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Text 9"/>
          <p:cNvSpPr/>
          <p:nvPr/>
        </p:nvSpPr>
        <p:spPr>
          <a:xfrm>
            <a:off x="576000" y="1783080"/>
            <a:ext cx="2092680" cy="46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30" spc="-1" strike="noStrike">
                <a:solidFill>
                  <a:srgbClr val="0f2136"/>
                </a:solidFill>
                <a:latin typeface="Calibri"/>
                <a:ea typeface="Calibri"/>
              </a:rPr>
              <a:t>Primary Strength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Shape 10"/>
          <p:cNvSpPr/>
          <p:nvPr/>
        </p:nvSpPr>
        <p:spPr>
          <a:xfrm>
            <a:off x="2743200" y="1783080"/>
            <a:ext cx="2238840" cy="4633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7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Text 11"/>
          <p:cNvSpPr/>
          <p:nvPr/>
        </p:nvSpPr>
        <p:spPr>
          <a:xfrm>
            <a:off x="2816280" y="1783080"/>
            <a:ext cx="2092680" cy="46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0f2136"/>
                </a:solidFill>
                <a:latin typeface="Calibri"/>
                <a:ea typeface="Calibri"/>
              </a:rPr>
              <a:t>Serverless containers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Shape 12"/>
          <p:cNvSpPr/>
          <p:nvPr/>
        </p:nvSpPr>
        <p:spPr>
          <a:xfrm>
            <a:off x="4983480" y="1783080"/>
            <a:ext cx="2238840" cy="4633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7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Text 13"/>
          <p:cNvSpPr/>
          <p:nvPr/>
        </p:nvSpPr>
        <p:spPr>
          <a:xfrm>
            <a:off x="5056560" y="1783080"/>
            <a:ext cx="2092680" cy="46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0f2136"/>
                </a:solidFill>
                <a:latin typeface="Calibri"/>
                <a:ea typeface="Calibri"/>
              </a:rPr>
              <a:t>Next.js hosting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Shape 14"/>
          <p:cNvSpPr/>
          <p:nvPr/>
        </p:nvSpPr>
        <p:spPr>
          <a:xfrm>
            <a:off x="502920" y="2247840"/>
            <a:ext cx="2238840" cy="463320"/>
          </a:xfrm>
          <a:prstGeom prst="rect">
            <a:avLst/>
          </a:prstGeom>
          <a:solidFill>
            <a:srgbClr val="f1f6fb"/>
          </a:solidFill>
          <a:ln w="9525">
            <a:solidFill>
              <a:srgbClr val="dce7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Text 15"/>
          <p:cNvSpPr/>
          <p:nvPr/>
        </p:nvSpPr>
        <p:spPr>
          <a:xfrm>
            <a:off x="576000" y="2247840"/>
            <a:ext cx="2092680" cy="46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30" spc="-1" strike="noStrike">
                <a:solidFill>
                  <a:srgbClr val="0f2136"/>
                </a:solidFill>
                <a:latin typeface="Calibri"/>
                <a:ea typeface="Calibri"/>
              </a:rPr>
              <a:t>Python Support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Shape 16"/>
          <p:cNvSpPr/>
          <p:nvPr/>
        </p:nvSpPr>
        <p:spPr>
          <a:xfrm>
            <a:off x="2743200" y="2247840"/>
            <a:ext cx="2238840" cy="463320"/>
          </a:xfrm>
          <a:prstGeom prst="rect">
            <a:avLst/>
          </a:prstGeom>
          <a:solidFill>
            <a:srgbClr val="f1f6fb"/>
          </a:solidFill>
          <a:ln w="9525">
            <a:solidFill>
              <a:srgbClr val="dce7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Text 17"/>
          <p:cNvSpPr/>
          <p:nvPr/>
        </p:nvSpPr>
        <p:spPr>
          <a:xfrm>
            <a:off x="2816280" y="2247840"/>
            <a:ext cx="2092680" cy="46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0f2136"/>
                </a:solidFill>
                <a:latin typeface="Calibri"/>
                <a:ea typeface="Calibri"/>
              </a:rPr>
              <a:t>Excellent (any Docker image)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Shape 18"/>
          <p:cNvSpPr/>
          <p:nvPr/>
        </p:nvSpPr>
        <p:spPr>
          <a:xfrm>
            <a:off x="4983480" y="2247840"/>
            <a:ext cx="2238840" cy="463320"/>
          </a:xfrm>
          <a:prstGeom prst="rect">
            <a:avLst/>
          </a:prstGeom>
          <a:solidFill>
            <a:srgbClr val="f1f6fb"/>
          </a:solidFill>
          <a:ln w="9525">
            <a:solidFill>
              <a:srgbClr val="dce7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" name="Text 19"/>
          <p:cNvSpPr/>
          <p:nvPr/>
        </p:nvSpPr>
        <p:spPr>
          <a:xfrm>
            <a:off x="5056560" y="2247840"/>
            <a:ext cx="2092680" cy="46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0f2136"/>
                </a:solidFill>
                <a:latin typeface="Calibri"/>
                <a:ea typeface="Calibri"/>
              </a:rPr>
              <a:t>Fair (via serverless functions)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Shape 20"/>
          <p:cNvSpPr/>
          <p:nvPr/>
        </p:nvSpPr>
        <p:spPr>
          <a:xfrm>
            <a:off x="502920" y="2712600"/>
            <a:ext cx="2238840" cy="4633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7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Text 21"/>
          <p:cNvSpPr/>
          <p:nvPr/>
        </p:nvSpPr>
        <p:spPr>
          <a:xfrm>
            <a:off x="576000" y="2712600"/>
            <a:ext cx="2092680" cy="46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30" spc="-1" strike="noStrike">
                <a:solidFill>
                  <a:srgbClr val="0f2136"/>
                </a:solidFill>
                <a:latin typeface="Calibri"/>
                <a:ea typeface="Calibri"/>
              </a:rPr>
              <a:t>Next.js Support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Shape 22"/>
          <p:cNvSpPr/>
          <p:nvPr/>
        </p:nvSpPr>
        <p:spPr>
          <a:xfrm>
            <a:off x="2743200" y="2712600"/>
            <a:ext cx="2238840" cy="4633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7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Text 23"/>
          <p:cNvSpPr/>
          <p:nvPr/>
        </p:nvSpPr>
        <p:spPr>
          <a:xfrm>
            <a:off x="2816280" y="2712600"/>
            <a:ext cx="2092680" cy="46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0f2136"/>
                </a:solidFill>
                <a:latin typeface="Calibri"/>
                <a:ea typeface="Calibri"/>
              </a:rPr>
              <a:t>Very Good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Shape 24"/>
          <p:cNvSpPr/>
          <p:nvPr/>
        </p:nvSpPr>
        <p:spPr>
          <a:xfrm>
            <a:off x="4983480" y="2712600"/>
            <a:ext cx="2238840" cy="4633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7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Text 25"/>
          <p:cNvSpPr/>
          <p:nvPr/>
        </p:nvSpPr>
        <p:spPr>
          <a:xfrm>
            <a:off x="5056560" y="2712600"/>
            <a:ext cx="2092680" cy="46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0f2136"/>
                </a:solidFill>
                <a:latin typeface="Calibri"/>
                <a:ea typeface="Calibri"/>
              </a:rPr>
              <a:t>Excellent (native, first-party)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Shape 26"/>
          <p:cNvSpPr/>
          <p:nvPr/>
        </p:nvSpPr>
        <p:spPr>
          <a:xfrm>
            <a:off x="502920" y="3177720"/>
            <a:ext cx="2238840" cy="463320"/>
          </a:xfrm>
          <a:prstGeom prst="rect">
            <a:avLst/>
          </a:prstGeom>
          <a:solidFill>
            <a:srgbClr val="f1f6fb"/>
          </a:solidFill>
          <a:ln w="9525">
            <a:solidFill>
              <a:srgbClr val="dce7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Text 27"/>
          <p:cNvSpPr/>
          <p:nvPr/>
        </p:nvSpPr>
        <p:spPr>
          <a:xfrm>
            <a:off x="576000" y="3177720"/>
            <a:ext cx="2092680" cy="46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30" spc="-1" strike="noStrike">
                <a:solidFill>
                  <a:srgbClr val="0f2136"/>
                </a:solidFill>
                <a:latin typeface="Calibri"/>
                <a:ea typeface="Calibri"/>
              </a:rPr>
              <a:t>Ease of Deployment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Shape 28"/>
          <p:cNvSpPr/>
          <p:nvPr/>
        </p:nvSpPr>
        <p:spPr>
          <a:xfrm>
            <a:off x="2743200" y="3177720"/>
            <a:ext cx="2238840" cy="463320"/>
          </a:xfrm>
          <a:prstGeom prst="rect">
            <a:avLst/>
          </a:prstGeom>
          <a:solidFill>
            <a:srgbClr val="f1f6fb"/>
          </a:solidFill>
          <a:ln w="9525">
            <a:solidFill>
              <a:srgbClr val="dce7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Text 29"/>
          <p:cNvSpPr/>
          <p:nvPr/>
        </p:nvSpPr>
        <p:spPr>
          <a:xfrm>
            <a:off x="2816280" y="3177720"/>
            <a:ext cx="2092680" cy="46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0f2136"/>
                </a:solidFill>
                <a:latin typeface="Calibri"/>
                <a:ea typeface="Calibri"/>
              </a:rPr>
              <a:t>Very Good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Shape 30"/>
          <p:cNvSpPr/>
          <p:nvPr/>
        </p:nvSpPr>
        <p:spPr>
          <a:xfrm>
            <a:off x="4983480" y="3177720"/>
            <a:ext cx="2238840" cy="463320"/>
          </a:xfrm>
          <a:prstGeom prst="rect">
            <a:avLst/>
          </a:prstGeom>
          <a:solidFill>
            <a:srgbClr val="f1f6fb"/>
          </a:solidFill>
          <a:ln w="9525">
            <a:solidFill>
              <a:srgbClr val="dce7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Text 31"/>
          <p:cNvSpPr/>
          <p:nvPr/>
        </p:nvSpPr>
        <p:spPr>
          <a:xfrm>
            <a:off x="5056560" y="3177720"/>
            <a:ext cx="2092680" cy="46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0f2136"/>
                </a:solidFill>
                <a:latin typeface="Calibri"/>
                <a:ea typeface="Calibri"/>
              </a:rPr>
              <a:t>Excellent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Shape 32"/>
          <p:cNvSpPr/>
          <p:nvPr/>
        </p:nvSpPr>
        <p:spPr>
          <a:xfrm>
            <a:off x="502920" y="3642480"/>
            <a:ext cx="2238840" cy="4633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7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Text 33"/>
          <p:cNvSpPr/>
          <p:nvPr/>
        </p:nvSpPr>
        <p:spPr>
          <a:xfrm>
            <a:off x="576000" y="3642480"/>
            <a:ext cx="2092680" cy="46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30" spc="-1" strike="noStrike">
                <a:solidFill>
                  <a:srgbClr val="0f2136"/>
                </a:solidFill>
                <a:latin typeface="Calibri"/>
                <a:ea typeface="Calibri"/>
              </a:rPr>
              <a:t>Enterprise Features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Shape 34"/>
          <p:cNvSpPr/>
          <p:nvPr/>
        </p:nvSpPr>
        <p:spPr>
          <a:xfrm>
            <a:off x="2743200" y="3642480"/>
            <a:ext cx="2238840" cy="4633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7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Text 35"/>
          <p:cNvSpPr/>
          <p:nvPr/>
        </p:nvSpPr>
        <p:spPr>
          <a:xfrm>
            <a:off x="2816280" y="3642480"/>
            <a:ext cx="2092680" cy="46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0f2136"/>
                </a:solidFill>
                <a:latin typeface="Calibri"/>
                <a:ea typeface="Calibri"/>
              </a:rPr>
              <a:t>Very Good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Shape 36"/>
          <p:cNvSpPr/>
          <p:nvPr/>
        </p:nvSpPr>
        <p:spPr>
          <a:xfrm>
            <a:off x="4983480" y="3642480"/>
            <a:ext cx="2238840" cy="4633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7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Text 37"/>
          <p:cNvSpPr/>
          <p:nvPr/>
        </p:nvSpPr>
        <p:spPr>
          <a:xfrm>
            <a:off x="5056560" y="3642480"/>
            <a:ext cx="2092680" cy="46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0f2136"/>
                </a:solidFill>
                <a:latin typeface="Calibri"/>
                <a:ea typeface="Calibri"/>
              </a:rPr>
              <a:t>Fair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Shape 38"/>
          <p:cNvSpPr/>
          <p:nvPr/>
        </p:nvSpPr>
        <p:spPr>
          <a:xfrm>
            <a:off x="502920" y="4107240"/>
            <a:ext cx="2238840" cy="463320"/>
          </a:xfrm>
          <a:prstGeom prst="rect">
            <a:avLst/>
          </a:prstGeom>
          <a:solidFill>
            <a:srgbClr val="f1f6fb"/>
          </a:solidFill>
          <a:ln w="9525">
            <a:solidFill>
              <a:srgbClr val="dce7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Text 39"/>
          <p:cNvSpPr/>
          <p:nvPr/>
        </p:nvSpPr>
        <p:spPr>
          <a:xfrm>
            <a:off x="576000" y="4107240"/>
            <a:ext cx="2092680" cy="46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30" spc="-1" strike="noStrike">
                <a:solidFill>
                  <a:srgbClr val="0f2136"/>
                </a:solidFill>
                <a:latin typeface="Calibri"/>
                <a:ea typeface="Calibri"/>
              </a:rPr>
              <a:t>Best Fit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Shape 40"/>
          <p:cNvSpPr/>
          <p:nvPr/>
        </p:nvSpPr>
        <p:spPr>
          <a:xfrm>
            <a:off x="2743200" y="4107240"/>
            <a:ext cx="2238840" cy="463320"/>
          </a:xfrm>
          <a:prstGeom prst="rect">
            <a:avLst/>
          </a:prstGeom>
          <a:solidFill>
            <a:srgbClr val="f1f6fb"/>
          </a:solidFill>
          <a:ln w="9525">
            <a:solidFill>
              <a:srgbClr val="dce7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Text 41"/>
          <p:cNvSpPr/>
          <p:nvPr/>
        </p:nvSpPr>
        <p:spPr>
          <a:xfrm>
            <a:off x="2816280" y="4107240"/>
            <a:ext cx="2092680" cy="46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0f2136"/>
                </a:solidFill>
                <a:latin typeface="Calibri"/>
                <a:ea typeface="Calibri"/>
              </a:rPr>
              <a:t>Containerized Python APIs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Shape 42"/>
          <p:cNvSpPr/>
          <p:nvPr/>
        </p:nvSpPr>
        <p:spPr>
          <a:xfrm>
            <a:off x="4983480" y="4107240"/>
            <a:ext cx="2238840" cy="463320"/>
          </a:xfrm>
          <a:prstGeom prst="rect">
            <a:avLst/>
          </a:prstGeom>
          <a:solidFill>
            <a:srgbClr val="f1f6fb"/>
          </a:solidFill>
          <a:ln w="9525">
            <a:solidFill>
              <a:srgbClr val="dce7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Text 43"/>
          <p:cNvSpPr/>
          <p:nvPr/>
        </p:nvSpPr>
        <p:spPr>
          <a:xfrm>
            <a:off x="5056560" y="4107240"/>
            <a:ext cx="2092680" cy="46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0f2136"/>
                </a:solidFill>
                <a:latin typeface="Calibri"/>
                <a:ea typeface="Calibri"/>
              </a:rPr>
              <a:t>Next.js frontend applications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Shape 44"/>
          <p:cNvSpPr/>
          <p:nvPr/>
        </p:nvSpPr>
        <p:spPr>
          <a:xfrm>
            <a:off x="7406640" y="1325880"/>
            <a:ext cx="4296240" cy="3244680"/>
          </a:xfrm>
          <a:prstGeom prst="roundRect">
            <a:avLst>
              <a:gd name="adj" fmla="val 2535"/>
            </a:avLst>
          </a:prstGeom>
          <a:solidFill>
            <a:srgbClr val="eef4fb"/>
          </a:solidFill>
          <a:ln w="12700">
            <a:solidFill>
              <a:srgbClr val="dce7f3"/>
            </a:solidFill>
            <a:round/>
          </a:ln>
          <a:effectLst>
            <a:outerShdw algn="bl" blurRad="88920" dir="5400000" dist="25560" kx="0" ky="0" rotWithShape="0" sx="100000" sy="100000">
              <a:srgbClr val="01050c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Text 45"/>
          <p:cNvSpPr/>
          <p:nvPr/>
        </p:nvSpPr>
        <p:spPr>
          <a:xfrm>
            <a:off x="7680960" y="1490400"/>
            <a:ext cx="37476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89" strike="noStrike">
                <a:solidFill>
                  <a:srgbClr val="637488"/>
                </a:solidFill>
                <a:latin typeface="Calibri"/>
                <a:ea typeface="Calibri"/>
              </a:rPr>
              <a:t>WHY THESE TWO STAND OUT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Shape 46"/>
          <p:cNvSpPr/>
          <p:nvPr/>
        </p:nvSpPr>
        <p:spPr>
          <a:xfrm>
            <a:off x="7680960" y="1874520"/>
            <a:ext cx="501480" cy="501480"/>
          </a:xfrm>
          <a:prstGeom prst="ellipse">
            <a:avLst/>
          </a:prstGeom>
          <a:solidFill>
            <a:srgbClr val="eef4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97" name="Image 0" descr="/home/claude/icons/rocket.png"/>
          <p:cNvPicPr/>
          <p:nvPr/>
        </p:nvPicPr>
        <p:blipFill>
          <a:blip r:embed="rId1"/>
          <a:stretch/>
        </p:blipFill>
        <p:spPr>
          <a:xfrm>
            <a:off x="7746480" y="1940040"/>
            <a:ext cx="370800" cy="370800"/>
          </a:xfrm>
          <a:prstGeom prst="rect">
            <a:avLst/>
          </a:prstGeom>
          <a:ln w="0">
            <a:noFill/>
          </a:ln>
        </p:spPr>
      </p:pic>
      <p:sp>
        <p:nvSpPr>
          <p:cNvPr id="398" name="Text 47"/>
          <p:cNvSpPr/>
          <p:nvPr/>
        </p:nvSpPr>
        <p:spPr>
          <a:xfrm>
            <a:off x="8321040" y="1938600"/>
            <a:ext cx="3198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0f2136"/>
                </a:solidFill>
                <a:latin typeface="Calibri"/>
                <a:ea typeface="Calibri"/>
              </a:rPr>
              <a:t>Cloud Run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Text 48"/>
          <p:cNvSpPr/>
          <p:nvPr/>
        </p:nvSpPr>
        <p:spPr>
          <a:xfrm>
            <a:off x="7680960" y="2331720"/>
            <a:ext cx="374760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637488"/>
                </a:solidFill>
                <a:latin typeface="Calibri"/>
                <a:ea typeface="Calibri"/>
              </a:rPr>
              <a:t>Simplest migration path for existing Dockerized Python APIs — deploy the image as-is.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Shape 49"/>
          <p:cNvSpPr/>
          <p:nvPr/>
        </p:nvSpPr>
        <p:spPr>
          <a:xfrm>
            <a:off x="7680960" y="3200400"/>
            <a:ext cx="501480" cy="501480"/>
          </a:xfrm>
          <a:prstGeom prst="ellipse">
            <a:avLst/>
          </a:prstGeom>
          <a:solidFill>
            <a:srgbClr val="eef4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01" name="Image 1" descr="/home/claude/icons/react.png"/>
          <p:cNvPicPr/>
          <p:nvPr/>
        </p:nvPicPr>
        <p:blipFill>
          <a:blip r:embed="rId2"/>
          <a:stretch/>
        </p:blipFill>
        <p:spPr>
          <a:xfrm>
            <a:off x="7746480" y="3265920"/>
            <a:ext cx="370800" cy="370800"/>
          </a:xfrm>
          <a:prstGeom prst="rect">
            <a:avLst/>
          </a:prstGeom>
          <a:ln w="0">
            <a:noFill/>
          </a:ln>
        </p:spPr>
      </p:pic>
      <p:sp>
        <p:nvSpPr>
          <p:cNvPr id="402" name="Text 50"/>
          <p:cNvSpPr/>
          <p:nvPr/>
        </p:nvSpPr>
        <p:spPr>
          <a:xfrm>
            <a:off x="8321040" y="3291840"/>
            <a:ext cx="3198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0f2136"/>
                </a:solidFill>
                <a:latin typeface="Calibri"/>
                <a:ea typeface="Calibri"/>
              </a:rPr>
              <a:t>Vercel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Text 51"/>
          <p:cNvSpPr/>
          <p:nvPr/>
        </p:nvSpPr>
        <p:spPr>
          <a:xfrm>
            <a:off x="7680960" y="3657600"/>
            <a:ext cx="374760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637488"/>
                </a:solidFill>
                <a:latin typeface="Calibri"/>
                <a:ea typeface="Calibri"/>
              </a:rPr>
              <a:t>Purpose-built for Next.js: SSR, ISR, edge middleware and image optimization out of the box.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Shape 52"/>
          <p:cNvSpPr/>
          <p:nvPr/>
        </p:nvSpPr>
        <p:spPr>
          <a:xfrm>
            <a:off x="502920" y="4800600"/>
            <a:ext cx="11199960" cy="1443240"/>
          </a:xfrm>
          <a:prstGeom prst="roundRect">
            <a:avLst>
              <a:gd name="adj" fmla="val 5696"/>
            </a:avLst>
          </a:prstGeom>
          <a:solidFill>
            <a:srgbClr val="16324f"/>
          </a:solidFill>
          <a:ln w="12700">
            <a:solidFill>
              <a:srgbClr val="27476e"/>
            </a:solidFill>
            <a:round/>
          </a:ln>
          <a:effectLst>
            <a:outerShdw algn="bl" blurRad="88920" dir="5400000" dist="25560" kx="0" ky="0" rotWithShape="0" sx="100000" sy="100000">
              <a:srgbClr val="01050c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5" name="Text 53"/>
          <p:cNvSpPr/>
          <p:nvPr/>
        </p:nvSpPr>
        <p:spPr>
          <a:xfrm>
            <a:off x="777240" y="4956120"/>
            <a:ext cx="45705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89" strike="noStrike">
                <a:solidFill>
                  <a:srgbClr val="7dd3fc"/>
                </a:solidFill>
                <a:latin typeface="Calibri"/>
                <a:ea typeface="Calibri"/>
              </a:rPr>
              <a:t>BEST USE CASES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Text 54"/>
          <p:cNvSpPr/>
          <p:nvPr/>
        </p:nvSpPr>
        <p:spPr>
          <a:xfrm>
            <a:off x="777240" y="5257800"/>
            <a:ext cx="106056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e4edf7"/>
                </a:solidFill>
                <a:latin typeface="Calibri"/>
                <a:ea typeface="Calibri"/>
              </a:rPr>
              <a:t>Cloud Run:</a:t>
            </a:r>
            <a:r>
              <a:rPr b="0" lang="en-US" sz="1200" spc="-1" strike="noStrike">
                <a:solidFill>
                  <a:srgbClr val="e4edf7"/>
                </a:solidFill>
                <a:latin typeface="Calibri"/>
                <a:ea typeface="Calibri"/>
              </a:rPr>
              <a:t>  containerized FastAPI / Flask / Django services, internal tools, batch and event-driven APIs.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Text 55"/>
          <p:cNvSpPr/>
          <p:nvPr/>
        </p:nvSpPr>
        <p:spPr>
          <a:xfrm>
            <a:off x="777240" y="5623560"/>
            <a:ext cx="106056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e4edf7"/>
                </a:solidFill>
                <a:latin typeface="Calibri"/>
                <a:ea typeface="Calibri"/>
              </a:rPr>
              <a:t>Vercel:</a:t>
            </a:r>
            <a:r>
              <a:rPr b="0" lang="en-US" sz="1200" spc="-1" strike="noStrike">
                <a:solidFill>
                  <a:srgbClr val="e4edf7"/>
                </a:solidFill>
                <a:latin typeface="Calibri"/>
                <a:ea typeface="Calibri"/>
              </a:rPr>
              <a:t>  customer-facing Next.js sites, marketing pages, dashboards needing fast global delivery.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Text 56"/>
          <p:cNvSpPr/>
          <p:nvPr/>
        </p:nvSpPr>
        <p:spPr>
          <a:xfrm>
            <a:off x="457200" y="652896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637488"/>
                </a:solidFill>
                <a:latin typeface="Calibri"/>
                <a:ea typeface="Calibri"/>
              </a:rPr>
              <a:t>GCP vs Vercel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Text 57"/>
          <p:cNvSpPr/>
          <p:nvPr/>
        </p:nvSpPr>
        <p:spPr>
          <a:xfrm>
            <a:off x="11003040" y="6528960"/>
            <a:ext cx="8215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637488"/>
                </a:solidFill>
                <a:latin typeface="Calibri"/>
                <a:ea typeface="Calibri"/>
              </a:rPr>
              <a:t>07 / 25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e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Text 0"/>
          <p:cNvSpPr/>
          <p:nvPr/>
        </p:nvSpPr>
        <p:spPr>
          <a:xfrm>
            <a:off x="502920" y="320040"/>
            <a:ext cx="9142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191" strike="noStrike">
                <a:solidFill>
                  <a:srgbClr val="7dd3fc"/>
                </a:solidFill>
                <a:latin typeface="Calibri"/>
                <a:ea typeface="Calibri"/>
              </a:rPr>
              <a:t>COMPLEMENTARY &amp; EMERGING PLATFORMS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1" name="Text 1"/>
          <p:cNvSpPr/>
          <p:nvPr/>
        </p:nvSpPr>
        <p:spPr>
          <a:xfrm>
            <a:off x="502920" y="567000"/>
            <a:ext cx="11154240" cy="56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ffffff"/>
                </a:solidFill>
                <a:latin typeface="Cambria"/>
                <a:ea typeface="Cambria"/>
              </a:rPr>
              <a:t>Cloudflare, Railway, Render &amp; Netlify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2" name="Shape 2"/>
          <p:cNvSpPr/>
          <p:nvPr/>
        </p:nvSpPr>
        <p:spPr>
          <a:xfrm>
            <a:off x="502920" y="1325880"/>
            <a:ext cx="2741760" cy="4890600"/>
          </a:xfrm>
          <a:prstGeom prst="roundRect">
            <a:avLst>
              <a:gd name="adj" fmla="val 3000"/>
            </a:avLst>
          </a:prstGeom>
          <a:solidFill>
            <a:srgbClr val="16324f"/>
          </a:solidFill>
          <a:ln w="12700">
            <a:solidFill>
              <a:srgbClr val="27476e"/>
            </a:solidFill>
            <a:round/>
          </a:ln>
          <a:effectLst>
            <a:outerShdw algn="bl" blurRad="88920" dir="5400000" dist="25560" kx="0" ky="0" rotWithShape="0" sx="100000" sy="100000">
              <a:srgbClr val="01050c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3" name="Shape 3"/>
          <p:cNvSpPr/>
          <p:nvPr/>
        </p:nvSpPr>
        <p:spPr>
          <a:xfrm>
            <a:off x="1563480" y="1545480"/>
            <a:ext cx="620280" cy="620280"/>
          </a:xfrm>
          <a:prstGeom prst="ellipse">
            <a:avLst/>
          </a:prstGeom>
          <a:solidFill>
            <a:srgbClr val="7c3ae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14" name="Image 0" descr="/home/claude/icons/globe.png"/>
          <p:cNvPicPr/>
          <p:nvPr/>
        </p:nvPicPr>
        <p:blipFill>
          <a:blip r:embed="rId1"/>
          <a:stretch/>
        </p:blipFill>
        <p:spPr>
          <a:xfrm>
            <a:off x="1719000" y="1700640"/>
            <a:ext cx="309600" cy="309600"/>
          </a:xfrm>
          <a:prstGeom prst="rect">
            <a:avLst/>
          </a:prstGeom>
          <a:ln w="0">
            <a:noFill/>
          </a:ln>
        </p:spPr>
      </p:pic>
      <p:sp>
        <p:nvSpPr>
          <p:cNvPr id="415" name="Text 4"/>
          <p:cNvSpPr/>
          <p:nvPr/>
        </p:nvSpPr>
        <p:spPr>
          <a:xfrm>
            <a:off x="640080" y="2258640"/>
            <a:ext cx="246744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mbria"/>
                <a:ea typeface="Cambria"/>
              </a:rPr>
              <a:t>Cloudflare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6" name="Text 5"/>
          <p:cNvSpPr/>
          <p:nvPr/>
        </p:nvSpPr>
        <p:spPr>
          <a:xfrm>
            <a:off x="640080" y="2569320"/>
            <a:ext cx="246744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93aac7"/>
                </a:solidFill>
                <a:latin typeface="Calibri"/>
                <a:ea typeface="Calibri"/>
              </a:rPr>
              <a:t>Edge network, CDN &amp; security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7" name="Text 6"/>
          <p:cNvSpPr/>
          <p:nvPr/>
        </p:nvSpPr>
        <p:spPr>
          <a:xfrm>
            <a:off x="704160" y="2953440"/>
            <a:ext cx="233928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89" strike="noStrike">
                <a:solidFill>
                  <a:srgbClr val="7dd3fc"/>
                </a:solidFill>
                <a:latin typeface="Calibri"/>
                <a:ea typeface="Calibri"/>
              </a:rPr>
              <a:t>CORE SERVICES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8" name="Text 7"/>
          <p:cNvSpPr/>
          <p:nvPr/>
        </p:nvSpPr>
        <p:spPr>
          <a:xfrm>
            <a:off x="704160" y="3136320"/>
            <a:ext cx="2339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7e4f2"/>
                </a:solidFill>
                <a:latin typeface="Calibri"/>
                <a:ea typeface="Calibri"/>
              </a:rPr>
              <a:t>Workers  •  Pages  •  D1  •  R2 Storage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9" name="Text 8"/>
          <p:cNvSpPr/>
          <p:nvPr/>
        </p:nvSpPr>
        <p:spPr>
          <a:xfrm>
            <a:off x="704160" y="3749040"/>
            <a:ext cx="233928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89" strike="noStrike">
                <a:solidFill>
                  <a:srgbClr val="10b981"/>
                </a:solidFill>
                <a:latin typeface="Calibri"/>
                <a:ea typeface="Calibri"/>
              </a:rPr>
              <a:t>STRENGTH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0" name="Text 9"/>
          <p:cNvSpPr/>
          <p:nvPr/>
        </p:nvSpPr>
        <p:spPr>
          <a:xfrm>
            <a:off x="704160" y="3931920"/>
            <a:ext cx="23392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7e4f2"/>
                </a:solidFill>
                <a:latin typeface="Calibri"/>
                <a:ea typeface="Calibri"/>
              </a:rPr>
              <a:t>Lowest latency; DDoS &amp; WAF protection built in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1" name="Text 10"/>
          <p:cNvSpPr/>
          <p:nvPr/>
        </p:nvSpPr>
        <p:spPr>
          <a:xfrm>
            <a:off x="704160" y="4526280"/>
            <a:ext cx="233928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89" strike="noStrike">
                <a:solidFill>
                  <a:srgbClr val="ef4444"/>
                </a:solidFill>
                <a:latin typeface="Calibri"/>
                <a:ea typeface="Calibri"/>
              </a:rPr>
              <a:t>LIMITATION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2" name="Text 11"/>
          <p:cNvSpPr/>
          <p:nvPr/>
        </p:nvSpPr>
        <p:spPr>
          <a:xfrm>
            <a:off x="704160" y="4709160"/>
            <a:ext cx="24951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7e4f2"/>
                </a:solidFill>
                <a:latin typeface="Calibri"/>
                <a:ea typeface="Calibri"/>
              </a:rPr>
              <a:t>Python support less mature than hyperscalers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3" name="Shape 12"/>
          <p:cNvSpPr/>
          <p:nvPr/>
        </p:nvSpPr>
        <p:spPr>
          <a:xfrm>
            <a:off x="667440" y="5486400"/>
            <a:ext cx="2412720" cy="565560"/>
          </a:xfrm>
          <a:prstGeom prst="roundRect">
            <a:avLst>
              <a:gd name="adj" fmla="val 12903"/>
            </a:avLst>
          </a:prstGeom>
          <a:solidFill>
            <a:srgbClr val="26507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4" name="Text 13"/>
          <p:cNvSpPr/>
          <p:nvPr/>
        </p:nvSpPr>
        <p:spPr>
          <a:xfrm>
            <a:off x="758880" y="5486400"/>
            <a:ext cx="2229840" cy="56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89" spc="-1" strike="noStrike">
                <a:solidFill>
                  <a:srgbClr val="ffffff"/>
                </a:solidFill>
                <a:latin typeface="Calibri"/>
                <a:ea typeface="Calibri"/>
              </a:rPr>
              <a:t>Pair with a primary cloud for edge + CDN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5" name="Shape 14"/>
          <p:cNvSpPr/>
          <p:nvPr/>
        </p:nvSpPr>
        <p:spPr>
          <a:xfrm>
            <a:off x="3364920" y="1325880"/>
            <a:ext cx="2741760" cy="4890600"/>
          </a:xfrm>
          <a:prstGeom prst="roundRect">
            <a:avLst>
              <a:gd name="adj" fmla="val 3000"/>
            </a:avLst>
          </a:prstGeom>
          <a:solidFill>
            <a:srgbClr val="1d3e63"/>
          </a:solidFill>
          <a:ln w="12700">
            <a:solidFill>
              <a:srgbClr val="27476e"/>
            </a:solidFill>
            <a:round/>
          </a:ln>
          <a:effectLst>
            <a:outerShdw algn="bl" blurRad="88920" dir="5400000" dist="25560" kx="0" ky="0" rotWithShape="0" sx="100000" sy="100000">
              <a:srgbClr val="01050c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6" name="Shape 15"/>
          <p:cNvSpPr/>
          <p:nvPr/>
        </p:nvSpPr>
        <p:spPr>
          <a:xfrm>
            <a:off x="4425840" y="1545480"/>
            <a:ext cx="620280" cy="620280"/>
          </a:xfrm>
          <a:prstGeom prst="ellipse">
            <a:avLst/>
          </a:prstGeom>
          <a:solidFill>
            <a:srgbClr val="0ea5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27" name="Image 1" descr="/home/claude/icons/rocket.png"/>
          <p:cNvPicPr/>
          <p:nvPr/>
        </p:nvPicPr>
        <p:blipFill>
          <a:blip r:embed="rId2"/>
          <a:stretch/>
        </p:blipFill>
        <p:spPr>
          <a:xfrm>
            <a:off x="4581000" y="1700640"/>
            <a:ext cx="309600" cy="309600"/>
          </a:xfrm>
          <a:prstGeom prst="rect">
            <a:avLst/>
          </a:prstGeom>
          <a:ln w="0">
            <a:noFill/>
          </a:ln>
        </p:spPr>
      </p:pic>
      <p:sp>
        <p:nvSpPr>
          <p:cNvPr id="428" name="Text 16"/>
          <p:cNvSpPr/>
          <p:nvPr/>
        </p:nvSpPr>
        <p:spPr>
          <a:xfrm>
            <a:off x="3502080" y="2258640"/>
            <a:ext cx="246744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mbria"/>
                <a:ea typeface="Cambria"/>
              </a:rPr>
              <a:t>Railway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9" name="Text 17"/>
          <p:cNvSpPr/>
          <p:nvPr/>
        </p:nvSpPr>
        <p:spPr>
          <a:xfrm>
            <a:off x="3502080" y="2569320"/>
            <a:ext cx="246744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93aac7"/>
                </a:solidFill>
                <a:latin typeface="Calibri"/>
                <a:ea typeface="Calibri"/>
              </a:rPr>
              <a:t>Developer-first PaaS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0" name="Text 18"/>
          <p:cNvSpPr/>
          <p:nvPr/>
        </p:nvSpPr>
        <p:spPr>
          <a:xfrm>
            <a:off x="3566160" y="2953440"/>
            <a:ext cx="233928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89" strike="noStrike">
                <a:solidFill>
                  <a:srgbClr val="7dd3fc"/>
                </a:solidFill>
                <a:latin typeface="Calibri"/>
                <a:ea typeface="Calibri"/>
              </a:rPr>
              <a:t>CORE SERVICES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1" name="Text 19"/>
          <p:cNvSpPr/>
          <p:nvPr/>
        </p:nvSpPr>
        <p:spPr>
          <a:xfrm>
            <a:off x="3566160" y="3200400"/>
            <a:ext cx="2339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7e4f2"/>
                </a:solidFill>
                <a:latin typeface="Calibri"/>
                <a:ea typeface="Calibri"/>
              </a:rPr>
              <a:t>Git Deploys  •  Managed Postgres/Redis  •  Python Workers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2" name="Text 20"/>
          <p:cNvSpPr/>
          <p:nvPr/>
        </p:nvSpPr>
        <p:spPr>
          <a:xfrm>
            <a:off x="3566160" y="3749040"/>
            <a:ext cx="233928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89" strike="noStrike">
                <a:solidFill>
                  <a:srgbClr val="10b981"/>
                </a:solidFill>
                <a:latin typeface="Calibri"/>
                <a:ea typeface="Calibri"/>
              </a:rPr>
              <a:t>STRENGTH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3" name="Text 21"/>
          <p:cNvSpPr/>
          <p:nvPr/>
        </p:nvSpPr>
        <p:spPr>
          <a:xfrm>
            <a:off x="3566160" y="3931920"/>
            <a:ext cx="23392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7e4f2"/>
                </a:solidFill>
                <a:latin typeface="Calibri"/>
                <a:ea typeface="Calibri"/>
              </a:rPr>
              <a:t>Extremely fast Git-based deploys, minimal config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4" name="Text 22"/>
          <p:cNvSpPr/>
          <p:nvPr/>
        </p:nvSpPr>
        <p:spPr>
          <a:xfrm>
            <a:off x="3566160" y="4526280"/>
            <a:ext cx="233928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89" strike="noStrike">
                <a:solidFill>
                  <a:srgbClr val="ef4444"/>
                </a:solidFill>
                <a:latin typeface="Calibri"/>
                <a:ea typeface="Calibri"/>
              </a:rPr>
              <a:t>LIMITATION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5" name="Text 23"/>
          <p:cNvSpPr/>
          <p:nvPr/>
        </p:nvSpPr>
        <p:spPr>
          <a:xfrm>
            <a:off x="3566160" y="4709160"/>
            <a:ext cx="23392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7e4f2"/>
                </a:solidFill>
                <a:latin typeface="Calibri"/>
                <a:ea typeface="Calibri"/>
              </a:rPr>
              <a:t>Limited enterprise governance &amp; compliance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6" name="Shape 24"/>
          <p:cNvSpPr/>
          <p:nvPr/>
        </p:nvSpPr>
        <p:spPr>
          <a:xfrm>
            <a:off x="3529440" y="5486400"/>
            <a:ext cx="2412720" cy="565560"/>
          </a:xfrm>
          <a:prstGeom prst="roundRect">
            <a:avLst>
              <a:gd name="adj" fmla="val 12903"/>
            </a:avLst>
          </a:prstGeom>
          <a:solidFill>
            <a:srgbClr val="26507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7" name="Text 25"/>
          <p:cNvSpPr/>
          <p:nvPr/>
        </p:nvSpPr>
        <p:spPr>
          <a:xfrm>
            <a:off x="3620880" y="5486400"/>
            <a:ext cx="2229840" cy="56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89" spc="-1" strike="noStrike">
                <a:solidFill>
                  <a:srgbClr val="ffffff"/>
                </a:solidFill>
                <a:latin typeface="Calibri"/>
                <a:ea typeface="Calibri"/>
              </a:rPr>
              <a:t>Startups, MVPs, internal tools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8" name="Shape 26"/>
          <p:cNvSpPr/>
          <p:nvPr/>
        </p:nvSpPr>
        <p:spPr>
          <a:xfrm>
            <a:off x="6226920" y="1325880"/>
            <a:ext cx="2741760" cy="4890600"/>
          </a:xfrm>
          <a:prstGeom prst="roundRect">
            <a:avLst>
              <a:gd name="adj" fmla="val 3000"/>
            </a:avLst>
          </a:prstGeom>
          <a:solidFill>
            <a:srgbClr val="16324f"/>
          </a:solidFill>
          <a:ln w="12700">
            <a:solidFill>
              <a:srgbClr val="27476e"/>
            </a:solidFill>
            <a:round/>
          </a:ln>
          <a:effectLst>
            <a:outerShdw algn="bl" blurRad="88920" dir="5400000" dist="25560" kx="0" ky="0" rotWithShape="0" sx="100000" sy="100000">
              <a:srgbClr val="01050c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9" name="Shape 27"/>
          <p:cNvSpPr/>
          <p:nvPr/>
        </p:nvSpPr>
        <p:spPr>
          <a:xfrm>
            <a:off x="7287840" y="1545480"/>
            <a:ext cx="620280" cy="62028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40" name="Image 2" descr="/home/claude/icons/layer.png"/>
          <p:cNvPicPr/>
          <p:nvPr/>
        </p:nvPicPr>
        <p:blipFill>
          <a:blip r:embed="rId3"/>
          <a:stretch/>
        </p:blipFill>
        <p:spPr>
          <a:xfrm>
            <a:off x="7443360" y="1700640"/>
            <a:ext cx="309600" cy="309600"/>
          </a:xfrm>
          <a:prstGeom prst="rect">
            <a:avLst/>
          </a:prstGeom>
          <a:ln w="0">
            <a:noFill/>
          </a:ln>
        </p:spPr>
      </p:pic>
      <p:sp>
        <p:nvSpPr>
          <p:cNvPr id="441" name="Text 28"/>
          <p:cNvSpPr/>
          <p:nvPr/>
        </p:nvSpPr>
        <p:spPr>
          <a:xfrm>
            <a:off x="6364080" y="2258640"/>
            <a:ext cx="246744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mbria"/>
                <a:ea typeface="Cambria"/>
              </a:rPr>
              <a:t>Render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2" name="Text 29"/>
          <p:cNvSpPr/>
          <p:nvPr/>
        </p:nvSpPr>
        <p:spPr>
          <a:xfrm>
            <a:off x="6364080" y="2569320"/>
            <a:ext cx="246744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93aac7"/>
                </a:solidFill>
                <a:latin typeface="Calibri"/>
                <a:ea typeface="Calibri"/>
              </a:rPr>
              <a:t>Managed app &amp; DB hosting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3" name="Text 30"/>
          <p:cNvSpPr/>
          <p:nvPr/>
        </p:nvSpPr>
        <p:spPr>
          <a:xfrm>
            <a:off x="6428160" y="2953440"/>
            <a:ext cx="233928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89" strike="noStrike">
                <a:solidFill>
                  <a:srgbClr val="7dd3fc"/>
                </a:solidFill>
                <a:latin typeface="Calibri"/>
                <a:ea typeface="Calibri"/>
              </a:rPr>
              <a:t>CORE SERVICES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4" name="Text 31"/>
          <p:cNvSpPr/>
          <p:nvPr/>
        </p:nvSpPr>
        <p:spPr>
          <a:xfrm>
            <a:off x="6428160" y="3200400"/>
            <a:ext cx="2339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7e4f2"/>
                </a:solidFill>
                <a:latin typeface="Calibri"/>
                <a:ea typeface="Calibri"/>
              </a:rPr>
              <a:t>Web Services  •  Background Workers  •  Managed DBs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5" name="Text 32"/>
          <p:cNvSpPr/>
          <p:nvPr/>
        </p:nvSpPr>
        <p:spPr>
          <a:xfrm>
            <a:off x="6428160" y="3749040"/>
            <a:ext cx="233928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89" strike="noStrike">
                <a:solidFill>
                  <a:srgbClr val="10b981"/>
                </a:solidFill>
                <a:latin typeface="Calibri"/>
                <a:ea typeface="Calibri"/>
              </a:rPr>
              <a:t>STRENGTH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6" name="Text 33"/>
          <p:cNvSpPr/>
          <p:nvPr/>
        </p:nvSpPr>
        <p:spPr>
          <a:xfrm>
            <a:off x="6428160" y="3931920"/>
            <a:ext cx="23392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7e4f2"/>
                </a:solidFill>
                <a:latin typeface="Calibri"/>
                <a:ea typeface="Calibri"/>
              </a:rPr>
              <a:t>Simple, predictable deployments from Git or Docker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7" name="Text 34"/>
          <p:cNvSpPr/>
          <p:nvPr/>
        </p:nvSpPr>
        <p:spPr>
          <a:xfrm>
            <a:off x="6428160" y="4526280"/>
            <a:ext cx="233928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89" strike="noStrike">
                <a:solidFill>
                  <a:srgbClr val="ef4444"/>
                </a:solidFill>
                <a:latin typeface="Calibri"/>
                <a:ea typeface="Calibri"/>
              </a:rPr>
              <a:t>LIMITATION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8" name="Text 35"/>
          <p:cNvSpPr/>
          <p:nvPr/>
        </p:nvSpPr>
        <p:spPr>
          <a:xfrm>
            <a:off x="6428160" y="4709160"/>
            <a:ext cx="23392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7e4f2"/>
                </a:solidFill>
                <a:latin typeface="Calibri"/>
                <a:ea typeface="Calibri"/>
              </a:rPr>
              <a:t>Below hyperscaler enterprise scale &amp; ecosystem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9" name="Shape 36"/>
          <p:cNvSpPr/>
          <p:nvPr/>
        </p:nvSpPr>
        <p:spPr>
          <a:xfrm>
            <a:off x="6391800" y="5486400"/>
            <a:ext cx="2412720" cy="565560"/>
          </a:xfrm>
          <a:prstGeom prst="roundRect">
            <a:avLst>
              <a:gd name="adj" fmla="val 12903"/>
            </a:avLst>
          </a:prstGeom>
          <a:solidFill>
            <a:srgbClr val="26507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0" name="Text 37"/>
          <p:cNvSpPr/>
          <p:nvPr/>
        </p:nvSpPr>
        <p:spPr>
          <a:xfrm>
            <a:off x="6483240" y="5486400"/>
            <a:ext cx="2229840" cy="56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89" spc="-1" strike="noStrike">
                <a:solidFill>
                  <a:srgbClr val="ffffff"/>
                </a:solidFill>
                <a:latin typeface="Calibri"/>
                <a:ea typeface="Calibri"/>
              </a:rPr>
              <a:t>Small-to-medium cloud applications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1" name="Shape 38"/>
          <p:cNvSpPr/>
          <p:nvPr/>
        </p:nvSpPr>
        <p:spPr>
          <a:xfrm>
            <a:off x="9089280" y="1325880"/>
            <a:ext cx="2741760" cy="4890600"/>
          </a:xfrm>
          <a:prstGeom prst="roundRect">
            <a:avLst>
              <a:gd name="adj" fmla="val 3000"/>
            </a:avLst>
          </a:prstGeom>
          <a:solidFill>
            <a:srgbClr val="1d3e63"/>
          </a:solidFill>
          <a:ln w="12700">
            <a:solidFill>
              <a:srgbClr val="27476e"/>
            </a:solidFill>
            <a:round/>
          </a:ln>
          <a:effectLst>
            <a:outerShdw algn="bl" blurRad="88920" dir="5400000" dist="25560" kx="0" ky="0" rotWithShape="0" sx="100000" sy="100000">
              <a:srgbClr val="01050c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2" name="Shape 39"/>
          <p:cNvSpPr/>
          <p:nvPr/>
        </p:nvSpPr>
        <p:spPr>
          <a:xfrm>
            <a:off x="10149840" y="1545480"/>
            <a:ext cx="620280" cy="620280"/>
          </a:xfrm>
          <a:prstGeom prst="ellipse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53" name="Image 3" descr="/home/claude/icons/code.png"/>
          <p:cNvPicPr/>
          <p:nvPr/>
        </p:nvPicPr>
        <p:blipFill>
          <a:blip r:embed="rId4"/>
          <a:stretch/>
        </p:blipFill>
        <p:spPr>
          <a:xfrm>
            <a:off x="10305360" y="1700640"/>
            <a:ext cx="309600" cy="309600"/>
          </a:xfrm>
          <a:prstGeom prst="rect">
            <a:avLst/>
          </a:prstGeom>
          <a:ln w="0">
            <a:noFill/>
          </a:ln>
        </p:spPr>
      </p:pic>
      <p:sp>
        <p:nvSpPr>
          <p:cNvPr id="454" name="Text 40"/>
          <p:cNvSpPr/>
          <p:nvPr/>
        </p:nvSpPr>
        <p:spPr>
          <a:xfrm>
            <a:off x="9226440" y="2258640"/>
            <a:ext cx="246744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mbria"/>
                <a:ea typeface="Cambria"/>
              </a:rPr>
              <a:t>Netlify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5" name="Text 41"/>
          <p:cNvSpPr/>
          <p:nvPr/>
        </p:nvSpPr>
        <p:spPr>
          <a:xfrm>
            <a:off x="9226440" y="2569320"/>
            <a:ext cx="246744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93aac7"/>
                </a:solidFill>
                <a:latin typeface="Calibri"/>
                <a:ea typeface="Calibri"/>
              </a:rPr>
              <a:t>Frontend / JAMstack hosting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6" name="Text 42"/>
          <p:cNvSpPr/>
          <p:nvPr/>
        </p:nvSpPr>
        <p:spPr>
          <a:xfrm>
            <a:off x="9290160" y="2953440"/>
            <a:ext cx="233928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89" strike="noStrike">
                <a:solidFill>
                  <a:srgbClr val="7dd3fc"/>
                </a:solidFill>
                <a:latin typeface="Calibri"/>
                <a:ea typeface="Calibri"/>
              </a:rPr>
              <a:t>CORE SERVICES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7" name="Text 43"/>
          <p:cNvSpPr/>
          <p:nvPr/>
        </p:nvSpPr>
        <p:spPr>
          <a:xfrm>
            <a:off x="9290160" y="3200400"/>
            <a:ext cx="2339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7e4f2"/>
                </a:solidFill>
                <a:latin typeface="Calibri"/>
                <a:ea typeface="Calibri"/>
              </a:rPr>
              <a:t>Static Hosting  •  Edge Functions  •  Forms  •  Identity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8" name="Text 44"/>
          <p:cNvSpPr/>
          <p:nvPr/>
        </p:nvSpPr>
        <p:spPr>
          <a:xfrm>
            <a:off x="9290160" y="3749040"/>
            <a:ext cx="233928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89" strike="noStrike">
                <a:solidFill>
                  <a:srgbClr val="10b981"/>
                </a:solidFill>
                <a:latin typeface="Calibri"/>
                <a:ea typeface="Calibri"/>
              </a:rPr>
              <a:t>STRENGTH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9" name="Text 45"/>
          <p:cNvSpPr/>
          <p:nvPr/>
        </p:nvSpPr>
        <p:spPr>
          <a:xfrm>
            <a:off x="9290160" y="3931920"/>
            <a:ext cx="23392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7e4f2"/>
                </a:solidFill>
                <a:latin typeface="Calibri"/>
                <a:ea typeface="Calibri"/>
              </a:rPr>
              <a:t>Best-in-class static &amp; SSR hosting workflow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0" name="Text 46"/>
          <p:cNvSpPr/>
          <p:nvPr/>
        </p:nvSpPr>
        <p:spPr>
          <a:xfrm>
            <a:off x="9290160" y="4526280"/>
            <a:ext cx="233928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89" strike="noStrike">
                <a:solidFill>
                  <a:srgbClr val="ef4444"/>
                </a:solidFill>
                <a:latin typeface="Calibri"/>
                <a:ea typeface="Calibri"/>
              </a:rPr>
              <a:t>LIMITATION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1" name="Text 47"/>
          <p:cNvSpPr/>
          <p:nvPr/>
        </p:nvSpPr>
        <p:spPr>
          <a:xfrm>
            <a:off x="9290160" y="4709160"/>
            <a:ext cx="23392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7e4f2"/>
                </a:solidFill>
                <a:latin typeface="Calibri"/>
                <a:ea typeface="Calibri"/>
              </a:rPr>
              <a:t>Not built for large Python backends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2" name="Shape 48"/>
          <p:cNvSpPr/>
          <p:nvPr/>
        </p:nvSpPr>
        <p:spPr>
          <a:xfrm>
            <a:off x="9253800" y="5486400"/>
            <a:ext cx="2412720" cy="565560"/>
          </a:xfrm>
          <a:prstGeom prst="roundRect">
            <a:avLst>
              <a:gd name="adj" fmla="val 12903"/>
            </a:avLst>
          </a:prstGeom>
          <a:solidFill>
            <a:srgbClr val="26507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3" name="Text 49"/>
          <p:cNvSpPr/>
          <p:nvPr/>
        </p:nvSpPr>
        <p:spPr>
          <a:xfrm>
            <a:off x="9345240" y="5486400"/>
            <a:ext cx="2229840" cy="56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89" spc="-1" strike="noStrike">
                <a:solidFill>
                  <a:srgbClr val="ffffff"/>
                </a:solidFill>
                <a:latin typeface="Calibri"/>
                <a:ea typeface="Calibri"/>
              </a:rPr>
              <a:t>Static sites &amp; frontend hosting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4" name="Text 50"/>
          <p:cNvSpPr/>
          <p:nvPr/>
        </p:nvSpPr>
        <p:spPr>
          <a:xfrm>
            <a:off x="457200" y="652896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93aac7"/>
                </a:solidFill>
                <a:latin typeface="Calibri"/>
                <a:ea typeface="Calibri"/>
              </a:rPr>
              <a:t>Cloudflare, Railway, Render &amp; Netlify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5" name="Text 51"/>
          <p:cNvSpPr/>
          <p:nvPr/>
        </p:nvSpPr>
        <p:spPr>
          <a:xfrm>
            <a:off x="11003040" y="6528960"/>
            <a:ext cx="8215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93aac7"/>
                </a:solidFill>
                <a:latin typeface="Calibri"/>
                <a:ea typeface="Calibri"/>
              </a:rPr>
              <a:t>08 / 25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e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Text 0"/>
          <p:cNvSpPr/>
          <p:nvPr/>
        </p:nvSpPr>
        <p:spPr>
          <a:xfrm>
            <a:off x="502920" y="320040"/>
            <a:ext cx="9142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191" strike="noStrike">
                <a:solidFill>
                  <a:srgbClr val="7dd3fc"/>
                </a:solidFill>
                <a:latin typeface="Calibri"/>
                <a:ea typeface="Calibri"/>
              </a:rPr>
              <a:t>ECONOMICS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7" name="Text 1"/>
          <p:cNvSpPr/>
          <p:nvPr/>
        </p:nvSpPr>
        <p:spPr>
          <a:xfrm>
            <a:off x="502920" y="567000"/>
            <a:ext cx="11154240" cy="56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ffffff"/>
                </a:solidFill>
                <a:latin typeface="Cambria"/>
                <a:ea typeface="Cambria"/>
              </a:rPr>
              <a:t>Pricing &amp; Cost Comparison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8" name="Shape 2"/>
          <p:cNvSpPr/>
          <p:nvPr/>
        </p:nvSpPr>
        <p:spPr>
          <a:xfrm>
            <a:off x="502920" y="1325880"/>
            <a:ext cx="5393520" cy="3976200"/>
          </a:xfrm>
          <a:prstGeom prst="roundRect">
            <a:avLst>
              <a:gd name="adj" fmla="val 2069"/>
            </a:avLst>
          </a:prstGeom>
          <a:solidFill>
            <a:srgbClr val="16324f"/>
          </a:solidFill>
          <a:ln w="12700">
            <a:solidFill>
              <a:srgbClr val="27476e"/>
            </a:solidFill>
            <a:round/>
          </a:ln>
          <a:effectLst>
            <a:outerShdw algn="bl" blurRad="88920" dir="5400000" dist="25560" kx="0" ky="0" rotWithShape="0" sx="100000" sy="100000">
              <a:srgbClr val="01050c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9" name="Text 3"/>
          <p:cNvSpPr/>
          <p:nvPr/>
        </p:nvSpPr>
        <p:spPr>
          <a:xfrm>
            <a:off x="777240" y="1481400"/>
            <a:ext cx="484488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89" strike="noStrike">
                <a:solidFill>
                  <a:srgbClr val="93aac7"/>
                </a:solidFill>
                <a:latin typeface="Calibri"/>
                <a:ea typeface="Calibri"/>
              </a:rPr>
              <a:t>PRICING PHILOSOPHY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0" name="Shape 4"/>
          <p:cNvSpPr/>
          <p:nvPr/>
        </p:nvSpPr>
        <p:spPr>
          <a:xfrm>
            <a:off x="777240" y="1874520"/>
            <a:ext cx="501480" cy="501480"/>
          </a:xfrm>
          <a:prstGeom prst="ellipse">
            <a:avLst/>
          </a:prstGeom>
          <a:solidFill>
            <a:srgbClr val="26507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71" name="Image 0" descr="/home/claude/icons/dollar.png"/>
          <p:cNvPicPr/>
          <p:nvPr/>
        </p:nvPicPr>
        <p:blipFill>
          <a:blip r:embed="rId1"/>
          <a:stretch/>
        </p:blipFill>
        <p:spPr>
          <a:xfrm>
            <a:off x="842760" y="1940040"/>
            <a:ext cx="370800" cy="370800"/>
          </a:xfrm>
          <a:prstGeom prst="rect">
            <a:avLst/>
          </a:prstGeom>
          <a:ln w="0">
            <a:noFill/>
          </a:ln>
        </p:spPr>
      </p:pic>
      <p:sp>
        <p:nvSpPr>
          <p:cNvPr id="472" name="Text 5"/>
          <p:cNvSpPr/>
          <p:nvPr/>
        </p:nvSpPr>
        <p:spPr>
          <a:xfrm>
            <a:off x="1417320" y="1856160"/>
            <a:ext cx="42962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Consumption-Based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3" name="Text 6"/>
          <p:cNvSpPr/>
          <p:nvPr/>
        </p:nvSpPr>
        <p:spPr>
          <a:xfrm>
            <a:off x="1417320" y="2011680"/>
            <a:ext cx="429624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93aac7"/>
                </a:solidFill>
                <a:latin typeface="Calibri"/>
                <a:ea typeface="Calibri"/>
              </a:rPr>
              <a:t>All platforms bill primarily by requests, execution time, memory and bandwidth — not reserved capacity.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4" name="Shape 7"/>
          <p:cNvSpPr/>
          <p:nvPr/>
        </p:nvSpPr>
        <p:spPr>
          <a:xfrm>
            <a:off x="777240" y="3017520"/>
            <a:ext cx="501480" cy="501480"/>
          </a:xfrm>
          <a:prstGeom prst="ellipse">
            <a:avLst/>
          </a:prstGeom>
          <a:solidFill>
            <a:srgbClr val="26507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75" name="Image 1" descr="/home/claude/icons/clock.png"/>
          <p:cNvPicPr/>
          <p:nvPr/>
        </p:nvPicPr>
        <p:blipFill>
          <a:blip r:embed="rId2"/>
          <a:stretch/>
        </p:blipFill>
        <p:spPr>
          <a:xfrm>
            <a:off x="842760" y="3083040"/>
            <a:ext cx="370800" cy="370800"/>
          </a:xfrm>
          <a:prstGeom prst="rect">
            <a:avLst/>
          </a:prstGeom>
          <a:ln w="0">
            <a:noFill/>
          </a:ln>
        </p:spPr>
      </p:pic>
      <p:sp>
        <p:nvSpPr>
          <p:cNvPr id="476" name="Text 8"/>
          <p:cNvSpPr/>
          <p:nvPr/>
        </p:nvSpPr>
        <p:spPr>
          <a:xfrm>
            <a:off x="1417320" y="2999160"/>
            <a:ext cx="42962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Scale-to-Zero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7" name="Text 9"/>
          <p:cNvSpPr/>
          <p:nvPr/>
        </p:nvSpPr>
        <p:spPr>
          <a:xfrm>
            <a:off x="1417320" y="3154680"/>
            <a:ext cx="429624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93aac7"/>
                </a:solidFill>
                <a:latin typeface="Calibri"/>
                <a:ea typeface="Calibri"/>
              </a:rPr>
              <a:t>Azure, AWS, GCP, Vercel, Cloudflare, Railway &amp; Netlify all reduce idle workloads toward zero cost.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8" name="Shape 10"/>
          <p:cNvSpPr/>
          <p:nvPr/>
        </p:nvSpPr>
        <p:spPr>
          <a:xfrm>
            <a:off x="777240" y="4160520"/>
            <a:ext cx="501480" cy="501480"/>
          </a:xfrm>
          <a:prstGeom prst="ellipse">
            <a:avLst/>
          </a:prstGeom>
          <a:solidFill>
            <a:srgbClr val="26507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79" name="Image 2" descr="/home/claude/icons/gauge.png"/>
          <p:cNvPicPr/>
          <p:nvPr/>
        </p:nvPicPr>
        <p:blipFill>
          <a:blip r:embed="rId3"/>
          <a:stretch/>
        </p:blipFill>
        <p:spPr>
          <a:xfrm>
            <a:off x="842760" y="4226040"/>
            <a:ext cx="370800" cy="370800"/>
          </a:xfrm>
          <a:prstGeom prst="rect">
            <a:avLst/>
          </a:prstGeom>
          <a:ln w="0">
            <a:noFill/>
          </a:ln>
        </p:spPr>
      </p:pic>
      <p:sp>
        <p:nvSpPr>
          <p:cNvPr id="480" name="Text 11"/>
          <p:cNvSpPr/>
          <p:nvPr/>
        </p:nvSpPr>
        <p:spPr>
          <a:xfrm>
            <a:off x="1417320" y="4142160"/>
            <a:ext cx="42962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Free Tiers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1" name="Text 12"/>
          <p:cNvSpPr/>
          <p:nvPr/>
        </p:nvSpPr>
        <p:spPr>
          <a:xfrm>
            <a:off x="1417320" y="4297680"/>
            <a:ext cx="429624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93aac7"/>
                </a:solidFill>
                <a:latin typeface="Calibri"/>
                <a:ea typeface="Calibri"/>
              </a:rPr>
              <a:t>Every shortlisted platform offers a free or trial tier suitable for evaluation and small workloads.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2" name="Shape 13"/>
          <p:cNvSpPr/>
          <p:nvPr/>
        </p:nvSpPr>
        <p:spPr>
          <a:xfrm>
            <a:off x="6035040" y="1325880"/>
            <a:ext cx="5667840" cy="2330280"/>
          </a:xfrm>
          <a:prstGeom prst="roundRect">
            <a:avLst>
              <a:gd name="adj" fmla="val 3529"/>
            </a:avLst>
          </a:prstGeom>
          <a:solidFill>
            <a:srgbClr val="1d3e63"/>
          </a:solidFill>
          <a:ln w="12700">
            <a:solidFill>
              <a:srgbClr val="27476e"/>
            </a:solidFill>
            <a:round/>
          </a:ln>
          <a:effectLst>
            <a:outerShdw algn="bl" blurRad="88920" dir="5400000" dist="25560" kx="0" ky="0" rotWithShape="0" sx="100000" sy="100000">
              <a:srgbClr val="01050c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3" name="Text 14"/>
          <p:cNvSpPr/>
          <p:nvPr/>
        </p:nvSpPr>
        <p:spPr>
          <a:xfrm>
            <a:off x="6309360" y="1481400"/>
            <a:ext cx="51192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41" strike="noStrike">
                <a:solidFill>
                  <a:srgbClr val="93aac7"/>
                </a:solidFill>
                <a:latin typeface="Calibri"/>
                <a:ea typeface="Calibri"/>
              </a:rPr>
              <a:t>COST EFFICIENCY — LOW-TRAFFIC WORKLOADS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4" name="Text 15"/>
          <p:cNvSpPr/>
          <p:nvPr/>
        </p:nvSpPr>
        <p:spPr>
          <a:xfrm>
            <a:off x="6309360" y="187452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7e4f2"/>
                </a:solidFill>
                <a:latin typeface="Calibri"/>
                <a:ea typeface="Calibri"/>
              </a:rPr>
              <a:t>Railway / Render / Netlify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5" name="Shape 16"/>
          <p:cNvSpPr/>
          <p:nvPr/>
        </p:nvSpPr>
        <p:spPr>
          <a:xfrm>
            <a:off x="8823960" y="1929240"/>
            <a:ext cx="2604600" cy="172440"/>
          </a:xfrm>
          <a:prstGeom prst="roundRect">
            <a:avLst>
              <a:gd name="adj" fmla="val 47368"/>
            </a:avLst>
          </a:prstGeom>
          <a:solidFill>
            <a:srgbClr val="1d3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6" name="Shape 17"/>
          <p:cNvSpPr/>
          <p:nvPr/>
        </p:nvSpPr>
        <p:spPr>
          <a:xfrm>
            <a:off x="8823960" y="1929240"/>
            <a:ext cx="2474280" cy="172440"/>
          </a:xfrm>
          <a:prstGeom prst="roundRect">
            <a:avLst>
              <a:gd name="adj" fmla="val 47368"/>
            </a:avLst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7" name="Text 18"/>
          <p:cNvSpPr/>
          <p:nvPr/>
        </p:nvSpPr>
        <p:spPr>
          <a:xfrm>
            <a:off x="6309360" y="2240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7e4f2"/>
                </a:solidFill>
                <a:latin typeface="Calibri"/>
                <a:ea typeface="Calibri"/>
              </a:rPr>
              <a:t>Cloudflare Workers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8" name="Shape 19"/>
          <p:cNvSpPr/>
          <p:nvPr/>
        </p:nvSpPr>
        <p:spPr>
          <a:xfrm>
            <a:off x="8823960" y="2295000"/>
            <a:ext cx="2604600" cy="172440"/>
          </a:xfrm>
          <a:prstGeom prst="roundRect">
            <a:avLst>
              <a:gd name="adj" fmla="val 47368"/>
            </a:avLst>
          </a:prstGeom>
          <a:solidFill>
            <a:srgbClr val="1d3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9" name="Shape 20"/>
          <p:cNvSpPr/>
          <p:nvPr/>
        </p:nvSpPr>
        <p:spPr>
          <a:xfrm>
            <a:off x="8823960" y="2295000"/>
            <a:ext cx="2343960" cy="172440"/>
          </a:xfrm>
          <a:prstGeom prst="roundRect">
            <a:avLst>
              <a:gd name="adj" fmla="val 47368"/>
            </a:avLst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0" name="Text 21"/>
          <p:cNvSpPr/>
          <p:nvPr/>
        </p:nvSpPr>
        <p:spPr>
          <a:xfrm>
            <a:off x="6309360" y="260604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7e4f2"/>
                </a:solidFill>
                <a:latin typeface="Calibri"/>
                <a:ea typeface="Calibri"/>
              </a:rPr>
              <a:t>Vercel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1" name="Shape 22"/>
          <p:cNvSpPr/>
          <p:nvPr/>
        </p:nvSpPr>
        <p:spPr>
          <a:xfrm>
            <a:off x="8823960" y="2660760"/>
            <a:ext cx="2604600" cy="172440"/>
          </a:xfrm>
          <a:prstGeom prst="roundRect">
            <a:avLst>
              <a:gd name="adj" fmla="val 47368"/>
            </a:avLst>
          </a:prstGeom>
          <a:solidFill>
            <a:srgbClr val="1d3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2" name="Shape 23"/>
          <p:cNvSpPr/>
          <p:nvPr/>
        </p:nvSpPr>
        <p:spPr>
          <a:xfrm>
            <a:off x="8823960" y="2660760"/>
            <a:ext cx="2213640" cy="172440"/>
          </a:xfrm>
          <a:prstGeom prst="roundRect">
            <a:avLst>
              <a:gd name="adj" fmla="val 47368"/>
            </a:avLst>
          </a:prstGeom>
          <a:solidFill>
            <a:srgbClr val="0ea5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3" name="Text 24"/>
          <p:cNvSpPr/>
          <p:nvPr/>
        </p:nvSpPr>
        <p:spPr>
          <a:xfrm>
            <a:off x="6309360" y="29718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7e4f2"/>
                </a:solidFill>
                <a:latin typeface="Calibri"/>
                <a:ea typeface="Calibri"/>
              </a:rPr>
              <a:t>Google Cloud Run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4" name="Shape 25"/>
          <p:cNvSpPr/>
          <p:nvPr/>
        </p:nvSpPr>
        <p:spPr>
          <a:xfrm>
            <a:off x="8823960" y="3026520"/>
            <a:ext cx="2604600" cy="172440"/>
          </a:xfrm>
          <a:prstGeom prst="roundRect">
            <a:avLst>
              <a:gd name="adj" fmla="val 47368"/>
            </a:avLst>
          </a:prstGeom>
          <a:solidFill>
            <a:srgbClr val="1d3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5" name="Shape 26"/>
          <p:cNvSpPr/>
          <p:nvPr/>
        </p:nvSpPr>
        <p:spPr>
          <a:xfrm>
            <a:off x="8823960" y="3026520"/>
            <a:ext cx="2135520" cy="172440"/>
          </a:xfrm>
          <a:prstGeom prst="roundRect">
            <a:avLst>
              <a:gd name="adj" fmla="val 47368"/>
            </a:avLst>
          </a:prstGeom>
          <a:solidFill>
            <a:srgbClr val="0ea5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6" name="Text 27"/>
          <p:cNvSpPr/>
          <p:nvPr/>
        </p:nvSpPr>
        <p:spPr>
          <a:xfrm>
            <a:off x="6309360" y="333756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7e4f2"/>
                </a:solidFill>
                <a:latin typeface="Calibri"/>
                <a:ea typeface="Calibri"/>
              </a:rPr>
              <a:t>Azure / AWS Functions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7" name="Shape 28"/>
          <p:cNvSpPr/>
          <p:nvPr/>
        </p:nvSpPr>
        <p:spPr>
          <a:xfrm>
            <a:off x="8823960" y="3392280"/>
            <a:ext cx="2604600" cy="172440"/>
          </a:xfrm>
          <a:prstGeom prst="roundRect">
            <a:avLst>
              <a:gd name="adj" fmla="val 47368"/>
            </a:avLst>
          </a:prstGeom>
          <a:solidFill>
            <a:srgbClr val="1d3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8" name="Shape 29"/>
          <p:cNvSpPr/>
          <p:nvPr/>
        </p:nvSpPr>
        <p:spPr>
          <a:xfrm>
            <a:off x="8823960" y="3392280"/>
            <a:ext cx="2031120" cy="172440"/>
          </a:xfrm>
          <a:prstGeom prst="roundRect">
            <a:avLst>
              <a:gd name="adj" fmla="val 47368"/>
            </a:avLst>
          </a:prstGeom>
          <a:solidFill>
            <a:srgbClr val="0891b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9" name="Shape 30"/>
          <p:cNvSpPr/>
          <p:nvPr/>
        </p:nvSpPr>
        <p:spPr>
          <a:xfrm>
            <a:off x="6035040" y="3794760"/>
            <a:ext cx="5667840" cy="1507320"/>
          </a:xfrm>
          <a:prstGeom prst="roundRect">
            <a:avLst>
              <a:gd name="adj" fmla="val 5455"/>
            </a:avLst>
          </a:prstGeom>
          <a:solidFill>
            <a:srgbClr val="eaf4fd"/>
          </a:solidFill>
          <a:ln w="12700">
            <a:solidFill>
              <a:srgbClr val="bfe0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0" name="Text 31"/>
          <p:cNvSpPr/>
          <p:nvPr/>
        </p:nvSpPr>
        <p:spPr>
          <a:xfrm>
            <a:off x="6309360" y="3931920"/>
            <a:ext cx="511920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89" strike="noStrike">
                <a:solidFill>
                  <a:srgbClr val="0891b2"/>
                </a:solidFill>
                <a:latin typeface="Calibri"/>
                <a:ea typeface="Calibri"/>
              </a:rPr>
              <a:t>MOST ECONOMICAL BY ORGANIZATION SIZE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1" name="Text 32"/>
          <p:cNvSpPr/>
          <p:nvPr/>
        </p:nvSpPr>
        <p:spPr>
          <a:xfrm>
            <a:off x="6309360" y="4224600"/>
            <a:ext cx="19188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30" spc="-1" strike="noStrike">
                <a:solidFill>
                  <a:srgbClr val="0f2136"/>
                </a:solidFill>
                <a:latin typeface="Calibri"/>
                <a:ea typeface="Calibri"/>
              </a:rPr>
              <a:t>Startups / MVPs:</a:t>
            </a:r>
            <a:endParaRPr b="0" lang="en-US" sz="103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2" name="Text 33"/>
          <p:cNvSpPr/>
          <p:nvPr/>
        </p:nvSpPr>
        <p:spPr>
          <a:xfrm>
            <a:off x="8229600" y="422460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30" spc="-1" strike="noStrike">
                <a:solidFill>
                  <a:srgbClr val="33445a"/>
                </a:solidFill>
                <a:latin typeface="Calibri"/>
                <a:ea typeface="Calibri"/>
              </a:rPr>
              <a:t>Railway, Render, Netlify, Vercel</a:t>
            </a:r>
            <a:endParaRPr b="0" lang="en-US" sz="103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3" name="Text 34"/>
          <p:cNvSpPr/>
          <p:nvPr/>
        </p:nvSpPr>
        <p:spPr>
          <a:xfrm>
            <a:off x="6309360" y="4553640"/>
            <a:ext cx="19188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30" spc="-1" strike="noStrike">
                <a:solidFill>
                  <a:srgbClr val="0f2136"/>
                </a:solidFill>
                <a:latin typeface="Calibri"/>
                <a:ea typeface="Calibri"/>
              </a:rPr>
              <a:t>Enterprise scale:</a:t>
            </a:r>
            <a:endParaRPr b="0" lang="en-US" sz="103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4" name="Text 35"/>
          <p:cNvSpPr/>
          <p:nvPr/>
        </p:nvSpPr>
        <p:spPr>
          <a:xfrm>
            <a:off x="8229600" y="455364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30" spc="-1" strike="noStrike">
                <a:solidFill>
                  <a:srgbClr val="33445a"/>
                </a:solidFill>
                <a:latin typeface="Calibri"/>
                <a:ea typeface="Calibri"/>
              </a:rPr>
              <a:t>Azure, AWS, Google Cloud</a:t>
            </a:r>
            <a:endParaRPr b="0" lang="en-US" sz="103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5" name="Text 36"/>
          <p:cNvSpPr/>
          <p:nvPr/>
        </p:nvSpPr>
        <p:spPr>
          <a:xfrm>
            <a:off x="6309360" y="4883040"/>
            <a:ext cx="19188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30" spc="-1" strike="noStrike">
                <a:solidFill>
                  <a:srgbClr val="0f2136"/>
                </a:solidFill>
                <a:latin typeface="Calibri"/>
                <a:ea typeface="Calibri"/>
              </a:rPr>
              <a:t>Global / low-latency:</a:t>
            </a:r>
            <a:endParaRPr b="0" lang="en-US" sz="103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6" name="Text 37"/>
          <p:cNvSpPr/>
          <p:nvPr/>
        </p:nvSpPr>
        <p:spPr>
          <a:xfrm>
            <a:off x="8229600" y="488304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30" spc="-1" strike="noStrike">
                <a:solidFill>
                  <a:srgbClr val="33445a"/>
                </a:solidFill>
                <a:latin typeface="Calibri"/>
                <a:ea typeface="Calibri"/>
              </a:rPr>
              <a:t>Cloudflare (as a complement)</a:t>
            </a:r>
            <a:endParaRPr b="0" lang="en-US" sz="103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7" name="Shape 38"/>
          <p:cNvSpPr/>
          <p:nvPr/>
        </p:nvSpPr>
        <p:spPr>
          <a:xfrm>
            <a:off x="502920" y="5468040"/>
            <a:ext cx="11199960" cy="775800"/>
          </a:xfrm>
          <a:prstGeom prst="roundRect">
            <a:avLst>
              <a:gd name="adj" fmla="val 10588"/>
            </a:avLst>
          </a:prstGeom>
          <a:solidFill>
            <a:srgbClr val="eaf4fd"/>
          </a:solidFill>
          <a:ln w="12700">
            <a:solidFill>
              <a:srgbClr val="bfe0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08" name="Image 3" descr="/home/claude/icons/check.png"/>
          <p:cNvPicPr/>
          <p:nvPr/>
        </p:nvPicPr>
        <p:blipFill>
          <a:blip r:embed="rId4"/>
          <a:stretch/>
        </p:blipFill>
        <p:spPr>
          <a:xfrm>
            <a:off x="713160" y="5650920"/>
            <a:ext cx="327600" cy="327600"/>
          </a:xfrm>
          <a:prstGeom prst="rect">
            <a:avLst/>
          </a:prstGeom>
          <a:ln w="0">
            <a:noFill/>
          </a:ln>
        </p:spPr>
      </p:pic>
      <p:sp>
        <p:nvSpPr>
          <p:cNvPr id="509" name="Text 39"/>
          <p:cNvSpPr/>
          <p:nvPr/>
        </p:nvSpPr>
        <p:spPr>
          <a:xfrm>
            <a:off x="1143000" y="5468040"/>
            <a:ext cx="1033128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0f2136"/>
                </a:solidFill>
                <a:latin typeface="Calibri"/>
                <a:ea typeface="Calibri"/>
              </a:rPr>
              <a:t>Scale-to-zero is the single biggest lever for low-traffic internal tools — idle applications generate near-zero compute cost across every shortlisted platform.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0" name="Text 40"/>
          <p:cNvSpPr/>
          <p:nvPr/>
        </p:nvSpPr>
        <p:spPr>
          <a:xfrm>
            <a:off x="457200" y="652896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93aac7"/>
                </a:solidFill>
                <a:latin typeface="Calibri"/>
                <a:ea typeface="Calibri"/>
              </a:rPr>
              <a:t>Pricing &amp; Cost Comparison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1" name="Text 41"/>
          <p:cNvSpPr/>
          <p:nvPr/>
        </p:nvSpPr>
        <p:spPr>
          <a:xfrm>
            <a:off x="11003040" y="6528960"/>
            <a:ext cx="8215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93aac7"/>
                </a:solidFill>
                <a:latin typeface="Calibri"/>
                <a:ea typeface="Calibri"/>
              </a:rPr>
              <a:t>09 / 25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a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Text 0"/>
          <p:cNvSpPr/>
          <p:nvPr/>
        </p:nvSpPr>
        <p:spPr>
          <a:xfrm>
            <a:off x="502920" y="320040"/>
            <a:ext cx="9142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191" strike="noStrike">
                <a:solidFill>
                  <a:srgbClr val="0ea5e9"/>
                </a:solidFill>
                <a:latin typeface="Calibri"/>
                <a:ea typeface="Calibri"/>
              </a:rPr>
              <a:t>FULL PICTURE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Text 1"/>
          <p:cNvSpPr/>
          <p:nvPr/>
        </p:nvSpPr>
        <p:spPr>
          <a:xfrm>
            <a:off x="502920" y="567000"/>
            <a:ext cx="11154240" cy="56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0f2136"/>
                </a:solidFill>
                <a:latin typeface="Cambria"/>
                <a:ea typeface="Cambria"/>
              </a:rPr>
              <a:t>Platform Comparison Matrix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Shape 2"/>
          <p:cNvSpPr/>
          <p:nvPr/>
        </p:nvSpPr>
        <p:spPr>
          <a:xfrm>
            <a:off x="502920" y="1371600"/>
            <a:ext cx="1598760" cy="455760"/>
          </a:xfrm>
          <a:prstGeom prst="rect">
            <a:avLst/>
          </a:prstGeom>
          <a:solidFill>
            <a:srgbClr val="0a1e34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5" name="Text 3"/>
          <p:cNvSpPr/>
          <p:nvPr/>
        </p:nvSpPr>
        <p:spPr>
          <a:xfrm>
            <a:off x="557640" y="1371600"/>
            <a:ext cx="14889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70" spc="-1" strike="noStrike">
                <a:solidFill>
                  <a:srgbClr val="ffffff"/>
                </a:solidFill>
                <a:latin typeface="Calibri"/>
                <a:ea typeface="Calibri"/>
              </a:rPr>
              <a:t>Platform</a:t>
            </a:r>
            <a:endParaRPr b="0" lang="en-US" sz="10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6" name="Shape 4"/>
          <p:cNvSpPr/>
          <p:nvPr/>
        </p:nvSpPr>
        <p:spPr>
          <a:xfrm>
            <a:off x="2103120" y="1371600"/>
            <a:ext cx="1598760" cy="455760"/>
          </a:xfrm>
          <a:prstGeom prst="rect">
            <a:avLst/>
          </a:prstGeom>
          <a:solidFill>
            <a:srgbClr val="0f3d63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7" name="Text 5"/>
          <p:cNvSpPr/>
          <p:nvPr/>
        </p:nvSpPr>
        <p:spPr>
          <a:xfrm>
            <a:off x="2157840" y="1371600"/>
            <a:ext cx="14889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70" spc="-1" strike="noStrike">
                <a:solidFill>
                  <a:srgbClr val="ffffff"/>
                </a:solidFill>
                <a:latin typeface="Calibri"/>
                <a:ea typeface="Calibri"/>
              </a:rPr>
              <a:t>Python</a:t>
            </a:r>
            <a:endParaRPr b="0" lang="en-US" sz="10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8" name="Shape 6"/>
          <p:cNvSpPr/>
          <p:nvPr/>
        </p:nvSpPr>
        <p:spPr>
          <a:xfrm>
            <a:off x="3703320" y="1371600"/>
            <a:ext cx="1598760" cy="455760"/>
          </a:xfrm>
          <a:prstGeom prst="rect">
            <a:avLst/>
          </a:prstGeom>
          <a:solidFill>
            <a:srgbClr val="0f3d63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9" name="Text 7"/>
          <p:cNvSpPr/>
          <p:nvPr/>
        </p:nvSpPr>
        <p:spPr>
          <a:xfrm>
            <a:off x="3758040" y="1371600"/>
            <a:ext cx="14889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70" spc="-1" strike="noStrike">
                <a:solidFill>
                  <a:srgbClr val="ffffff"/>
                </a:solidFill>
                <a:latin typeface="Calibri"/>
                <a:ea typeface="Calibri"/>
              </a:rPr>
              <a:t>Next.js</a:t>
            </a:r>
            <a:endParaRPr b="0" lang="en-US" sz="10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0" name="Shape 8"/>
          <p:cNvSpPr/>
          <p:nvPr/>
        </p:nvSpPr>
        <p:spPr>
          <a:xfrm>
            <a:off x="5303520" y="1371600"/>
            <a:ext cx="1598760" cy="455760"/>
          </a:xfrm>
          <a:prstGeom prst="rect">
            <a:avLst/>
          </a:prstGeom>
          <a:solidFill>
            <a:srgbClr val="0f3d63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1" name="Text 9"/>
          <p:cNvSpPr/>
          <p:nvPr/>
        </p:nvSpPr>
        <p:spPr>
          <a:xfrm>
            <a:off x="5358240" y="1371600"/>
            <a:ext cx="14889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70" spc="-1" strike="noStrike">
                <a:solidFill>
                  <a:srgbClr val="ffffff"/>
                </a:solidFill>
                <a:latin typeface="Calibri"/>
                <a:ea typeface="Calibri"/>
              </a:rPr>
              <a:t>Scaling</a:t>
            </a:r>
            <a:endParaRPr b="0" lang="en-US" sz="10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2" name="Shape 10"/>
          <p:cNvSpPr/>
          <p:nvPr/>
        </p:nvSpPr>
        <p:spPr>
          <a:xfrm>
            <a:off x="6903720" y="1371600"/>
            <a:ext cx="1598760" cy="455760"/>
          </a:xfrm>
          <a:prstGeom prst="rect">
            <a:avLst/>
          </a:prstGeom>
          <a:solidFill>
            <a:srgbClr val="0f3d63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3" name="Text 11"/>
          <p:cNvSpPr/>
          <p:nvPr/>
        </p:nvSpPr>
        <p:spPr>
          <a:xfrm>
            <a:off x="6958440" y="1371600"/>
            <a:ext cx="14889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70" spc="-1" strike="noStrike">
                <a:solidFill>
                  <a:srgbClr val="ffffff"/>
                </a:solidFill>
                <a:latin typeface="Calibri"/>
                <a:ea typeface="Calibri"/>
              </a:rPr>
              <a:t>Enterprise</a:t>
            </a:r>
            <a:endParaRPr b="0" lang="en-US" sz="10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4" name="Shape 12"/>
          <p:cNvSpPr/>
          <p:nvPr/>
        </p:nvSpPr>
        <p:spPr>
          <a:xfrm>
            <a:off x="8503920" y="1371600"/>
            <a:ext cx="1598760" cy="455760"/>
          </a:xfrm>
          <a:prstGeom prst="rect">
            <a:avLst/>
          </a:prstGeom>
          <a:solidFill>
            <a:srgbClr val="0f3d63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5" name="Text 13"/>
          <p:cNvSpPr/>
          <p:nvPr/>
        </p:nvSpPr>
        <p:spPr>
          <a:xfrm>
            <a:off x="8558640" y="1371600"/>
            <a:ext cx="14889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70" spc="-1" strike="noStrike">
                <a:solidFill>
                  <a:srgbClr val="ffffff"/>
                </a:solidFill>
                <a:latin typeface="Calibri"/>
                <a:ea typeface="Calibri"/>
              </a:rPr>
              <a:t>Dev Experience</a:t>
            </a:r>
            <a:endParaRPr b="0" lang="en-US" sz="10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6" name="Shape 14"/>
          <p:cNvSpPr/>
          <p:nvPr/>
        </p:nvSpPr>
        <p:spPr>
          <a:xfrm>
            <a:off x="10104120" y="1371600"/>
            <a:ext cx="1598760" cy="455760"/>
          </a:xfrm>
          <a:prstGeom prst="rect">
            <a:avLst/>
          </a:prstGeom>
          <a:solidFill>
            <a:srgbClr val="0891b2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7" name="Text 15"/>
          <p:cNvSpPr/>
          <p:nvPr/>
        </p:nvSpPr>
        <p:spPr>
          <a:xfrm>
            <a:off x="10158840" y="1371600"/>
            <a:ext cx="14889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70" spc="-1" strike="noStrike">
                <a:solidFill>
                  <a:srgbClr val="ffffff"/>
                </a:solidFill>
                <a:latin typeface="Calibri"/>
                <a:ea typeface="Calibri"/>
              </a:rPr>
              <a:t>Best Use Case</a:t>
            </a:r>
            <a:endParaRPr b="0" lang="en-US" sz="10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Shape 16"/>
          <p:cNvSpPr/>
          <p:nvPr/>
        </p:nvSpPr>
        <p:spPr>
          <a:xfrm>
            <a:off x="502920" y="1828800"/>
            <a:ext cx="1598760" cy="573480"/>
          </a:xfrm>
          <a:prstGeom prst="rect">
            <a:avLst/>
          </a:prstGeom>
          <a:solidFill>
            <a:srgbClr val="ffffff"/>
          </a:solidFill>
          <a:ln w="9525">
            <a:solidFill>
              <a:srgbClr val="dce7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Text 17"/>
          <p:cNvSpPr/>
          <p:nvPr/>
        </p:nvSpPr>
        <p:spPr>
          <a:xfrm>
            <a:off x="576000" y="1828800"/>
            <a:ext cx="1452600" cy="57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30" spc="-1" strike="noStrike">
                <a:solidFill>
                  <a:srgbClr val="0f2136"/>
                </a:solidFill>
                <a:latin typeface="Calibri"/>
                <a:ea typeface="Calibri"/>
              </a:rPr>
              <a:t>Microsoft Azure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0" name="Shape 18"/>
          <p:cNvSpPr/>
          <p:nvPr/>
        </p:nvSpPr>
        <p:spPr>
          <a:xfrm>
            <a:off x="2103120" y="1828800"/>
            <a:ext cx="1598760" cy="573480"/>
          </a:xfrm>
          <a:prstGeom prst="rect">
            <a:avLst/>
          </a:prstGeom>
          <a:solidFill>
            <a:srgbClr val="ffffff"/>
          </a:solidFill>
          <a:ln w="9525">
            <a:solidFill>
              <a:srgbClr val="dce7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1" name="Text 19"/>
          <p:cNvSpPr/>
          <p:nvPr/>
        </p:nvSpPr>
        <p:spPr>
          <a:xfrm>
            <a:off x="2176200" y="1828800"/>
            <a:ext cx="1452600" cy="57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0f2136"/>
                </a:solidFill>
                <a:latin typeface="Calibri"/>
                <a:ea typeface="Calibri"/>
              </a:rPr>
              <a:t>★★★★★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2" name="Shape 20"/>
          <p:cNvSpPr/>
          <p:nvPr/>
        </p:nvSpPr>
        <p:spPr>
          <a:xfrm>
            <a:off x="3703320" y="1828800"/>
            <a:ext cx="1598760" cy="573480"/>
          </a:xfrm>
          <a:prstGeom prst="rect">
            <a:avLst/>
          </a:prstGeom>
          <a:solidFill>
            <a:srgbClr val="ffffff"/>
          </a:solidFill>
          <a:ln w="9525">
            <a:solidFill>
              <a:srgbClr val="dce7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3" name="Text 21"/>
          <p:cNvSpPr/>
          <p:nvPr/>
        </p:nvSpPr>
        <p:spPr>
          <a:xfrm>
            <a:off x="3776400" y="1828800"/>
            <a:ext cx="1452600" cy="57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0f2136"/>
                </a:solidFill>
                <a:latin typeface="Calibri"/>
                <a:ea typeface="Calibri"/>
              </a:rPr>
              <a:t>★★★★☆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4" name="Shape 22"/>
          <p:cNvSpPr/>
          <p:nvPr/>
        </p:nvSpPr>
        <p:spPr>
          <a:xfrm>
            <a:off x="5303520" y="1828800"/>
            <a:ext cx="1598760" cy="573480"/>
          </a:xfrm>
          <a:prstGeom prst="rect">
            <a:avLst/>
          </a:prstGeom>
          <a:solidFill>
            <a:srgbClr val="ffffff"/>
          </a:solidFill>
          <a:ln w="9525">
            <a:solidFill>
              <a:srgbClr val="dce7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5" name="Text 23"/>
          <p:cNvSpPr/>
          <p:nvPr/>
        </p:nvSpPr>
        <p:spPr>
          <a:xfrm>
            <a:off x="5376600" y="1828800"/>
            <a:ext cx="1452600" cy="57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0f2136"/>
                </a:solidFill>
                <a:latin typeface="Calibri"/>
                <a:ea typeface="Calibri"/>
              </a:rPr>
              <a:t>★★★★★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6" name="Shape 24"/>
          <p:cNvSpPr/>
          <p:nvPr/>
        </p:nvSpPr>
        <p:spPr>
          <a:xfrm>
            <a:off x="6903720" y="1828800"/>
            <a:ext cx="1598760" cy="573480"/>
          </a:xfrm>
          <a:prstGeom prst="rect">
            <a:avLst/>
          </a:prstGeom>
          <a:solidFill>
            <a:srgbClr val="ffffff"/>
          </a:solidFill>
          <a:ln w="9525">
            <a:solidFill>
              <a:srgbClr val="dce7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7" name="Text 25"/>
          <p:cNvSpPr/>
          <p:nvPr/>
        </p:nvSpPr>
        <p:spPr>
          <a:xfrm>
            <a:off x="6976800" y="1828800"/>
            <a:ext cx="1452600" cy="57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0f2136"/>
                </a:solidFill>
                <a:latin typeface="Calibri"/>
                <a:ea typeface="Calibri"/>
              </a:rPr>
              <a:t>★★★★★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8" name="Shape 26"/>
          <p:cNvSpPr/>
          <p:nvPr/>
        </p:nvSpPr>
        <p:spPr>
          <a:xfrm>
            <a:off x="8503920" y="1828800"/>
            <a:ext cx="1598760" cy="573480"/>
          </a:xfrm>
          <a:prstGeom prst="rect">
            <a:avLst/>
          </a:prstGeom>
          <a:solidFill>
            <a:srgbClr val="ffffff"/>
          </a:solidFill>
          <a:ln w="9525">
            <a:solidFill>
              <a:srgbClr val="dce7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9" name="Text 27"/>
          <p:cNvSpPr/>
          <p:nvPr/>
        </p:nvSpPr>
        <p:spPr>
          <a:xfrm>
            <a:off x="8577000" y="1828800"/>
            <a:ext cx="1452600" cy="57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0f2136"/>
                </a:solidFill>
                <a:latin typeface="Calibri"/>
                <a:ea typeface="Calibri"/>
              </a:rPr>
              <a:t>★★★★☆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0" name="Shape 28"/>
          <p:cNvSpPr/>
          <p:nvPr/>
        </p:nvSpPr>
        <p:spPr>
          <a:xfrm>
            <a:off x="10104120" y="1828800"/>
            <a:ext cx="1598760" cy="573480"/>
          </a:xfrm>
          <a:prstGeom prst="rect">
            <a:avLst/>
          </a:prstGeom>
          <a:solidFill>
            <a:srgbClr val="ffffff"/>
          </a:solidFill>
          <a:ln w="9525">
            <a:solidFill>
              <a:srgbClr val="dce7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1" name="Text 29"/>
          <p:cNvSpPr/>
          <p:nvPr/>
        </p:nvSpPr>
        <p:spPr>
          <a:xfrm>
            <a:off x="10177200" y="1828800"/>
            <a:ext cx="1452600" cy="57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0f2136"/>
                </a:solidFill>
                <a:latin typeface="Calibri"/>
                <a:ea typeface="Calibri"/>
              </a:rPr>
              <a:t>Enterprise Python services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2" name="Shape 30"/>
          <p:cNvSpPr/>
          <p:nvPr/>
        </p:nvSpPr>
        <p:spPr>
          <a:xfrm>
            <a:off x="502920" y="2403720"/>
            <a:ext cx="1598760" cy="573480"/>
          </a:xfrm>
          <a:prstGeom prst="rect">
            <a:avLst/>
          </a:prstGeom>
          <a:solidFill>
            <a:srgbClr val="f1f6fb"/>
          </a:solidFill>
          <a:ln w="9525">
            <a:solidFill>
              <a:srgbClr val="dce7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3" name="Text 31"/>
          <p:cNvSpPr/>
          <p:nvPr/>
        </p:nvSpPr>
        <p:spPr>
          <a:xfrm>
            <a:off x="576000" y="2403720"/>
            <a:ext cx="1452600" cy="57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30" spc="-1" strike="noStrike">
                <a:solidFill>
                  <a:srgbClr val="0f2136"/>
                </a:solidFill>
                <a:latin typeface="Calibri"/>
                <a:ea typeface="Calibri"/>
              </a:rPr>
              <a:t>AWS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4" name="Shape 32"/>
          <p:cNvSpPr/>
          <p:nvPr/>
        </p:nvSpPr>
        <p:spPr>
          <a:xfrm>
            <a:off x="2103120" y="2403720"/>
            <a:ext cx="1598760" cy="573480"/>
          </a:xfrm>
          <a:prstGeom prst="rect">
            <a:avLst/>
          </a:prstGeom>
          <a:solidFill>
            <a:srgbClr val="f1f6fb"/>
          </a:solidFill>
          <a:ln w="9525">
            <a:solidFill>
              <a:srgbClr val="dce7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5" name="Text 33"/>
          <p:cNvSpPr/>
          <p:nvPr/>
        </p:nvSpPr>
        <p:spPr>
          <a:xfrm>
            <a:off x="2176200" y="2403720"/>
            <a:ext cx="1452600" cy="57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0f2136"/>
                </a:solidFill>
                <a:latin typeface="Calibri"/>
                <a:ea typeface="Calibri"/>
              </a:rPr>
              <a:t>★★★★★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6" name="Shape 34"/>
          <p:cNvSpPr/>
          <p:nvPr/>
        </p:nvSpPr>
        <p:spPr>
          <a:xfrm>
            <a:off x="3703320" y="2403720"/>
            <a:ext cx="1598760" cy="573480"/>
          </a:xfrm>
          <a:prstGeom prst="rect">
            <a:avLst/>
          </a:prstGeom>
          <a:solidFill>
            <a:srgbClr val="f1f6fb"/>
          </a:solidFill>
          <a:ln w="9525">
            <a:solidFill>
              <a:srgbClr val="dce7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7" name="Text 35"/>
          <p:cNvSpPr/>
          <p:nvPr/>
        </p:nvSpPr>
        <p:spPr>
          <a:xfrm>
            <a:off x="3776400" y="2403720"/>
            <a:ext cx="1452600" cy="57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0f2136"/>
                </a:solidFill>
                <a:latin typeface="Calibri"/>
                <a:ea typeface="Calibri"/>
              </a:rPr>
              <a:t>★★★★☆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8" name="Shape 36"/>
          <p:cNvSpPr/>
          <p:nvPr/>
        </p:nvSpPr>
        <p:spPr>
          <a:xfrm>
            <a:off x="5303520" y="2403720"/>
            <a:ext cx="1598760" cy="573480"/>
          </a:xfrm>
          <a:prstGeom prst="rect">
            <a:avLst/>
          </a:prstGeom>
          <a:solidFill>
            <a:srgbClr val="f1f6fb"/>
          </a:solidFill>
          <a:ln w="9525">
            <a:solidFill>
              <a:srgbClr val="dce7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9" name="Text 37"/>
          <p:cNvSpPr/>
          <p:nvPr/>
        </p:nvSpPr>
        <p:spPr>
          <a:xfrm>
            <a:off x="5376600" y="2403720"/>
            <a:ext cx="1452600" cy="57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0f2136"/>
                </a:solidFill>
                <a:latin typeface="Calibri"/>
                <a:ea typeface="Calibri"/>
              </a:rPr>
              <a:t>★★★★★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Shape 38"/>
          <p:cNvSpPr/>
          <p:nvPr/>
        </p:nvSpPr>
        <p:spPr>
          <a:xfrm>
            <a:off x="6903720" y="2403720"/>
            <a:ext cx="1598760" cy="573480"/>
          </a:xfrm>
          <a:prstGeom prst="rect">
            <a:avLst/>
          </a:prstGeom>
          <a:solidFill>
            <a:srgbClr val="f1f6fb"/>
          </a:solidFill>
          <a:ln w="9525">
            <a:solidFill>
              <a:srgbClr val="dce7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1" name="Text 39"/>
          <p:cNvSpPr/>
          <p:nvPr/>
        </p:nvSpPr>
        <p:spPr>
          <a:xfrm>
            <a:off x="6976800" y="2403720"/>
            <a:ext cx="1452600" cy="57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0f2136"/>
                </a:solidFill>
                <a:latin typeface="Calibri"/>
                <a:ea typeface="Calibri"/>
              </a:rPr>
              <a:t>★★★★★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2" name="Shape 40"/>
          <p:cNvSpPr/>
          <p:nvPr/>
        </p:nvSpPr>
        <p:spPr>
          <a:xfrm>
            <a:off x="8503920" y="2403720"/>
            <a:ext cx="1598760" cy="573480"/>
          </a:xfrm>
          <a:prstGeom prst="rect">
            <a:avLst/>
          </a:prstGeom>
          <a:solidFill>
            <a:srgbClr val="f1f6fb"/>
          </a:solidFill>
          <a:ln w="9525">
            <a:solidFill>
              <a:srgbClr val="dce7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Text 41"/>
          <p:cNvSpPr/>
          <p:nvPr/>
        </p:nvSpPr>
        <p:spPr>
          <a:xfrm>
            <a:off x="8577000" y="2403720"/>
            <a:ext cx="1452600" cy="57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0f2136"/>
                </a:solidFill>
                <a:latin typeface="Calibri"/>
                <a:ea typeface="Calibri"/>
              </a:rPr>
              <a:t>★★★★☆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Shape 42"/>
          <p:cNvSpPr/>
          <p:nvPr/>
        </p:nvSpPr>
        <p:spPr>
          <a:xfrm>
            <a:off x="10104120" y="2403720"/>
            <a:ext cx="1598760" cy="573480"/>
          </a:xfrm>
          <a:prstGeom prst="rect">
            <a:avLst/>
          </a:prstGeom>
          <a:solidFill>
            <a:srgbClr val="f1f6fb"/>
          </a:solidFill>
          <a:ln w="9525">
            <a:solidFill>
              <a:srgbClr val="dce7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5" name="Text 43"/>
          <p:cNvSpPr/>
          <p:nvPr/>
        </p:nvSpPr>
        <p:spPr>
          <a:xfrm>
            <a:off x="10177200" y="2403720"/>
            <a:ext cx="1452600" cy="57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0f2136"/>
                </a:solidFill>
                <a:latin typeface="Calibri"/>
                <a:ea typeface="Calibri"/>
              </a:rPr>
              <a:t>Cloud-native enterprise apps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6" name="Shape 44"/>
          <p:cNvSpPr/>
          <p:nvPr/>
        </p:nvSpPr>
        <p:spPr>
          <a:xfrm>
            <a:off x="502920" y="2978280"/>
            <a:ext cx="1598760" cy="573480"/>
          </a:xfrm>
          <a:prstGeom prst="rect">
            <a:avLst/>
          </a:prstGeom>
          <a:solidFill>
            <a:srgbClr val="ffffff"/>
          </a:solidFill>
          <a:ln w="9525">
            <a:solidFill>
              <a:srgbClr val="dce7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7" name="Text 45"/>
          <p:cNvSpPr/>
          <p:nvPr/>
        </p:nvSpPr>
        <p:spPr>
          <a:xfrm>
            <a:off x="576000" y="2978280"/>
            <a:ext cx="1452600" cy="57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30" spc="-1" strike="noStrike">
                <a:solidFill>
                  <a:srgbClr val="0f2136"/>
                </a:solidFill>
                <a:latin typeface="Calibri"/>
                <a:ea typeface="Calibri"/>
              </a:rPr>
              <a:t>Google Cloud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8" name="Shape 46"/>
          <p:cNvSpPr/>
          <p:nvPr/>
        </p:nvSpPr>
        <p:spPr>
          <a:xfrm>
            <a:off x="2103120" y="2978280"/>
            <a:ext cx="1598760" cy="573480"/>
          </a:xfrm>
          <a:prstGeom prst="rect">
            <a:avLst/>
          </a:prstGeom>
          <a:solidFill>
            <a:srgbClr val="ffffff"/>
          </a:solidFill>
          <a:ln w="9525">
            <a:solidFill>
              <a:srgbClr val="dce7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9" name="Text 47"/>
          <p:cNvSpPr/>
          <p:nvPr/>
        </p:nvSpPr>
        <p:spPr>
          <a:xfrm>
            <a:off x="2176200" y="2978280"/>
            <a:ext cx="1452600" cy="57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0f2136"/>
                </a:solidFill>
                <a:latin typeface="Calibri"/>
                <a:ea typeface="Calibri"/>
              </a:rPr>
              <a:t>★★★★★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0" name="Shape 48"/>
          <p:cNvSpPr/>
          <p:nvPr/>
        </p:nvSpPr>
        <p:spPr>
          <a:xfrm>
            <a:off x="3703320" y="2978280"/>
            <a:ext cx="1598760" cy="573480"/>
          </a:xfrm>
          <a:prstGeom prst="rect">
            <a:avLst/>
          </a:prstGeom>
          <a:solidFill>
            <a:srgbClr val="ffffff"/>
          </a:solidFill>
          <a:ln w="9525">
            <a:solidFill>
              <a:srgbClr val="dce7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Text 49"/>
          <p:cNvSpPr/>
          <p:nvPr/>
        </p:nvSpPr>
        <p:spPr>
          <a:xfrm>
            <a:off x="3776400" y="2978280"/>
            <a:ext cx="1452600" cy="57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0f2136"/>
                </a:solidFill>
                <a:latin typeface="Calibri"/>
                <a:ea typeface="Calibri"/>
              </a:rPr>
              <a:t>★★★★☆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2" name="Shape 50"/>
          <p:cNvSpPr/>
          <p:nvPr/>
        </p:nvSpPr>
        <p:spPr>
          <a:xfrm>
            <a:off x="5303520" y="2978280"/>
            <a:ext cx="1598760" cy="573480"/>
          </a:xfrm>
          <a:prstGeom prst="rect">
            <a:avLst/>
          </a:prstGeom>
          <a:solidFill>
            <a:srgbClr val="ffffff"/>
          </a:solidFill>
          <a:ln w="9525">
            <a:solidFill>
              <a:srgbClr val="dce7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Text 51"/>
          <p:cNvSpPr/>
          <p:nvPr/>
        </p:nvSpPr>
        <p:spPr>
          <a:xfrm>
            <a:off x="5376600" y="2978280"/>
            <a:ext cx="1452600" cy="57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0f2136"/>
                </a:solidFill>
                <a:latin typeface="Calibri"/>
                <a:ea typeface="Calibri"/>
              </a:rPr>
              <a:t>★★★★★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4" name="Shape 52"/>
          <p:cNvSpPr/>
          <p:nvPr/>
        </p:nvSpPr>
        <p:spPr>
          <a:xfrm>
            <a:off x="6903720" y="2978280"/>
            <a:ext cx="1598760" cy="573480"/>
          </a:xfrm>
          <a:prstGeom prst="rect">
            <a:avLst/>
          </a:prstGeom>
          <a:solidFill>
            <a:srgbClr val="ffffff"/>
          </a:solidFill>
          <a:ln w="9525">
            <a:solidFill>
              <a:srgbClr val="dce7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Text 53"/>
          <p:cNvSpPr/>
          <p:nvPr/>
        </p:nvSpPr>
        <p:spPr>
          <a:xfrm>
            <a:off x="6976800" y="2978280"/>
            <a:ext cx="1452600" cy="57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0f2136"/>
                </a:solidFill>
                <a:latin typeface="Calibri"/>
                <a:ea typeface="Calibri"/>
              </a:rPr>
              <a:t>★★★★☆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Shape 54"/>
          <p:cNvSpPr/>
          <p:nvPr/>
        </p:nvSpPr>
        <p:spPr>
          <a:xfrm>
            <a:off x="8503920" y="2978280"/>
            <a:ext cx="1598760" cy="573480"/>
          </a:xfrm>
          <a:prstGeom prst="rect">
            <a:avLst/>
          </a:prstGeom>
          <a:solidFill>
            <a:srgbClr val="ffffff"/>
          </a:solidFill>
          <a:ln w="9525">
            <a:solidFill>
              <a:srgbClr val="dce7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" name="Text 55"/>
          <p:cNvSpPr/>
          <p:nvPr/>
        </p:nvSpPr>
        <p:spPr>
          <a:xfrm>
            <a:off x="8577000" y="2978280"/>
            <a:ext cx="1452600" cy="57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0f2136"/>
                </a:solidFill>
                <a:latin typeface="Calibri"/>
                <a:ea typeface="Calibri"/>
              </a:rPr>
              <a:t>★★★★★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Shape 56"/>
          <p:cNvSpPr/>
          <p:nvPr/>
        </p:nvSpPr>
        <p:spPr>
          <a:xfrm>
            <a:off x="10104120" y="2978280"/>
            <a:ext cx="1598760" cy="573480"/>
          </a:xfrm>
          <a:prstGeom prst="rect">
            <a:avLst/>
          </a:prstGeom>
          <a:solidFill>
            <a:srgbClr val="ffffff"/>
          </a:solidFill>
          <a:ln w="9525">
            <a:solidFill>
              <a:srgbClr val="dce7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Text 57"/>
          <p:cNvSpPr/>
          <p:nvPr/>
        </p:nvSpPr>
        <p:spPr>
          <a:xfrm>
            <a:off x="10177200" y="2978280"/>
            <a:ext cx="1452600" cy="57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0f2136"/>
                </a:solidFill>
                <a:latin typeface="Calibri"/>
                <a:ea typeface="Calibri"/>
              </a:rPr>
              <a:t>Containerized Python apps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0" name="Shape 58"/>
          <p:cNvSpPr/>
          <p:nvPr/>
        </p:nvSpPr>
        <p:spPr>
          <a:xfrm>
            <a:off x="502920" y="3553200"/>
            <a:ext cx="1598760" cy="573480"/>
          </a:xfrm>
          <a:prstGeom prst="rect">
            <a:avLst/>
          </a:prstGeom>
          <a:solidFill>
            <a:srgbClr val="f1f6fb"/>
          </a:solidFill>
          <a:ln w="9525">
            <a:solidFill>
              <a:srgbClr val="dce7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1" name="Text 59"/>
          <p:cNvSpPr/>
          <p:nvPr/>
        </p:nvSpPr>
        <p:spPr>
          <a:xfrm>
            <a:off x="576000" y="3553200"/>
            <a:ext cx="1452600" cy="57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30" spc="-1" strike="noStrike">
                <a:solidFill>
                  <a:srgbClr val="0f2136"/>
                </a:solidFill>
                <a:latin typeface="Calibri"/>
                <a:ea typeface="Calibri"/>
              </a:rPr>
              <a:t>Vercel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2" name="Shape 60"/>
          <p:cNvSpPr/>
          <p:nvPr/>
        </p:nvSpPr>
        <p:spPr>
          <a:xfrm>
            <a:off x="2103120" y="3553200"/>
            <a:ext cx="1598760" cy="573480"/>
          </a:xfrm>
          <a:prstGeom prst="rect">
            <a:avLst/>
          </a:prstGeom>
          <a:solidFill>
            <a:srgbClr val="f1f6fb"/>
          </a:solidFill>
          <a:ln w="9525">
            <a:solidFill>
              <a:srgbClr val="dce7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3" name="Text 61"/>
          <p:cNvSpPr/>
          <p:nvPr/>
        </p:nvSpPr>
        <p:spPr>
          <a:xfrm>
            <a:off x="2176200" y="3553200"/>
            <a:ext cx="1452600" cy="57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0f2136"/>
                </a:solidFill>
                <a:latin typeface="Calibri"/>
                <a:ea typeface="Calibri"/>
              </a:rPr>
              <a:t>★★★☆☆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4" name="Shape 62"/>
          <p:cNvSpPr/>
          <p:nvPr/>
        </p:nvSpPr>
        <p:spPr>
          <a:xfrm>
            <a:off x="3703320" y="3553200"/>
            <a:ext cx="1598760" cy="573480"/>
          </a:xfrm>
          <a:prstGeom prst="rect">
            <a:avLst/>
          </a:prstGeom>
          <a:solidFill>
            <a:srgbClr val="f1f6fb"/>
          </a:solidFill>
          <a:ln w="9525">
            <a:solidFill>
              <a:srgbClr val="dce7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5" name="Text 63"/>
          <p:cNvSpPr/>
          <p:nvPr/>
        </p:nvSpPr>
        <p:spPr>
          <a:xfrm>
            <a:off x="3776400" y="3553200"/>
            <a:ext cx="1452600" cy="57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0f2136"/>
                </a:solidFill>
                <a:latin typeface="Calibri"/>
                <a:ea typeface="Calibri"/>
              </a:rPr>
              <a:t>★★★★★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6" name="Shape 64"/>
          <p:cNvSpPr/>
          <p:nvPr/>
        </p:nvSpPr>
        <p:spPr>
          <a:xfrm>
            <a:off x="5303520" y="3553200"/>
            <a:ext cx="1598760" cy="573480"/>
          </a:xfrm>
          <a:prstGeom prst="rect">
            <a:avLst/>
          </a:prstGeom>
          <a:solidFill>
            <a:srgbClr val="f1f6fb"/>
          </a:solidFill>
          <a:ln w="9525">
            <a:solidFill>
              <a:srgbClr val="dce7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7" name="Text 65"/>
          <p:cNvSpPr/>
          <p:nvPr/>
        </p:nvSpPr>
        <p:spPr>
          <a:xfrm>
            <a:off x="5376600" y="3553200"/>
            <a:ext cx="1452600" cy="57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0f2136"/>
                </a:solidFill>
                <a:latin typeface="Calibri"/>
                <a:ea typeface="Calibri"/>
              </a:rPr>
              <a:t>★★★★★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8" name="Shape 66"/>
          <p:cNvSpPr/>
          <p:nvPr/>
        </p:nvSpPr>
        <p:spPr>
          <a:xfrm>
            <a:off x="6903720" y="3553200"/>
            <a:ext cx="1598760" cy="573480"/>
          </a:xfrm>
          <a:prstGeom prst="rect">
            <a:avLst/>
          </a:prstGeom>
          <a:solidFill>
            <a:srgbClr val="f1f6fb"/>
          </a:solidFill>
          <a:ln w="9525">
            <a:solidFill>
              <a:srgbClr val="dce7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Text 67"/>
          <p:cNvSpPr/>
          <p:nvPr/>
        </p:nvSpPr>
        <p:spPr>
          <a:xfrm>
            <a:off x="6976800" y="3553200"/>
            <a:ext cx="1452600" cy="57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0f2136"/>
                </a:solidFill>
                <a:latin typeface="Calibri"/>
                <a:ea typeface="Calibri"/>
              </a:rPr>
              <a:t>★★★☆☆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Shape 68"/>
          <p:cNvSpPr/>
          <p:nvPr/>
        </p:nvSpPr>
        <p:spPr>
          <a:xfrm>
            <a:off x="8503920" y="3553200"/>
            <a:ext cx="1598760" cy="573480"/>
          </a:xfrm>
          <a:prstGeom prst="rect">
            <a:avLst/>
          </a:prstGeom>
          <a:solidFill>
            <a:srgbClr val="f1f6fb"/>
          </a:solidFill>
          <a:ln w="9525">
            <a:solidFill>
              <a:srgbClr val="dce7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1" name="Text 69"/>
          <p:cNvSpPr/>
          <p:nvPr/>
        </p:nvSpPr>
        <p:spPr>
          <a:xfrm>
            <a:off x="8577000" y="3553200"/>
            <a:ext cx="1452600" cy="57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0f2136"/>
                </a:solidFill>
                <a:latin typeface="Calibri"/>
                <a:ea typeface="Calibri"/>
              </a:rPr>
              <a:t>★★★★★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2" name="Shape 70"/>
          <p:cNvSpPr/>
          <p:nvPr/>
        </p:nvSpPr>
        <p:spPr>
          <a:xfrm>
            <a:off x="10104120" y="3553200"/>
            <a:ext cx="1598760" cy="573480"/>
          </a:xfrm>
          <a:prstGeom prst="rect">
            <a:avLst/>
          </a:prstGeom>
          <a:solidFill>
            <a:srgbClr val="f1f6fb"/>
          </a:solidFill>
          <a:ln w="9525">
            <a:solidFill>
              <a:srgbClr val="dce7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3" name="Text 71"/>
          <p:cNvSpPr/>
          <p:nvPr/>
        </p:nvSpPr>
        <p:spPr>
          <a:xfrm>
            <a:off x="10177200" y="3553200"/>
            <a:ext cx="1452600" cy="57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0f2136"/>
                </a:solidFill>
                <a:latin typeface="Calibri"/>
                <a:ea typeface="Calibri"/>
              </a:rPr>
              <a:t>Next.js frontend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4" name="Shape 72"/>
          <p:cNvSpPr/>
          <p:nvPr/>
        </p:nvSpPr>
        <p:spPr>
          <a:xfrm>
            <a:off x="502920" y="4127760"/>
            <a:ext cx="1598760" cy="573480"/>
          </a:xfrm>
          <a:prstGeom prst="rect">
            <a:avLst/>
          </a:prstGeom>
          <a:solidFill>
            <a:srgbClr val="ffffff"/>
          </a:solidFill>
          <a:ln w="9525">
            <a:solidFill>
              <a:srgbClr val="dce7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5" name="Text 73"/>
          <p:cNvSpPr/>
          <p:nvPr/>
        </p:nvSpPr>
        <p:spPr>
          <a:xfrm>
            <a:off x="576000" y="4127760"/>
            <a:ext cx="1452600" cy="57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30" spc="-1" strike="noStrike">
                <a:solidFill>
                  <a:srgbClr val="0f2136"/>
                </a:solidFill>
                <a:latin typeface="Calibri"/>
                <a:ea typeface="Calibri"/>
              </a:rPr>
              <a:t>Cloudflare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6" name="Shape 74"/>
          <p:cNvSpPr/>
          <p:nvPr/>
        </p:nvSpPr>
        <p:spPr>
          <a:xfrm>
            <a:off x="2103120" y="4127760"/>
            <a:ext cx="1598760" cy="573480"/>
          </a:xfrm>
          <a:prstGeom prst="rect">
            <a:avLst/>
          </a:prstGeom>
          <a:solidFill>
            <a:srgbClr val="ffffff"/>
          </a:solidFill>
          <a:ln w="9525">
            <a:solidFill>
              <a:srgbClr val="dce7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7" name="Text 75"/>
          <p:cNvSpPr/>
          <p:nvPr/>
        </p:nvSpPr>
        <p:spPr>
          <a:xfrm>
            <a:off x="2176200" y="4127760"/>
            <a:ext cx="1452600" cy="57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0f2136"/>
                </a:solidFill>
                <a:latin typeface="Calibri"/>
                <a:ea typeface="Calibri"/>
              </a:rPr>
              <a:t>★★★☆☆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8" name="Shape 76"/>
          <p:cNvSpPr/>
          <p:nvPr/>
        </p:nvSpPr>
        <p:spPr>
          <a:xfrm>
            <a:off x="3703320" y="4127760"/>
            <a:ext cx="1598760" cy="573480"/>
          </a:xfrm>
          <a:prstGeom prst="rect">
            <a:avLst/>
          </a:prstGeom>
          <a:solidFill>
            <a:srgbClr val="ffffff"/>
          </a:solidFill>
          <a:ln w="9525">
            <a:solidFill>
              <a:srgbClr val="dce7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9" name="Text 77"/>
          <p:cNvSpPr/>
          <p:nvPr/>
        </p:nvSpPr>
        <p:spPr>
          <a:xfrm>
            <a:off x="3776400" y="4127760"/>
            <a:ext cx="1452600" cy="57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0f2136"/>
                </a:solidFill>
                <a:latin typeface="Calibri"/>
                <a:ea typeface="Calibri"/>
              </a:rPr>
              <a:t>★★★★☆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0" name="Shape 78"/>
          <p:cNvSpPr/>
          <p:nvPr/>
        </p:nvSpPr>
        <p:spPr>
          <a:xfrm>
            <a:off x="5303520" y="4127760"/>
            <a:ext cx="1598760" cy="573480"/>
          </a:xfrm>
          <a:prstGeom prst="rect">
            <a:avLst/>
          </a:prstGeom>
          <a:solidFill>
            <a:srgbClr val="ffffff"/>
          </a:solidFill>
          <a:ln w="9525">
            <a:solidFill>
              <a:srgbClr val="dce7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1" name="Text 79"/>
          <p:cNvSpPr/>
          <p:nvPr/>
        </p:nvSpPr>
        <p:spPr>
          <a:xfrm>
            <a:off x="5376600" y="4127760"/>
            <a:ext cx="1452600" cy="57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0f2136"/>
                </a:solidFill>
                <a:latin typeface="Calibri"/>
                <a:ea typeface="Calibri"/>
              </a:rPr>
              <a:t>★★★★★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" name="Shape 80"/>
          <p:cNvSpPr/>
          <p:nvPr/>
        </p:nvSpPr>
        <p:spPr>
          <a:xfrm>
            <a:off x="6903720" y="4127760"/>
            <a:ext cx="1598760" cy="573480"/>
          </a:xfrm>
          <a:prstGeom prst="rect">
            <a:avLst/>
          </a:prstGeom>
          <a:solidFill>
            <a:srgbClr val="ffffff"/>
          </a:solidFill>
          <a:ln w="9525">
            <a:solidFill>
              <a:srgbClr val="dce7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3" name="Text 81"/>
          <p:cNvSpPr/>
          <p:nvPr/>
        </p:nvSpPr>
        <p:spPr>
          <a:xfrm>
            <a:off x="6976800" y="4127760"/>
            <a:ext cx="1452600" cy="57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0f2136"/>
                </a:solidFill>
                <a:latin typeface="Calibri"/>
                <a:ea typeface="Calibri"/>
              </a:rPr>
              <a:t>★★★★☆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Shape 82"/>
          <p:cNvSpPr/>
          <p:nvPr/>
        </p:nvSpPr>
        <p:spPr>
          <a:xfrm>
            <a:off x="8503920" y="4127760"/>
            <a:ext cx="1598760" cy="573480"/>
          </a:xfrm>
          <a:prstGeom prst="rect">
            <a:avLst/>
          </a:prstGeom>
          <a:solidFill>
            <a:srgbClr val="ffffff"/>
          </a:solidFill>
          <a:ln w="9525">
            <a:solidFill>
              <a:srgbClr val="dce7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" name="Text 83"/>
          <p:cNvSpPr/>
          <p:nvPr/>
        </p:nvSpPr>
        <p:spPr>
          <a:xfrm>
            <a:off x="8577000" y="4127760"/>
            <a:ext cx="1452600" cy="57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0f2136"/>
                </a:solidFill>
                <a:latin typeface="Calibri"/>
                <a:ea typeface="Calibri"/>
              </a:rPr>
              <a:t>★★★★☆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6" name="Shape 84"/>
          <p:cNvSpPr/>
          <p:nvPr/>
        </p:nvSpPr>
        <p:spPr>
          <a:xfrm>
            <a:off x="10104120" y="4127760"/>
            <a:ext cx="1598760" cy="573480"/>
          </a:xfrm>
          <a:prstGeom prst="rect">
            <a:avLst/>
          </a:prstGeom>
          <a:solidFill>
            <a:srgbClr val="ffffff"/>
          </a:solidFill>
          <a:ln w="9525">
            <a:solidFill>
              <a:srgbClr val="dce7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7" name="Text 85"/>
          <p:cNvSpPr/>
          <p:nvPr/>
        </p:nvSpPr>
        <p:spPr>
          <a:xfrm>
            <a:off x="10177200" y="4127760"/>
            <a:ext cx="1452600" cy="57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0f2136"/>
                </a:solidFill>
                <a:latin typeface="Calibri"/>
                <a:ea typeface="Calibri"/>
              </a:rPr>
              <a:t>Edge, CDN &amp; security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" name="Shape 86"/>
          <p:cNvSpPr/>
          <p:nvPr/>
        </p:nvSpPr>
        <p:spPr>
          <a:xfrm>
            <a:off x="502920" y="4702680"/>
            <a:ext cx="1598760" cy="573480"/>
          </a:xfrm>
          <a:prstGeom prst="rect">
            <a:avLst/>
          </a:prstGeom>
          <a:solidFill>
            <a:srgbClr val="f1f6fb"/>
          </a:solidFill>
          <a:ln w="9525">
            <a:solidFill>
              <a:srgbClr val="dce7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9" name="Text 87"/>
          <p:cNvSpPr/>
          <p:nvPr/>
        </p:nvSpPr>
        <p:spPr>
          <a:xfrm>
            <a:off x="576000" y="4702680"/>
            <a:ext cx="1452600" cy="57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30" spc="-1" strike="noStrike">
                <a:solidFill>
                  <a:srgbClr val="0f2136"/>
                </a:solidFill>
                <a:latin typeface="Calibri"/>
                <a:ea typeface="Calibri"/>
              </a:rPr>
              <a:t>Railway / Render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0" name="Shape 88"/>
          <p:cNvSpPr/>
          <p:nvPr/>
        </p:nvSpPr>
        <p:spPr>
          <a:xfrm>
            <a:off x="2103120" y="4702680"/>
            <a:ext cx="1598760" cy="573480"/>
          </a:xfrm>
          <a:prstGeom prst="rect">
            <a:avLst/>
          </a:prstGeom>
          <a:solidFill>
            <a:srgbClr val="f1f6fb"/>
          </a:solidFill>
          <a:ln w="9525">
            <a:solidFill>
              <a:srgbClr val="dce7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" name="Text 89"/>
          <p:cNvSpPr/>
          <p:nvPr/>
        </p:nvSpPr>
        <p:spPr>
          <a:xfrm>
            <a:off x="2176200" y="4702680"/>
            <a:ext cx="1452600" cy="57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0f2136"/>
                </a:solidFill>
                <a:latin typeface="Calibri"/>
                <a:ea typeface="Calibri"/>
              </a:rPr>
              <a:t>★★★★☆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2" name="Shape 90"/>
          <p:cNvSpPr/>
          <p:nvPr/>
        </p:nvSpPr>
        <p:spPr>
          <a:xfrm>
            <a:off x="3703320" y="4702680"/>
            <a:ext cx="1598760" cy="573480"/>
          </a:xfrm>
          <a:prstGeom prst="rect">
            <a:avLst/>
          </a:prstGeom>
          <a:solidFill>
            <a:srgbClr val="f1f6fb"/>
          </a:solidFill>
          <a:ln w="9525">
            <a:solidFill>
              <a:srgbClr val="dce7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3" name="Text 91"/>
          <p:cNvSpPr/>
          <p:nvPr/>
        </p:nvSpPr>
        <p:spPr>
          <a:xfrm>
            <a:off x="3776400" y="4702680"/>
            <a:ext cx="1452600" cy="57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0f2136"/>
                </a:solidFill>
                <a:latin typeface="Calibri"/>
                <a:ea typeface="Calibri"/>
              </a:rPr>
              <a:t>★★★★☆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4" name="Shape 92"/>
          <p:cNvSpPr/>
          <p:nvPr/>
        </p:nvSpPr>
        <p:spPr>
          <a:xfrm>
            <a:off x="5303520" y="4702680"/>
            <a:ext cx="1598760" cy="573480"/>
          </a:xfrm>
          <a:prstGeom prst="rect">
            <a:avLst/>
          </a:prstGeom>
          <a:solidFill>
            <a:srgbClr val="f1f6fb"/>
          </a:solidFill>
          <a:ln w="9525">
            <a:solidFill>
              <a:srgbClr val="dce7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5" name="Text 93"/>
          <p:cNvSpPr/>
          <p:nvPr/>
        </p:nvSpPr>
        <p:spPr>
          <a:xfrm>
            <a:off x="5376600" y="4702680"/>
            <a:ext cx="1452600" cy="57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0f2136"/>
                </a:solidFill>
                <a:latin typeface="Calibri"/>
                <a:ea typeface="Calibri"/>
              </a:rPr>
              <a:t>★★★★☆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Shape 94"/>
          <p:cNvSpPr/>
          <p:nvPr/>
        </p:nvSpPr>
        <p:spPr>
          <a:xfrm>
            <a:off x="6903720" y="4702680"/>
            <a:ext cx="1598760" cy="573480"/>
          </a:xfrm>
          <a:prstGeom prst="rect">
            <a:avLst/>
          </a:prstGeom>
          <a:solidFill>
            <a:srgbClr val="f1f6fb"/>
          </a:solidFill>
          <a:ln w="9525">
            <a:solidFill>
              <a:srgbClr val="dce7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7" name="Text 95"/>
          <p:cNvSpPr/>
          <p:nvPr/>
        </p:nvSpPr>
        <p:spPr>
          <a:xfrm>
            <a:off x="6976800" y="4702680"/>
            <a:ext cx="1452600" cy="57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0f2136"/>
                </a:solidFill>
                <a:latin typeface="Calibri"/>
                <a:ea typeface="Calibri"/>
              </a:rPr>
              <a:t>★★★☆☆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8" name="Shape 96"/>
          <p:cNvSpPr/>
          <p:nvPr/>
        </p:nvSpPr>
        <p:spPr>
          <a:xfrm>
            <a:off x="8503920" y="4702680"/>
            <a:ext cx="1598760" cy="573480"/>
          </a:xfrm>
          <a:prstGeom prst="rect">
            <a:avLst/>
          </a:prstGeom>
          <a:solidFill>
            <a:srgbClr val="f1f6fb"/>
          </a:solidFill>
          <a:ln w="9525">
            <a:solidFill>
              <a:srgbClr val="dce7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9" name="Text 97"/>
          <p:cNvSpPr/>
          <p:nvPr/>
        </p:nvSpPr>
        <p:spPr>
          <a:xfrm>
            <a:off x="8577000" y="4702680"/>
            <a:ext cx="1452600" cy="57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0f2136"/>
                </a:solidFill>
                <a:latin typeface="Calibri"/>
                <a:ea typeface="Calibri"/>
              </a:rPr>
              <a:t>★★★★★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0" name="Shape 98"/>
          <p:cNvSpPr/>
          <p:nvPr/>
        </p:nvSpPr>
        <p:spPr>
          <a:xfrm>
            <a:off x="10104120" y="4702680"/>
            <a:ext cx="1598760" cy="573480"/>
          </a:xfrm>
          <a:prstGeom prst="rect">
            <a:avLst/>
          </a:prstGeom>
          <a:solidFill>
            <a:srgbClr val="f1f6fb"/>
          </a:solidFill>
          <a:ln w="9525">
            <a:solidFill>
              <a:srgbClr val="dce7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1" name="Text 99"/>
          <p:cNvSpPr/>
          <p:nvPr/>
        </p:nvSpPr>
        <p:spPr>
          <a:xfrm>
            <a:off x="10177200" y="4702680"/>
            <a:ext cx="1452600" cy="57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0f2136"/>
                </a:solidFill>
                <a:latin typeface="Calibri"/>
                <a:ea typeface="Calibri"/>
              </a:rPr>
              <a:t>Startups &amp; internal tools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2" name="Shape 100"/>
          <p:cNvSpPr/>
          <p:nvPr/>
        </p:nvSpPr>
        <p:spPr>
          <a:xfrm>
            <a:off x="502920" y="5277240"/>
            <a:ext cx="1598760" cy="573480"/>
          </a:xfrm>
          <a:prstGeom prst="rect">
            <a:avLst/>
          </a:prstGeom>
          <a:solidFill>
            <a:srgbClr val="ffffff"/>
          </a:solidFill>
          <a:ln w="9525">
            <a:solidFill>
              <a:srgbClr val="dce7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3" name="Text 101"/>
          <p:cNvSpPr/>
          <p:nvPr/>
        </p:nvSpPr>
        <p:spPr>
          <a:xfrm>
            <a:off x="576000" y="5277240"/>
            <a:ext cx="1452600" cy="57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30" spc="-1" strike="noStrike">
                <a:solidFill>
                  <a:srgbClr val="0f2136"/>
                </a:solidFill>
                <a:latin typeface="Calibri"/>
                <a:ea typeface="Calibri"/>
              </a:rPr>
              <a:t>Netlify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4" name="Shape 102"/>
          <p:cNvSpPr/>
          <p:nvPr/>
        </p:nvSpPr>
        <p:spPr>
          <a:xfrm>
            <a:off x="2103120" y="5277240"/>
            <a:ext cx="1598760" cy="573480"/>
          </a:xfrm>
          <a:prstGeom prst="rect">
            <a:avLst/>
          </a:prstGeom>
          <a:solidFill>
            <a:srgbClr val="ffffff"/>
          </a:solidFill>
          <a:ln w="9525">
            <a:solidFill>
              <a:srgbClr val="dce7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5" name="Text 103"/>
          <p:cNvSpPr/>
          <p:nvPr/>
        </p:nvSpPr>
        <p:spPr>
          <a:xfrm>
            <a:off x="2176200" y="5277240"/>
            <a:ext cx="1452600" cy="57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0f2136"/>
                </a:solidFill>
                <a:latin typeface="Calibri"/>
                <a:ea typeface="Calibri"/>
              </a:rPr>
              <a:t>★★★☆☆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6" name="Shape 104"/>
          <p:cNvSpPr/>
          <p:nvPr/>
        </p:nvSpPr>
        <p:spPr>
          <a:xfrm>
            <a:off x="3703320" y="5277240"/>
            <a:ext cx="1598760" cy="573480"/>
          </a:xfrm>
          <a:prstGeom prst="rect">
            <a:avLst/>
          </a:prstGeom>
          <a:solidFill>
            <a:srgbClr val="ffffff"/>
          </a:solidFill>
          <a:ln w="9525">
            <a:solidFill>
              <a:srgbClr val="dce7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7" name="Text 105"/>
          <p:cNvSpPr/>
          <p:nvPr/>
        </p:nvSpPr>
        <p:spPr>
          <a:xfrm>
            <a:off x="3776400" y="5277240"/>
            <a:ext cx="1452600" cy="57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0f2136"/>
                </a:solidFill>
                <a:latin typeface="Calibri"/>
                <a:ea typeface="Calibri"/>
              </a:rPr>
              <a:t>★★★★☆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" name="Shape 106"/>
          <p:cNvSpPr/>
          <p:nvPr/>
        </p:nvSpPr>
        <p:spPr>
          <a:xfrm>
            <a:off x="5303520" y="5277240"/>
            <a:ext cx="1598760" cy="573480"/>
          </a:xfrm>
          <a:prstGeom prst="rect">
            <a:avLst/>
          </a:prstGeom>
          <a:solidFill>
            <a:srgbClr val="ffffff"/>
          </a:solidFill>
          <a:ln w="9525">
            <a:solidFill>
              <a:srgbClr val="dce7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9" name="Text 107"/>
          <p:cNvSpPr/>
          <p:nvPr/>
        </p:nvSpPr>
        <p:spPr>
          <a:xfrm>
            <a:off x="5376600" y="5277240"/>
            <a:ext cx="1452600" cy="57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0f2136"/>
                </a:solidFill>
                <a:latin typeface="Calibri"/>
                <a:ea typeface="Calibri"/>
              </a:rPr>
              <a:t>★★★★★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Shape 108"/>
          <p:cNvSpPr/>
          <p:nvPr/>
        </p:nvSpPr>
        <p:spPr>
          <a:xfrm>
            <a:off x="6903720" y="5277240"/>
            <a:ext cx="1598760" cy="573480"/>
          </a:xfrm>
          <a:prstGeom prst="rect">
            <a:avLst/>
          </a:prstGeom>
          <a:solidFill>
            <a:srgbClr val="ffffff"/>
          </a:solidFill>
          <a:ln w="9525">
            <a:solidFill>
              <a:srgbClr val="dce7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1" name="Text 109"/>
          <p:cNvSpPr/>
          <p:nvPr/>
        </p:nvSpPr>
        <p:spPr>
          <a:xfrm>
            <a:off x="6976800" y="5277240"/>
            <a:ext cx="1452600" cy="57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0f2136"/>
                </a:solidFill>
                <a:latin typeface="Calibri"/>
                <a:ea typeface="Calibri"/>
              </a:rPr>
              <a:t>★★★☆☆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2" name="Shape 110"/>
          <p:cNvSpPr/>
          <p:nvPr/>
        </p:nvSpPr>
        <p:spPr>
          <a:xfrm>
            <a:off x="8503920" y="5277240"/>
            <a:ext cx="1598760" cy="573480"/>
          </a:xfrm>
          <a:prstGeom prst="rect">
            <a:avLst/>
          </a:prstGeom>
          <a:solidFill>
            <a:srgbClr val="ffffff"/>
          </a:solidFill>
          <a:ln w="9525">
            <a:solidFill>
              <a:srgbClr val="dce7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3" name="Text 111"/>
          <p:cNvSpPr/>
          <p:nvPr/>
        </p:nvSpPr>
        <p:spPr>
          <a:xfrm>
            <a:off x="8577000" y="5277240"/>
            <a:ext cx="1452600" cy="57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0f2136"/>
                </a:solidFill>
                <a:latin typeface="Calibri"/>
                <a:ea typeface="Calibri"/>
              </a:rPr>
              <a:t>★★★★★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4" name="Shape 112"/>
          <p:cNvSpPr/>
          <p:nvPr/>
        </p:nvSpPr>
        <p:spPr>
          <a:xfrm>
            <a:off x="10104120" y="5277240"/>
            <a:ext cx="1598760" cy="573480"/>
          </a:xfrm>
          <a:prstGeom prst="rect">
            <a:avLst/>
          </a:prstGeom>
          <a:solidFill>
            <a:srgbClr val="ffffff"/>
          </a:solidFill>
          <a:ln w="9525">
            <a:solidFill>
              <a:srgbClr val="dce7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5" name="Text 113"/>
          <p:cNvSpPr/>
          <p:nvPr/>
        </p:nvSpPr>
        <p:spPr>
          <a:xfrm>
            <a:off x="10177200" y="5277240"/>
            <a:ext cx="1452600" cy="57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0f2136"/>
                </a:solidFill>
                <a:latin typeface="Calibri"/>
                <a:ea typeface="Calibri"/>
              </a:rPr>
              <a:t>Static &amp; frontend hosting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6" name="Text 114"/>
          <p:cNvSpPr/>
          <p:nvPr/>
        </p:nvSpPr>
        <p:spPr>
          <a:xfrm>
            <a:off x="457200" y="652896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637488"/>
                </a:solidFill>
                <a:latin typeface="Calibri"/>
                <a:ea typeface="Calibri"/>
              </a:rPr>
              <a:t>Platform Comparison Matrix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7" name="Text 115"/>
          <p:cNvSpPr/>
          <p:nvPr/>
        </p:nvSpPr>
        <p:spPr>
          <a:xfrm>
            <a:off x="11003040" y="6528960"/>
            <a:ext cx="8215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637488"/>
                </a:solidFill>
                <a:latin typeface="Calibri"/>
                <a:ea typeface="Calibri"/>
              </a:rPr>
              <a:t>10 / 25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a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Text 0"/>
          <p:cNvSpPr/>
          <p:nvPr/>
        </p:nvSpPr>
        <p:spPr>
          <a:xfrm>
            <a:off x="502920" y="320040"/>
            <a:ext cx="9142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191" strike="noStrike">
                <a:solidFill>
                  <a:srgbClr val="0ea5e9"/>
                </a:solidFill>
                <a:latin typeface="Calibri"/>
                <a:ea typeface="Calibri"/>
              </a:rPr>
              <a:t>SCORING THE FIELD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9" name="Text 1"/>
          <p:cNvSpPr/>
          <p:nvPr/>
        </p:nvSpPr>
        <p:spPr>
          <a:xfrm>
            <a:off x="502920" y="567000"/>
            <a:ext cx="11154240" cy="56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0f2136"/>
                </a:solidFill>
                <a:latin typeface="Cambria"/>
                <a:ea typeface="Cambria"/>
              </a:rPr>
              <a:t>Decision Matrix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0" name="Text 2"/>
          <p:cNvSpPr/>
          <p:nvPr/>
        </p:nvSpPr>
        <p:spPr>
          <a:xfrm>
            <a:off x="502920" y="1188720"/>
            <a:ext cx="111542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80" spc="-1" strike="noStrike">
                <a:solidFill>
                  <a:srgbClr val="33445a"/>
                </a:solidFill>
                <a:latin typeface="Calibri"/>
                <a:ea typeface="Calibri"/>
              </a:rPr>
              <a:t>Weighted score across 10 criteria (Python, Next.js, migration, scaling, scale-to-zero, cost, enterprise features, dev experience, monitoring, ecosystem) — total out of 50.</a:t>
            </a:r>
            <a:endParaRPr b="0" lang="en-US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1" name="Text 3"/>
          <p:cNvSpPr/>
          <p:nvPr/>
        </p:nvSpPr>
        <p:spPr>
          <a:xfrm>
            <a:off x="502920" y="1691640"/>
            <a:ext cx="23302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0a1e34"/>
                </a:solidFill>
                <a:latin typeface="Calibri"/>
                <a:ea typeface="Calibri"/>
              </a:rPr>
              <a:t>Microsoft Azure</a:t>
            </a:r>
            <a:endParaRPr b="0" lang="en-US" sz="11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" name="Shape 4"/>
          <p:cNvSpPr/>
          <p:nvPr/>
        </p:nvSpPr>
        <p:spPr>
          <a:xfrm>
            <a:off x="2926080" y="1746360"/>
            <a:ext cx="7405200" cy="281880"/>
          </a:xfrm>
          <a:prstGeom prst="roundRect">
            <a:avLst>
              <a:gd name="adj" fmla="val 19355"/>
            </a:avLst>
          </a:prstGeom>
          <a:solidFill>
            <a:srgbClr val="e2ec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3" name="Shape 5"/>
          <p:cNvSpPr/>
          <p:nvPr/>
        </p:nvSpPr>
        <p:spPr>
          <a:xfrm>
            <a:off x="2926080" y="1746360"/>
            <a:ext cx="6960960" cy="281880"/>
          </a:xfrm>
          <a:prstGeom prst="roundRect">
            <a:avLst>
              <a:gd name="adj" fmla="val 19355"/>
            </a:avLst>
          </a:prstGeom>
          <a:solidFill>
            <a:srgbClr val="0ea5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4" name="Text 6"/>
          <p:cNvSpPr/>
          <p:nvPr/>
        </p:nvSpPr>
        <p:spPr>
          <a:xfrm>
            <a:off x="10469880" y="1691640"/>
            <a:ext cx="9129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ea5e9"/>
                </a:solidFill>
                <a:latin typeface="Calibri"/>
                <a:ea typeface="Calibri"/>
              </a:rPr>
              <a:t>47 / 50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35" name="Image 0" descr="/home/claude/icons/trophy.png"/>
          <p:cNvPicPr/>
          <p:nvPr/>
        </p:nvPicPr>
        <p:blipFill>
          <a:blip r:embed="rId1"/>
          <a:stretch/>
        </p:blipFill>
        <p:spPr>
          <a:xfrm>
            <a:off x="2468880" y="1815120"/>
            <a:ext cx="218160" cy="218160"/>
          </a:xfrm>
          <a:prstGeom prst="rect">
            <a:avLst/>
          </a:prstGeom>
          <a:ln w="0">
            <a:noFill/>
          </a:ln>
        </p:spPr>
      </p:pic>
      <p:sp>
        <p:nvSpPr>
          <p:cNvPr id="636" name="Text 7"/>
          <p:cNvSpPr/>
          <p:nvPr/>
        </p:nvSpPr>
        <p:spPr>
          <a:xfrm>
            <a:off x="502920" y="2157840"/>
            <a:ext cx="23302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0a1e34"/>
                </a:solidFill>
                <a:latin typeface="Calibri"/>
                <a:ea typeface="Calibri"/>
              </a:rPr>
              <a:t>Amazon Web Services</a:t>
            </a:r>
            <a:endParaRPr b="0" lang="en-US" sz="11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7" name="Shape 8"/>
          <p:cNvSpPr/>
          <p:nvPr/>
        </p:nvSpPr>
        <p:spPr>
          <a:xfrm>
            <a:off x="2926080" y="2212920"/>
            <a:ext cx="7405200" cy="281880"/>
          </a:xfrm>
          <a:prstGeom prst="roundRect">
            <a:avLst>
              <a:gd name="adj" fmla="val 19355"/>
            </a:avLst>
          </a:prstGeom>
          <a:solidFill>
            <a:srgbClr val="e2ec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8" name="Shape 9"/>
          <p:cNvSpPr/>
          <p:nvPr/>
        </p:nvSpPr>
        <p:spPr>
          <a:xfrm>
            <a:off x="2926080" y="2212920"/>
            <a:ext cx="6960960" cy="281880"/>
          </a:xfrm>
          <a:prstGeom prst="roundRect">
            <a:avLst>
              <a:gd name="adj" fmla="val 19355"/>
            </a:avLst>
          </a:prstGeom>
          <a:solidFill>
            <a:srgbClr val="0ea5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9" name="Text 10"/>
          <p:cNvSpPr/>
          <p:nvPr/>
        </p:nvSpPr>
        <p:spPr>
          <a:xfrm>
            <a:off x="10469880" y="2157840"/>
            <a:ext cx="9129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ea5e9"/>
                </a:solidFill>
                <a:latin typeface="Calibri"/>
                <a:ea typeface="Calibri"/>
              </a:rPr>
              <a:t>47 / 50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40" name="Image 1" descr="/home/claude/icons/trophy.png"/>
          <p:cNvPicPr/>
          <p:nvPr/>
        </p:nvPicPr>
        <p:blipFill>
          <a:blip r:embed="rId2"/>
          <a:stretch/>
        </p:blipFill>
        <p:spPr>
          <a:xfrm>
            <a:off x="2468880" y="2281320"/>
            <a:ext cx="218160" cy="218160"/>
          </a:xfrm>
          <a:prstGeom prst="rect">
            <a:avLst/>
          </a:prstGeom>
          <a:ln w="0">
            <a:noFill/>
          </a:ln>
        </p:spPr>
      </p:pic>
      <p:sp>
        <p:nvSpPr>
          <p:cNvPr id="641" name="Text 11"/>
          <p:cNvSpPr/>
          <p:nvPr/>
        </p:nvSpPr>
        <p:spPr>
          <a:xfrm>
            <a:off x="502920" y="2624400"/>
            <a:ext cx="23302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0a1e34"/>
                </a:solidFill>
                <a:latin typeface="Calibri"/>
                <a:ea typeface="Calibri"/>
              </a:rPr>
              <a:t>Google Cloud Platform</a:t>
            </a:r>
            <a:endParaRPr b="0" lang="en-US" sz="11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2" name="Shape 12"/>
          <p:cNvSpPr/>
          <p:nvPr/>
        </p:nvSpPr>
        <p:spPr>
          <a:xfrm>
            <a:off x="2926080" y="2679120"/>
            <a:ext cx="7405200" cy="281880"/>
          </a:xfrm>
          <a:prstGeom prst="roundRect">
            <a:avLst>
              <a:gd name="adj" fmla="val 19355"/>
            </a:avLst>
          </a:prstGeom>
          <a:solidFill>
            <a:srgbClr val="e2ec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" name="Shape 13"/>
          <p:cNvSpPr/>
          <p:nvPr/>
        </p:nvSpPr>
        <p:spPr>
          <a:xfrm>
            <a:off x="2926080" y="2679120"/>
            <a:ext cx="6812640" cy="281880"/>
          </a:xfrm>
          <a:prstGeom prst="roundRect">
            <a:avLst>
              <a:gd name="adj" fmla="val 19355"/>
            </a:avLst>
          </a:prstGeom>
          <a:solidFill>
            <a:srgbClr val="0ea5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4" name="Text 14"/>
          <p:cNvSpPr/>
          <p:nvPr/>
        </p:nvSpPr>
        <p:spPr>
          <a:xfrm>
            <a:off x="10469880" y="2624400"/>
            <a:ext cx="9129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ea5e9"/>
                </a:solidFill>
                <a:latin typeface="Calibri"/>
                <a:ea typeface="Calibri"/>
              </a:rPr>
              <a:t>46 / 50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45" name="Image 2" descr="/home/claude/icons/trophy.png"/>
          <p:cNvPicPr/>
          <p:nvPr/>
        </p:nvPicPr>
        <p:blipFill>
          <a:blip r:embed="rId3"/>
          <a:stretch/>
        </p:blipFill>
        <p:spPr>
          <a:xfrm>
            <a:off x="2468880" y="2747880"/>
            <a:ext cx="218160" cy="218160"/>
          </a:xfrm>
          <a:prstGeom prst="rect">
            <a:avLst/>
          </a:prstGeom>
          <a:ln w="0">
            <a:noFill/>
          </a:ln>
        </p:spPr>
      </p:pic>
      <p:sp>
        <p:nvSpPr>
          <p:cNvPr id="646" name="Text 15"/>
          <p:cNvSpPr/>
          <p:nvPr/>
        </p:nvSpPr>
        <p:spPr>
          <a:xfrm>
            <a:off x="502920" y="3090600"/>
            <a:ext cx="23302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30" spc="-1" strike="noStrike">
                <a:solidFill>
                  <a:srgbClr val="0f2136"/>
                </a:solidFill>
                <a:latin typeface="Calibri"/>
                <a:ea typeface="Calibri"/>
              </a:rPr>
              <a:t>Vercel</a:t>
            </a:r>
            <a:endParaRPr b="0" lang="en-US" sz="11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" name="Shape 16"/>
          <p:cNvSpPr/>
          <p:nvPr/>
        </p:nvSpPr>
        <p:spPr>
          <a:xfrm>
            <a:off x="2926080" y="3145680"/>
            <a:ext cx="7405200" cy="281880"/>
          </a:xfrm>
          <a:prstGeom prst="roundRect">
            <a:avLst>
              <a:gd name="adj" fmla="val 19355"/>
            </a:avLst>
          </a:prstGeom>
          <a:solidFill>
            <a:srgbClr val="e2ec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8" name="Shape 17"/>
          <p:cNvSpPr/>
          <p:nvPr/>
        </p:nvSpPr>
        <p:spPr>
          <a:xfrm>
            <a:off x="2926080" y="3145680"/>
            <a:ext cx="6072120" cy="281880"/>
          </a:xfrm>
          <a:prstGeom prst="roundRect">
            <a:avLst>
              <a:gd name="adj" fmla="val 19355"/>
            </a:avLst>
          </a:prstGeom>
          <a:solidFill>
            <a:srgbClr val="8fb6d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9" name="Text 18"/>
          <p:cNvSpPr/>
          <p:nvPr/>
        </p:nvSpPr>
        <p:spPr>
          <a:xfrm>
            <a:off x="10469880" y="3090600"/>
            <a:ext cx="9129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637488"/>
                </a:solidFill>
                <a:latin typeface="Calibri"/>
                <a:ea typeface="Calibri"/>
              </a:rPr>
              <a:t>41 / 50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0" name="Text 19"/>
          <p:cNvSpPr/>
          <p:nvPr/>
        </p:nvSpPr>
        <p:spPr>
          <a:xfrm>
            <a:off x="502920" y="3557160"/>
            <a:ext cx="23302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30" spc="-1" strike="noStrike">
                <a:solidFill>
                  <a:srgbClr val="0f2136"/>
                </a:solidFill>
                <a:latin typeface="Calibri"/>
                <a:ea typeface="Calibri"/>
              </a:rPr>
              <a:t>Cloudflare</a:t>
            </a:r>
            <a:endParaRPr b="0" lang="en-US" sz="11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1" name="Shape 20"/>
          <p:cNvSpPr/>
          <p:nvPr/>
        </p:nvSpPr>
        <p:spPr>
          <a:xfrm>
            <a:off x="2926080" y="3611880"/>
            <a:ext cx="7405200" cy="281880"/>
          </a:xfrm>
          <a:prstGeom prst="roundRect">
            <a:avLst>
              <a:gd name="adj" fmla="val 19355"/>
            </a:avLst>
          </a:prstGeom>
          <a:solidFill>
            <a:srgbClr val="e2ec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2" name="Shape 21"/>
          <p:cNvSpPr/>
          <p:nvPr/>
        </p:nvSpPr>
        <p:spPr>
          <a:xfrm>
            <a:off x="2926080" y="3611880"/>
            <a:ext cx="6072120" cy="281880"/>
          </a:xfrm>
          <a:prstGeom prst="roundRect">
            <a:avLst>
              <a:gd name="adj" fmla="val 19355"/>
            </a:avLst>
          </a:prstGeom>
          <a:solidFill>
            <a:srgbClr val="8fb6d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3" name="Text 22"/>
          <p:cNvSpPr/>
          <p:nvPr/>
        </p:nvSpPr>
        <p:spPr>
          <a:xfrm>
            <a:off x="10469880" y="3557160"/>
            <a:ext cx="9129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637488"/>
                </a:solidFill>
                <a:latin typeface="Calibri"/>
                <a:ea typeface="Calibri"/>
              </a:rPr>
              <a:t>41 / 50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4" name="Text 23"/>
          <p:cNvSpPr/>
          <p:nvPr/>
        </p:nvSpPr>
        <p:spPr>
          <a:xfrm>
            <a:off x="502920" y="4023360"/>
            <a:ext cx="23302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30" spc="-1" strike="noStrike">
                <a:solidFill>
                  <a:srgbClr val="0f2136"/>
                </a:solidFill>
                <a:latin typeface="Calibri"/>
                <a:ea typeface="Calibri"/>
              </a:rPr>
              <a:t>Railway</a:t>
            </a:r>
            <a:endParaRPr b="0" lang="en-US" sz="11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5" name="Shape 24"/>
          <p:cNvSpPr/>
          <p:nvPr/>
        </p:nvSpPr>
        <p:spPr>
          <a:xfrm>
            <a:off x="2926080" y="4078080"/>
            <a:ext cx="7405200" cy="281880"/>
          </a:xfrm>
          <a:prstGeom prst="roundRect">
            <a:avLst>
              <a:gd name="adj" fmla="val 19355"/>
            </a:avLst>
          </a:prstGeom>
          <a:solidFill>
            <a:srgbClr val="e2ec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6" name="Shape 25"/>
          <p:cNvSpPr/>
          <p:nvPr/>
        </p:nvSpPr>
        <p:spPr>
          <a:xfrm>
            <a:off x="2926080" y="4078080"/>
            <a:ext cx="5479560" cy="281880"/>
          </a:xfrm>
          <a:prstGeom prst="roundRect">
            <a:avLst>
              <a:gd name="adj" fmla="val 19355"/>
            </a:avLst>
          </a:prstGeom>
          <a:solidFill>
            <a:srgbClr val="8fb6d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7" name="Text 26"/>
          <p:cNvSpPr/>
          <p:nvPr/>
        </p:nvSpPr>
        <p:spPr>
          <a:xfrm>
            <a:off x="10469880" y="4023360"/>
            <a:ext cx="9129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637488"/>
                </a:solidFill>
                <a:latin typeface="Calibri"/>
                <a:ea typeface="Calibri"/>
              </a:rPr>
              <a:t>37 / 50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8" name="Text 27"/>
          <p:cNvSpPr/>
          <p:nvPr/>
        </p:nvSpPr>
        <p:spPr>
          <a:xfrm>
            <a:off x="502920" y="4489560"/>
            <a:ext cx="23302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30" spc="-1" strike="noStrike">
                <a:solidFill>
                  <a:srgbClr val="0f2136"/>
                </a:solidFill>
                <a:latin typeface="Calibri"/>
                <a:ea typeface="Calibri"/>
              </a:rPr>
              <a:t>Render</a:t>
            </a:r>
            <a:endParaRPr b="0" lang="en-US" sz="11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9" name="Shape 28"/>
          <p:cNvSpPr/>
          <p:nvPr/>
        </p:nvSpPr>
        <p:spPr>
          <a:xfrm>
            <a:off x="2926080" y="4544640"/>
            <a:ext cx="7405200" cy="281880"/>
          </a:xfrm>
          <a:prstGeom prst="roundRect">
            <a:avLst>
              <a:gd name="adj" fmla="val 19355"/>
            </a:avLst>
          </a:prstGeom>
          <a:solidFill>
            <a:srgbClr val="e2ec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0" name="Shape 29"/>
          <p:cNvSpPr/>
          <p:nvPr/>
        </p:nvSpPr>
        <p:spPr>
          <a:xfrm>
            <a:off x="2926080" y="4544640"/>
            <a:ext cx="5479560" cy="281880"/>
          </a:xfrm>
          <a:prstGeom prst="roundRect">
            <a:avLst>
              <a:gd name="adj" fmla="val 19355"/>
            </a:avLst>
          </a:prstGeom>
          <a:solidFill>
            <a:srgbClr val="8fb6d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1" name="Text 30"/>
          <p:cNvSpPr/>
          <p:nvPr/>
        </p:nvSpPr>
        <p:spPr>
          <a:xfrm>
            <a:off x="10469880" y="4489560"/>
            <a:ext cx="9129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637488"/>
                </a:solidFill>
                <a:latin typeface="Calibri"/>
                <a:ea typeface="Calibri"/>
              </a:rPr>
              <a:t>37 / 50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2" name="Text 31"/>
          <p:cNvSpPr/>
          <p:nvPr/>
        </p:nvSpPr>
        <p:spPr>
          <a:xfrm>
            <a:off x="502920" y="4956120"/>
            <a:ext cx="23302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30" spc="-1" strike="noStrike">
                <a:solidFill>
                  <a:srgbClr val="0f2136"/>
                </a:solidFill>
                <a:latin typeface="Calibri"/>
                <a:ea typeface="Calibri"/>
              </a:rPr>
              <a:t>Netlify</a:t>
            </a:r>
            <a:endParaRPr b="0" lang="en-US" sz="11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3" name="Shape 32"/>
          <p:cNvSpPr/>
          <p:nvPr/>
        </p:nvSpPr>
        <p:spPr>
          <a:xfrm>
            <a:off x="2926080" y="5010840"/>
            <a:ext cx="7405200" cy="281880"/>
          </a:xfrm>
          <a:prstGeom prst="roundRect">
            <a:avLst>
              <a:gd name="adj" fmla="val 19355"/>
            </a:avLst>
          </a:prstGeom>
          <a:solidFill>
            <a:srgbClr val="e2ec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4" name="Shape 33"/>
          <p:cNvSpPr/>
          <p:nvPr/>
        </p:nvSpPr>
        <p:spPr>
          <a:xfrm>
            <a:off x="2926080" y="5010840"/>
            <a:ext cx="5479560" cy="281880"/>
          </a:xfrm>
          <a:prstGeom prst="roundRect">
            <a:avLst>
              <a:gd name="adj" fmla="val 19355"/>
            </a:avLst>
          </a:prstGeom>
          <a:solidFill>
            <a:srgbClr val="8fb6d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5" name="Text 34"/>
          <p:cNvSpPr/>
          <p:nvPr/>
        </p:nvSpPr>
        <p:spPr>
          <a:xfrm>
            <a:off x="10469880" y="4956120"/>
            <a:ext cx="9129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637488"/>
                </a:solidFill>
                <a:latin typeface="Calibri"/>
                <a:ea typeface="Calibri"/>
              </a:rPr>
              <a:t>37 / 50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6" name="Shape 35"/>
          <p:cNvSpPr/>
          <p:nvPr/>
        </p:nvSpPr>
        <p:spPr>
          <a:xfrm>
            <a:off x="502920" y="5559480"/>
            <a:ext cx="11199960" cy="931320"/>
          </a:xfrm>
          <a:prstGeom prst="roundRect">
            <a:avLst>
              <a:gd name="adj" fmla="val 8824"/>
            </a:avLst>
          </a:prstGeom>
          <a:solidFill>
            <a:srgbClr val="16324f"/>
          </a:solidFill>
          <a:ln w="12700">
            <a:solidFill>
              <a:srgbClr val="27476e"/>
            </a:solidFill>
            <a:round/>
          </a:ln>
          <a:effectLst>
            <a:outerShdw algn="bl" blurRad="88920" dir="5400000" dist="25560" kx="0" ky="0" rotWithShape="0" sx="100000" sy="100000">
              <a:srgbClr val="01050c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667" name="Image 3" descr="/home/claude/icons/star.png"/>
          <p:cNvPicPr/>
          <p:nvPr/>
        </p:nvPicPr>
        <p:blipFill>
          <a:blip r:embed="rId4"/>
          <a:stretch/>
        </p:blipFill>
        <p:spPr>
          <a:xfrm>
            <a:off x="731520" y="5788080"/>
            <a:ext cx="382680" cy="382680"/>
          </a:xfrm>
          <a:prstGeom prst="rect">
            <a:avLst/>
          </a:prstGeom>
          <a:ln w="0">
            <a:noFill/>
          </a:ln>
        </p:spPr>
      </p:pic>
      <p:sp>
        <p:nvSpPr>
          <p:cNvPr id="668" name="Text 36"/>
          <p:cNvSpPr/>
          <p:nvPr/>
        </p:nvSpPr>
        <p:spPr>
          <a:xfrm>
            <a:off x="1234440" y="5559480"/>
            <a:ext cx="1023984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e4edf7"/>
                </a:solidFill>
                <a:latin typeface="Calibri"/>
                <a:ea typeface="Calibri"/>
              </a:rPr>
              <a:t>Azure, AWS and Google Cloud emerge as the clear top tier — all three combine mature serverless ecosystems, enterprise-grade security, and strong support for containerized Python workloads.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" name="Text 37"/>
          <p:cNvSpPr/>
          <p:nvPr/>
        </p:nvSpPr>
        <p:spPr>
          <a:xfrm>
            <a:off x="457200" y="652896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637488"/>
                </a:solidFill>
                <a:latin typeface="Calibri"/>
                <a:ea typeface="Calibri"/>
              </a:rPr>
              <a:t>Decision Matrix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" name="Text 38"/>
          <p:cNvSpPr/>
          <p:nvPr/>
        </p:nvSpPr>
        <p:spPr>
          <a:xfrm>
            <a:off x="11003040" y="6528960"/>
            <a:ext cx="8215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637488"/>
                </a:solidFill>
                <a:latin typeface="Calibri"/>
                <a:ea typeface="Calibri"/>
              </a:rPr>
              <a:t>11 / 25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e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Text 0"/>
          <p:cNvSpPr/>
          <p:nvPr/>
        </p:nvSpPr>
        <p:spPr>
          <a:xfrm>
            <a:off x="502920" y="320040"/>
            <a:ext cx="9142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191" strike="noStrike">
                <a:solidFill>
                  <a:srgbClr val="7dd3fc"/>
                </a:solidFill>
                <a:latin typeface="Calibri"/>
                <a:ea typeface="Calibri"/>
              </a:rPr>
              <a:t>BLUEPRINT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2" name="Text 1"/>
          <p:cNvSpPr/>
          <p:nvPr/>
        </p:nvSpPr>
        <p:spPr>
          <a:xfrm>
            <a:off x="502920" y="567000"/>
            <a:ext cx="11154240" cy="56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ffffff"/>
                </a:solidFill>
                <a:latin typeface="Cambria"/>
                <a:ea typeface="Cambria"/>
              </a:rPr>
              <a:t>Recommended Architecture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3" name="Text 2"/>
          <p:cNvSpPr/>
          <p:nvPr/>
        </p:nvSpPr>
        <p:spPr>
          <a:xfrm>
            <a:off x="502920" y="1188720"/>
            <a:ext cx="111542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d7e4f2"/>
                </a:solidFill>
                <a:latin typeface="Calibri"/>
                <a:ea typeface="Calibri"/>
              </a:rPr>
              <a:t>A workload-driven, hybrid architecture — the right platform for each workload type, not one platform for everything.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4" name="Shape 3"/>
          <p:cNvSpPr/>
          <p:nvPr/>
        </p:nvSpPr>
        <p:spPr>
          <a:xfrm>
            <a:off x="502920" y="3035880"/>
            <a:ext cx="1415880" cy="821520"/>
          </a:xfrm>
          <a:prstGeom prst="roundRect">
            <a:avLst>
              <a:gd name="adj" fmla="val 10000"/>
            </a:avLst>
          </a:prstGeom>
          <a:solidFill>
            <a:srgbClr val="1d3e63"/>
          </a:solidFill>
          <a:ln w="12700">
            <a:solidFill>
              <a:srgbClr val="27476e"/>
            </a:solidFill>
            <a:round/>
          </a:ln>
          <a:effectLst>
            <a:outerShdw algn="bl" blurRad="88920" dir="5400000" dist="25560" kx="0" ky="0" rotWithShape="0" sx="100000" sy="100000">
              <a:srgbClr val="01050c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675" name="Image 0" descr="/home/claude/icons/users.png"/>
          <p:cNvPicPr/>
          <p:nvPr/>
        </p:nvPicPr>
        <p:blipFill>
          <a:blip r:embed="rId1"/>
          <a:stretch/>
        </p:blipFill>
        <p:spPr>
          <a:xfrm>
            <a:off x="1006200" y="3200400"/>
            <a:ext cx="364320" cy="364320"/>
          </a:xfrm>
          <a:prstGeom prst="rect">
            <a:avLst/>
          </a:prstGeom>
          <a:ln w="0">
            <a:noFill/>
          </a:ln>
        </p:spPr>
      </p:pic>
      <p:sp>
        <p:nvSpPr>
          <p:cNvPr id="676" name="Text 4"/>
          <p:cNvSpPr/>
          <p:nvPr/>
        </p:nvSpPr>
        <p:spPr>
          <a:xfrm>
            <a:off x="502920" y="3566160"/>
            <a:ext cx="141588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Users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7" name="Shape 5"/>
          <p:cNvSpPr/>
          <p:nvPr/>
        </p:nvSpPr>
        <p:spPr>
          <a:xfrm>
            <a:off x="2331720" y="3035880"/>
            <a:ext cx="1735920" cy="821520"/>
          </a:xfrm>
          <a:prstGeom prst="roundRect">
            <a:avLst>
              <a:gd name="adj" fmla="val 10000"/>
            </a:avLst>
          </a:prstGeom>
          <a:solidFill>
            <a:srgbClr val="eaf4fd"/>
          </a:solidFill>
          <a:ln w="12700">
            <a:solidFill>
              <a:srgbClr val="bfe0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78" name="Image 1" descr="/home/claude/icons/globe.png"/>
          <p:cNvPicPr/>
          <p:nvPr/>
        </p:nvPicPr>
        <p:blipFill>
          <a:blip r:embed="rId2"/>
          <a:stretch/>
        </p:blipFill>
        <p:spPr>
          <a:xfrm>
            <a:off x="3017520" y="3108960"/>
            <a:ext cx="364320" cy="364320"/>
          </a:xfrm>
          <a:prstGeom prst="rect">
            <a:avLst/>
          </a:prstGeom>
          <a:ln w="0">
            <a:noFill/>
          </a:ln>
        </p:spPr>
      </p:pic>
      <p:sp>
        <p:nvSpPr>
          <p:cNvPr id="679" name="Text 6"/>
          <p:cNvSpPr/>
          <p:nvPr/>
        </p:nvSpPr>
        <p:spPr>
          <a:xfrm>
            <a:off x="2331720" y="3456360"/>
            <a:ext cx="173592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30" spc="-1" strike="noStrike">
                <a:solidFill>
                  <a:srgbClr val="7c3aed"/>
                </a:solidFill>
                <a:latin typeface="Calibri"/>
                <a:ea typeface="Calibri"/>
              </a:rPr>
              <a:t>Cloudflare</a:t>
            </a:r>
            <a:endParaRPr b="0" lang="en-US" sz="103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0" name="Text 7"/>
          <p:cNvSpPr/>
          <p:nvPr/>
        </p:nvSpPr>
        <p:spPr>
          <a:xfrm>
            <a:off x="2331720" y="3630240"/>
            <a:ext cx="173592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637488"/>
                </a:solidFill>
                <a:latin typeface="Calibri"/>
                <a:ea typeface="Calibri"/>
              </a:rPr>
              <a:t>CDN + Edge Security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1" name="Shape 8"/>
          <p:cNvSpPr/>
          <p:nvPr/>
        </p:nvSpPr>
        <p:spPr>
          <a:xfrm>
            <a:off x="1920240" y="3447000"/>
            <a:ext cx="411480" cy="360"/>
          </a:xfrm>
          <a:prstGeom prst="line">
            <a:avLst/>
          </a:prstGeom>
          <a:ln w="25400">
            <a:solidFill>
              <a:srgbClr val="4e6e92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2" name="Shape 9"/>
          <p:cNvSpPr/>
          <p:nvPr/>
        </p:nvSpPr>
        <p:spPr>
          <a:xfrm>
            <a:off x="4069080" y="3447000"/>
            <a:ext cx="365760" cy="360"/>
          </a:xfrm>
          <a:prstGeom prst="line">
            <a:avLst/>
          </a:prstGeom>
          <a:ln w="25400">
            <a:solidFill>
              <a:srgbClr val="4e6e9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3" name="Shape 10"/>
          <p:cNvSpPr/>
          <p:nvPr/>
        </p:nvSpPr>
        <p:spPr>
          <a:xfrm>
            <a:off x="4434840" y="2212560"/>
            <a:ext cx="360" cy="2423160"/>
          </a:xfrm>
          <a:prstGeom prst="line">
            <a:avLst/>
          </a:prstGeom>
          <a:ln w="25400">
            <a:solidFill>
              <a:srgbClr val="4e6e9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4" name="Shape 11"/>
          <p:cNvSpPr/>
          <p:nvPr/>
        </p:nvSpPr>
        <p:spPr>
          <a:xfrm>
            <a:off x="4434840" y="2212560"/>
            <a:ext cx="457200" cy="360"/>
          </a:xfrm>
          <a:prstGeom prst="line">
            <a:avLst/>
          </a:prstGeom>
          <a:ln w="25400">
            <a:solidFill>
              <a:srgbClr val="4e6e92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5" name="Shape 12"/>
          <p:cNvSpPr/>
          <p:nvPr/>
        </p:nvSpPr>
        <p:spPr>
          <a:xfrm>
            <a:off x="4434840" y="3447000"/>
            <a:ext cx="457200" cy="360"/>
          </a:xfrm>
          <a:prstGeom prst="line">
            <a:avLst/>
          </a:prstGeom>
          <a:ln w="25400">
            <a:solidFill>
              <a:srgbClr val="4e6e92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6" name="Shape 13"/>
          <p:cNvSpPr/>
          <p:nvPr/>
        </p:nvSpPr>
        <p:spPr>
          <a:xfrm>
            <a:off x="4434840" y="4635720"/>
            <a:ext cx="457200" cy="360"/>
          </a:xfrm>
          <a:prstGeom prst="line">
            <a:avLst/>
          </a:prstGeom>
          <a:ln w="25400">
            <a:solidFill>
              <a:srgbClr val="4e6e92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7" name="Shape 14"/>
          <p:cNvSpPr/>
          <p:nvPr/>
        </p:nvSpPr>
        <p:spPr>
          <a:xfrm>
            <a:off x="4892040" y="1664280"/>
            <a:ext cx="2878920" cy="1095840"/>
          </a:xfrm>
          <a:prstGeom prst="roundRect">
            <a:avLst>
              <a:gd name="adj" fmla="val 7500"/>
            </a:avLst>
          </a:prstGeom>
          <a:solidFill>
            <a:srgbClr val="1d3e63"/>
          </a:solidFill>
          <a:ln w="12700">
            <a:solidFill>
              <a:srgbClr val="27476e"/>
            </a:solidFill>
            <a:round/>
          </a:ln>
          <a:effectLst>
            <a:outerShdw algn="bl" blurRad="88920" dir="5400000" dist="25560" kx="0" ky="0" rotWithShape="0" sx="100000" sy="100000">
              <a:srgbClr val="01050c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688" name="Image 2" descr="/home/claude/icons/react.png"/>
          <p:cNvPicPr/>
          <p:nvPr/>
        </p:nvPicPr>
        <p:blipFill>
          <a:blip r:embed="rId3"/>
          <a:stretch/>
        </p:blipFill>
        <p:spPr>
          <a:xfrm>
            <a:off x="5056560" y="1810440"/>
            <a:ext cx="345960" cy="345960"/>
          </a:xfrm>
          <a:prstGeom prst="rect">
            <a:avLst/>
          </a:prstGeom>
          <a:ln w="0">
            <a:noFill/>
          </a:ln>
        </p:spPr>
      </p:pic>
      <p:sp>
        <p:nvSpPr>
          <p:cNvPr id="689" name="Text 15"/>
          <p:cNvSpPr/>
          <p:nvPr/>
        </p:nvSpPr>
        <p:spPr>
          <a:xfrm>
            <a:off x="5486400" y="1783080"/>
            <a:ext cx="21474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Next.js Frontend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0" name="Text 16"/>
          <p:cNvSpPr/>
          <p:nvPr/>
        </p:nvSpPr>
        <p:spPr>
          <a:xfrm>
            <a:off x="5486400" y="2030040"/>
            <a:ext cx="214740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93aac7"/>
                </a:solidFill>
                <a:latin typeface="Calibri"/>
                <a:ea typeface="Calibri"/>
              </a:rPr>
              <a:t>Vercel / Azure Static Web Apps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1" name="Text 17"/>
          <p:cNvSpPr/>
          <p:nvPr/>
        </p:nvSpPr>
        <p:spPr>
          <a:xfrm>
            <a:off x="5056560" y="2377440"/>
            <a:ext cx="255888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7e4f2"/>
                </a:solidFill>
                <a:latin typeface="Calibri"/>
                <a:ea typeface="Calibri"/>
              </a:rPr>
              <a:t>SSR • ISR • API Routes • Edge Middleware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2" name="Shape 18"/>
          <p:cNvSpPr/>
          <p:nvPr/>
        </p:nvSpPr>
        <p:spPr>
          <a:xfrm>
            <a:off x="4892040" y="2898720"/>
            <a:ext cx="2878920" cy="1095840"/>
          </a:xfrm>
          <a:prstGeom prst="roundRect">
            <a:avLst>
              <a:gd name="adj" fmla="val 7500"/>
            </a:avLst>
          </a:prstGeom>
          <a:solidFill>
            <a:srgbClr val="16324f"/>
          </a:solidFill>
          <a:ln w="12700">
            <a:solidFill>
              <a:srgbClr val="27476e"/>
            </a:solidFill>
            <a:round/>
          </a:ln>
          <a:effectLst>
            <a:outerShdw algn="bl" blurRad="88920" dir="5400000" dist="25560" kx="0" ky="0" rotWithShape="0" sx="100000" sy="100000">
              <a:srgbClr val="01050c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693" name="Image 3" descr="/home/claude/icons/python.png"/>
          <p:cNvPicPr/>
          <p:nvPr/>
        </p:nvPicPr>
        <p:blipFill>
          <a:blip r:embed="rId4"/>
          <a:stretch/>
        </p:blipFill>
        <p:spPr>
          <a:xfrm>
            <a:off x="5056560" y="3044880"/>
            <a:ext cx="345960" cy="345960"/>
          </a:xfrm>
          <a:prstGeom prst="rect">
            <a:avLst/>
          </a:prstGeom>
          <a:ln w="0">
            <a:noFill/>
          </a:ln>
        </p:spPr>
      </p:pic>
      <p:sp>
        <p:nvSpPr>
          <p:cNvPr id="694" name="Text 19"/>
          <p:cNvSpPr/>
          <p:nvPr/>
        </p:nvSpPr>
        <p:spPr>
          <a:xfrm>
            <a:off x="5486400" y="3017520"/>
            <a:ext cx="21474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Python APIs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5" name="Text 20"/>
          <p:cNvSpPr/>
          <p:nvPr/>
        </p:nvSpPr>
        <p:spPr>
          <a:xfrm>
            <a:off x="5486400" y="3264480"/>
            <a:ext cx="214740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93aac7"/>
                </a:solidFill>
                <a:latin typeface="Calibri"/>
                <a:ea typeface="Calibri"/>
              </a:rPr>
              <a:t>FastAPI / Flask / Django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6" name="Text 21"/>
          <p:cNvSpPr/>
          <p:nvPr/>
        </p:nvSpPr>
        <p:spPr>
          <a:xfrm>
            <a:off x="5056560" y="3611880"/>
            <a:ext cx="255888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7e4f2"/>
                </a:solidFill>
                <a:latin typeface="Calibri"/>
                <a:ea typeface="Calibri"/>
              </a:rPr>
              <a:t>Azure Container Apps / Cloud Run / AWS App Runner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7" name="Shape 22"/>
          <p:cNvSpPr/>
          <p:nvPr/>
        </p:nvSpPr>
        <p:spPr>
          <a:xfrm>
            <a:off x="4892040" y="4133160"/>
            <a:ext cx="2878920" cy="1004400"/>
          </a:xfrm>
          <a:prstGeom prst="roundRect">
            <a:avLst>
              <a:gd name="adj" fmla="val 8182"/>
            </a:avLst>
          </a:prstGeom>
          <a:solidFill>
            <a:srgbClr val="1d3e63"/>
          </a:solidFill>
          <a:ln w="12700">
            <a:solidFill>
              <a:srgbClr val="27476e"/>
            </a:solidFill>
            <a:round/>
          </a:ln>
          <a:effectLst>
            <a:outerShdw algn="bl" blurRad="88920" dir="5400000" dist="25560" kx="0" ky="0" rotWithShape="0" sx="100000" sy="100000">
              <a:srgbClr val="01050c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698" name="Image 4" descr="/home/claude/icons/bolt.png"/>
          <p:cNvPicPr/>
          <p:nvPr/>
        </p:nvPicPr>
        <p:blipFill>
          <a:blip r:embed="rId5"/>
          <a:stretch/>
        </p:blipFill>
        <p:spPr>
          <a:xfrm>
            <a:off x="5056560" y="4270320"/>
            <a:ext cx="327600" cy="327600"/>
          </a:xfrm>
          <a:prstGeom prst="rect">
            <a:avLst/>
          </a:prstGeom>
          <a:ln w="0">
            <a:noFill/>
          </a:ln>
        </p:spPr>
      </p:pic>
      <p:sp>
        <p:nvSpPr>
          <p:cNvPr id="699" name="Text 23"/>
          <p:cNvSpPr/>
          <p:nvPr/>
        </p:nvSpPr>
        <p:spPr>
          <a:xfrm>
            <a:off x="5486400" y="4251960"/>
            <a:ext cx="21474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Event-Driven Jobs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0" name="Text 24"/>
          <p:cNvSpPr/>
          <p:nvPr/>
        </p:nvSpPr>
        <p:spPr>
          <a:xfrm>
            <a:off x="5056560" y="4590360"/>
            <a:ext cx="25588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93aac7"/>
                </a:solidFill>
                <a:latin typeface="Calibri"/>
                <a:ea typeface="Calibri"/>
              </a:rPr>
              <a:t>Azure Functions / Lambda / Cloud Functions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1" name="Text 25"/>
          <p:cNvSpPr/>
          <p:nvPr/>
        </p:nvSpPr>
        <p:spPr>
          <a:xfrm>
            <a:off x="8275320" y="1664280"/>
            <a:ext cx="338184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89" strike="noStrike">
                <a:solidFill>
                  <a:srgbClr val="93aac7"/>
                </a:solidFill>
                <a:latin typeface="Calibri"/>
                <a:ea typeface="Calibri"/>
              </a:rPr>
              <a:t>SUPPORTING SERVICES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2" name="Shape 26"/>
          <p:cNvSpPr/>
          <p:nvPr/>
        </p:nvSpPr>
        <p:spPr>
          <a:xfrm>
            <a:off x="8275320" y="1965960"/>
            <a:ext cx="3381840" cy="912960"/>
          </a:xfrm>
          <a:prstGeom prst="roundRect">
            <a:avLst>
              <a:gd name="adj" fmla="val 9000"/>
            </a:avLst>
          </a:prstGeom>
          <a:solidFill>
            <a:srgbClr val="16324f"/>
          </a:solidFill>
          <a:ln w="12700">
            <a:solidFill>
              <a:srgbClr val="27476e"/>
            </a:solidFill>
            <a:round/>
          </a:ln>
          <a:effectLst>
            <a:outerShdw algn="bl" blurRad="88920" dir="5400000" dist="25560" kx="0" ky="0" rotWithShape="0" sx="100000" sy="100000">
              <a:srgbClr val="01050c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703" name="Image 5" descr="/home/claude/icons/database.png"/>
          <p:cNvPicPr/>
          <p:nvPr/>
        </p:nvPicPr>
        <p:blipFill>
          <a:blip r:embed="rId6"/>
          <a:stretch/>
        </p:blipFill>
        <p:spPr>
          <a:xfrm>
            <a:off x="8439840" y="2148840"/>
            <a:ext cx="345960" cy="345960"/>
          </a:xfrm>
          <a:prstGeom prst="rect">
            <a:avLst/>
          </a:prstGeom>
          <a:ln w="0">
            <a:noFill/>
          </a:ln>
        </p:spPr>
      </p:pic>
      <p:sp>
        <p:nvSpPr>
          <p:cNvPr id="704" name="Text 27"/>
          <p:cNvSpPr/>
          <p:nvPr/>
        </p:nvSpPr>
        <p:spPr>
          <a:xfrm>
            <a:off x="8915400" y="2075760"/>
            <a:ext cx="265032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Managed Database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5" name="Text 28"/>
          <p:cNvSpPr/>
          <p:nvPr/>
        </p:nvSpPr>
        <p:spPr>
          <a:xfrm>
            <a:off x="8915400" y="2331720"/>
            <a:ext cx="26503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93aac7"/>
                </a:solidFill>
                <a:latin typeface="Calibri"/>
                <a:ea typeface="Calibri"/>
              </a:rPr>
              <a:t>Cloud SQL / RDS / Cosmos DB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6" name="Shape 29"/>
          <p:cNvSpPr/>
          <p:nvPr/>
        </p:nvSpPr>
        <p:spPr>
          <a:xfrm>
            <a:off x="8275320" y="3054240"/>
            <a:ext cx="3381840" cy="912960"/>
          </a:xfrm>
          <a:prstGeom prst="roundRect">
            <a:avLst>
              <a:gd name="adj" fmla="val 9000"/>
            </a:avLst>
          </a:prstGeom>
          <a:solidFill>
            <a:srgbClr val="1d3e63"/>
          </a:solidFill>
          <a:ln w="12700">
            <a:solidFill>
              <a:srgbClr val="27476e"/>
            </a:solidFill>
            <a:round/>
          </a:ln>
          <a:effectLst>
            <a:outerShdw algn="bl" blurRad="88920" dir="5400000" dist="25560" kx="0" ky="0" rotWithShape="0" sx="100000" sy="100000">
              <a:srgbClr val="01050c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707" name="Image 6" descr="/home/claude/icons/shield.png"/>
          <p:cNvPicPr/>
          <p:nvPr/>
        </p:nvPicPr>
        <p:blipFill>
          <a:blip r:embed="rId7"/>
          <a:stretch/>
        </p:blipFill>
        <p:spPr>
          <a:xfrm>
            <a:off x="8439840" y="3237120"/>
            <a:ext cx="345960" cy="345960"/>
          </a:xfrm>
          <a:prstGeom prst="rect">
            <a:avLst/>
          </a:prstGeom>
          <a:ln w="0">
            <a:noFill/>
          </a:ln>
        </p:spPr>
      </p:pic>
      <p:sp>
        <p:nvSpPr>
          <p:cNvPr id="708" name="Text 30"/>
          <p:cNvSpPr/>
          <p:nvPr/>
        </p:nvSpPr>
        <p:spPr>
          <a:xfrm>
            <a:off x="8915400" y="3163680"/>
            <a:ext cx="265032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Identity &amp; Secrets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9" name="Text 31"/>
          <p:cNvSpPr/>
          <p:nvPr/>
        </p:nvSpPr>
        <p:spPr>
          <a:xfrm>
            <a:off x="8915400" y="3420000"/>
            <a:ext cx="26503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93aac7"/>
                </a:solidFill>
                <a:latin typeface="Calibri"/>
                <a:ea typeface="Calibri"/>
              </a:rPr>
              <a:t>IAM, RBAC, Key Vault / Secrets Manager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0" name="Shape 32"/>
          <p:cNvSpPr/>
          <p:nvPr/>
        </p:nvSpPr>
        <p:spPr>
          <a:xfrm>
            <a:off x="8275320" y="4142160"/>
            <a:ext cx="3381840" cy="912960"/>
          </a:xfrm>
          <a:prstGeom prst="roundRect">
            <a:avLst>
              <a:gd name="adj" fmla="val 9000"/>
            </a:avLst>
          </a:prstGeom>
          <a:solidFill>
            <a:srgbClr val="16324f"/>
          </a:solidFill>
          <a:ln w="12700">
            <a:solidFill>
              <a:srgbClr val="27476e"/>
            </a:solidFill>
            <a:round/>
          </a:ln>
          <a:effectLst>
            <a:outerShdw algn="bl" blurRad="88920" dir="5400000" dist="25560" kx="0" ky="0" rotWithShape="0" sx="100000" sy="100000">
              <a:srgbClr val="01050c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711" name="Image 7" descr="/home/claude/icons/eye.png"/>
          <p:cNvPicPr/>
          <p:nvPr/>
        </p:nvPicPr>
        <p:blipFill>
          <a:blip r:embed="rId8"/>
          <a:stretch/>
        </p:blipFill>
        <p:spPr>
          <a:xfrm>
            <a:off x="8439840" y="4325040"/>
            <a:ext cx="345960" cy="345960"/>
          </a:xfrm>
          <a:prstGeom prst="rect">
            <a:avLst/>
          </a:prstGeom>
          <a:ln w="0">
            <a:noFill/>
          </a:ln>
        </p:spPr>
      </p:pic>
      <p:sp>
        <p:nvSpPr>
          <p:cNvPr id="712" name="Text 33"/>
          <p:cNvSpPr/>
          <p:nvPr/>
        </p:nvSpPr>
        <p:spPr>
          <a:xfrm>
            <a:off x="8915400" y="4251960"/>
            <a:ext cx="265032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Observability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3" name="Text 34"/>
          <p:cNvSpPr/>
          <p:nvPr/>
        </p:nvSpPr>
        <p:spPr>
          <a:xfrm>
            <a:off x="8915400" y="4507920"/>
            <a:ext cx="26503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93aac7"/>
                </a:solidFill>
                <a:latin typeface="Calibri"/>
                <a:ea typeface="Calibri"/>
              </a:rPr>
              <a:t>Cloud-native monitoring &amp; tracing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4" name="Shape 35"/>
          <p:cNvSpPr/>
          <p:nvPr/>
        </p:nvSpPr>
        <p:spPr>
          <a:xfrm>
            <a:off x="502920" y="5413320"/>
            <a:ext cx="11199960" cy="912960"/>
          </a:xfrm>
          <a:prstGeom prst="roundRect">
            <a:avLst>
              <a:gd name="adj" fmla="val 9000"/>
            </a:avLst>
          </a:prstGeom>
          <a:solidFill>
            <a:srgbClr val="eaf4fd"/>
          </a:solidFill>
          <a:ln w="12700">
            <a:solidFill>
              <a:srgbClr val="bfe0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5" name="Text 36"/>
          <p:cNvSpPr/>
          <p:nvPr/>
        </p:nvSpPr>
        <p:spPr>
          <a:xfrm>
            <a:off x="777240" y="5513760"/>
            <a:ext cx="548496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89" strike="noStrike">
                <a:solidFill>
                  <a:srgbClr val="0891b2"/>
                </a:solidFill>
                <a:latin typeface="Calibri"/>
                <a:ea typeface="Calibri"/>
              </a:rPr>
              <a:t>WHY THIS ARCHITECTURE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716" name="Image 8" descr="/home/claude/icons/check.png"/>
          <p:cNvPicPr/>
          <p:nvPr/>
        </p:nvPicPr>
        <p:blipFill>
          <a:blip r:embed="rId9"/>
          <a:stretch/>
        </p:blipFill>
        <p:spPr>
          <a:xfrm>
            <a:off x="777240" y="5779080"/>
            <a:ext cx="254520" cy="254520"/>
          </a:xfrm>
          <a:prstGeom prst="rect">
            <a:avLst/>
          </a:prstGeom>
          <a:ln w="0">
            <a:noFill/>
          </a:ln>
        </p:spPr>
      </p:pic>
      <p:sp>
        <p:nvSpPr>
          <p:cNvPr id="717" name="Text 37"/>
          <p:cNvSpPr/>
          <p:nvPr/>
        </p:nvSpPr>
        <p:spPr>
          <a:xfrm>
            <a:off x="1106280" y="5742360"/>
            <a:ext cx="2330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80" spc="-1" strike="noStrike">
                <a:solidFill>
                  <a:srgbClr val="0f2136"/>
                </a:solidFill>
                <a:latin typeface="Calibri"/>
                <a:ea typeface="Calibri"/>
              </a:rPr>
              <a:t>Right tool for each workload</a:t>
            </a:r>
            <a:endParaRPr b="0" lang="en-US" sz="98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718" name="Image 9" descr="/home/claude/icons/shield.png"/>
          <p:cNvPicPr/>
          <p:nvPr/>
        </p:nvPicPr>
        <p:blipFill>
          <a:blip r:embed="rId10"/>
          <a:stretch/>
        </p:blipFill>
        <p:spPr>
          <a:xfrm>
            <a:off x="3520440" y="5779080"/>
            <a:ext cx="254520" cy="254520"/>
          </a:xfrm>
          <a:prstGeom prst="rect">
            <a:avLst/>
          </a:prstGeom>
          <a:ln w="0">
            <a:noFill/>
          </a:ln>
        </p:spPr>
      </p:pic>
      <p:sp>
        <p:nvSpPr>
          <p:cNvPr id="719" name="Text 38"/>
          <p:cNvSpPr/>
          <p:nvPr/>
        </p:nvSpPr>
        <p:spPr>
          <a:xfrm>
            <a:off x="3849480" y="5742360"/>
            <a:ext cx="2330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80" spc="-1" strike="noStrike">
                <a:solidFill>
                  <a:srgbClr val="0f2136"/>
                </a:solidFill>
                <a:latin typeface="Calibri"/>
                <a:ea typeface="Calibri"/>
              </a:rPr>
              <a:t>No single point of failure</a:t>
            </a:r>
            <a:endParaRPr b="0" lang="en-US" sz="98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720" name="Image 10" descr="/home/claude/icons/dollar.png"/>
          <p:cNvPicPr/>
          <p:nvPr/>
        </p:nvPicPr>
        <p:blipFill>
          <a:blip r:embed="rId11"/>
          <a:stretch/>
        </p:blipFill>
        <p:spPr>
          <a:xfrm>
            <a:off x="6263640" y="5779080"/>
            <a:ext cx="254520" cy="254520"/>
          </a:xfrm>
          <a:prstGeom prst="rect">
            <a:avLst/>
          </a:prstGeom>
          <a:ln w="0">
            <a:noFill/>
          </a:ln>
        </p:spPr>
      </p:pic>
      <p:sp>
        <p:nvSpPr>
          <p:cNvPr id="721" name="Text 39"/>
          <p:cNvSpPr/>
          <p:nvPr/>
        </p:nvSpPr>
        <p:spPr>
          <a:xfrm>
            <a:off x="6592680" y="5742360"/>
            <a:ext cx="2330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80" spc="-1" strike="noStrike">
                <a:solidFill>
                  <a:srgbClr val="0f2136"/>
                </a:solidFill>
                <a:latin typeface="Calibri"/>
                <a:ea typeface="Calibri"/>
              </a:rPr>
              <a:t>Lower cost per workload type</a:t>
            </a:r>
            <a:endParaRPr b="0" lang="en-US" sz="98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722" name="Image 11" descr="/home/claude/icons/rocket.png"/>
          <p:cNvPicPr/>
          <p:nvPr/>
        </p:nvPicPr>
        <p:blipFill>
          <a:blip r:embed="rId12"/>
          <a:stretch/>
        </p:blipFill>
        <p:spPr>
          <a:xfrm>
            <a:off x="9006840" y="5779080"/>
            <a:ext cx="254520" cy="254520"/>
          </a:xfrm>
          <a:prstGeom prst="rect">
            <a:avLst/>
          </a:prstGeom>
          <a:ln w="0">
            <a:noFill/>
          </a:ln>
        </p:spPr>
      </p:pic>
      <p:sp>
        <p:nvSpPr>
          <p:cNvPr id="723" name="Text 40"/>
          <p:cNvSpPr/>
          <p:nvPr/>
        </p:nvSpPr>
        <p:spPr>
          <a:xfrm>
            <a:off x="9335880" y="5742360"/>
            <a:ext cx="2330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80" spc="-1" strike="noStrike">
                <a:solidFill>
                  <a:srgbClr val="0f2136"/>
                </a:solidFill>
                <a:latin typeface="Calibri"/>
                <a:ea typeface="Calibri"/>
              </a:rPr>
              <a:t>Faster developer onboarding</a:t>
            </a:r>
            <a:endParaRPr b="0" lang="en-US" sz="9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4" name="Text 41"/>
          <p:cNvSpPr/>
          <p:nvPr/>
        </p:nvSpPr>
        <p:spPr>
          <a:xfrm>
            <a:off x="457200" y="652896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93aac7"/>
                </a:solidFill>
                <a:latin typeface="Calibri"/>
                <a:ea typeface="Calibri"/>
              </a:rPr>
              <a:t>Recommended Architecture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5" name="Text 42"/>
          <p:cNvSpPr/>
          <p:nvPr/>
        </p:nvSpPr>
        <p:spPr>
          <a:xfrm>
            <a:off x="11003040" y="6528960"/>
            <a:ext cx="8215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93aac7"/>
                </a:solidFill>
                <a:latin typeface="Calibri"/>
                <a:ea typeface="Calibri"/>
              </a:rPr>
              <a:t>12 / 25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e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Text 0"/>
          <p:cNvSpPr/>
          <p:nvPr/>
        </p:nvSpPr>
        <p:spPr>
          <a:xfrm>
            <a:off x="502920" y="320040"/>
            <a:ext cx="9142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7" name="Text 1"/>
          <p:cNvSpPr/>
          <p:nvPr/>
        </p:nvSpPr>
        <p:spPr>
          <a:xfrm>
            <a:off x="502920" y="182880"/>
            <a:ext cx="11154240" cy="56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ffffff"/>
                </a:solidFill>
                <a:latin typeface="Cambria"/>
                <a:ea typeface="Cambria"/>
              </a:rPr>
              <a:t>Migration Strategy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8" name="Text 2"/>
          <p:cNvSpPr/>
          <p:nvPr/>
        </p:nvSpPr>
        <p:spPr>
          <a:xfrm>
            <a:off x="3886560" y="5029200"/>
            <a:ext cx="109713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d7e4f2"/>
                </a:solidFill>
                <a:latin typeface="Calibri"/>
                <a:ea typeface="Calibri"/>
              </a:rPr>
              <a:t>A phased, low-risk migration validates each step before expanding scope.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9" name="Shape 3"/>
          <p:cNvSpPr/>
          <p:nvPr/>
        </p:nvSpPr>
        <p:spPr>
          <a:xfrm>
            <a:off x="1769040" y="2743200"/>
            <a:ext cx="8668800" cy="360"/>
          </a:xfrm>
          <a:prstGeom prst="line">
            <a:avLst/>
          </a:prstGeom>
          <a:ln w="25400">
            <a:solidFill>
              <a:srgbClr val="1d3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0" name="Shape 4"/>
          <p:cNvSpPr/>
          <p:nvPr/>
        </p:nvSpPr>
        <p:spPr>
          <a:xfrm>
            <a:off x="1476720" y="2450520"/>
            <a:ext cx="583920" cy="583920"/>
          </a:xfrm>
          <a:prstGeom prst="ellipse">
            <a:avLst/>
          </a:prstGeom>
          <a:solidFill>
            <a:srgbClr val="0ea5e9"/>
          </a:solidFill>
          <a:ln w="38100">
            <a:solidFill>
              <a:srgbClr val="0a1e3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731" name="Image 0" descr="/home/claude/icons/search.png"/>
          <p:cNvPicPr/>
          <p:nvPr/>
        </p:nvPicPr>
        <p:blipFill>
          <a:blip r:embed="rId1"/>
          <a:stretch/>
        </p:blipFill>
        <p:spPr>
          <a:xfrm>
            <a:off x="1623240" y="2597040"/>
            <a:ext cx="291240" cy="291240"/>
          </a:xfrm>
          <a:prstGeom prst="rect">
            <a:avLst/>
          </a:prstGeom>
          <a:ln w="0">
            <a:noFill/>
          </a:ln>
        </p:spPr>
      </p:pic>
      <p:sp>
        <p:nvSpPr>
          <p:cNvPr id="732" name="Shape 5"/>
          <p:cNvSpPr/>
          <p:nvPr/>
        </p:nvSpPr>
        <p:spPr>
          <a:xfrm>
            <a:off x="758880" y="3246120"/>
            <a:ext cx="2019240" cy="1461600"/>
          </a:xfrm>
          <a:prstGeom prst="roundRect">
            <a:avLst>
              <a:gd name="adj" fmla="val 5625"/>
            </a:avLst>
          </a:prstGeom>
          <a:solidFill>
            <a:srgbClr val="16324f"/>
          </a:solidFill>
          <a:ln w="12700">
            <a:solidFill>
              <a:srgbClr val="27476e"/>
            </a:solidFill>
            <a:round/>
          </a:ln>
          <a:effectLst>
            <a:outerShdw algn="bl" blurRad="88920" dir="5400000" dist="25560" kx="0" ky="0" rotWithShape="0" sx="100000" sy="100000">
              <a:srgbClr val="01050c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3" name="Shape 6"/>
          <p:cNvSpPr/>
          <p:nvPr/>
        </p:nvSpPr>
        <p:spPr>
          <a:xfrm>
            <a:off x="1769040" y="3035520"/>
            <a:ext cx="360" cy="210600"/>
          </a:xfrm>
          <a:prstGeom prst="line">
            <a:avLst/>
          </a:prstGeom>
          <a:ln w="15875">
            <a:solidFill>
              <a:srgbClr val="1d3e63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4" name="Text 7"/>
          <p:cNvSpPr/>
          <p:nvPr/>
        </p:nvSpPr>
        <p:spPr>
          <a:xfrm>
            <a:off x="868680" y="3355920"/>
            <a:ext cx="1800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70" spc="89" strike="noStrike">
                <a:solidFill>
                  <a:srgbClr val="7dd3fc"/>
                </a:solidFill>
                <a:latin typeface="Calibri"/>
                <a:ea typeface="Calibri"/>
              </a:rPr>
              <a:t>PHASE 1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5" name="Text 8"/>
          <p:cNvSpPr/>
          <p:nvPr/>
        </p:nvSpPr>
        <p:spPr>
          <a:xfrm>
            <a:off x="831960" y="3557160"/>
            <a:ext cx="18730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fffff"/>
                </a:solidFill>
                <a:latin typeface="Cambria"/>
                <a:ea typeface="Cambria"/>
              </a:rPr>
              <a:t>Assessment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6" name="Text 9"/>
          <p:cNvSpPr/>
          <p:nvPr/>
        </p:nvSpPr>
        <p:spPr>
          <a:xfrm>
            <a:off x="868680" y="3904560"/>
            <a:ext cx="180000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just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93aac7"/>
                </a:solidFill>
                <a:latin typeface="Calibri"/>
                <a:ea typeface="Calibri"/>
              </a:rPr>
              <a:t>Identify suitable workloads: internal APIs, scheduled jobs, background workers, event-driven services.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7" name="Shape 10"/>
          <p:cNvSpPr/>
          <p:nvPr/>
        </p:nvSpPr>
        <p:spPr>
          <a:xfrm>
            <a:off x="3643920" y="2450520"/>
            <a:ext cx="583920" cy="583920"/>
          </a:xfrm>
          <a:prstGeom prst="ellipse">
            <a:avLst/>
          </a:prstGeom>
          <a:solidFill>
            <a:srgbClr val="0ea5e9"/>
          </a:solidFill>
          <a:ln w="38100">
            <a:solidFill>
              <a:srgbClr val="0a1e3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738" name="Image 1" descr="/home/claude/icons/box.png"/>
          <p:cNvPicPr/>
          <p:nvPr/>
        </p:nvPicPr>
        <p:blipFill>
          <a:blip r:embed="rId2"/>
          <a:stretch/>
        </p:blipFill>
        <p:spPr>
          <a:xfrm>
            <a:off x="3790080" y="2597040"/>
            <a:ext cx="291240" cy="291240"/>
          </a:xfrm>
          <a:prstGeom prst="rect">
            <a:avLst/>
          </a:prstGeom>
          <a:ln w="0">
            <a:noFill/>
          </a:ln>
        </p:spPr>
      </p:pic>
      <p:sp>
        <p:nvSpPr>
          <p:cNvPr id="739" name="Shape 11"/>
          <p:cNvSpPr/>
          <p:nvPr/>
        </p:nvSpPr>
        <p:spPr>
          <a:xfrm>
            <a:off x="2926080" y="777240"/>
            <a:ext cx="2019240" cy="1461600"/>
          </a:xfrm>
          <a:prstGeom prst="roundRect">
            <a:avLst>
              <a:gd name="adj" fmla="val 5625"/>
            </a:avLst>
          </a:prstGeom>
          <a:solidFill>
            <a:srgbClr val="1d3e63"/>
          </a:solidFill>
          <a:ln w="12700">
            <a:solidFill>
              <a:srgbClr val="27476e"/>
            </a:solidFill>
            <a:round/>
          </a:ln>
          <a:effectLst>
            <a:outerShdw algn="bl" blurRad="88920" dir="5400000" dist="25560" kx="0" ky="0" rotWithShape="0" sx="100000" sy="100000">
              <a:srgbClr val="01050c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0" name="Shape 12"/>
          <p:cNvSpPr/>
          <p:nvPr/>
        </p:nvSpPr>
        <p:spPr>
          <a:xfrm>
            <a:off x="3936240" y="2240280"/>
            <a:ext cx="360" cy="210240"/>
          </a:xfrm>
          <a:prstGeom prst="line">
            <a:avLst/>
          </a:prstGeom>
          <a:ln w="15875">
            <a:solidFill>
              <a:srgbClr val="1d3e63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1" name="Text 13"/>
          <p:cNvSpPr/>
          <p:nvPr/>
        </p:nvSpPr>
        <p:spPr>
          <a:xfrm>
            <a:off x="3035880" y="887040"/>
            <a:ext cx="1800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70" spc="89" strike="noStrike">
                <a:solidFill>
                  <a:srgbClr val="7dd3fc"/>
                </a:solidFill>
                <a:latin typeface="Calibri"/>
                <a:ea typeface="Calibri"/>
              </a:rPr>
              <a:t>PHASE 2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2" name="Text 14"/>
          <p:cNvSpPr/>
          <p:nvPr/>
        </p:nvSpPr>
        <p:spPr>
          <a:xfrm>
            <a:off x="2999160" y="1088280"/>
            <a:ext cx="18730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fffff"/>
                </a:solidFill>
                <a:latin typeface="Cambria"/>
                <a:ea typeface="Cambria"/>
              </a:rPr>
              <a:t>Containerization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3" name="Text 15"/>
          <p:cNvSpPr/>
          <p:nvPr/>
        </p:nvSpPr>
        <p:spPr>
          <a:xfrm>
            <a:off x="3035880" y="1417320"/>
            <a:ext cx="180000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just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93aac7"/>
                </a:solidFill>
                <a:latin typeface="Calibri"/>
                <a:ea typeface="Calibri"/>
              </a:rPr>
              <a:t>Move complete backend applications to serverless containers; migrate independent event-driven tasks to functions.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4" name="Shape 16"/>
          <p:cNvSpPr/>
          <p:nvPr/>
        </p:nvSpPr>
        <p:spPr>
          <a:xfrm>
            <a:off x="5811120" y="2450520"/>
            <a:ext cx="583920" cy="583920"/>
          </a:xfrm>
          <a:prstGeom prst="ellipse">
            <a:avLst/>
          </a:prstGeom>
          <a:solidFill>
            <a:srgbClr val="0ea5e9"/>
          </a:solidFill>
          <a:ln w="38100">
            <a:solidFill>
              <a:srgbClr val="0a1e3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745" name="Image 2" descr="/home/claude/icons/play.png"/>
          <p:cNvPicPr/>
          <p:nvPr/>
        </p:nvPicPr>
        <p:blipFill>
          <a:blip r:embed="rId3"/>
          <a:stretch/>
        </p:blipFill>
        <p:spPr>
          <a:xfrm>
            <a:off x="5957280" y="2597040"/>
            <a:ext cx="291240" cy="291240"/>
          </a:xfrm>
          <a:prstGeom prst="rect">
            <a:avLst/>
          </a:prstGeom>
          <a:ln w="0">
            <a:noFill/>
          </a:ln>
        </p:spPr>
      </p:pic>
      <p:sp>
        <p:nvSpPr>
          <p:cNvPr id="746" name="Shape 17"/>
          <p:cNvSpPr/>
          <p:nvPr/>
        </p:nvSpPr>
        <p:spPr>
          <a:xfrm>
            <a:off x="5093280" y="3246120"/>
            <a:ext cx="2019240" cy="1461600"/>
          </a:xfrm>
          <a:prstGeom prst="roundRect">
            <a:avLst>
              <a:gd name="adj" fmla="val 5625"/>
            </a:avLst>
          </a:prstGeom>
          <a:solidFill>
            <a:srgbClr val="16324f"/>
          </a:solidFill>
          <a:ln w="12700">
            <a:solidFill>
              <a:srgbClr val="27476e"/>
            </a:solidFill>
            <a:round/>
          </a:ln>
          <a:effectLst>
            <a:outerShdw algn="bl" blurRad="88920" dir="5400000" dist="25560" kx="0" ky="0" rotWithShape="0" sx="100000" sy="100000">
              <a:srgbClr val="01050c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7" name="Shape 18"/>
          <p:cNvSpPr/>
          <p:nvPr/>
        </p:nvSpPr>
        <p:spPr>
          <a:xfrm>
            <a:off x="6103440" y="3035520"/>
            <a:ext cx="360" cy="210600"/>
          </a:xfrm>
          <a:prstGeom prst="line">
            <a:avLst/>
          </a:prstGeom>
          <a:ln w="15875">
            <a:solidFill>
              <a:srgbClr val="1d3e63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8" name="Text 19"/>
          <p:cNvSpPr/>
          <p:nvPr/>
        </p:nvSpPr>
        <p:spPr>
          <a:xfrm>
            <a:off x="5203080" y="3355920"/>
            <a:ext cx="1800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70" spc="89" strike="noStrike">
                <a:solidFill>
                  <a:srgbClr val="7dd3fc"/>
                </a:solidFill>
                <a:latin typeface="Calibri"/>
                <a:ea typeface="Calibri"/>
              </a:rPr>
              <a:t>PHASE 3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9" name="Text 20"/>
          <p:cNvSpPr/>
          <p:nvPr/>
        </p:nvSpPr>
        <p:spPr>
          <a:xfrm>
            <a:off x="5166360" y="3557160"/>
            <a:ext cx="18730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fffff"/>
                </a:solidFill>
                <a:latin typeface="Cambria"/>
                <a:ea typeface="Cambria"/>
              </a:rPr>
              <a:t>Pilot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0" name="Text 21"/>
          <p:cNvSpPr/>
          <p:nvPr/>
        </p:nvSpPr>
        <p:spPr>
          <a:xfrm>
            <a:off x="5203080" y="3904560"/>
            <a:ext cx="180000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just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93aac7"/>
                </a:solidFill>
                <a:latin typeface="Calibri"/>
                <a:ea typeface="Calibri"/>
              </a:rPr>
              <a:t>Deploy pilot applications to a serverless container platform; monitor performance, cost, reliability and effort.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1" name="Shape 22"/>
          <p:cNvSpPr/>
          <p:nvPr/>
        </p:nvSpPr>
        <p:spPr>
          <a:xfrm>
            <a:off x="7978320" y="2450520"/>
            <a:ext cx="583920" cy="583920"/>
          </a:xfrm>
          <a:prstGeom prst="ellipse">
            <a:avLst/>
          </a:prstGeom>
          <a:solidFill>
            <a:srgbClr val="0ea5e9"/>
          </a:solidFill>
          <a:ln w="38100">
            <a:solidFill>
              <a:srgbClr val="0a1e3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752" name="Image 3" descr="/home/claude/icons/arrowup.png"/>
          <p:cNvPicPr/>
          <p:nvPr/>
        </p:nvPicPr>
        <p:blipFill>
          <a:blip r:embed="rId4"/>
          <a:stretch/>
        </p:blipFill>
        <p:spPr>
          <a:xfrm>
            <a:off x="8124480" y="2597040"/>
            <a:ext cx="291240" cy="291240"/>
          </a:xfrm>
          <a:prstGeom prst="rect">
            <a:avLst/>
          </a:prstGeom>
          <a:ln w="0">
            <a:noFill/>
          </a:ln>
        </p:spPr>
      </p:pic>
      <p:sp>
        <p:nvSpPr>
          <p:cNvPr id="753" name="Shape 23"/>
          <p:cNvSpPr/>
          <p:nvPr/>
        </p:nvSpPr>
        <p:spPr>
          <a:xfrm>
            <a:off x="7260480" y="777240"/>
            <a:ext cx="2019240" cy="1461600"/>
          </a:xfrm>
          <a:prstGeom prst="roundRect">
            <a:avLst>
              <a:gd name="adj" fmla="val 5625"/>
            </a:avLst>
          </a:prstGeom>
          <a:solidFill>
            <a:srgbClr val="1d3e63"/>
          </a:solidFill>
          <a:ln w="12700">
            <a:solidFill>
              <a:srgbClr val="27476e"/>
            </a:solidFill>
            <a:round/>
          </a:ln>
          <a:effectLst>
            <a:outerShdw algn="bl" blurRad="88920" dir="5400000" dist="25560" kx="0" ky="0" rotWithShape="0" sx="100000" sy="100000">
              <a:srgbClr val="01050c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4" name="Shape 24"/>
          <p:cNvSpPr/>
          <p:nvPr/>
        </p:nvSpPr>
        <p:spPr>
          <a:xfrm>
            <a:off x="8270640" y="2240280"/>
            <a:ext cx="360" cy="210240"/>
          </a:xfrm>
          <a:prstGeom prst="line">
            <a:avLst/>
          </a:prstGeom>
          <a:ln w="15875">
            <a:solidFill>
              <a:srgbClr val="1d3e63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5" name="Text 25"/>
          <p:cNvSpPr/>
          <p:nvPr/>
        </p:nvSpPr>
        <p:spPr>
          <a:xfrm>
            <a:off x="7369920" y="887040"/>
            <a:ext cx="1800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70" spc="89" strike="noStrike">
                <a:solidFill>
                  <a:srgbClr val="7dd3fc"/>
                </a:solidFill>
                <a:latin typeface="Calibri"/>
                <a:ea typeface="Calibri"/>
              </a:rPr>
              <a:t>PHASE 4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6" name="Text 26"/>
          <p:cNvSpPr/>
          <p:nvPr/>
        </p:nvSpPr>
        <p:spPr>
          <a:xfrm>
            <a:off x="7333560" y="1088280"/>
            <a:ext cx="18730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fffff"/>
                </a:solidFill>
                <a:latin typeface="Cambria"/>
                <a:ea typeface="Cambria"/>
              </a:rPr>
              <a:t>Production Rollout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7" name="Text 27"/>
          <p:cNvSpPr/>
          <p:nvPr/>
        </p:nvSpPr>
        <p:spPr>
          <a:xfrm>
            <a:off x="7369920" y="1435680"/>
            <a:ext cx="180000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just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93aac7"/>
                </a:solidFill>
                <a:latin typeface="Calibri"/>
                <a:ea typeface="Calibri"/>
              </a:rPr>
              <a:t>Measure performance and cost improvements, then gradually migrate additional applications.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8" name="Shape 28"/>
          <p:cNvSpPr/>
          <p:nvPr/>
        </p:nvSpPr>
        <p:spPr>
          <a:xfrm>
            <a:off x="10145160" y="2450520"/>
            <a:ext cx="583920" cy="583920"/>
          </a:xfrm>
          <a:prstGeom prst="ellipse">
            <a:avLst/>
          </a:prstGeom>
          <a:solidFill>
            <a:srgbClr val="0ea5e9"/>
          </a:solidFill>
          <a:ln w="38100">
            <a:solidFill>
              <a:srgbClr val="0a1e3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759" name="Image 4" descr="/home/claude/icons/gauge.png"/>
          <p:cNvPicPr/>
          <p:nvPr/>
        </p:nvPicPr>
        <p:blipFill>
          <a:blip r:embed="rId5"/>
          <a:stretch/>
        </p:blipFill>
        <p:spPr>
          <a:xfrm>
            <a:off x="10291680" y="2597040"/>
            <a:ext cx="291240" cy="291240"/>
          </a:xfrm>
          <a:prstGeom prst="rect">
            <a:avLst/>
          </a:prstGeom>
          <a:ln w="0">
            <a:noFill/>
          </a:ln>
        </p:spPr>
      </p:pic>
      <p:sp>
        <p:nvSpPr>
          <p:cNvPr id="760" name="Shape 29"/>
          <p:cNvSpPr/>
          <p:nvPr/>
        </p:nvSpPr>
        <p:spPr>
          <a:xfrm>
            <a:off x="9427320" y="3246120"/>
            <a:ext cx="2019240" cy="1461600"/>
          </a:xfrm>
          <a:prstGeom prst="roundRect">
            <a:avLst>
              <a:gd name="adj" fmla="val 5625"/>
            </a:avLst>
          </a:prstGeom>
          <a:solidFill>
            <a:srgbClr val="16324f"/>
          </a:solidFill>
          <a:ln w="12700">
            <a:solidFill>
              <a:srgbClr val="27476e"/>
            </a:solidFill>
            <a:round/>
          </a:ln>
          <a:effectLst>
            <a:outerShdw algn="bl" blurRad="88920" dir="5400000" dist="25560" kx="0" ky="0" rotWithShape="0" sx="100000" sy="100000">
              <a:srgbClr val="01050c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1" name="Shape 30"/>
          <p:cNvSpPr/>
          <p:nvPr/>
        </p:nvSpPr>
        <p:spPr>
          <a:xfrm>
            <a:off x="10437840" y="3035520"/>
            <a:ext cx="360" cy="210600"/>
          </a:xfrm>
          <a:prstGeom prst="line">
            <a:avLst/>
          </a:prstGeom>
          <a:ln w="15875">
            <a:solidFill>
              <a:srgbClr val="1d3e63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2" name="Text 31"/>
          <p:cNvSpPr/>
          <p:nvPr/>
        </p:nvSpPr>
        <p:spPr>
          <a:xfrm>
            <a:off x="9537120" y="3355920"/>
            <a:ext cx="1800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70" spc="89" strike="noStrike">
                <a:solidFill>
                  <a:srgbClr val="7dd3fc"/>
                </a:solidFill>
                <a:latin typeface="Calibri"/>
                <a:ea typeface="Calibri"/>
              </a:rPr>
              <a:t>PHASE 5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3" name="Text 32"/>
          <p:cNvSpPr/>
          <p:nvPr/>
        </p:nvSpPr>
        <p:spPr>
          <a:xfrm>
            <a:off x="9500760" y="3557160"/>
            <a:ext cx="18730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fffff"/>
                </a:solidFill>
                <a:latin typeface="Cambria"/>
                <a:ea typeface="Cambria"/>
              </a:rPr>
              <a:t>Optimization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4" name="Text 33"/>
          <p:cNvSpPr/>
          <p:nvPr/>
        </p:nvSpPr>
        <p:spPr>
          <a:xfrm>
            <a:off x="9537120" y="3886200"/>
            <a:ext cx="180000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just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93aac7"/>
                </a:solidFill>
                <a:latin typeface="Calibri"/>
                <a:ea typeface="Calibri"/>
              </a:rPr>
              <a:t>Modernize incrementally rather than a full cutover; retain traditional infra only for long-running or legacy workloads.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5" name="Shape 34"/>
          <p:cNvSpPr/>
          <p:nvPr/>
        </p:nvSpPr>
        <p:spPr>
          <a:xfrm>
            <a:off x="502920" y="5440680"/>
            <a:ext cx="11199960" cy="912960"/>
          </a:xfrm>
          <a:prstGeom prst="roundRect">
            <a:avLst>
              <a:gd name="adj" fmla="val 9000"/>
            </a:avLst>
          </a:prstGeom>
          <a:solidFill>
            <a:srgbClr val="eaf4fd"/>
          </a:solidFill>
          <a:ln w="12700">
            <a:solidFill>
              <a:srgbClr val="bfe0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6" name="Text 35"/>
          <p:cNvSpPr/>
          <p:nvPr/>
        </p:nvSpPr>
        <p:spPr>
          <a:xfrm>
            <a:off x="777240" y="5541120"/>
            <a:ext cx="548496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89" strike="noStrike">
                <a:solidFill>
                  <a:srgbClr val="0891b2"/>
                </a:solidFill>
                <a:latin typeface="Calibri"/>
                <a:ea typeface="Calibri"/>
              </a:rPr>
              <a:t>WHY A PHASED APPROACH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767" name="Image 5" descr="/home/claude/icons/shield.png"/>
          <p:cNvPicPr/>
          <p:nvPr/>
        </p:nvPicPr>
        <p:blipFill>
          <a:blip r:embed="rId6"/>
          <a:stretch/>
        </p:blipFill>
        <p:spPr>
          <a:xfrm>
            <a:off x="777240" y="5806440"/>
            <a:ext cx="254520" cy="254520"/>
          </a:xfrm>
          <a:prstGeom prst="rect">
            <a:avLst/>
          </a:prstGeom>
          <a:ln w="0">
            <a:noFill/>
          </a:ln>
        </p:spPr>
      </p:pic>
      <p:sp>
        <p:nvSpPr>
          <p:cNvPr id="768" name="Text 36"/>
          <p:cNvSpPr/>
          <p:nvPr/>
        </p:nvSpPr>
        <p:spPr>
          <a:xfrm>
            <a:off x="1106280" y="5769720"/>
            <a:ext cx="2330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80" spc="-1" strike="noStrike">
                <a:solidFill>
                  <a:srgbClr val="0f2136"/>
                </a:solidFill>
                <a:latin typeface="Calibri"/>
                <a:ea typeface="Calibri"/>
              </a:rPr>
              <a:t>Minimizes migration risk</a:t>
            </a:r>
            <a:endParaRPr b="0" lang="en-US" sz="98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769" name="Image 6" descr="/home/claude/icons/check.png"/>
          <p:cNvPicPr/>
          <p:nvPr/>
        </p:nvPicPr>
        <p:blipFill>
          <a:blip r:embed="rId7"/>
          <a:stretch/>
        </p:blipFill>
        <p:spPr>
          <a:xfrm>
            <a:off x="3520440" y="5806440"/>
            <a:ext cx="254520" cy="254520"/>
          </a:xfrm>
          <a:prstGeom prst="rect">
            <a:avLst/>
          </a:prstGeom>
          <a:ln w="0">
            <a:noFill/>
          </a:ln>
        </p:spPr>
      </p:pic>
      <p:sp>
        <p:nvSpPr>
          <p:cNvPr id="770" name="Text 37"/>
          <p:cNvSpPr/>
          <p:nvPr/>
        </p:nvSpPr>
        <p:spPr>
          <a:xfrm>
            <a:off x="3849480" y="5769720"/>
            <a:ext cx="2330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80" spc="-1" strike="noStrike">
                <a:solidFill>
                  <a:srgbClr val="0f2136"/>
                </a:solidFill>
                <a:latin typeface="Calibri"/>
                <a:ea typeface="Calibri"/>
              </a:rPr>
              <a:t>Validates before scaling</a:t>
            </a:r>
            <a:endParaRPr b="0" lang="en-US" sz="98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771" name="Image 7" descr="/home/claude/icons/gauge.png"/>
          <p:cNvPicPr/>
          <p:nvPr/>
        </p:nvPicPr>
        <p:blipFill>
          <a:blip r:embed="rId8"/>
          <a:stretch/>
        </p:blipFill>
        <p:spPr>
          <a:xfrm>
            <a:off x="6263640" y="5806440"/>
            <a:ext cx="254520" cy="254520"/>
          </a:xfrm>
          <a:prstGeom prst="rect">
            <a:avLst/>
          </a:prstGeom>
          <a:ln w="0">
            <a:noFill/>
          </a:ln>
        </p:spPr>
      </p:pic>
      <p:sp>
        <p:nvSpPr>
          <p:cNvPr id="772" name="Text 38"/>
          <p:cNvSpPr/>
          <p:nvPr/>
        </p:nvSpPr>
        <p:spPr>
          <a:xfrm>
            <a:off x="6592680" y="5769720"/>
            <a:ext cx="2330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80" spc="-1" strike="noStrike">
                <a:solidFill>
                  <a:srgbClr val="0f2136"/>
                </a:solidFill>
                <a:latin typeface="Calibri"/>
                <a:ea typeface="Calibri"/>
              </a:rPr>
              <a:t>Confirms cost &amp; performance gains</a:t>
            </a:r>
            <a:endParaRPr b="0" lang="en-US" sz="98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773" name="Image 8" descr="/home/claude/icons/rocket.png"/>
          <p:cNvPicPr/>
          <p:nvPr/>
        </p:nvPicPr>
        <p:blipFill>
          <a:blip r:embed="rId9"/>
          <a:stretch/>
        </p:blipFill>
        <p:spPr>
          <a:xfrm>
            <a:off x="9006840" y="5806440"/>
            <a:ext cx="254520" cy="254520"/>
          </a:xfrm>
          <a:prstGeom prst="rect">
            <a:avLst/>
          </a:prstGeom>
          <a:ln w="0">
            <a:noFill/>
          </a:ln>
        </p:spPr>
      </p:pic>
      <p:sp>
        <p:nvSpPr>
          <p:cNvPr id="774" name="Text 39"/>
          <p:cNvSpPr/>
          <p:nvPr/>
        </p:nvSpPr>
        <p:spPr>
          <a:xfrm>
            <a:off x="9335880" y="5769720"/>
            <a:ext cx="2330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80" spc="-1" strike="noStrike">
                <a:solidFill>
                  <a:srgbClr val="0f2136"/>
                </a:solidFill>
                <a:latin typeface="Calibri"/>
                <a:ea typeface="Calibri"/>
              </a:rPr>
              <a:t>Protects business continuity</a:t>
            </a:r>
            <a:endParaRPr b="0" lang="en-US" sz="9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5" name="Text 40"/>
          <p:cNvSpPr/>
          <p:nvPr/>
        </p:nvSpPr>
        <p:spPr>
          <a:xfrm>
            <a:off x="457200" y="652896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93aac7"/>
                </a:solidFill>
                <a:latin typeface="Calibri"/>
                <a:ea typeface="Calibri"/>
              </a:rPr>
              <a:t>Migration Strategy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6" name="Text 41"/>
          <p:cNvSpPr/>
          <p:nvPr/>
        </p:nvSpPr>
        <p:spPr>
          <a:xfrm>
            <a:off x="11003040" y="6528960"/>
            <a:ext cx="8215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93aac7"/>
                </a:solidFill>
                <a:latin typeface="Calibri"/>
                <a:ea typeface="Calibri"/>
              </a:rPr>
              <a:t>13 / 25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e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Shape 0"/>
          <p:cNvSpPr/>
          <p:nvPr/>
        </p:nvSpPr>
        <p:spPr>
          <a:xfrm>
            <a:off x="9326880" y="-2286000"/>
            <a:ext cx="5942160" cy="5942160"/>
          </a:xfrm>
          <a:prstGeom prst="ellipse">
            <a:avLst/>
          </a:prstGeom>
          <a:solidFill>
            <a:srgbClr val="16324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8" name="Text 1"/>
          <p:cNvSpPr/>
          <p:nvPr/>
        </p:nvSpPr>
        <p:spPr>
          <a:xfrm>
            <a:off x="502920" y="36576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191" strike="noStrike">
                <a:solidFill>
                  <a:srgbClr val="7dd3fc"/>
                </a:solidFill>
                <a:latin typeface="Calibri"/>
                <a:ea typeface="Calibri"/>
              </a:rPr>
              <a:t>CONCLUSION &amp; NEXT STEPS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9" name="Text 2"/>
          <p:cNvSpPr/>
          <p:nvPr/>
        </p:nvSpPr>
        <p:spPr>
          <a:xfrm>
            <a:off x="502920" y="621720"/>
            <a:ext cx="914256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ffff"/>
                </a:solidFill>
                <a:latin typeface="Cambria"/>
                <a:ea typeface="Cambria"/>
              </a:rPr>
              <a:t>Final Recommendations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0" name="Shape 3"/>
          <p:cNvSpPr/>
          <p:nvPr/>
        </p:nvSpPr>
        <p:spPr>
          <a:xfrm>
            <a:off x="502920" y="1371600"/>
            <a:ext cx="3610440" cy="1553040"/>
          </a:xfrm>
          <a:prstGeom prst="roundRect">
            <a:avLst>
              <a:gd name="adj" fmla="val 5294"/>
            </a:avLst>
          </a:prstGeom>
          <a:solidFill>
            <a:srgbClr val="1d3e63"/>
          </a:solidFill>
          <a:ln w="12700">
            <a:solidFill>
              <a:srgbClr val="27476e"/>
            </a:solidFill>
            <a:round/>
          </a:ln>
          <a:effectLst>
            <a:outerShdw algn="bl" blurRad="88920" dir="5400000" dist="25560" kx="0" ky="0" rotWithShape="0" sx="100000" sy="100000">
              <a:srgbClr val="01050c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781" name="Image 0" descr="/home/claude/icons/microsoft.png"/>
          <p:cNvPicPr/>
          <p:nvPr/>
        </p:nvPicPr>
        <p:blipFill>
          <a:blip r:embed="rId1"/>
          <a:stretch/>
        </p:blipFill>
        <p:spPr>
          <a:xfrm>
            <a:off x="731520" y="1554480"/>
            <a:ext cx="401040" cy="401040"/>
          </a:xfrm>
          <a:prstGeom prst="rect">
            <a:avLst/>
          </a:prstGeom>
          <a:ln w="0">
            <a:noFill/>
          </a:ln>
        </p:spPr>
      </p:pic>
      <p:sp>
        <p:nvSpPr>
          <p:cNvPr id="782" name="Text 4"/>
          <p:cNvSpPr/>
          <p:nvPr/>
        </p:nvSpPr>
        <p:spPr>
          <a:xfrm>
            <a:off x="1280160" y="1536120"/>
            <a:ext cx="274176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41" strike="noStrike">
                <a:solidFill>
                  <a:srgbClr val="10b981"/>
                </a:solidFill>
                <a:latin typeface="Calibri"/>
                <a:ea typeface="Calibri"/>
              </a:rPr>
              <a:t>ENTERPRISE PLATFORM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3" name="Text 5"/>
          <p:cNvSpPr/>
          <p:nvPr/>
        </p:nvSpPr>
        <p:spPr>
          <a:xfrm>
            <a:off x="1280160" y="1774080"/>
            <a:ext cx="27417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fffff"/>
                </a:solidFill>
                <a:latin typeface="Calibri"/>
                <a:ea typeface="Calibri"/>
              </a:rPr>
              <a:t>Azure, AWS or Google Cloud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4" name="Text 6"/>
          <p:cNvSpPr/>
          <p:nvPr/>
        </p:nvSpPr>
        <p:spPr>
          <a:xfrm>
            <a:off x="731520" y="2377440"/>
            <a:ext cx="31989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9fb6d4"/>
                </a:solidFill>
                <a:latin typeface="Calibri"/>
                <a:ea typeface="Calibri"/>
              </a:rPr>
              <a:t>Best fit for our current &amp; near-term workloads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5" name="Shape 7"/>
          <p:cNvSpPr/>
          <p:nvPr/>
        </p:nvSpPr>
        <p:spPr>
          <a:xfrm>
            <a:off x="4279320" y="1371600"/>
            <a:ext cx="3610440" cy="1553040"/>
          </a:xfrm>
          <a:prstGeom prst="roundRect">
            <a:avLst>
              <a:gd name="adj" fmla="val 5294"/>
            </a:avLst>
          </a:prstGeom>
          <a:solidFill>
            <a:srgbClr val="1d3e63"/>
          </a:solidFill>
          <a:ln w="12700">
            <a:solidFill>
              <a:srgbClr val="27476e"/>
            </a:solidFill>
            <a:round/>
          </a:ln>
          <a:effectLst>
            <a:outerShdw algn="bl" blurRad="88920" dir="5400000" dist="25560" kx="0" ky="0" rotWithShape="0" sx="100000" sy="100000">
              <a:srgbClr val="01050c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786" name="Image 1" descr="/home/claude/icons/react.png"/>
          <p:cNvPicPr/>
          <p:nvPr/>
        </p:nvPicPr>
        <p:blipFill>
          <a:blip r:embed="rId2"/>
          <a:stretch/>
        </p:blipFill>
        <p:spPr>
          <a:xfrm>
            <a:off x="4507920" y="1554480"/>
            <a:ext cx="401040" cy="401040"/>
          </a:xfrm>
          <a:prstGeom prst="rect">
            <a:avLst/>
          </a:prstGeom>
          <a:ln w="0">
            <a:noFill/>
          </a:ln>
        </p:spPr>
      </p:pic>
      <p:sp>
        <p:nvSpPr>
          <p:cNvPr id="787" name="Text 8"/>
          <p:cNvSpPr/>
          <p:nvPr/>
        </p:nvSpPr>
        <p:spPr>
          <a:xfrm>
            <a:off x="5056560" y="1536120"/>
            <a:ext cx="274176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41" strike="noStrike">
                <a:solidFill>
                  <a:srgbClr val="0ea5e9"/>
                </a:solidFill>
                <a:latin typeface="Calibri"/>
                <a:ea typeface="Calibri"/>
              </a:rPr>
              <a:t>FRONTEND PLATFORM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8" name="Text 9"/>
          <p:cNvSpPr/>
          <p:nvPr/>
        </p:nvSpPr>
        <p:spPr>
          <a:xfrm>
            <a:off x="5056560" y="1774080"/>
            <a:ext cx="27417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fffff"/>
                </a:solidFill>
                <a:latin typeface="Calibri"/>
                <a:ea typeface="Calibri"/>
              </a:rPr>
              <a:t>Vercel for Next.js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9" name="Text 10"/>
          <p:cNvSpPr/>
          <p:nvPr/>
        </p:nvSpPr>
        <p:spPr>
          <a:xfrm>
            <a:off x="4507920" y="2377440"/>
            <a:ext cx="31989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9fb6d4"/>
                </a:solidFill>
                <a:latin typeface="Calibri"/>
                <a:ea typeface="Calibri"/>
              </a:rPr>
              <a:t>Best fit for our current &amp; near-term workloads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0" name="Shape 11"/>
          <p:cNvSpPr/>
          <p:nvPr/>
        </p:nvSpPr>
        <p:spPr>
          <a:xfrm>
            <a:off x="8055720" y="1371600"/>
            <a:ext cx="3610440" cy="1553040"/>
          </a:xfrm>
          <a:prstGeom prst="roundRect">
            <a:avLst>
              <a:gd name="adj" fmla="val 5294"/>
            </a:avLst>
          </a:prstGeom>
          <a:solidFill>
            <a:srgbClr val="1d3e63"/>
          </a:solidFill>
          <a:ln w="12700">
            <a:solidFill>
              <a:srgbClr val="27476e"/>
            </a:solidFill>
            <a:round/>
          </a:ln>
          <a:effectLst>
            <a:outerShdw algn="bl" blurRad="88920" dir="5400000" dist="25560" kx="0" ky="0" rotWithShape="0" sx="100000" sy="100000">
              <a:srgbClr val="01050c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791" name="Image 2" descr="/home/claude/icons/globe.png"/>
          <p:cNvPicPr/>
          <p:nvPr/>
        </p:nvPicPr>
        <p:blipFill>
          <a:blip r:embed="rId3"/>
          <a:stretch/>
        </p:blipFill>
        <p:spPr>
          <a:xfrm>
            <a:off x="8284320" y="1554480"/>
            <a:ext cx="401040" cy="401040"/>
          </a:xfrm>
          <a:prstGeom prst="rect">
            <a:avLst/>
          </a:prstGeom>
          <a:ln w="0">
            <a:noFill/>
          </a:ln>
        </p:spPr>
      </p:pic>
      <p:sp>
        <p:nvSpPr>
          <p:cNvPr id="792" name="Text 12"/>
          <p:cNvSpPr/>
          <p:nvPr/>
        </p:nvSpPr>
        <p:spPr>
          <a:xfrm>
            <a:off x="8832960" y="1536120"/>
            <a:ext cx="274176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41" strike="noStrike">
                <a:solidFill>
                  <a:srgbClr val="7c3aed"/>
                </a:solidFill>
                <a:latin typeface="Calibri"/>
                <a:ea typeface="Calibri"/>
              </a:rPr>
              <a:t>COMPLEMENTARY LAYER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3" name="Text 13"/>
          <p:cNvSpPr/>
          <p:nvPr/>
        </p:nvSpPr>
        <p:spPr>
          <a:xfrm>
            <a:off x="8832960" y="1774080"/>
            <a:ext cx="27417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fffff"/>
                </a:solidFill>
                <a:latin typeface="Calibri"/>
                <a:ea typeface="Calibri"/>
              </a:rPr>
              <a:t>Cloudflare for CDN &amp; security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4" name="Text 14"/>
          <p:cNvSpPr/>
          <p:nvPr/>
        </p:nvSpPr>
        <p:spPr>
          <a:xfrm>
            <a:off x="8284320" y="2377440"/>
            <a:ext cx="31989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9fb6d4"/>
                </a:solidFill>
                <a:latin typeface="Calibri"/>
                <a:ea typeface="Calibri"/>
              </a:rPr>
              <a:t>Best fit for our current &amp; near-term workloads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5" name="Text 15"/>
          <p:cNvSpPr/>
          <p:nvPr/>
        </p:nvSpPr>
        <p:spPr>
          <a:xfrm>
            <a:off x="502920" y="3200400"/>
            <a:ext cx="54849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140" strike="noStrike">
                <a:solidFill>
                  <a:srgbClr val="7dd3fc"/>
                </a:solidFill>
                <a:latin typeface="Calibri"/>
                <a:ea typeface="Calibri"/>
              </a:rPr>
              <a:t>EXPECTED BENEFITS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796" name="Image 3" descr="/home/claude/icons/check.png"/>
          <p:cNvPicPr/>
          <p:nvPr/>
        </p:nvPicPr>
        <p:blipFill>
          <a:blip r:embed="rId4"/>
          <a:stretch/>
        </p:blipFill>
        <p:spPr>
          <a:xfrm>
            <a:off x="502920" y="3538800"/>
            <a:ext cx="218160" cy="218160"/>
          </a:xfrm>
          <a:prstGeom prst="rect">
            <a:avLst/>
          </a:prstGeom>
          <a:ln w="0">
            <a:noFill/>
          </a:ln>
        </p:spPr>
      </p:pic>
      <p:sp>
        <p:nvSpPr>
          <p:cNvPr id="797" name="Text 16"/>
          <p:cNvSpPr/>
          <p:nvPr/>
        </p:nvSpPr>
        <p:spPr>
          <a:xfrm>
            <a:off x="813960" y="3520440"/>
            <a:ext cx="32904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e4edf7"/>
                </a:solidFill>
                <a:latin typeface="Calibri"/>
                <a:ea typeface="Calibri"/>
              </a:rPr>
              <a:t>Lower infrastructure cost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798" name="Image 4" descr="/home/claude/icons/check.png"/>
          <p:cNvPicPr/>
          <p:nvPr/>
        </p:nvPicPr>
        <p:blipFill>
          <a:blip r:embed="rId5"/>
          <a:stretch/>
        </p:blipFill>
        <p:spPr>
          <a:xfrm>
            <a:off x="4279320" y="3538800"/>
            <a:ext cx="218160" cy="218160"/>
          </a:xfrm>
          <a:prstGeom prst="rect">
            <a:avLst/>
          </a:prstGeom>
          <a:ln w="0">
            <a:noFill/>
          </a:ln>
        </p:spPr>
      </p:pic>
      <p:sp>
        <p:nvSpPr>
          <p:cNvPr id="799" name="Text 17"/>
          <p:cNvSpPr/>
          <p:nvPr/>
        </p:nvSpPr>
        <p:spPr>
          <a:xfrm>
            <a:off x="4590360" y="3520440"/>
            <a:ext cx="32904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e4edf7"/>
                </a:solidFill>
                <a:latin typeface="Calibri"/>
                <a:ea typeface="Calibri"/>
              </a:rPr>
              <a:t>Automatic scaling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00" name="Image 5" descr="/home/claude/icons/check.png"/>
          <p:cNvPicPr/>
          <p:nvPr/>
        </p:nvPicPr>
        <p:blipFill>
          <a:blip r:embed="rId6"/>
          <a:stretch/>
        </p:blipFill>
        <p:spPr>
          <a:xfrm>
            <a:off x="8055720" y="3538800"/>
            <a:ext cx="218160" cy="218160"/>
          </a:xfrm>
          <a:prstGeom prst="rect">
            <a:avLst/>
          </a:prstGeom>
          <a:ln w="0">
            <a:noFill/>
          </a:ln>
        </p:spPr>
      </p:pic>
      <p:sp>
        <p:nvSpPr>
          <p:cNvPr id="801" name="Text 18"/>
          <p:cNvSpPr/>
          <p:nvPr/>
        </p:nvSpPr>
        <p:spPr>
          <a:xfrm>
            <a:off x="8366760" y="3520440"/>
            <a:ext cx="32904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e4edf7"/>
                </a:solidFill>
                <a:latin typeface="Calibri"/>
                <a:ea typeface="Calibri"/>
              </a:rPr>
              <a:t>Scale-to-zero savings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02" name="Image 6" descr="/home/claude/icons/check.png"/>
          <p:cNvPicPr/>
          <p:nvPr/>
        </p:nvPicPr>
        <p:blipFill>
          <a:blip r:embed="rId7"/>
          <a:stretch/>
        </p:blipFill>
        <p:spPr>
          <a:xfrm>
            <a:off x="502920" y="3996000"/>
            <a:ext cx="218160" cy="218160"/>
          </a:xfrm>
          <a:prstGeom prst="rect">
            <a:avLst/>
          </a:prstGeom>
          <a:ln w="0">
            <a:noFill/>
          </a:ln>
        </p:spPr>
      </p:pic>
      <p:sp>
        <p:nvSpPr>
          <p:cNvPr id="803" name="Text 19"/>
          <p:cNvSpPr/>
          <p:nvPr/>
        </p:nvSpPr>
        <p:spPr>
          <a:xfrm>
            <a:off x="813960" y="3977640"/>
            <a:ext cx="32904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e4edf7"/>
                </a:solidFill>
                <a:latin typeface="Calibri"/>
                <a:ea typeface="Calibri"/>
              </a:rPr>
              <a:t>Reduced ops overhead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04" name="Image 7" descr="/home/claude/icons/check.png"/>
          <p:cNvPicPr/>
          <p:nvPr/>
        </p:nvPicPr>
        <p:blipFill>
          <a:blip r:embed="rId8"/>
          <a:stretch/>
        </p:blipFill>
        <p:spPr>
          <a:xfrm>
            <a:off x="4279320" y="3996000"/>
            <a:ext cx="218160" cy="218160"/>
          </a:xfrm>
          <a:prstGeom prst="rect">
            <a:avLst/>
          </a:prstGeom>
          <a:ln w="0">
            <a:noFill/>
          </a:ln>
        </p:spPr>
      </p:pic>
      <p:sp>
        <p:nvSpPr>
          <p:cNvPr id="805" name="Text 20"/>
          <p:cNvSpPr/>
          <p:nvPr/>
        </p:nvSpPr>
        <p:spPr>
          <a:xfrm>
            <a:off x="4590360" y="3977640"/>
            <a:ext cx="32904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e4edf7"/>
                </a:solidFill>
                <a:latin typeface="Calibri"/>
                <a:ea typeface="Calibri"/>
              </a:rPr>
              <a:t>Faster deployments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06" name="Image 8" descr="/home/claude/icons/check.png"/>
          <p:cNvPicPr/>
          <p:nvPr/>
        </p:nvPicPr>
        <p:blipFill>
          <a:blip r:embed="rId9"/>
          <a:stretch/>
        </p:blipFill>
        <p:spPr>
          <a:xfrm>
            <a:off x="8055720" y="3996000"/>
            <a:ext cx="218160" cy="218160"/>
          </a:xfrm>
          <a:prstGeom prst="rect">
            <a:avLst/>
          </a:prstGeom>
          <a:ln w="0">
            <a:noFill/>
          </a:ln>
        </p:spPr>
      </p:pic>
      <p:sp>
        <p:nvSpPr>
          <p:cNvPr id="807" name="Text 21"/>
          <p:cNvSpPr/>
          <p:nvPr/>
        </p:nvSpPr>
        <p:spPr>
          <a:xfrm>
            <a:off x="8366760" y="3977640"/>
            <a:ext cx="32904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e4edf7"/>
                </a:solidFill>
                <a:latin typeface="Calibri"/>
                <a:ea typeface="Calibri"/>
              </a:rPr>
              <a:t>Better resource utilization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8" name="Shape 22"/>
          <p:cNvSpPr/>
          <p:nvPr/>
        </p:nvSpPr>
        <p:spPr>
          <a:xfrm>
            <a:off x="502920" y="4617720"/>
            <a:ext cx="11199960" cy="1690200"/>
          </a:xfrm>
          <a:prstGeom prst="roundRect">
            <a:avLst>
              <a:gd name="adj" fmla="val 4865"/>
            </a:avLst>
          </a:prstGeom>
          <a:solidFill>
            <a:srgbClr val="1d3e63"/>
          </a:solidFill>
          <a:ln w="12700">
            <a:solidFill>
              <a:srgbClr val="27476e"/>
            </a:solidFill>
            <a:round/>
          </a:ln>
          <a:effectLst>
            <a:outerShdw algn="bl" blurRad="88920" dir="5400000" dist="25560" kx="0" ky="0" rotWithShape="0" sx="100000" sy="100000">
              <a:srgbClr val="01050c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9" name="Text 23"/>
          <p:cNvSpPr/>
          <p:nvPr/>
        </p:nvSpPr>
        <p:spPr>
          <a:xfrm>
            <a:off x="777240" y="4754880"/>
            <a:ext cx="548496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140" strike="noStrike">
                <a:solidFill>
                  <a:srgbClr val="7dd3fc"/>
                </a:solidFill>
                <a:latin typeface="Calibri"/>
                <a:ea typeface="Calibri"/>
              </a:rPr>
              <a:t>BOTTOM LINE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0" name="Text 24"/>
          <p:cNvSpPr/>
          <p:nvPr/>
        </p:nvSpPr>
        <p:spPr>
          <a:xfrm>
            <a:off x="777240" y="5029200"/>
            <a:ext cx="10605600" cy="12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just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e4edf7"/>
                </a:solidFill>
                <a:latin typeface="Calibri"/>
                <a:ea typeface="Calibri"/>
              </a:rPr>
              <a:t>Serverless is not a replacement for our applications — it's a smarter way to run them. Choosing the right compute model (containers vs. functions) matters more than choosing a cloud provider: Serverless Containers suit existing Python apps with minimal migration, while Functions suit independent, event-driven tasks. Adopt a workload-driven, hybrid architecture — Python APIs on serverless containers, event-driven jobs on functions, Next.js on Vercel, Cloudflare for CDN and security — and modernize incrementally rather than attempting a full cutover.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1" name="Text 25"/>
          <p:cNvSpPr/>
          <p:nvPr/>
        </p:nvSpPr>
        <p:spPr>
          <a:xfrm>
            <a:off x="11003040" y="6492240"/>
            <a:ext cx="8215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6b87a8"/>
                </a:solidFill>
                <a:latin typeface="Calibri"/>
                <a:ea typeface="Calibri"/>
              </a:rPr>
              <a:t>14 / 25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2" name="Text 66"/>
          <p:cNvSpPr/>
          <p:nvPr/>
        </p:nvSpPr>
        <p:spPr>
          <a:xfrm>
            <a:off x="6105600" y="5014800"/>
            <a:ext cx="10605600" cy="12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just" defTabSz="914400">
              <a:lnSpc>
                <a:spcPct val="100000"/>
              </a:lnSpc>
              <a:tabLst>
                <a:tab algn="l" pos="0"/>
              </a:tabLst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e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Text 0"/>
          <p:cNvSpPr/>
          <p:nvPr/>
        </p:nvSpPr>
        <p:spPr>
          <a:xfrm>
            <a:off x="502920" y="320040"/>
            <a:ext cx="10514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200" spc="194" strike="noStrike">
                <a:solidFill>
                  <a:srgbClr val="7dd3fc"/>
                </a:solidFill>
                <a:latin typeface="Calibri"/>
                <a:ea typeface="Calibri"/>
              </a:rPr>
              <a:t>CHAPTER 1 – COMMUNICATION MODELS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4" name="Text 1"/>
          <p:cNvSpPr/>
          <p:nvPr/>
        </p:nvSpPr>
        <p:spPr>
          <a:xfrm>
            <a:off x="502920" y="567000"/>
            <a:ext cx="11154600" cy="56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ffff"/>
                </a:solidFill>
                <a:latin typeface="Cambria"/>
                <a:ea typeface="Cambria"/>
              </a:rPr>
              <a:t>Real-Time Communication in Serverless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5" name="Shape 2"/>
          <p:cNvSpPr/>
          <p:nvPr/>
        </p:nvSpPr>
        <p:spPr>
          <a:xfrm>
            <a:off x="502920" y="1234440"/>
            <a:ext cx="3528360" cy="1690560"/>
          </a:xfrm>
          <a:prstGeom prst="roundRect">
            <a:avLst>
              <a:gd name="adj" fmla="val 4324"/>
            </a:avLst>
          </a:prstGeom>
          <a:solidFill>
            <a:srgbClr val="16324f"/>
          </a:solidFill>
          <a:ln w="9525">
            <a:solidFill>
              <a:srgbClr val="2747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6" name="Shape 3"/>
          <p:cNvSpPr/>
          <p:nvPr/>
        </p:nvSpPr>
        <p:spPr>
          <a:xfrm>
            <a:off x="704160" y="1417320"/>
            <a:ext cx="456120" cy="456120"/>
          </a:xfrm>
          <a:prstGeom prst="ellipse">
            <a:avLst/>
          </a:prstGeom>
          <a:solidFill>
            <a:srgbClr val="173a5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17" name="Image 0" descr="/home/claude/work/icons/broadcast_blue.png"/>
          <p:cNvPicPr/>
          <p:nvPr/>
        </p:nvPicPr>
        <p:blipFill>
          <a:blip r:embed="rId1"/>
          <a:stretch/>
        </p:blipFill>
        <p:spPr>
          <a:xfrm>
            <a:off x="813960" y="1527120"/>
            <a:ext cx="236520" cy="236520"/>
          </a:xfrm>
          <a:prstGeom prst="rect">
            <a:avLst/>
          </a:prstGeom>
          <a:ln w="0">
            <a:noFill/>
          </a:ln>
        </p:spPr>
      </p:pic>
      <p:sp>
        <p:nvSpPr>
          <p:cNvPr id="818" name="Text 4"/>
          <p:cNvSpPr/>
          <p:nvPr/>
        </p:nvSpPr>
        <p:spPr>
          <a:xfrm>
            <a:off x="1280160" y="1398960"/>
            <a:ext cx="26139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mbria"/>
                <a:ea typeface="Cambria"/>
              </a:rPr>
              <a:t>Server-Sent Events (SSE)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9" name="Text 5"/>
          <p:cNvSpPr/>
          <p:nvPr/>
        </p:nvSpPr>
        <p:spPr>
          <a:xfrm>
            <a:off x="704160" y="1947600"/>
            <a:ext cx="31262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0ea5e9"/>
                </a:solidFill>
                <a:latin typeface="Courier New"/>
                <a:ea typeface="Courier New"/>
              </a:rPr>
              <a:t>Server ───► Client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0" name="Text 6"/>
          <p:cNvSpPr/>
          <p:nvPr/>
        </p:nvSpPr>
        <p:spPr>
          <a:xfrm>
            <a:off x="704160" y="2258640"/>
            <a:ext cx="312624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8ca3be"/>
                </a:solidFill>
                <a:latin typeface="Calibri"/>
                <a:ea typeface="Calibri"/>
              </a:rPr>
              <a:t>One-way stream from server to client. Ideal for live logs &amp; notifications.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1" name="Shape 7"/>
          <p:cNvSpPr/>
          <p:nvPr/>
        </p:nvSpPr>
        <p:spPr>
          <a:xfrm>
            <a:off x="4215240" y="1234440"/>
            <a:ext cx="3528360" cy="1690560"/>
          </a:xfrm>
          <a:prstGeom prst="roundRect">
            <a:avLst>
              <a:gd name="adj" fmla="val 4324"/>
            </a:avLst>
          </a:prstGeom>
          <a:solidFill>
            <a:srgbClr val="16324f"/>
          </a:solidFill>
          <a:ln w="9525">
            <a:solidFill>
              <a:srgbClr val="2747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2" name="Shape 8"/>
          <p:cNvSpPr/>
          <p:nvPr/>
        </p:nvSpPr>
        <p:spPr>
          <a:xfrm>
            <a:off x="4416480" y="1417320"/>
            <a:ext cx="456120" cy="456120"/>
          </a:xfrm>
          <a:prstGeom prst="ellipse">
            <a:avLst/>
          </a:prstGeom>
          <a:solidFill>
            <a:srgbClr val="2a255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23" name="Image 1" descr="/home/claude/work/icons/exchange_purple.png"/>
          <p:cNvPicPr/>
          <p:nvPr/>
        </p:nvPicPr>
        <p:blipFill>
          <a:blip r:embed="rId2"/>
          <a:stretch/>
        </p:blipFill>
        <p:spPr>
          <a:xfrm>
            <a:off x="4526280" y="1527120"/>
            <a:ext cx="236520" cy="236520"/>
          </a:xfrm>
          <a:prstGeom prst="rect">
            <a:avLst/>
          </a:prstGeom>
          <a:ln w="0">
            <a:noFill/>
          </a:ln>
        </p:spPr>
      </p:pic>
      <p:sp>
        <p:nvSpPr>
          <p:cNvPr id="824" name="Text 9"/>
          <p:cNvSpPr/>
          <p:nvPr/>
        </p:nvSpPr>
        <p:spPr>
          <a:xfrm>
            <a:off x="4992480" y="1398960"/>
            <a:ext cx="26139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mbria"/>
                <a:ea typeface="Cambria"/>
              </a:rPr>
              <a:t>WebSockets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5" name="Text 10"/>
          <p:cNvSpPr/>
          <p:nvPr/>
        </p:nvSpPr>
        <p:spPr>
          <a:xfrm>
            <a:off x="4416480" y="1947600"/>
            <a:ext cx="31262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a78bfa"/>
                </a:solidFill>
                <a:latin typeface="Courier New"/>
                <a:ea typeface="Courier New"/>
              </a:rPr>
              <a:t>Client ◄──► Server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6" name="Text 11"/>
          <p:cNvSpPr/>
          <p:nvPr/>
        </p:nvSpPr>
        <p:spPr>
          <a:xfrm>
            <a:off x="4416480" y="2258640"/>
            <a:ext cx="312624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8ca3be"/>
                </a:solidFill>
                <a:latin typeface="Calibri"/>
                <a:ea typeface="Calibri"/>
              </a:rPr>
              <a:t>Persistent, bidirectional channel. Ideal for chat &amp; multiplayer.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7" name="Shape 12"/>
          <p:cNvSpPr/>
          <p:nvPr/>
        </p:nvSpPr>
        <p:spPr>
          <a:xfrm>
            <a:off x="7927920" y="1234440"/>
            <a:ext cx="3528360" cy="1690560"/>
          </a:xfrm>
          <a:prstGeom prst="roundRect">
            <a:avLst>
              <a:gd name="adj" fmla="val 4324"/>
            </a:avLst>
          </a:prstGeom>
          <a:solidFill>
            <a:srgbClr val="16324f"/>
          </a:solidFill>
          <a:ln w="9525">
            <a:solidFill>
              <a:srgbClr val="2747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8" name="Shape 13"/>
          <p:cNvSpPr/>
          <p:nvPr/>
        </p:nvSpPr>
        <p:spPr>
          <a:xfrm>
            <a:off x="8129160" y="1417320"/>
            <a:ext cx="456120" cy="456120"/>
          </a:xfrm>
          <a:prstGeom prst="ellipse">
            <a:avLst/>
          </a:prstGeom>
          <a:solidFill>
            <a:srgbClr val="1038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29" name="Image 2" descr="/home/claude/work/icons/plug_green.png"/>
          <p:cNvPicPr/>
          <p:nvPr/>
        </p:nvPicPr>
        <p:blipFill>
          <a:blip r:embed="rId3"/>
          <a:stretch/>
        </p:blipFill>
        <p:spPr>
          <a:xfrm>
            <a:off x="8238600" y="1527120"/>
            <a:ext cx="236520" cy="236520"/>
          </a:xfrm>
          <a:prstGeom prst="rect">
            <a:avLst/>
          </a:prstGeom>
          <a:ln w="0">
            <a:noFill/>
          </a:ln>
        </p:spPr>
      </p:pic>
      <p:sp>
        <p:nvSpPr>
          <p:cNvPr id="830" name="Text 14"/>
          <p:cNvSpPr/>
          <p:nvPr/>
        </p:nvSpPr>
        <p:spPr>
          <a:xfrm>
            <a:off x="8705160" y="1398960"/>
            <a:ext cx="26139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mbria"/>
                <a:ea typeface="Cambria"/>
              </a:rPr>
              <a:t>Socket.IO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1" name="Text 15"/>
          <p:cNvSpPr/>
          <p:nvPr/>
        </p:nvSpPr>
        <p:spPr>
          <a:xfrm>
            <a:off x="8129160" y="1947600"/>
            <a:ext cx="31262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34d399"/>
                </a:solidFill>
                <a:latin typeface="Courier New"/>
                <a:ea typeface="Courier New"/>
              </a:rPr>
              <a:t>Client ◄──► Server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2" name="Text 16"/>
          <p:cNvSpPr/>
          <p:nvPr/>
        </p:nvSpPr>
        <p:spPr>
          <a:xfrm>
            <a:off x="8129160" y="2258640"/>
            <a:ext cx="312624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8ca3be"/>
                </a:solidFill>
                <a:latin typeface="Calibri"/>
                <a:ea typeface="Calibri"/>
              </a:rPr>
              <a:t>WebSocket library with reconnection, rooms &amp; broadcasting built in.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3" name="Text 17"/>
          <p:cNvSpPr/>
          <p:nvPr/>
        </p:nvSpPr>
        <p:spPr>
          <a:xfrm>
            <a:off x="502920" y="3090600"/>
            <a:ext cx="54853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100" spc="143" strike="noStrike">
                <a:solidFill>
                  <a:srgbClr val="7dd3fc"/>
                </a:solidFill>
                <a:latin typeface="Calibri"/>
                <a:ea typeface="Calibri"/>
              </a:rPr>
              <a:t>COMPATIBILITY OVERVIEW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graphicFrame>
        <p:nvGraphicFramePr>
          <p:cNvPr id="834" name="Table 0"/>
          <p:cNvGraphicFramePr/>
          <p:nvPr/>
        </p:nvGraphicFramePr>
        <p:xfrm>
          <a:off x="502920" y="3401640"/>
          <a:ext cx="6949080" cy="1347120"/>
        </p:xfrm>
        <a:graphic>
          <a:graphicData uri="http://schemas.openxmlformats.org/drawingml/2006/table">
            <a:tbl>
              <a:tblPr/>
              <a:tblGrid>
                <a:gridCol w="1828800"/>
                <a:gridCol w="1234440"/>
                <a:gridCol w="1234440"/>
                <a:gridCol w="1371600"/>
                <a:gridCol w="1280160"/>
              </a:tblGrid>
              <a:tr h="31068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5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Technology</a:t>
                      </a:r>
                      <a:endParaRPr b="0" lang="en-US" sz="10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d3e63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5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One-way</a:t>
                      </a:r>
                      <a:endParaRPr b="0" lang="en-US" sz="10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d3e63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5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Two-way</a:t>
                      </a:r>
                      <a:endParaRPr b="0" lang="en-US" sz="10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d3e63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5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Persistent</a:t>
                      </a:r>
                      <a:endParaRPr b="0" lang="en-US" sz="10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d3e63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5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Typical Use Case</a:t>
                      </a:r>
                      <a:endParaRPr b="0" lang="en-US" sz="10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d3e63"/>
                    </a:solidFill>
                  </a:tcPr>
                </a:tc>
              </a:tr>
              <a:tr h="31068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5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SSE</a:t>
                      </a:r>
                      <a:endParaRPr b="0" lang="en-US" sz="10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5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Yes</a:t>
                      </a:r>
                      <a:endParaRPr b="0" lang="en-US" sz="10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5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No</a:t>
                      </a:r>
                      <a:endParaRPr b="0" lang="en-US" sz="10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5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Yes</a:t>
                      </a:r>
                      <a:endParaRPr b="0" lang="en-US" sz="10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5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Live logs, notifications</a:t>
                      </a:r>
                      <a:endParaRPr b="0" lang="en-US" sz="10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</a:tr>
              <a:tr h="31068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5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WebSocket</a:t>
                      </a:r>
                      <a:endParaRPr b="0" lang="en-US" sz="10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5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Yes</a:t>
                      </a:r>
                      <a:endParaRPr b="0" lang="en-US" sz="10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5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Yes</a:t>
                      </a:r>
                      <a:endParaRPr b="0" lang="en-US" sz="10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5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Yes</a:t>
                      </a:r>
                      <a:endParaRPr b="0" lang="en-US" sz="10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5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Chat, multiplayer</a:t>
                      </a:r>
                      <a:endParaRPr b="0" lang="en-US" sz="10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</a:tr>
              <a:tr h="31068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5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Socket.IO</a:t>
                      </a:r>
                      <a:endParaRPr b="0" lang="en-US" sz="10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5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Yes</a:t>
                      </a:r>
                      <a:endParaRPr b="0" lang="en-US" sz="10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5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Yes</a:t>
                      </a:r>
                      <a:endParaRPr b="0" lang="en-US" sz="10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5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Yes</a:t>
                      </a:r>
                      <a:endParaRPr b="0" lang="en-US" sz="10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5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Real-time web apps</a:t>
                      </a:r>
                      <a:endParaRPr b="0" lang="en-US" sz="10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</a:tr>
            </a:tbl>
          </a:graphicData>
        </a:graphic>
      </p:graphicFrame>
      <p:sp>
        <p:nvSpPr>
          <p:cNvPr id="835" name="Shape 18"/>
          <p:cNvSpPr/>
          <p:nvPr/>
        </p:nvSpPr>
        <p:spPr>
          <a:xfrm>
            <a:off x="502920" y="4937760"/>
            <a:ext cx="6994440" cy="1325160"/>
          </a:xfrm>
          <a:prstGeom prst="roundRect">
            <a:avLst>
              <a:gd name="adj" fmla="val 5128"/>
            </a:avLst>
          </a:prstGeom>
          <a:solidFill>
            <a:srgbClr val="0d2440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6" name="Shape 19"/>
          <p:cNvSpPr/>
          <p:nvPr/>
        </p:nvSpPr>
        <p:spPr>
          <a:xfrm>
            <a:off x="713160" y="5102280"/>
            <a:ext cx="419400" cy="419400"/>
          </a:xfrm>
          <a:prstGeom prst="ellipse">
            <a:avLst/>
          </a:prstGeom>
          <a:solidFill>
            <a:srgbClr val="173a5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37" name="Image 3" descr="/home/claude/work/icons/info_blue.png"/>
          <p:cNvPicPr/>
          <p:nvPr/>
        </p:nvPicPr>
        <p:blipFill>
          <a:blip r:embed="rId4"/>
          <a:stretch/>
        </p:blipFill>
        <p:spPr>
          <a:xfrm>
            <a:off x="814320" y="5212080"/>
            <a:ext cx="217800" cy="217800"/>
          </a:xfrm>
          <a:prstGeom prst="rect">
            <a:avLst/>
          </a:prstGeom>
          <a:ln w="0">
            <a:noFill/>
          </a:ln>
        </p:spPr>
      </p:pic>
      <p:sp>
        <p:nvSpPr>
          <p:cNvPr id="838" name="Text 20"/>
          <p:cNvSpPr/>
          <p:nvPr/>
        </p:nvSpPr>
        <p:spPr>
          <a:xfrm>
            <a:off x="1280160" y="5074920"/>
            <a:ext cx="60339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fffff"/>
                </a:solidFill>
                <a:latin typeface="Cambria"/>
                <a:ea typeface="Cambria"/>
              </a:rPr>
              <a:t>Why SSE can't talk back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9" name="Text 21"/>
          <p:cNvSpPr/>
          <p:nvPr/>
        </p:nvSpPr>
        <p:spPr>
          <a:xfrm>
            <a:off x="1280160" y="5486400"/>
            <a:ext cx="5988240" cy="86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8ca3be"/>
                </a:solidFill>
                <a:latin typeface="Calibri"/>
                <a:ea typeface="Calibri"/>
              </a:rPr>
              <a:t>SSE keeps a single one-way pipe open from server to client — perfect for streaming deployment logs or AI progress updates, but if the client needs to respond, it must open a separate HTTP request. WebSockets and Socket.IO solve this by keeping one channel open in both directions.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0" name="Text 22"/>
          <p:cNvSpPr/>
          <p:nvPr/>
        </p:nvSpPr>
        <p:spPr>
          <a:xfrm>
            <a:off x="7726680" y="3090600"/>
            <a:ext cx="393084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100" spc="143" strike="noStrike">
                <a:solidFill>
                  <a:srgbClr val="7dd3fc"/>
                </a:solidFill>
                <a:latin typeface="Calibri"/>
                <a:ea typeface="Calibri"/>
              </a:rPr>
              <a:t>PLATFORM COMPATIBILITY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1" name="Shape 23"/>
          <p:cNvSpPr/>
          <p:nvPr/>
        </p:nvSpPr>
        <p:spPr>
          <a:xfrm>
            <a:off x="7726680" y="3401640"/>
            <a:ext cx="4251240" cy="2870280"/>
          </a:xfrm>
          <a:prstGeom prst="roundRect">
            <a:avLst>
              <a:gd name="adj" fmla="val 2548"/>
            </a:avLst>
          </a:prstGeom>
          <a:solidFill>
            <a:srgbClr val="0d2440"/>
          </a:solidFill>
          <a:ln w="9525">
            <a:solidFill>
              <a:srgbClr val="2747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2" name="Text 24"/>
          <p:cNvSpPr/>
          <p:nvPr/>
        </p:nvSpPr>
        <p:spPr>
          <a:xfrm>
            <a:off x="7909560" y="3547800"/>
            <a:ext cx="36565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7dd3fc"/>
                </a:solidFill>
                <a:latin typeface="Calibri"/>
                <a:ea typeface="Calibri"/>
              </a:rPr>
              <a:t>Functions (event-driven)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3" name="Shape 25"/>
          <p:cNvSpPr/>
          <p:nvPr/>
        </p:nvSpPr>
        <p:spPr>
          <a:xfrm>
            <a:off x="7909560" y="3877200"/>
            <a:ext cx="1462320" cy="309960"/>
          </a:xfrm>
          <a:prstGeom prst="roundRect">
            <a:avLst>
              <a:gd name="adj" fmla="val 17647"/>
            </a:avLst>
          </a:prstGeom>
          <a:solidFill>
            <a:srgbClr val="1d3e63"/>
          </a:solidFill>
          <a:ln w="6350">
            <a:solidFill>
              <a:srgbClr val="2747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4" name="Text 26"/>
          <p:cNvSpPr/>
          <p:nvPr/>
        </p:nvSpPr>
        <p:spPr>
          <a:xfrm>
            <a:off x="8046720" y="3877200"/>
            <a:ext cx="32907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Azure Functions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5" name="Shape 27"/>
          <p:cNvSpPr/>
          <p:nvPr/>
        </p:nvSpPr>
        <p:spPr>
          <a:xfrm>
            <a:off x="7909560" y="4242960"/>
            <a:ext cx="1462320" cy="309960"/>
          </a:xfrm>
          <a:prstGeom prst="roundRect">
            <a:avLst>
              <a:gd name="adj" fmla="val 17647"/>
            </a:avLst>
          </a:prstGeom>
          <a:solidFill>
            <a:srgbClr val="1d3e63"/>
          </a:solidFill>
          <a:ln w="6350">
            <a:solidFill>
              <a:srgbClr val="2747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6" name="Text 28"/>
          <p:cNvSpPr/>
          <p:nvPr/>
        </p:nvSpPr>
        <p:spPr>
          <a:xfrm>
            <a:off x="8046720" y="4242960"/>
            <a:ext cx="32907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AWS Lambda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7" name="Shape 29"/>
          <p:cNvSpPr/>
          <p:nvPr/>
        </p:nvSpPr>
        <p:spPr>
          <a:xfrm>
            <a:off x="7909560" y="4608720"/>
            <a:ext cx="1462320" cy="309960"/>
          </a:xfrm>
          <a:prstGeom prst="roundRect">
            <a:avLst>
              <a:gd name="adj" fmla="val 17647"/>
            </a:avLst>
          </a:prstGeom>
          <a:solidFill>
            <a:srgbClr val="1d3e63"/>
          </a:solidFill>
          <a:ln w="6350">
            <a:solidFill>
              <a:srgbClr val="2747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8" name="Text 30"/>
          <p:cNvSpPr/>
          <p:nvPr/>
        </p:nvSpPr>
        <p:spPr>
          <a:xfrm>
            <a:off x="8046720" y="4608720"/>
            <a:ext cx="32907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Google Cloud Functions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9" name="Text 31"/>
          <p:cNvSpPr/>
          <p:nvPr/>
        </p:nvSpPr>
        <p:spPr>
          <a:xfrm>
            <a:off x="9509760" y="3547800"/>
            <a:ext cx="36565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a78bfa"/>
                </a:solidFill>
                <a:latin typeface="Calibri"/>
                <a:ea typeface="Calibri"/>
              </a:rPr>
              <a:t>Containers (communication workloads)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0" name="Shape 32"/>
          <p:cNvSpPr/>
          <p:nvPr/>
        </p:nvSpPr>
        <p:spPr>
          <a:xfrm>
            <a:off x="9509760" y="3877200"/>
            <a:ext cx="2303640" cy="309960"/>
          </a:xfrm>
          <a:prstGeom prst="roundRect">
            <a:avLst>
              <a:gd name="adj" fmla="val 17647"/>
            </a:avLst>
          </a:prstGeom>
          <a:solidFill>
            <a:srgbClr val="a78bf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1" name="Text 33"/>
          <p:cNvSpPr/>
          <p:nvPr/>
        </p:nvSpPr>
        <p:spPr>
          <a:xfrm>
            <a:off x="9601200" y="3877200"/>
            <a:ext cx="338220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970" spc="-1" strike="noStrike">
                <a:solidFill>
                  <a:srgbClr val="1b1033"/>
                </a:solidFill>
                <a:latin typeface="Calibri"/>
                <a:ea typeface="Calibri"/>
              </a:rPr>
              <a:t>Azure Container Apps</a:t>
            </a:r>
            <a:endParaRPr b="0" lang="en-US" sz="9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2" name="Text 34"/>
          <p:cNvSpPr/>
          <p:nvPr/>
        </p:nvSpPr>
        <p:spPr>
          <a:xfrm>
            <a:off x="7936920" y="5449680"/>
            <a:ext cx="361080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93aac7"/>
                </a:solidFill>
                <a:latin typeface="Calibri"/>
                <a:ea typeface="Calibri"/>
              </a:rPr>
              <a:t>Functions execute a task and terminate — they can't hold a connection open. Containers run continuously, which is exactly what real-time protocols need.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3" name="Text 35"/>
          <p:cNvSpPr/>
          <p:nvPr/>
        </p:nvSpPr>
        <p:spPr>
          <a:xfrm>
            <a:off x="502920" y="6519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93aac7"/>
                </a:solidFill>
                <a:latin typeface="Calibri"/>
                <a:ea typeface="Calibri"/>
              </a:rPr>
              <a:t>Real-Time Communication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4" name="Text 36"/>
          <p:cNvSpPr/>
          <p:nvPr/>
        </p:nvSpPr>
        <p:spPr>
          <a:xfrm>
            <a:off x="10817280" y="6519600"/>
            <a:ext cx="8676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93aac7"/>
                </a:solidFill>
                <a:latin typeface="Calibri"/>
                <a:ea typeface="Calibri"/>
              </a:rPr>
              <a:t>15 / 25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5" name="Shape 45"/>
          <p:cNvSpPr/>
          <p:nvPr/>
        </p:nvSpPr>
        <p:spPr>
          <a:xfrm>
            <a:off x="9509760" y="4608720"/>
            <a:ext cx="2303640" cy="309960"/>
          </a:xfrm>
          <a:prstGeom prst="roundRect">
            <a:avLst>
              <a:gd name="adj" fmla="val 17647"/>
            </a:avLst>
          </a:prstGeom>
          <a:solidFill>
            <a:srgbClr val="a78bf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6" name="Shape 47"/>
          <p:cNvSpPr/>
          <p:nvPr/>
        </p:nvSpPr>
        <p:spPr>
          <a:xfrm>
            <a:off x="9509760" y="4242960"/>
            <a:ext cx="2303640" cy="309960"/>
          </a:xfrm>
          <a:prstGeom prst="roundRect">
            <a:avLst>
              <a:gd name="adj" fmla="val 17647"/>
            </a:avLst>
          </a:prstGeom>
          <a:solidFill>
            <a:srgbClr val="a78bf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7" name="Shape 51"/>
          <p:cNvSpPr/>
          <p:nvPr/>
        </p:nvSpPr>
        <p:spPr>
          <a:xfrm>
            <a:off x="9509760" y="4974480"/>
            <a:ext cx="2303640" cy="309960"/>
          </a:xfrm>
          <a:prstGeom prst="roundRect">
            <a:avLst>
              <a:gd name="adj" fmla="val 17647"/>
            </a:avLst>
          </a:prstGeom>
          <a:solidFill>
            <a:srgbClr val="a78bf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8" name=""/>
          <p:cNvSpPr/>
          <p:nvPr/>
        </p:nvSpPr>
        <p:spPr>
          <a:xfrm>
            <a:off x="9518760" y="4279320"/>
            <a:ext cx="1659960" cy="39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970" spc="-1" strike="noStrike">
                <a:solidFill>
                  <a:srgbClr val="1b1033"/>
                </a:solidFill>
                <a:latin typeface="Calibri"/>
                <a:ea typeface="Calibri"/>
              </a:rPr>
              <a:t>AWS App Runner</a:t>
            </a:r>
            <a:endParaRPr b="0" lang="en-US" sz="9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9" name=""/>
          <p:cNvSpPr/>
          <p:nvPr/>
        </p:nvSpPr>
        <p:spPr>
          <a:xfrm>
            <a:off x="9528120" y="4645080"/>
            <a:ext cx="1215360" cy="39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970" spc="-1" strike="noStrike">
                <a:solidFill>
                  <a:srgbClr val="1b1033"/>
                </a:solidFill>
                <a:latin typeface="Calibri"/>
                <a:ea typeface="Calibri"/>
              </a:rPr>
              <a:t>AWS Fargate</a:t>
            </a:r>
            <a:endParaRPr b="0" lang="en-US" sz="9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0" name=""/>
          <p:cNvSpPr/>
          <p:nvPr/>
        </p:nvSpPr>
        <p:spPr>
          <a:xfrm>
            <a:off x="9528120" y="5001840"/>
            <a:ext cx="1215360" cy="39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970" spc="-1" strike="noStrike">
                <a:solidFill>
                  <a:srgbClr val="1b1033"/>
                </a:solidFill>
                <a:latin typeface="Calibri"/>
                <a:ea typeface="Calibri"/>
              </a:rPr>
              <a:t>Google Cloud Run</a:t>
            </a:r>
            <a:endParaRPr b="0" lang="en-US" sz="97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e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1" name="Text 0"/>
          <p:cNvSpPr/>
          <p:nvPr/>
        </p:nvSpPr>
        <p:spPr>
          <a:xfrm>
            <a:off x="502920" y="320040"/>
            <a:ext cx="10514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200" spc="194" strike="noStrike">
                <a:solidFill>
                  <a:srgbClr val="7dd3fc"/>
                </a:solidFill>
                <a:latin typeface="Calibri"/>
                <a:ea typeface="Calibri"/>
              </a:rPr>
              <a:t>CHAPTER 1 – PLATFORM COMPATIBILITY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2" name="Text 1"/>
          <p:cNvSpPr/>
          <p:nvPr/>
        </p:nvSpPr>
        <p:spPr>
          <a:xfrm>
            <a:off x="502920" y="567000"/>
            <a:ext cx="11154600" cy="56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ffff"/>
                </a:solidFill>
                <a:latin typeface="Cambria"/>
                <a:ea typeface="Cambria"/>
              </a:rPr>
              <a:t>Communication Support Across Platforms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graphicFrame>
        <p:nvGraphicFramePr>
          <p:cNvPr id="863" name="Table 0"/>
          <p:cNvGraphicFramePr/>
          <p:nvPr/>
        </p:nvGraphicFramePr>
        <p:xfrm>
          <a:off x="502920" y="1243440"/>
          <a:ext cx="11201040" cy="2871360"/>
        </p:xfrm>
        <a:graphic>
          <a:graphicData uri="http://schemas.openxmlformats.org/drawingml/2006/table">
            <a:tbl>
              <a:tblPr/>
              <a:tblGrid>
                <a:gridCol w="2331720"/>
                <a:gridCol w="960120"/>
                <a:gridCol w="1371600"/>
                <a:gridCol w="1280160"/>
                <a:gridCol w="1645920"/>
                <a:gridCol w="3611880"/>
              </a:tblGrid>
              <a:tr h="2869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Platform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d3e63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SSE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d3e63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WebSockets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d3e63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Socket.IO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d3e63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Recommended?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d3e63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Reason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d3e63"/>
                    </a:solidFill>
                  </a:tcPr>
                </a:tc>
              </a:tr>
              <a:tr h="2869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Azure Functions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No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No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No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Not recommended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Event-driven workloads only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</a:tr>
              <a:tr h="2869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Azure Container Apps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Yes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Yes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Yes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Recommended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Long-running backend services &amp; APIs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</a:tr>
              <a:tr h="2869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AWS Lambda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No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No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No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Not recommended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Event-driven workloads only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</a:tr>
              <a:tr h="2869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AWS App Runner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Yes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Yes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Yes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Recommended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Containerized web applications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</a:tr>
              <a:tr h="2869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AWS ECS Fargate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Yes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Yes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Yes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Recommended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Enterprise microservices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</a:tr>
              <a:tr h="2869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Google Cloud Functions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No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No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No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Not recommended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Event-driven workloads only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</a:tr>
              <a:tr h="2869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Google Cloud Run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Yes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Yes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Yes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Recommended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Containerized applications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</a:tr>
              <a:tr h="2869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Vercel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Limited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No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No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Conditional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Next.js frontend &amp; lightweight APIs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</a:tr>
              <a:tr h="28908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Cloudflare Workers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Yes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Yes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Limited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Conditional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Edge &amp; global low-latency services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</a:tr>
            </a:tbl>
          </a:graphicData>
        </a:graphic>
      </p:graphicFrame>
      <p:sp>
        <p:nvSpPr>
          <p:cNvPr id="864" name="Shape 2"/>
          <p:cNvSpPr/>
          <p:nvPr/>
        </p:nvSpPr>
        <p:spPr>
          <a:xfrm>
            <a:off x="502920" y="4343400"/>
            <a:ext cx="11200320" cy="1828080"/>
          </a:xfrm>
          <a:prstGeom prst="roundRect">
            <a:avLst>
              <a:gd name="adj" fmla="val 3509"/>
            </a:avLst>
          </a:prstGeom>
          <a:solidFill>
            <a:srgbClr val="0d2440"/>
          </a:solidFill>
          <a:ln w="9525">
            <a:solidFill>
              <a:srgbClr val="2747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5" name="Text 3"/>
          <p:cNvSpPr/>
          <p:nvPr/>
        </p:nvSpPr>
        <p:spPr>
          <a:xfrm>
            <a:off x="777240" y="4526280"/>
            <a:ext cx="1060596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100" spc="143" strike="noStrike">
                <a:solidFill>
                  <a:srgbClr val="7dd3fc"/>
                </a:solidFill>
                <a:latin typeface="Calibri"/>
                <a:ea typeface="Calibri"/>
              </a:rPr>
              <a:t>WHY THE PATTERN ABOVE HOLDS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6" name="Shape 4"/>
          <p:cNvSpPr/>
          <p:nvPr/>
        </p:nvSpPr>
        <p:spPr>
          <a:xfrm>
            <a:off x="6108120" y="4572000"/>
            <a:ext cx="360" cy="1417320"/>
          </a:xfrm>
          <a:prstGeom prst="line">
            <a:avLst/>
          </a:prstGeom>
          <a:ln w="12700">
            <a:solidFill>
              <a:srgbClr val="2747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7" name="Shape 5"/>
          <p:cNvSpPr/>
          <p:nvPr/>
        </p:nvSpPr>
        <p:spPr>
          <a:xfrm>
            <a:off x="777240" y="5029200"/>
            <a:ext cx="456120" cy="456120"/>
          </a:xfrm>
          <a:prstGeom prst="ellipse">
            <a:avLst/>
          </a:prstGeom>
          <a:solidFill>
            <a:srgbClr val="173a5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68" name="Image 0" descr="/home/claude/work/icons/function_blue.png"/>
          <p:cNvPicPr/>
          <p:nvPr/>
        </p:nvPicPr>
        <p:blipFill>
          <a:blip r:embed="rId1"/>
          <a:stretch/>
        </p:blipFill>
        <p:spPr>
          <a:xfrm>
            <a:off x="887040" y="5139000"/>
            <a:ext cx="236520" cy="236520"/>
          </a:xfrm>
          <a:prstGeom prst="rect">
            <a:avLst/>
          </a:prstGeom>
          <a:ln w="0">
            <a:noFill/>
          </a:ln>
        </p:spPr>
      </p:pic>
      <p:sp>
        <p:nvSpPr>
          <p:cNvPr id="869" name="Text 6"/>
          <p:cNvSpPr/>
          <p:nvPr/>
        </p:nvSpPr>
        <p:spPr>
          <a:xfrm>
            <a:off x="1371600" y="4983480"/>
            <a:ext cx="45709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mbria"/>
                <a:ea typeface="Cambria"/>
              </a:rPr>
              <a:t>Functions → not recommended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0" name="Text 7"/>
          <p:cNvSpPr/>
          <p:nvPr/>
        </p:nvSpPr>
        <p:spPr>
          <a:xfrm>
            <a:off x="1371600" y="5395320"/>
            <a:ext cx="4616640" cy="100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8ca3be"/>
                </a:solidFill>
                <a:latin typeface="Calibri"/>
                <a:ea typeface="Calibri"/>
              </a:rPr>
              <a:t>A Function executes a single task and terminates. It cannot keep an SSE stream, WebSocket, or Socket.IO connection open — that's why every functions row above reads “No.”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1" name="Shape 8"/>
          <p:cNvSpPr/>
          <p:nvPr/>
        </p:nvSpPr>
        <p:spPr>
          <a:xfrm>
            <a:off x="6400800" y="5029200"/>
            <a:ext cx="456120" cy="456120"/>
          </a:xfrm>
          <a:prstGeom prst="ellipse">
            <a:avLst/>
          </a:prstGeom>
          <a:solidFill>
            <a:srgbClr val="2a255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72" name="Image 1" descr="/home/claude/work/icons/container_purple.png"/>
          <p:cNvPicPr/>
          <p:nvPr/>
        </p:nvPicPr>
        <p:blipFill>
          <a:blip r:embed="rId2"/>
          <a:stretch/>
        </p:blipFill>
        <p:spPr>
          <a:xfrm>
            <a:off x="6501240" y="5139000"/>
            <a:ext cx="236520" cy="236520"/>
          </a:xfrm>
          <a:prstGeom prst="rect">
            <a:avLst/>
          </a:prstGeom>
          <a:ln w="0">
            <a:noFill/>
          </a:ln>
        </p:spPr>
      </p:pic>
      <p:sp>
        <p:nvSpPr>
          <p:cNvPr id="873" name="Text 9"/>
          <p:cNvSpPr/>
          <p:nvPr/>
        </p:nvSpPr>
        <p:spPr>
          <a:xfrm>
            <a:off x="6995160" y="4983480"/>
            <a:ext cx="45709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mbria"/>
                <a:ea typeface="Cambria"/>
              </a:rPr>
              <a:t>Containers → recommended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4" name="Text 10"/>
          <p:cNvSpPr/>
          <p:nvPr/>
        </p:nvSpPr>
        <p:spPr>
          <a:xfrm>
            <a:off x="6995160" y="5394960"/>
            <a:ext cx="4525200" cy="100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8ca3be"/>
                </a:solidFill>
                <a:latin typeface="Calibri"/>
                <a:ea typeface="Calibri"/>
              </a:rPr>
              <a:t>A Container hosts a continuously running app, so it can keep the connection open for as long as the client needs it — the reason every container row above reads “Yes.”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5" name="Text 11"/>
          <p:cNvSpPr/>
          <p:nvPr/>
        </p:nvSpPr>
        <p:spPr>
          <a:xfrm>
            <a:off x="502920" y="6519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93aac7"/>
                </a:solidFill>
                <a:latin typeface="Calibri"/>
                <a:ea typeface="Calibri"/>
              </a:rPr>
              <a:t>Platform Compatibility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6" name="Text 12"/>
          <p:cNvSpPr/>
          <p:nvPr/>
        </p:nvSpPr>
        <p:spPr>
          <a:xfrm>
            <a:off x="10817280" y="6519600"/>
            <a:ext cx="8676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93aac7"/>
                </a:solidFill>
                <a:latin typeface="Calibri"/>
                <a:ea typeface="Calibri"/>
              </a:rPr>
              <a:t>16 / 25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e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Text 0"/>
          <p:cNvSpPr/>
          <p:nvPr/>
        </p:nvSpPr>
        <p:spPr>
          <a:xfrm>
            <a:off x="502920" y="320040"/>
            <a:ext cx="10514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200" spc="194" strike="noStrike">
                <a:solidFill>
                  <a:srgbClr val="7dd3fc"/>
                </a:solidFill>
                <a:latin typeface="Calibri"/>
                <a:ea typeface="Calibri"/>
              </a:rPr>
              <a:t>CHAPTER 2 – EXECUTION TIMEOUTS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8" name="Text 1"/>
          <p:cNvSpPr/>
          <p:nvPr/>
        </p:nvSpPr>
        <p:spPr>
          <a:xfrm>
            <a:off x="502920" y="567000"/>
            <a:ext cx="11154600" cy="56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ffff"/>
                </a:solidFill>
                <a:latin typeface="Cambria"/>
                <a:ea typeface="Cambria"/>
              </a:rPr>
              <a:t>Function Timeout Comparison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9" name="Text 2"/>
          <p:cNvSpPr/>
          <p:nvPr/>
        </p:nvSpPr>
        <p:spPr>
          <a:xfrm>
            <a:off x="502920" y="1207080"/>
            <a:ext cx="667404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400" spc="111" strike="noStrike">
                <a:solidFill>
                  <a:srgbClr val="7dd3fc"/>
                </a:solidFill>
                <a:latin typeface="Calibri"/>
                <a:ea typeface="Calibri"/>
              </a:rPr>
              <a:t>SERVERLESS FUNCTIONS — TIMED EXECUTION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graphicFrame>
        <p:nvGraphicFramePr>
          <p:cNvPr id="880" name="Table 0"/>
          <p:cNvGraphicFramePr/>
          <p:nvPr/>
        </p:nvGraphicFramePr>
        <p:xfrm>
          <a:off x="502920" y="1508760"/>
          <a:ext cx="7040520" cy="2834640"/>
        </p:xfrm>
        <a:graphic>
          <a:graphicData uri="http://schemas.openxmlformats.org/drawingml/2006/table">
            <a:tbl>
              <a:tblPr/>
              <a:tblGrid>
                <a:gridCol w="2989800"/>
                <a:gridCol w="1446480"/>
                <a:gridCol w="1494720"/>
                <a:gridCol w="1109880"/>
              </a:tblGrid>
              <a:tr h="4723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Platform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d3e63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Default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d3e63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Maximum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d3e63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HTTP Limit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d3e63"/>
                    </a:solidFill>
                  </a:tcPr>
                </a:tc>
              </a:tr>
              <a:tr h="4723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Azure Functions (Consumption)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5 min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10 min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~230 sec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</a:tr>
              <a:tr h="4723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AWS Lambda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Configurable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15 min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= timeout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</a:tr>
              <a:tr h="4723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Google Cloud Fn. (Gen2)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1 min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60 min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Configurable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</a:tr>
              <a:tr h="4723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Vercel (Fluid Compute)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300 sec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800 sec*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Duration limit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</a:tr>
              <a:tr h="47304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Cloudflare Workers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N/A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Plan CPU time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~100 sec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</a:tr>
            </a:tbl>
          </a:graphicData>
        </a:graphic>
      </p:graphicFrame>
      <p:sp>
        <p:nvSpPr>
          <p:cNvPr id="881" name="Text 3"/>
          <p:cNvSpPr/>
          <p:nvPr/>
        </p:nvSpPr>
        <p:spPr>
          <a:xfrm>
            <a:off x="502920" y="4389120"/>
            <a:ext cx="66740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93aac7"/>
                </a:solidFill>
                <a:latin typeface="Calibri"/>
                <a:ea typeface="Calibri"/>
              </a:rPr>
              <a:t>*Pro / Enterprise plans — Hobby is capped at 300 seconds.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2" name="Text 4"/>
          <p:cNvSpPr/>
          <p:nvPr/>
        </p:nvSpPr>
        <p:spPr>
          <a:xfrm>
            <a:off x="7818120" y="1207080"/>
            <a:ext cx="429660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400" spc="111" strike="noStrike">
                <a:solidFill>
                  <a:srgbClr val="a78bfa"/>
                </a:solidFill>
                <a:latin typeface="Calibri"/>
                <a:ea typeface="Calibri"/>
              </a:rPr>
              <a:t>SERVERLESS CONTAINERS — ALWAYS 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3" name="Shape 5"/>
          <p:cNvSpPr/>
          <p:nvPr/>
        </p:nvSpPr>
        <p:spPr>
          <a:xfrm>
            <a:off x="7772400" y="1508760"/>
            <a:ext cx="3885480" cy="2833920"/>
          </a:xfrm>
          <a:prstGeom prst="roundRect">
            <a:avLst>
              <a:gd name="adj" fmla="val 2712"/>
            </a:avLst>
          </a:prstGeom>
          <a:solidFill>
            <a:srgbClr val="0d2440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4" name="Text 6"/>
          <p:cNvSpPr/>
          <p:nvPr/>
        </p:nvSpPr>
        <p:spPr>
          <a:xfrm>
            <a:off x="8001000" y="1645920"/>
            <a:ext cx="389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mbria"/>
                <a:ea typeface="Cambria"/>
              </a:rPr>
              <a:t>No function-style timeout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85" name="Image 0" descr="/home/claude/work/icons/check_purple.png"/>
          <p:cNvPicPr/>
          <p:nvPr/>
        </p:nvPicPr>
        <p:blipFill>
          <a:blip r:embed="rId1"/>
          <a:stretch/>
        </p:blipFill>
        <p:spPr>
          <a:xfrm>
            <a:off x="7991640" y="2048400"/>
            <a:ext cx="218520" cy="218520"/>
          </a:xfrm>
          <a:prstGeom prst="rect">
            <a:avLst/>
          </a:prstGeom>
          <a:ln w="0">
            <a:noFill/>
          </a:ln>
        </p:spPr>
      </p:pic>
      <p:sp>
        <p:nvSpPr>
          <p:cNvPr id="886" name="Text 7"/>
          <p:cNvSpPr/>
          <p:nvPr/>
        </p:nvSpPr>
        <p:spPr>
          <a:xfrm>
            <a:off x="8321040" y="1993320"/>
            <a:ext cx="361080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Azure Container Apps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87" name="Image 1" descr="/home/claude/work/icons/check_purple.png"/>
          <p:cNvPicPr/>
          <p:nvPr/>
        </p:nvPicPr>
        <p:blipFill>
          <a:blip r:embed="rId2"/>
          <a:stretch/>
        </p:blipFill>
        <p:spPr>
          <a:xfrm>
            <a:off x="8001000" y="2441520"/>
            <a:ext cx="218520" cy="218520"/>
          </a:xfrm>
          <a:prstGeom prst="rect">
            <a:avLst/>
          </a:prstGeom>
          <a:ln w="0">
            <a:noFill/>
          </a:ln>
        </p:spPr>
      </p:pic>
      <p:sp>
        <p:nvSpPr>
          <p:cNvPr id="888" name="Text 8"/>
          <p:cNvSpPr/>
          <p:nvPr/>
        </p:nvSpPr>
        <p:spPr>
          <a:xfrm>
            <a:off x="8321040" y="2816280"/>
            <a:ext cx="361080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AWS ECS Fargate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89" name="Image 2" descr="/home/claude/work/icons/check_purple.png"/>
          <p:cNvPicPr/>
          <p:nvPr/>
        </p:nvPicPr>
        <p:blipFill>
          <a:blip r:embed="rId3"/>
          <a:stretch/>
        </p:blipFill>
        <p:spPr>
          <a:xfrm>
            <a:off x="8001000" y="2880360"/>
            <a:ext cx="218520" cy="218520"/>
          </a:xfrm>
          <a:prstGeom prst="rect">
            <a:avLst/>
          </a:prstGeom>
          <a:ln w="0">
            <a:noFill/>
          </a:ln>
        </p:spPr>
      </p:pic>
      <p:sp>
        <p:nvSpPr>
          <p:cNvPr id="890" name="Text 9"/>
          <p:cNvSpPr/>
          <p:nvPr/>
        </p:nvSpPr>
        <p:spPr>
          <a:xfrm>
            <a:off x="8321040" y="3237120"/>
            <a:ext cx="361080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Google Cloud Run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1" name="Text 10"/>
          <p:cNvSpPr/>
          <p:nvPr/>
        </p:nvSpPr>
        <p:spPr>
          <a:xfrm>
            <a:off x="7992360" y="3657600"/>
            <a:ext cx="3436920" cy="86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93aac7"/>
                </a:solidFill>
                <a:latin typeface="Calibri"/>
                <a:ea typeface="Calibri"/>
              </a:rPr>
              <a:t>The app stays running, so there's nothing to time out — availability is bounded by traffic, not execution duration.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2" name="Shape 11"/>
          <p:cNvSpPr/>
          <p:nvPr/>
        </p:nvSpPr>
        <p:spPr>
          <a:xfrm>
            <a:off x="502920" y="4800600"/>
            <a:ext cx="11200320" cy="1324800"/>
          </a:xfrm>
          <a:prstGeom prst="roundRect">
            <a:avLst>
              <a:gd name="adj" fmla="val 4571"/>
            </a:avLst>
          </a:prstGeom>
          <a:solidFill>
            <a:srgbClr val="0d2440"/>
          </a:solidFill>
          <a:ln w="9525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3" name="Shape 12"/>
          <p:cNvSpPr/>
          <p:nvPr/>
        </p:nvSpPr>
        <p:spPr>
          <a:xfrm>
            <a:off x="914400" y="5120640"/>
            <a:ext cx="547920" cy="547920"/>
          </a:xfrm>
          <a:prstGeom prst="ellipse">
            <a:avLst/>
          </a:prstGeom>
          <a:solidFill>
            <a:srgbClr val="173a5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94" name="Image 3" descr="/home/claude/work/icons/hourglass_blue.png"/>
          <p:cNvPicPr/>
          <p:nvPr/>
        </p:nvPicPr>
        <p:blipFill>
          <a:blip r:embed="rId4"/>
          <a:stretch/>
        </p:blipFill>
        <p:spPr>
          <a:xfrm rot="82800">
            <a:off x="1071000" y="5243040"/>
            <a:ext cx="312480" cy="312120"/>
          </a:xfrm>
          <a:prstGeom prst="rect">
            <a:avLst/>
          </a:prstGeom>
          <a:ln w="0">
            <a:noFill/>
          </a:ln>
        </p:spPr>
      </p:pic>
      <p:sp>
        <p:nvSpPr>
          <p:cNvPr id="895" name="Text 13"/>
          <p:cNvSpPr/>
          <p:nvPr/>
        </p:nvSpPr>
        <p:spPr>
          <a:xfrm>
            <a:off x="1783080" y="4983480"/>
            <a:ext cx="960012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650" spc="-1" strike="noStrike">
                <a:solidFill>
                  <a:srgbClr val="ffffff"/>
                </a:solidFill>
                <a:latin typeface="Cambria"/>
                <a:ea typeface="Cambria"/>
              </a:rPr>
              <a:t>HTTP Request Timeout ≠ Background Execution Timeout</a:t>
            </a:r>
            <a:endParaRPr b="0" lang="en-US" sz="16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6" name="Text 14"/>
          <p:cNvSpPr/>
          <p:nvPr/>
        </p:nvSpPr>
        <p:spPr>
          <a:xfrm>
            <a:off x="1783080" y="5486400"/>
            <a:ext cx="964584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8ca3be"/>
                </a:solidFill>
                <a:latin typeface="Calibri"/>
                <a:ea typeface="Calibri"/>
              </a:rPr>
              <a:t>A browser may stop waiting for a response long before the underlying Function has actually finished executing. These two timeout mechanisms operate completely independently — designing around this distinction is the foundation of resilient serverless architecture.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7" name="Text 15"/>
          <p:cNvSpPr/>
          <p:nvPr/>
        </p:nvSpPr>
        <p:spPr>
          <a:xfrm>
            <a:off x="502920" y="6519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93aac7"/>
                </a:solidFill>
                <a:latin typeface="Calibri"/>
                <a:ea typeface="Calibri"/>
              </a:rPr>
              <a:t>Execution Timeouts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8" name="Text 16"/>
          <p:cNvSpPr/>
          <p:nvPr/>
        </p:nvSpPr>
        <p:spPr>
          <a:xfrm>
            <a:off x="10817280" y="6519600"/>
            <a:ext cx="8676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93aac7"/>
                </a:solidFill>
                <a:latin typeface="Calibri"/>
                <a:ea typeface="Calibri"/>
              </a:rPr>
              <a:t>17 / 25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99" name="Image 15" descr="/home/claude/work/icons/check_purple.png"/>
          <p:cNvPicPr/>
          <p:nvPr/>
        </p:nvPicPr>
        <p:blipFill>
          <a:blip r:embed="rId5"/>
          <a:stretch/>
        </p:blipFill>
        <p:spPr>
          <a:xfrm>
            <a:off x="8010360" y="3291840"/>
            <a:ext cx="218520" cy="218520"/>
          </a:xfrm>
          <a:prstGeom prst="rect">
            <a:avLst/>
          </a:prstGeom>
          <a:ln w="0">
            <a:noFill/>
          </a:ln>
        </p:spPr>
      </p:pic>
      <p:sp>
        <p:nvSpPr>
          <p:cNvPr id="900" name=""/>
          <p:cNvSpPr/>
          <p:nvPr/>
        </p:nvSpPr>
        <p:spPr>
          <a:xfrm>
            <a:off x="8227080" y="2423160"/>
            <a:ext cx="18306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AWS App Runner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e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Text 0"/>
          <p:cNvSpPr/>
          <p:nvPr/>
        </p:nvSpPr>
        <p:spPr>
          <a:xfrm>
            <a:off x="502920" y="320040"/>
            <a:ext cx="10514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200" spc="194" strike="noStrike">
                <a:solidFill>
                  <a:srgbClr val="7dd3fc"/>
                </a:solidFill>
                <a:latin typeface="Calibri"/>
                <a:ea typeface="Calibri"/>
              </a:rPr>
              <a:t>CHAPTER 2 – TIMEOUT SCENARIOS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2" name="Text 1"/>
          <p:cNvSpPr/>
          <p:nvPr/>
        </p:nvSpPr>
        <p:spPr>
          <a:xfrm>
            <a:off x="502920" y="567000"/>
            <a:ext cx="11154600" cy="56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ffff"/>
                </a:solidFill>
                <a:latin typeface="Cambria"/>
                <a:ea typeface="Cambria"/>
              </a:rPr>
              <a:t>Four Workloads, Four Different Answers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3" name="Shape 2"/>
          <p:cNvSpPr/>
          <p:nvPr/>
        </p:nvSpPr>
        <p:spPr>
          <a:xfrm>
            <a:off x="502920" y="1261800"/>
            <a:ext cx="2714760" cy="3245040"/>
          </a:xfrm>
          <a:prstGeom prst="roundRect">
            <a:avLst>
              <a:gd name="adj" fmla="val 2694"/>
            </a:avLst>
          </a:prstGeom>
          <a:solidFill>
            <a:srgbClr val="16324f"/>
          </a:solidFill>
          <a:ln w="9525">
            <a:solidFill>
              <a:srgbClr val="2747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4" name="Shape 3"/>
          <p:cNvSpPr/>
          <p:nvPr/>
        </p:nvSpPr>
        <p:spPr>
          <a:xfrm>
            <a:off x="1549800" y="1481400"/>
            <a:ext cx="620640" cy="620640"/>
          </a:xfrm>
          <a:prstGeom prst="ellipse">
            <a:avLst/>
          </a:prstGeom>
          <a:solidFill>
            <a:srgbClr val="173a5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905" name="Image 0" descr="/home/claude/work/icons/leave_blue.png"/>
          <p:cNvPicPr/>
          <p:nvPr/>
        </p:nvPicPr>
        <p:blipFill>
          <a:blip r:embed="rId1"/>
          <a:stretch/>
        </p:blipFill>
        <p:spPr>
          <a:xfrm>
            <a:off x="1699200" y="1630440"/>
            <a:ext cx="322200" cy="322200"/>
          </a:xfrm>
          <a:prstGeom prst="rect">
            <a:avLst/>
          </a:prstGeom>
          <a:ln w="0">
            <a:noFill/>
          </a:ln>
        </p:spPr>
      </p:pic>
      <p:sp>
        <p:nvSpPr>
          <p:cNvPr id="906" name="Text 4"/>
          <p:cNvSpPr/>
          <p:nvPr/>
        </p:nvSpPr>
        <p:spPr>
          <a:xfrm>
            <a:off x="594360" y="2221920"/>
            <a:ext cx="253188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ffffff"/>
                </a:solidFill>
                <a:latin typeface="Cambria"/>
                <a:ea typeface="Cambria"/>
              </a:rPr>
              <a:t>Leave Application</a:t>
            </a:r>
            <a:endParaRPr b="0" lang="en-US" sz="14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7" name="Shape 5"/>
          <p:cNvSpPr/>
          <p:nvPr/>
        </p:nvSpPr>
        <p:spPr>
          <a:xfrm>
            <a:off x="667440" y="2724840"/>
            <a:ext cx="2385360" cy="364680"/>
          </a:xfrm>
          <a:prstGeom prst="roundRect">
            <a:avLst>
              <a:gd name="adj" fmla="val 50000"/>
            </a:avLst>
          </a:prstGeom>
          <a:solidFill>
            <a:srgbClr val="173a5c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8" name="Text 6"/>
          <p:cNvSpPr/>
          <p:nvPr/>
        </p:nvSpPr>
        <p:spPr>
          <a:xfrm>
            <a:off x="667440" y="2724840"/>
            <a:ext cx="23853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ea5e9"/>
                </a:solidFill>
                <a:latin typeface="Calibri"/>
                <a:ea typeface="Calibri"/>
              </a:rPr>
              <a:t>Instant HTTP Response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9" name="Text 7"/>
          <p:cNvSpPr/>
          <p:nvPr/>
        </p:nvSpPr>
        <p:spPr>
          <a:xfrm>
            <a:off x="667440" y="3383280"/>
            <a:ext cx="2385360" cy="11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8ca3be"/>
                </a:solidFill>
                <a:latin typeface="Calibri"/>
                <a:ea typeface="Calibri"/>
              </a:rPr>
              <a:t>A simple REST call completes in well under a second — no special timeout handling required.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0" name="Shape 8"/>
          <p:cNvSpPr/>
          <p:nvPr/>
        </p:nvSpPr>
        <p:spPr>
          <a:xfrm>
            <a:off x="3364920" y="1261800"/>
            <a:ext cx="2714760" cy="3245040"/>
          </a:xfrm>
          <a:prstGeom prst="roundRect">
            <a:avLst>
              <a:gd name="adj" fmla="val 2694"/>
            </a:avLst>
          </a:prstGeom>
          <a:solidFill>
            <a:srgbClr val="16324f"/>
          </a:solidFill>
          <a:ln w="9525">
            <a:solidFill>
              <a:srgbClr val="2747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1" name="Shape 9"/>
          <p:cNvSpPr/>
          <p:nvPr/>
        </p:nvSpPr>
        <p:spPr>
          <a:xfrm>
            <a:off x="4412160" y="1481400"/>
            <a:ext cx="620640" cy="620640"/>
          </a:xfrm>
          <a:prstGeom prst="ellipse">
            <a:avLst/>
          </a:prstGeom>
          <a:solidFill>
            <a:srgbClr val="2a255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912" name="Image 1" descr="/home/claude/work/icons/payroll_purple.png"/>
          <p:cNvPicPr/>
          <p:nvPr/>
        </p:nvPicPr>
        <p:blipFill>
          <a:blip r:embed="rId2"/>
          <a:stretch/>
        </p:blipFill>
        <p:spPr>
          <a:xfrm>
            <a:off x="4561200" y="1630440"/>
            <a:ext cx="322200" cy="322200"/>
          </a:xfrm>
          <a:prstGeom prst="rect">
            <a:avLst/>
          </a:prstGeom>
          <a:ln w="0">
            <a:noFill/>
          </a:ln>
        </p:spPr>
      </p:pic>
      <p:sp>
        <p:nvSpPr>
          <p:cNvPr id="913" name="Text 10"/>
          <p:cNvSpPr/>
          <p:nvPr/>
        </p:nvSpPr>
        <p:spPr>
          <a:xfrm>
            <a:off x="3456360" y="2221920"/>
            <a:ext cx="253188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ffffff"/>
                </a:solidFill>
                <a:latin typeface="Cambria"/>
                <a:ea typeface="Cambria"/>
              </a:rPr>
              <a:t>Monthly Payroll</a:t>
            </a:r>
            <a:endParaRPr b="0" lang="en-US" sz="14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4" name="Shape 11"/>
          <p:cNvSpPr/>
          <p:nvPr/>
        </p:nvSpPr>
        <p:spPr>
          <a:xfrm>
            <a:off x="3529440" y="2724840"/>
            <a:ext cx="2385360" cy="364680"/>
          </a:xfrm>
          <a:prstGeom prst="roundRect">
            <a:avLst>
              <a:gd name="adj" fmla="val 50000"/>
            </a:avLst>
          </a:prstGeom>
          <a:solidFill>
            <a:srgbClr val="2a2559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5" name="Text 12"/>
          <p:cNvSpPr/>
          <p:nvPr/>
        </p:nvSpPr>
        <p:spPr>
          <a:xfrm>
            <a:off x="3529440" y="2724840"/>
            <a:ext cx="23853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a78bfa"/>
                </a:solidFill>
                <a:latin typeface="Calibri"/>
                <a:ea typeface="Calibri"/>
              </a:rPr>
              <a:t>Background Function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6" name="Text 13"/>
          <p:cNvSpPr/>
          <p:nvPr/>
        </p:nvSpPr>
        <p:spPr>
          <a:xfrm>
            <a:off x="3529440" y="3383280"/>
            <a:ext cx="2385360" cy="11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8ca3be"/>
                </a:solidFill>
                <a:latin typeface="Calibri"/>
                <a:ea typeface="Calibri"/>
              </a:rPr>
              <a:t>Salary calculations and report generation can take minutes — triggered by a timer, independent of any waiting user.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7" name="Shape 14"/>
          <p:cNvSpPr/>
          <p:nvPr/>
        </p:nvSpPr>
        <p:spPr>
          <a:xfrm>
            <a:off x="6226920" y="1261800"/>
            <a:ext cx="2714760" cy="3245040"/>
          </a:xfrm>
          <a:prstGeom prst="roundRect">
            <a:avLst>
              <a:gd name="adj" fmla="val 2694"/>
            </a:avLst>
          </a:prstGeom>
          <a:solidFill>
            <a:srgbClr val="16324f"/>
          </a:solidFill>
          <a:ln w="9525">
            <a:solidFill>
              <a:srgbClr val="2747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8" name="Shape 15"/>
          <p:cNvSpPr/>
          <p:nvPr/>
        </p:nvSpPr>
        <p:spPr>
          <a:xfrm>
            <a:off x="7274160" y="1481400"/>
            <a:ext cx="620640" cy="620640"/>
          </a:xfrm>
          <a:prstGeom prst="ellipse">
            <a:avLst/>
          </a:prstGeom>
          <a:solidFill>
            <a:srgbClr val="2a255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919" name="Image 2" descr="/home/claude/work/icons/video_purple.png"/>
          <p:cNvPicPr/>
          <p:nvPr/>
        </p:nvPicPr>
        <p:blipFill>
          <a:blip r:embed="rId3"/>
          <a:stretch/>
        </p:blipFill>
        <p:spPr>
          <a:xfrm>
            <a:off x="7423200" y="1630440"/>
            <a:ext cx="322200" cy="322200"/>
          </a:xfrm>
          <a:prstGeom prst="rect">
            <a:avLst/>
          </a:prstGeom>
          <a:ln w="0">
            <a:noFill/>
          </a:ln>
        </p:spPr>
      </p:pic>
      <p:sp>
        <p:nvSpPr>
          <p:cNvPr id="920" name="Text 16"/>
          <p:cNvSpPr/>
          <p:nvPr/>
        </p:nvSpPr>
        <p:spPr>
          <a:xfrm>
            <a:off x="6318360" y="2221920"/>
            <a:ext cx="253188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ffffff"/>
                </a:solidFill>
                <a:latin typeface="Cambria"/>
                <a:ea typeface="Cambria"/>
              </a:rPr>
              <a:t>AI Video Upload</a:t>
            </a:r>
            <a:endParaRPr b="0" lang="en-US" sz="14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1" name="Shape 17"/>
          <p:cNvSpPr/>
          <p:nvPr/>
        </p:nvSpPr>
        <p:spPr>
          <a:xfrm>
            <a:off x="6391800" y="2724840"/>
            <a:ext cx="2385360" cy="364680"/>
          </a:xfrm>
          <a:prstGeom prst="roundRect">
            <a:avLst>
              <a:gd name="adj" fmla="val 50000"/>
            </a:avLst>
          </a:prstGeom>
          <a:solidFill>
            <a:srgbClr val="2a2559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2" name="Text 18"/>
          <p:cNvSpPr/>
          <p:nvPr/>
        </p:nvSpPr>
        <p:spPr>
          <a:xfrm>
            <a:off x="6391800" y="2724840"/>
            <a:ext cx="23853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a78bfa"/>
                </a:solidFill>
                <a:latin typeface="Calibri"/>
                <a:ea typeface="Calibri"/>
              </a:rPr>
              <a:t>Function + SSE Progress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3" name="Text 19"/>
          <p:cNvSpPr/>
          <p:nvPr/>
        </p:nvSpPr>
        <p:spPr>
          <a:xfrm>
            <a:off x="6391800" y="3383280"/>
            <a:ext cx="2385360" cy="11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8ca3be"/>
                </a:solidFill>
                <a:latin typeface="Calibri"/>
                <a:ea typeface="Calibri"/>
              </a:rPr>
              <a:t>Processing runs 20–30 minutes, so the upload is accepted instantly while SSE streams progress back to the browser.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4" name="Shape 20"/>
          <p:cNvSpPr/>
          <p:nvPr/>
        </p:nvSpPr>
        <p:spPr>
          <a:xfrm>
            <a:off x="9089280" y="1261800"/>
            <a:ext cx="2714760" cy="3245040"/>
          </a:xfrm>
          <a:prstGeom prst="roundRect">
            <a:avLst>
              <a:gd name="adj" fmla="val 2694"/>
            </a:avLst>
          </a:prstGeom>
          <a:solidFill>
            <a:srgbClr val="16324f"/>
          </a:solidFill>
          <a:ln w="9525">
            <a:solidFill>
              <a:srgbClr val="2747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5" name="Shape 21"/>
          <p:cNvSpPr/>
          <p:nvPr/>
        </p:nvSpPr>
        <p:spPr>
          <a:xfrm>
            <a:off x="10136160" y="1481400"/>
            <a:ext cx="620640" cy="620640"/>
          </a:xfrm>
          <a:prstGeom prst="ellipse">
            <a:avLst/>
          </a:prstGeom>
          <a:solidFill>
            <a:srgbClr val="1038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926" name="Image 3" descr="/home/claude/work/icons/chat_green.png"/>
          <p:cNvPicPr/>
          <p:nvPr/>
        </p:nvPicPr>
        <p:blipFill>
          <a:blip r:embed="rId4"/>
          <a:stretch/>
        </p:blipFill>
        <p:spPr>
          <a:xfrm>
            <a:off x="10285200" y="1630440"/>
            <a:ext cx="322200" cy="322200"/>
          </a:xfrm>
          <a:prstGeom prst="rect">
            <a:avLst/>
          </a:prstGeom>
          <a:ln w="0">
            <a:noFill/>
          </a:ln>
        </p:spPr>
      </p:pic>
      <p:sp>
        <p:nvSpPr>
          <p:cNvPr id="927" name="Text 22"/>
          <p:cNvSpPr/>
          <p:nvPr/>
        </p:nvSpPr>
        <p:spPr>
          <a:xfrm>
            <a:off x="9180720" y="2221920"/>
            <a:ext cx="253188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ffffff"/>
                </a:solidFill>
                <a:latin typeface="Cambria"/>
                <a:ea typeface="Cambria"/>
              </a:rPr>
              <a:t>Chat Application</a:t>
            </a:r>
            <a:endParaRPr b="0" lang="en-US" sz="14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8" name="Shape 23"/>
          <p:cNvSpPr/>
          <p:nvPr/>
        </p:nvSpPr>
        <p:spPr>
          <a:xfrm>
            <a:off x="9253800" y="2724840"/>
            <a:ext cx="2385360" cy="364680"/>
          </a:xfrm>
          <a:prstGeom prst="roundRect">
            <a:avLst>
              <a:gd name="adj" fmla="val 50000"/>
            </a:avLst>
          </a:prstGeom>
          <a:solidFill>
            <a:srgbClr val="10382e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9" name="Text 24"/>
          <p:cNvSpPr/>
          <p:nvPr/>
        </p:nvSpPr>
        <p:spPr>
          <a:xfrm>
            <a:off x="9253800" y="2724840"/>
            <a:ext cx="23853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34d399"/>
                </a:solidFill>
                <a:latin typeface="Calibri"/>
                <a:ea typeface="Calibri"/>
              </a:rPr>
              <a:t>Always-On Container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0" name="Text 25"/>
          <p:cNvSpPr/>
          <p:nvPr/>
        </p:nvSpPr>
        <p:spPr>
          <a:xfrm>
            <a:off x="9253800" y="3383280"/>
            <a:ext cx="2385360" cy="11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8ca3be"/>
                </a:solidFill>
                <a:latin typeface="Calibri"/>
                <a:ea typeface="Calibri"/>
              </a:rPr>
              <a:t>Messages must flow instantly in both directions — this needs a persistent connection, not a timed execution.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1" name="Shape 26"/>
          <p:cNvSpPr/>
          <p:nvPr/>
        </p:nvSpPr>
        <p:spPr>
          <a:xfrm>
            <a:off x="502920" y="4709160"/>
            <a:ext cx="11200320" cy="1562400"/>
          </a:xfrm>
          <a:prstGeom prst="roundRect">
            <a:avLst>
              <a:gd name="adj" fmla="val 4678"/>
            </a:avLst>
          </a:prstGeom>
          <a:solidFill>
            <a:srgbClr val="0d2440"/>
          </a:solidFill>
          <a:ln w="9525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2" name="Shape 27"/>
          <p:cNvSpPr/>
          <p:nvPr/>
        </p:nvSpPr>
        <p:spPr>
          <a:xfrm>
            <a:off x="777240" y="5257800"/>
            <a:ext cx="456120" cy="456120"/>
          </a:xfrm>
          <a:prstGeom prst="ellipse">
            <a:avLst/>
          </a:prstGeom>
          <a:solidFill>
            <a:srgbClr val="3a2e1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933" name="Image 4" descr="/home/claude/work/icons/lightbulb_amber.png"/>
          <p:cNvPicPr/>
          <p:nvPr/>
        </p:nvPicPr>
        <p:blipFill>
          <a:blip r:embed="rId5"/>
          <a:stretch/>
        </p:blipFill>
        <p:spPr>
          <a:xfrm>
            <a:off x="914400" y="5358240"/>
            <a:ext cx="236520" cy="236520"/>
          </a:xfrm>
          <a:prstGeom prst="rect">
            <a:avLst/>
          </a:prstGeom>
          <a:ln w="0">
            <a:noFill/>
          </a:ln>
        </p:spPr>
      </p:pic>
      <p:sp>
        <p:nvSpPr>
          <p:cNvPr id="934" name="Text 28"/>
          <p:cNvSpPr/>
          <p:nvPr/>
        </p:nvSpPr>
        <p:spPr>
          <a:xfrm>
            <a:off x="1371600" y="4709160"/>
            <a:ext cx="9965880" cy="156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mbria"/>
                <a:ea typeface="Cambria"/>
              </a:rPr>
              <a:t>The right compute model depends on how long the work takes — and who's waiting for the result.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5" name="Text 29"/>
          <p:cNvSpPr/>
          <p:nvPr/>
        </p:nvSpPr>
        <p:spPr>
          <a:xfrm>
            <a:off x="502920" y="6519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93aac7"/>
                </a:solidFill>
                <a:latin typeface="Calibri"/>
                <a:ea typeface="Calibri"/>
              </a:rPr>
              <a:t>Timeout Scenarios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6" name="Text 30"/>
          <p:cNvSpPr/>
          <p:nvPr/>
        </p:nvSpPr>
        <p:spPr>
          <a:xfrm>
            <a:off x="10817280" y="6519600"/>
            <a:ext cx="8676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93aac7"/>
                </a:solidFill>
                <a:latin typeface="Calibri"/>
                <a:ea typeface="Calibri"/>
              </a:rPr>
              <a:t>18 / 25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e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7" name="Text 0"/>
          <p:cNvSpPr/>
          <p:nvPr/>
        </p:nvSpPr>
        <p:spPr>
          <a:xfrm>
            <a:off x="502920" y="320040"/>
            <a:ext cx="10514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200" spc="194" strike="noStrike">
                <a:solidFill>
                  <a:srgbClr val="7dd3fc"/>
                </a:solidFill>
                <a:latin typeface="Calibri"/>
                <a:ea typeface="Calibri"/>
              </a:rPr>
              <a:t>CHAPTER 3 – COLD STARTS &amp; SCALING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8" name="Text 1"/>
          <p:cNvSpPr/>
          <p:nvPr/>
        </p:nvSpPr>
        <p:spPr>
          <a:xfrm>
            <a:off x="502920" y="567000"/>
            <a:ext cx="11154600" cy="56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ffff"/>
                </a:solidFill>
                <a:latin typeface="Cambria"/>
                <a:ea typeface="Cambria"/>
              </a:rPr>
              <a:t>The Vocabulary of Automatic Scaling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9" name="Shape 2"/>
          <p:cNvSpPr/>
          <p:nvPr/>
        </p:nvSpPr>
        <p:spPr>
          <a:xfrm>
            <a:off x="502920" y="1280160"/>
            <a:ext cx="456120" cy="456120"/>
          </a:xfrm>
          <a:prstGeom prst="ellipse">
            <a:avLst/>
          </a:prstGeom>
          <a:solidFill>
            <a:srgbClr val="173a5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940" name="Image 0" descr="/home/claude/work/icons/bolt_blue.png"/>
          <p:cNvPicPr/>
          <p:nvPr/>
        </p:nvPicPr>
        <p:blipFill>
          <a:blip r:embed="rId1"/>
          <a:stretch/>
        </p:blipFill>
        <p:spPr>
          <a:xfrm>
            <a:off x="667440" y="1389960"/>
            <a:ext cx="236520" cy="236520"/>
          </a:xfrm>
          <a:prstGeom prst="rect">
            <a:avLst/>
          </a:prstGeom>
          <a:ln w="0">
            <a:noFill/>
          </a:ln>
        </p:spPr>
      </p:pic>
      <p:sp>
        <p:nvSpPr>
          <p:cNvPr id="941" name="Text 3"/>
          <p:cNvSpPr/>
          <p:nvPr/>
        </p:nvSpPr>
        <p:spPr>
          <a:xfrm>
            <a:off x="1124640" y="1261800"/>
            <a:ext cx="48178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mbria"/>
                <a:ea typeface="Cambria"/>
              </a:rPr>
              <a:t>Cold Start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2" name="Text 4"/>
          <p:cNvSpPr/>
          <p:nvPr/>
        </p:nvSpPr>
        <p:spPr>
          <a:xfrm>
            <a:off x="1124640" y="1536120"/>
            <a:ext cx="481788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8ca3be"/>
                </a:solidFill>
                <a:latin typeface="Calibri"/>
                <a:ea typeface="Calibri"/>
              </a:rPr>
              <a:t>New compute is provisioned from zero before the first request can be served.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3" name="Shape 5"/>
          <p:cNvSpPr/>
          <p:nvPr/>
        </p:nvSpPr>
        <p:spPr>
          <a:xfrm>
            <a:off x="6263640" y="1280160"/>
            <a:ext cx="456120" cy="456120"/>
          </a:xfrm>
          <a:prstGeom prst="ellipse">
            <a:avLst/>
          </a:prstGeom>
          <a:solidFill>
            <a:srgbClr val="1038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944" name="Image 1" descr="/home/claude/work/icons/fire_green.png"/>
          <p:cNvPicPr/>
          <p:nvPr/>
        </p:nvPicPr>
        <p:blipFill>
          <a:blip r:embed="rId2"/>
          <a:stretch/>
        </p:blipFill>
        <p:spPr>
          <a:xfrm>
            <a:off x="6400800" y="1389960"/>
            <a:ext cx="236520" cy="236520"/>
          </a:xfrm>
          <a:prstGeom prst="rect">
            <a:avLst/>
          </a:prstGeom>
          <a:ln w="0">
            <a:noFill/>
          </a:ln>
        </p:spPr>
      </p:pic>
      <p:sp>
        <p:nvSpPr>
          <p:cNvPr id="945" name="Text 6"/>
          <p:cNvSpPr/>
          <p:nvPr/>
        </p:nvSpPr>
        <p:spPr>
          <a:xfrm>
            <a:off x="6885360" y="1261800"/>
            <a:ext cx="48178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mbria"/>
                <a:ea typeface="Cambria"/>
              </a:rPr>
              <a:t>Warm Instance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6" name="Text 7"/>
          <p:cNvSpPr/>
          <p:nvPr/>
        </p:nvSpPr>
        <p:spPr>
          <a:xfrm>
            <a:off x="6885360" y="1536120"/>
            <a:ext cx="481788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8ca3be"/>
                </a:solidFill>
                <a:latin typeface="Calibri"/>
                <a:ea typeface="Calibri"/>
              </a:rPr>
              <a:t>An already-running environment that serves requests instantly, no startup needed.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7" name="Shape 8"/>
          <p:cNvSpPr/>
          <p:nvPr/>
        </p:nvSpPr>
        <p:spPr>
          <a:xfrm>
            <a:off x="502920" y="2121480"/>
            <a:ext cx="456120" cy="456120"/>
          </a:xfrm>
          <a:prstGeom prst="ellipse">
            <a:avLst/>
          </a:prstGeom>
          <a:solidFill>
            <a:srgbClr val="2a255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948" name="Image 2" descr="/home/claude/work/icons/snowflake_purple.png"/>
          <p:cNvPicPr/>
          <p:nvPr/>
        </p:nvPicPr>
        <p:blipFill>
          <a:blip r:embed="rId3"/>
          <a:stretch/>
        </p:blipFill>
        <p:spPr>
          <a:xfrm>
            <a:off x="621720" y="2231280"/>
            <a:ext cx="236520" cy="236520"/>
          </a:xfrm>
          <a:prstGeom prst="rect">
            <a:avLst/>
          </a:prstGeom>
          <a:ln w="0">
            <a:noFill/>
          </a:ln>
        </p:spPr>
      </p:pic>
      <p:sp>
        <p:nvSpPr>
          <p:cNvPr id="949" name="Text 9"/>
          <p:cNvSpPr/>
          <p:nvPr/>
        </p:nvSpPr>
        <p:spPr>
          <a:xfrm>
            <a:off x="1124640" y="2103120"/>
            <a:ext cx="48178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mbria"/>
                <a:ea typeface="Cambria"/>
              </a:rPr>
              <a:t>Scale to Zero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0" name="Text 10"/>
          <p:cNvSpPr/>
          <p:nvPr/>
        </p:nvSpPr>
        <p:spPr>
          <a:xfrm>
            <a:off x="1124640" y="2377440"/>
            <a:ext cx="481788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8ca3be"/>
                </a:solidFill>
                <a:latin typeface="Calibri"/>
                <a:ea typeface="Calibri"/>
              </a:rPr>
              <a:t>All compute is automatically removed once traffic stops — and billing stops with it.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1" name="Shape 11"/>
          <p:cNvSpPr/>
          <p:nvPr/>
        </p:nvSpPr>
        <p:spPr>
          <a:xfrm>
            <a:off x="6263640" y="2121480"/>
            <a:ext cx="456120" cy="456120"/>
          </a:xfrm>
          <a:prstGeom prst="ellipse">
            <a:avLst/>
          </a:prstGeom>
          <a:solidFill>
            <a:srgbClr val="3a2e1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952" name="Image 3" descr="/home/claude/work/icons/pause_amber.png"/>
          <p:cNvPicPr/>
          <p:nvPr/>
        </p:nvPicPr>
        <p:blipFill>
          <a:blip r:embed="rId4"/>
          <a:stretch/>
        </p:blipFill>
        <p:spPr>
          <a:xfrm>
            <a:off x="6373440" y="2231280"/>
            <a:ext cx="236520" cy="236520"/>
          </a:xfrm>
          <a:prstGeom prst="rect">
            <a:avLst/>
          </a:prstGeom>
          <a:ln w="0">
            <a:noFill/>
          </a:ln>
        </p:spPr>
      </p:pic>
      <p:sp>
        <p:nvSpPr>
          <p:cNvPr id="953" name="Text 12"/>
          <p:cNvSpPr/>
          <p:nvPr/>
        </p:nvSpPr>
        <p:spPr>
          <a:xfrm>
            <a:off x="6885360" y="2103120"/>
            <a:ext cx="48178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mbria"/>
                <a:ea typeface="Cambria"/>
              </a:rPr>
              <a:t>Cooldown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4" name="Text 13"/>
          <p:cNvSpPr/>
          <p:nvPr/>
        </p:nvSpPr>
        <p:spPr>
          <a:xfrm>
            <a:off x="6885360" y="2377440"/>
            <a:ext cx="481788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8ca3be"/>
                </a:solidFill>
                <a:latin typeface="Calibri"/>
                <a:ea typeface="Calibri"/>
              </a:rPr>
              <a:t>The idle window a platform waits before it actually scales instances down.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5" name="Shape 14"/>
          <p:cNvSpPr/>
          <p:nvPr/>
        </p:nvSpPr>
        <p:spPr>
          <a:xfrm>
            <a:off x="502920" y="2962800"/>
            <a:ext cx="456120" cy="456120"/>
          </a:xfrm>
          <a:prstGeom prst="ellipse">
            <a:avLst/>
          </a:prstGeom>
          <a:solidFill>
            <a:srgbClr val="173a5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956" name="Image 4" descr="/home/claude/work/icons/radar_blue.png"/>
          <p:cNvPicPr/>
          <p:nvPr/>
        </p:nvPicPr>
        <p:blipFill>
          <a:blip r:embed="rId5"/>
          <a:stretch/>
        </p:blipFill>
        <p:spPr>
          <a:xfrm>
            <a:off x="612720" y="3072240"/>
            <a:ext cx="236520" cy="236520"/>
          </a:xfrm>
          <a:prstGeom prst="rect">
            <a:avLst/>
          </a:prstGeom>
          <a:ln w="0">
            <a:noFill/>
          </a:ln>
        </p:spPr>
      </p:pic>
      <p:sp>
        <p:nvSpPr>
          <p:cNvPr id="957" name="Text 15"/>
          <p:cNvSpPr/>
          <p:nvPr/>
        </p:nvSpPr>
        <p:spPr>
          <a:xfrm>
            <a:off x="1124640" y="2944440"/>
            <a:ext cx="48178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mbria"/>
                <a:ea typeface="Cambria"/>
              </a:rPr>
              <a:t>Polling Interval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8" name="Text 16"/>
          <p:cNvSpPr/>
          <p:nvPr/>
        </p:nvSpPr>
        <p:spPr>
          <a:xfrm>
            <a:off x="1124640" y="3218760"/>
            <a:ext cx="481788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8ca3be"/>
                </a:solidFill>
                <a:latin typeface="Calibri"/>
                <a:ea typeface="Calibri"/>
              </a:rPr>
              <a:t>How often the autoscaler checks metrics to decide whether to scale.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9" name="Shape 17"/>
          <p:cNvSpPr/>
          <p:nvPr/>
        </p:nvSpPr>
        <p:spPr>
          <a:xfrm>
            <a:off x="6263640" y="2962800"/>
            <a:ext cx="456120" cy="456120"/>
          </a:xfrm>
          <a:prstGeom prst="ellipse">
            <a:avLst/>
          </a:prstGeom>
          <a:solidFill>
            <a:srgbClr val="2a255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960" name="Image 5" descr="/home/claude/work/icons/battery_purple.png"/>
          <p:cNvPicPr/>
          <p:nvPr/>
        </p:nvPicPr>
        <p:blipFill>
          <a:blip r:embed="rId6"/>
          <a:stretch/>
        </p:blipFill>
        <p:spPr>
          <a:xfrm>
            <a:off x="6373440" y="3072240"/>
            <a:ext cx="236520" cy="236520"/>
          </a:xfrm>
          <a:prstGeom prst="rect">
            <a:avLst/>
          </a:prstGeom>
          <a:ln w="0">
            <a:noFill/>
          </a:ln>
        </p:spPr>
      </p:pic>
      <p:sp>
        <p:nvSpPr>
          <p:cNvPr id="961" name="Text 18"/>
          <p:cNvSpPr/>
          <p:nvPr/>
        </p:nvSpPr>
        <p:spPr>
          <a:xfrm>
            <a:off x="6885360" y="2944440"/>
            <a:ext cx="48178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mbria"/>
                <a:ea typeface="Cambria"/>
              </a:rPr>
              <a:t>Provisioned Concurrency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2" name="Text 19"/>
          <p:cNvSpPr/>
          <p:nvPr/>
        </p:nvSpPr>
        <p:spPr>
          <a:xfrm>
            <a:off x="6885360" y="3218760"/>
            <a:ext cx="481788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8ca3be"/>
                </a:solidFill>
                <a:latin typeface="Calibri"/>
                <a:ea typeface="Calibri"/>
              </a:rPr>
              <a:t>Pre-warmed environments kept ready on standby to avoid cold starts entirely.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3" name="Shape 20"/>
          <p:cNvSpPr/>
          <p:nvPr/>
        </p:nvSpPr>
        <p:spPr>
          <a:xfrm>
            <a:off x="502920" y="3895200"/>
            <a:ext cx="11201400" cy="360"/>
          </a:xfrm>
          <a:prstGeom prst="line">
            <a:avLst/>
          </a:prstGeom>
          <a:ln w="12700">
            <a:solidFill>
              <a:srgbClr val="2747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4" name="Text 21"/>
          <p:cNvSpPr/>
          <p:nvPr/>
        </p:nvSpPr>
        <p:spPr>
          <a:xfrm>
            <a:off x="502920" y="4023360"/>
            <a:ext cx="54853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200" spc="143" strike="noStrike">
                <a:solidFill>
                  <a:srgbClr val="7dd3fc"/>
                </a:solidFill>
                <a:latin typeface="Calibri"/>
                <a:ea typeface="Calibri"/>
              </a:rPr>
              <a:t>REQUEST LIFECYCLE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5" name="Shape 22"/>
          <p:cNvSpPr/>
          <p:nvPr/>
        </p:nvSpPr>
        <p:spPr>
          <a:xfrm>
            <a:off x="502920" y="4343400"/>
            <a:ext cx="1964880" cy="1233360"/>
          </a:xfrm>
          <a:prstGeom prst="roundRect">
            <a:avLst>
              <a:gd name="adj" fmla="val 5926"/>
            </a:avLst>
          </a:prstGeom>
          <a:solidFill>
            <a:srgbClr val="0d2440"/>
          </a:solidFill>
          <a:ln w="9525">
            <a:solidFill>
              <a:srgbClr val="2747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6" name="Shape 23"/>
          <p:cNvSpPr/>
          <p:nvPr/>
        </p:nvSpPr>
        <p:spPr>
          <a:xfrm>
            <a:off x="1248120" y="4572000"/>
            <a:ext cx="474480" cy="474480"/>
          </a:xfrm>
          <a:prstGeom prst="ellipse">
            <a:avLst/>
          </a:prstGeom>
          <a:solidFill>
            <a:srgbClr val="173a5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967" name="Image 6" descr="/home/claude/work/icons/arrowright_blue.png"/>
          <p:cNvPicPr/>
          <p:nvPr/>
        </p:nvPicPr>
        <p:blipFill>
          <a:blip r:embed="rId7"/>
          <a:stretch/>
        </p:blipFill>
        <p:spPr>
          <a:xfrm>
            <a:off x="1380600" y="4690800"/>
            <a:ext cx="246240" cy="246240"/>
          </a:xfrm>
          <a:prstGeom prst="rect">
            <a:avLst/>
          </a:prstGeom>
          <a:ln w="0">
            <a:noFill/>
          </a:ln>
        </p:spPr>
      </p:pic>
      <p:sp>
        <p:nvSpPr>
          <p:cNvPr id="968" name="Text 24"/>
          <p:cNvSpPr/>
          <p:nvPr/>
        </p:nvSpPr>
        <p:spPr>
          <a:xfrm>
            <a:off x="502920" y="5212440"/>
            <a:ext cx="196488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Request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969" name="Image 7" descr="/home/claude/work/icons/arrowright_blue.png"/>
          <p:cNvPicPr/>
          <p:nvPr/>
        </p:nvPicPr>
        <p:blipFill>
          <a:blip r:embed="rId8"/>
          <a:stretch/>
        </p:blipFill>
        <p:spPr>
          <a:xfrm>
            <a:off x="2496240" y="4860000"/>
            <a:ext cx="200160" cy="200160"/>
          </a:xfrm>
          <a:prstGeom prst="rect">
            <a:avLst/>
          </a:prstGeom>
          <a:ln w="0">
            <a:noFill/>
          </a:ln>
        </p:spPr>
      </p:pic>
      <p:sp>
        <p:nvSpPr>
          <p:cNvPr id="970" name="Shape 25"/>
          <p:cNvSpPr/>
          <p:nvPr/>
        </p:nvSpPr>
        <p:spPr>
          <a:xfrm>
            <a:off x="2724840" y="4343400"/>
            <a:ext cx="1964880" cy="1233360"/>
          </a:xfrm>
          <a:prstGeom prst="roundRect">
            <a:avLst>
              <a:gd name="adj" fmla="val 5926"/>
            </a:avLst>
          </a:prstGeom>
          <a:solidFill>
            <a:srgbClr val="0d2440"/>
          </a:solidFill>
          <a:ln w="9525">
            <a:solidFill>
              <a:srgbClr val="2747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1" name="Shape 26"/>
          <p:cNvSpPr/>
          <p:nvPr/>
        </p:nvSpPr>
        <p:spPr>
          <a:xfrm>
            <a:off x="3470040" y="4572000"/>
            <a:ext cx="474480" cy="474480"/>
          </a:xfrm>
          <a:prstGeom prst="ellipse">
            <a:avLst/>
          </a:prstGeom>
          <a:solidFill>
            <a:srgbClr val="3a2e1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972" name="Image 8" descr="/home/claude/work/icons/bolt_amber.png"/>
          <p:cNvPicPr/>
          <p:nvPr/>
        </p:nvPicPr>
        <p:blipFill>
          <a:blip r:embed="rId9"/>
          <a:stretch/>
        </p:blipFill>
        <p:spPr>
          <a:xfrm>
            <a:off x="3639240" y="4681800"/>
            <a:ext cx="246240" cy="246240"/>
          </a:xfrm>
          <a:prstGeom prst="rect">
            <a:avLst/>
          </a:prstGeom>
          <a:ln w="0">
            <a:noFill/>
          </a:ln>
        </p:spPr>
      </p:pic>
      <p:sp>
        <p:nvSpPr>
          <p:cNvPr id="973" name="Text 27"/>
          <p:cNvSpPr/>
          <p:nvPr/>
        </p:nvSpPr>
        <p:spPr>
          <a:xfrm>
            <a:off x="2770560" y="5212080"/>
            <a:ext cx="18734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Cold Start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974" name="Image 9" descr="/home/claude/work/icons/arrowright_blue.png"/>
          <p:cNvPicPr/>
          <p:nvPr/>
        </p:nvPicPr>
        <p:blipFill>
          <a:blip r:embed="rId10"/>
          <a:stretch/>
        </p:blipFill>
        <p:spPr>
          <a:xfrm>
            <a:off x="4718160" y="4860000"/>
            <a:ext cx="200160" cy="200160"/>
          </a:xfrm>
          <a:prstGeom prst="rect">
            <a:avLst/>
          </a:prstGeom>
          <a:ln w="0">
            <a:noFill/>
          </a:ln>
        </p:spPr>
      </p:pic>
      <p:sp>
        <p:nvSpPr>
          <p:cNvPr id="975" name="Shape 28"/>
          <p:cNvSpPr/>
          <p:nvPr/>
        </p:nvSpPr>
        <p:spPr>
          <a:xfrm>
            <a:off x="4946760" y="4343400"/>
            <a:ext cx="1964880" cy="1233360"/>
          </a:xfrm>
          <a:prstGeom prst="roundRect">
            <a:avLst>
              <a:gd name="adj" fmla="val 5926"/>
            </a:avLst>
          </a:prstGeom>
          <a:solidFill>
            <a:srgbClr val="0d2440"/>
          </a:solidFill>
          <a:ln w="9525">
            <a:solidFill>
              <a:srgbClr val="2747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6" name="Shape 29"/>
          <p:cNvSpPr/>
          <p:nvPr/>
        </p:nvSpPr>
        <p:spPr>
          <a:xfrm>
            <a:off x="5692320" y="4572000"/>
            <a:ext cx="474480" cy="474480"/>
          </a:xfrm>
          <a:prstGeom prst="ellipse">
            <a:avLst/>
          </a:prstGeom>
          <a:solidFill>
            <a:srgbClr val="1038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977" name="Image 10" descr="/home/claude/work/icons/fire_green.png"/>
          <p:cNvPicPr/>
          <p:nvPr/>
        </p:nvPicPr>
        <p:blipFill>
          <a:blip r:embed="rId11"/>
          <a:stretch/>
        </p:blipFill>
        <p:spPr>
          <a:xfrm>
            <a:off x="5833800" y="4681800"/>
            <a:ext cx="246240" cy="246240"/>
          </a:xfrm>
          <a:prstGeom prst="rect">
            <a:avLst/>
          </a:prstGeom>
          <a:ln w="0">
            <a:noFill/>
          </a:ln>
        </p:spPr>
      </p:pic>
      <p:sp>
        <p:nvSpPr>
          <p:cNvPr id="978" name="Text 30"/>
          <p:cNvSpPr/>
          <p:nvPr/>
        </p:nvSpPr>
        <p:spPr>
          <a:xfrm>
            <a:off x="4992480" y="5212080"/>
            <a:ext cx="18734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Warm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979" name="Image 11" descr="/home/claude/work/icons/arrowright_blue.png"/>
          <p:cNvPicPr/>
          <p:nvPr/>
        </p:nvPicPr>
        <p:blipFill>
          <a:blip r:embed="rId12"/>
          <a:stretch/>
        </p:blipFill>
        <p:spPr>
          <a:xfrm>
            <a:off x="6940440" y="4860000"/>
            <a:ext cx="200160" cy="200160"/>
          </a:xfrm>
          <a:prstGeom prst="rect">
            <a:avLst/>
          </a:prstGeom>
          <a:ln w="0">
            <a:noFill/>
          </a:ln>
        </p:spPr>
      </p:pic>
      <p:sp>
        <p:nvSpPr>
          <p:cNvPr id="980" name="Shape 31"/>
          <p:cNvSpPr/>
          <p:nvPr/>
        </p:nvSpPr>
        <p:spPr>
          <a:xfrm>
            <a:off x="7169040" y="4343400"/>
            <a:ext cx="1964880" cy="1233360"/>
          </a:xfrm>
          <a:prstGeom prst="roundRect">
            <a:avLst>
              <a:gd name="adj" fmla="val 5926"/>
            </a:avLst>
          </a:prstGeom>
          <a:solidFill>
            <a:srgbClr val="0d2440"/>
          </a:solidFill>
          <a:ln w="9525">
            <a:solidFill>
              <a:srgbClr val="2747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1" name="Shape 32"/>
          <p:cNvSpPr/>
          <p:nvPr/>
        </p:nvSpPr>
        <p:spPr>
          <a:xfrm>
            <a:off x="7914240" y="4572000"/>
            <a:ext cx="474480" cy="474480"/>
          </a:xfrm>
          <a:prstGeom prst="ellipse">
            <a:avLst/>
          </a:prstGeom>
          <a:solidFill>
            <a:srgbClr val="3a2e1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982" name="Image 12" descr="/home/claude/work/icons/pause_amber.png"/>
          <p:cNvPicPr/>
          <p:nvPr/>
        </p:nvPicPr>
        <p:blipFill>
          <a:blip r:embed="rId13"/>
          <a:stretch/>
        </p:blipFill>
        <p:spPr>
          <a:xfrm>
            <a:off x="8028360" y="4681800"/>
            <a:ext cx="246240" cy="246240"/>
          </a:xfrm>
          <a:prstGeom prst="rect">
            <a:avLst/>
          </a:prstGeom>
          <a:ln w="0">
            <a:noFill/>
          </a:ln>
        </p:spPr>
      </p:pic>
      <p:sp>
        <p:nvSpPr>
          <p:cNvPr id="983" name="Text 33"/>
          <p:cNvSpPr/>
          <p:nvPr/>
        </p:nvSpPr>
        <p:spPr>
          <a:xfrm>
            <a:off x="7214760" y="5212080"/>
            <a:ext cx="18734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Cooldown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984" name="Image 13" descr="/home/claude/work/icons/arrowright_blue.png"/>
          <p:cNvPicPr/>
          <p:nvPr/>
        </p:nvPicPr>
        <p:blipFill>
          <a:blip r:embed="rId14"/>
          <a:stretch/>
        </p:blipFill>
        <p:spPr>
          <a:xfrm>
            <a:off x="9162360" y="4860000"/>
            <a:ext cx="200160" cy="200160"/>
          </a:xfrm>
          <a:prstGeom prst="rect">
            <a:avLst/>
          </a:prstGeom>
          <a:ln w="0">
            <a:noFill/>
          </a:ln>
        </p:spPr>
      </p:pic>
      <p:sp>
        <p:nvSpPr>
          <p:cNvPr id="985" name="Shape 34"/>
          <p:cNvSpPr/>
          <p:nvPr/>
        </p:nvSpPr>
        <p:spPr>
          <a:xfrm>
            <a:off x="9390960" y="4343400"/>
            <a:ext cx="1964880" cy="1233360"/>
          </a:xfrm>
          <a:prstGeom prst="roundRect">
            <a:avLst>
              <a:gd name="adj" fmla="val 5926"/>
            </a:avLst>
          </a:prstGeom>
          <a:solidFill>
            <a:srgbClr val="0d2440"/>
          </a:solidFill>
          <a:ln w="9525">
            <a:solidFill>
              <a:srgbClr val="2747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6" name="Shape 35"/>
          <p:cNvSpPr/>
          <p:nvPr/>
        </p:nvSpPr>
        <p:spPr>
          <a:xfrm>
            <a:off x="10136160" y="4572000"/>
            <a:ext cx="474480" cy="474480"/>
          </a:xfrm>
          <a:prstGeom prst="ellipse">
            <a:avLst/>
          </a:prstGeom>
          <a:solidFill>
            <a:srgbClr val="2a255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987" name="Image 14" descr="/home/claude/work/icons/snowflake_purple.png"/>
          <p:cNvPicPr/>
          <p:nvPr/>
        </p:nvPicPr>
        <p:blipFill>
          <a:blip r:embed="rId15"/>
          <a:stretch/>
        </p:blipFill>
        <p:spPr>
          <a:xfrm>
            <a:off x="10259640" y="4681800"/>
            <a:ext cx="246240" cy="246240"/>
          </a:xfrm>
          <a:prstGeom prst="rect">
            <a:avLst/>
          </a:prstGeom>
          <a:ln w="0">
            <a:noFill/>
          </a:ln>
        </p:spPr>
      </p:pic>
      <p:sp>
        <p:nvSpPr>
          <p:cNvPr id="988" name="Text 36"/>
          <p:cNvSpPr/>
          <p:nvPr/>
        </p:nvSpPr>
        <p:spPr>
          <a:xfrm>
            <a:off x="9436680" y="5212080"/>
            <a:ext cx="18734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Scale to Zero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9" name="Text 37"/>
          <p:cNvSpPr/>
          <p:nvPr/>
        </p:nvSpPr>
        <p:spPr>
          <a:xfrm>
            <a:off x="502920" y="6519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93aac7"/>
                </a:solidFill>
                <a:latin typeface="Calibri"/>
                <a:ea typeface="Calibri"/>
              </a:rPr>
              <a:t>Cold Starts &amp; Scaling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0" name="Text 38"/>
          <p:cNvSpPr/>
          <p:nvPr/>
        </p:nvSpPr>
        <p:spPr>
          <a:xfrm>
            <a:off x="10817280" y="6519600"/>
            <a:ext cx="8676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93aac7"/>
                </a:solidFill>
                <a:latin typeface="Calibri"/>
                <a:ea typeface="Calibri"/>
              </a:rPr>
              <a:t>19 / 25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991" name="Image 16" descr="/home/claude/work/icons/hourglass_blue.png"/>
          <p:cNvPicPr/>
          <p:nvPr/>
        </p:nvPicPr>
        <p:blipFill>
          <a:blip r:embed="rId16"/>
          <a:stretch/>
        </p:blipFill>
        <p:spPr>
          <a:xfrm rot="84000">
            <a:off x="631800" y="3066120"/>
            <a:ext cx="249120" cy="2487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e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2" name="Text 0"/>
          <p:cNvSpPr/>
          <p:nvPr/>
        </p:nvSpPr>
        <p:spPr>
          <a:xfrm>
            <a:off x="502920" y="320040"/>
            <a:ext cx="10514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200" spc="194" strike="noStrike">
                <a:solidFill>
                  <a:srgbClr val="7dd3fc"/>
                </a:solidFill>
                <a:latin typeface="Calibri"/>
                <a:ea typeface="Calibri"/>
              </a:rPr>
              <a:t>CHAPTER 3 – PLATFORM COMPARISON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3" name="Text 1"/>
          <p:cNvSpPr/>
          <p:nvPr/>
        </p:nvSpPr>
        <p:spPr>
          <a:xfrm>
            <a:off x="502920" y="567000"/>
            <a:ext cx="11154600" cy="56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ffff"/>
                </a:solidFill>
                <a:latin typeface="Cambria"/>
                <a:ea typeface="Cambria"/>
              </a:rPr>
              <a:t>Scaling Behaviour Across Platforms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graphicFrame>
        <p:nvGraphicFramePr>
          <p:cNvPr id="994" name="Table 0"/>
          <p:cNvGraphicFramePr/>
          <p:nvPr/>
        </p:nvGraphicFramePr>
        <p:xfrm>
          <a:off x="502920" y="1280160"/>
          <a:ext cx="11201040" cy="3520440"/>
        </p:xfrm>
        <a:graphic>
          <a:graphicData uri="http://schemas.openxmlformats.org/drawingml/2006/table">
            <a:tbl>
              <a:tblPr/>
              <a:tblGrid>
                <a:gridCol w="2331720"/>
                <a:gridCol w="1874520"/>
                <a:gridCol w="1874520"/>
                <a:gridCol w="1874520"/>
                <a:gridCol w="1600200"/>
                <a:gridCol w="1645920"/>
              </a:tblGrid>
              <a:tr h="502920">
                <a:tc>
                  <a:txBody>
                    <a:bodyPr anchor="ctr">
                      <a:noAutofit/>
                    </a:bodyPr>
                    <a:p>
                      <a:endParaRPr b="0" lang="en-US" sz="970" spc="-1" strike="noStrike">
                        <a:solidFill>
                          <a:srgbClr val="ffffff"/>
                        </a:solidFill>
                        <a:latin typeface="Calibri"/>
                        <a:ea typeface="Calibri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d3e63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97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Azure</a:t>
                      </a:r>
                      <a:endParaRPr b="0" lang="en-US" sz="97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d3e63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97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AWS</a:t>
                      </a:r>
                      <a:endParaRPr b="0" lang="en-US" sz="97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d3e63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97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GCP</a:t>
                      </a:r>
                      <a:endParaRPr b="0" lang="en-US" sz="97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d3e63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97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Vercel</a:t>
                      </a:r>
                      <a:endParaRPr b="0" lang="en-US" sz="97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d3e63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97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Cloudflare</a:t>
                      </a:r>
                      <a:endParaRPr b="0" lang="en-US" sz="97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d3e63"/>
                    </a:solidFill>
                  </a:tcPr>
                </a:tc>
              </a:tr>
              <a:tr h="5029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97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Cold Start</a:t>
                      </a:r>
                      <a:endParaRPr b="0" lang="en-US" sz="97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7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Yes (Medium)</a:t>
                      </a:r>
                      <a:endParaRPr b="0" lang="en-US" sz="97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7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Yes (Medium)</a:t>
                      </a:r>
                      <a:endParaRPr b="0" lang="en-US" sz="97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7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Yes (Low)</a:t>
                      </a:r>
                      <a:endParaRPr b="0" lang="en-US" sz="97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7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Yes (Low)</a:t>
                      </a:r>
                      <a:endParaRPr b="0" lang="en-US" sz="97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7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Very Low (Isolates)</a:t>
                      </a:r>
                      <a:endParaRPr b="0" lang="en-US" sz="97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</a:tr>
              <a:tr h="5029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97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Scale to Zero</a:t>
                      </a:r>
                      <a:endParaRPr b="0" lang="en-US" sz="97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7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Yes</a:t>
                      </a:r>
                      <a:endParaRPr b="0" lang="en-US" sz="97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7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Yes</a:t>
                      </a:r>
                      <a:endParaRPr b="0" lang="en-US" sz="97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7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Yes</a:t>
                      </a:r>
                      <a:endParaRPr b="0" lang="en-US" sz="97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7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Yes</a:t>
                      </a:r>
                      <a:endParaRPr b="0" lang="en-US" sz="97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7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Yes (per request)</a:t>
                      </a:r>
                      <a:endParaRPr b="0" lang="en-US" sz="97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</a:tr>
              <a:tr h="5029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97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Cooldown</a:t>
                      </a:r>
                      <a:endParaRPr b="0" lang="en-US" sz="97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7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300 sec (official)</a:t>
                      </a:r>
                      <a:endParaRPr b="0" lang="en-US" sz="97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7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Not published</a:t>
                      </a:r>
                      <a:endParaRPr b="0" lang="en-US" sz="97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7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Not published</a:t>
                      </a:r>
                      <a:endParaRPr b="0" lang="en-US" sz="97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7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Not published</a:t>
                      </a:r>
                      <a:endParaRPr b="0" lang="en-US" sz="97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7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Not applicable</a:t>
                      </a:r>
                      <a:endParaRPr b="0" lang="en-US" sz="97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</a:tr>
              <a:tr h="5029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97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Warm Instances</a:t>
                      </a:r>
                      <a:endParaRPr b="0" lang="en-US" sz="97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7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Min Replicas</a:t>
                      </a:r>
                      <a:endParaRPr b="0" lang="en-US" sz="97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7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Provisioned Conc.</a:t>
                      </a:r>
                      <a:endParaRPr b="0" lang="en-US" sz="97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7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Min Instances</a:t>
                      </a:r>
                      <a:endParaRPr b="0" lang="en-US" sz="97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7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Platform managed</a:t>
                      </a:r>
                      <a:endParaRPr b="0" lang="en-US" sz="97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7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Isolate reuse</a:t>
                      </a:r>
                      <a:endParaRPr b="0" lang="en-US" sz="97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</a:tr>
              <a:tr h="5029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97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Polling Interval</a:t>
                      </a:r>
                      <a:endParaRPr b="0" lang="en-US" sz="97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7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30 sec (official)</a:t>
                      </a:r>
                      <a:endParaRPr b="0" lang="en-US" sz="97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7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Not published</a:t>
                      </a:r>
                      <a:endParaRPr b="0" lang="en-US" sz="97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7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Not published</a:t>
                      </a:r>
                      <a:endParaRPr b="0" lang="en-US" sz="97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7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Not published</a:t>
                      </a:r>
                      <a:endParaRPr b="0" lang="en-US" sz="97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7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Not applicable</a:t>
                      </a:r>
                      <a:endParaRPr b="0" lang="en-US" sz="97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</a:tr>
              <a:tr h="5029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97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Provisional Concurrency</a:t>
                      </a:r>
                      <a:endParaRPr b="0" lang="en-US" sz="97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7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Always Ready</a:t>
                      </a:r>
                      <a:endParaRPr b="0" lang="en-US" sz="97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7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Yes (native)</a:t>
                      </a:r>
                      <a:endParaRPr b="0" lang="en-US" sz="97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7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Min Instances</a:t>
                      </a:r>
                      <a:endParaRPr b="0" lang="en-US" sz="97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7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Platform managed</a:t>
                      </a:r>
                      <a:endParaRPr b="0" lang="en-US" sz="97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7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Not applicable</a:t>
                      </a:r>
                      <a:endParaRPr b="0" lang="en-US" sz="97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</a:tr>
            </a:tbl>
          </a:graphicData>
        </a:graphic>
      </p:graphicFrame>
      <p:sp>
        <p:nvSpPr>
          <p:cNvPr id="995" name="Shape 2"/>
          <p:cNvSpPr/>
          <p:nvPr/>
        </p:nvSpPr>
        <p:spPr>
          <a:xfrm>
            <a:off x="502920" y="5029200"/>
            <a:ext cx="3610800" cy="1370520"/>
          </a:xfrm>
          <a:prstGeom prst="roundRect">
            <a:avLst>
              <a:gd name="adj" fmla="val 4000"/>
            </a:avLst>
          </a:prstGeom>
          <a:solidFill>
            <a:srgbClr val="0d2440"/>
          </a:solidFill>
          <a:ln w="9525">
            <a:solidFill>
              <a:srgbClr val="2747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6" name="Shape 3"/>
          <p:cNvSpPr/>
          <p:nvPr/>
        </p:nvSpPr>
        <p:spPr>
          <a:xfrm>
            <a:off x="686160" y="5266440"/>
            <a:ext cx="456120" cy="456120"/>
          </a:xfrm>
          <a:prstGeom prst="ellipse">
            <a:avLst/>
          </a:prstGeom>
          <a:solidFill>
            <a:srgbClr val="173a5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997" name="Image 0" descr="/home/claude/work/icons/chartbar_blue.png"/>
          <p:cNvPicPr/>
          <p:nvPr/>
        </p:nvPicPr>
        <p:blipFill>
          <a:blip r:embed="rId1"/>
          <a:stretch/>
        </p:blipFill>
        <p:spPr>
          <a:xfrm>
            <a:off x="786240" y="5376600"/>
            <a:ext cx="236520" cy="236520"/>
          </a:xfrm>
          <a:prstGeom prst="rect">
            <a:avLst/>
          </a:prstGeom>
          <a:ln w="0">
            <a:noFill/>
          </a:ln>
        </p:spPr>
      </p:pic>
      <p:sp>
        <p:nvSpPr>
          <p:cNvPr id="998" name="Text 4"/>
          <p:cNvSpPr/>
          <p:nvPr/>
        </p:nvSpPr>
        <p:spPr>
          <a:xfrm>
            <a:off x="1371600" y="5303520"/>
            <a:ext cx="324504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fffff"/>
                </a:solidFill>
                <a:latin typeface="Cambria"/>
                <a:ea typeface="Cambria"/>
              </a:rPr>
              <a:t>Azure — Full Transparency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9" name="Text 5"/>
          <p:cNvSpPr/>
          <p:nvPr/>
        </p:nvSpPr>
        <p:spPr>
          <a:xfrm>
            <a:off x="640440" y="5715000"/>
            <a:ext cx="324504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8ca3be"/>
                </a:solidFill>
                <a:latin typeface="Calibri"/>
                <a:ea typeface="Calibri"/>
              </a:rPr>
              <a:t>The only provider to officially publish exact cooldown (300s) and polling (30s) figures.</a:t>
            </a:r>
            <a:endParaRPr b="0" lang="en-US" sz="9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0" name="Shape 6"/>
          <p:cNvSpPr/>
          <p:nvPr/>
        </p:nvSpPr>
        <p:spPr>
          <a:xfrm>
            <a:off x="4297680" y="5029200"/>
            <a:ext cx="3610800" cy="1370520"/>
          </a:xfrm>
          <a:prstGeom prst="roundRect">
            <a:avLst>
              <a:gd name="adj" fmla="val 4000"/>
            </a:avLst>
          </a:prstGeom>
          <a:solidFill>
            <a:srgbClr val="0d2440"/>
          </a:solidFill>
          <a:ln w="9525">
            <a:solidFill>
              <a:srgbClr val="2747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1" name="Shape 7"/>
          <p:cNvSpPr/>
          <p:nvPr/>
        </p:nvSpPr>
        <p:spPr>
          <a:xfrm>
            <a:off x="4480560" y="5266800"/>
            <a:ext cx="456120" cy="456120"/>
          </a:xfrm>
          <a:prstGeom prst="ellipse">
            <a:avLst/>
          </a:prstGeom>
          <a:solidFill>
            <a:srgbClr val="2a255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002" name="Image 1" descr="/home/claude/work/icons/battery_purple.png"/>
          <p:cNvPicPr/>
          <p:nvPr/>
        </p:nvPicPr>
        <p:blipFill>
          <a:blip r:embed="rId2"/>
          <a:stretch/>
        </p:blipFill>
        <p:spPr>
          <a:xfrm>
            <a:off x="4590360" y="5376600"/>
            <a:ext cx="236520" cy="236520"/>
          </a:xfrm>
          <a:prstGeom prst="rect">
            <a:avLst/>
          </a:prstGeom>
          <a:ln w="0">
            <a:noFill/>
          </a:ln>
        </p:spPr>
      </p:pic>
      <p:sp>
        <p:nvSpPr>
          <p:cNvPr id="1003" name="Text 8"/>
          <p:cNvSpPr/>
          <p:nvPr/>
        </p:nvSpPr>
        <p:spPr>
          <a:xfrm>
            <a:off x="5166360" y="5303520"/>
            <a:ext cx="324504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fffff"/>
                </a:solidFill>
                <a:latin typeface="Cambria"/>
                <a:ea typeface="Cambria"/>
              </a:rPr>
              <a:t>AWS — Deepest Control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4" name="Text 9"/>
          <p:cNvSpPr/>
          <p:nvPr/>
        </p:nvSpPr>
        <p:spPr>
          <a:xfrm>
            <a:off x="4480560" y="5715000"/>
            <a:ext cx="324504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8ca3be"/>
                </a:solidFill>
                <a:latin typeface="Calibri"/>
                <a:ea typeface="Calibri"/>
              </a:rPr>
              <a:t>Provisioned Concurrency can eliminate cold starts entirely, at the cost of paying for standby capacity.</a:t>
            </a:r>
            <a:endParaRPr b="0" lang="en-US" sz="9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5" name="Shape 10"/>
          <p:cNvSpPr/>
          <p:nvPr/>
        </p:nvSpPr>
        <p:spPr>
          <a:xfrm>
            <a:off x="8092440" y="5029200"/>
            <a:ext cx="3610800" cy="1370520"/>
          </a:xfrm>
          <a:prstGeom prst="roundRect">
            <a:avLst>
              <a:gd name="adj" fmla="val 4000"/>
            </a:avLst>
          </a:prstGeom>
          <a:solidFill>
            <a:srgbClr val="0d2440"/>
          </a:solidFill>
          <a:ln w="9525">
            <a:solidFill>
              <a:srgbClr val="2747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6" name="Shape 11"/>
          <p:cNvSpPr/>
          <p:nvPr/>
        </p:nvSpPr>
        <p:spPr>
          <a:xfrm>
            <a:off x="8275320" y="5266800"/>
            <a:ext cx="456120" cy="456120"/>
          </a:xfrm>
          <a:prstGeom prst="ellipse">
            <a:avLst/>
          </a:prstGeom>
          <a:solidFill>
            <a:srgbClr val="1038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007" name="Image 2" descr="/home/claude/work/icons/bolt_green.png"/>
          <p:cNvPicPr/>
          <p:nvPr/>
        </p:nvPicPr>
        <p:blipFill>
          <a:blip r:embed="rId3"/>
          <a:stretch/>
        </p:blipFill>
        <p:spPr>
          <a:xfrm>
            <a:off x="8439840" y="5376600"/>
            <a:ext cx="236520" cy="236520"/>
          </a:xfrm>
          <a:prstGeom prst="rect">
            <a:avLst/>
          </a:prstGeom>
          <a:ln w="0">
            <a:noFill/>
          </a:ln>
        </p:spPr>
      </p:pic>
      <p:sp>
        <p:nvSpPr>
          <p:cNvPr id="1008" name="Text 12"/>
          <p:cNvSpPr/>
          <p:nvPr/>
        </p:nvSpPr>
        <p:spPr>
          <a:xfrm>
            <a:off x="8946360" y="5303520"/>
            <a:ext cx="324504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fffff"/>
                </a:solidFill>
                <a:latin typeface="Cambria"/>
                <a:ea typeface="Cambria"/>
              </a:rPr>
              <a:t>Cloudflare — Near-Zero Latency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9" name="Text 13"/>
          <p:cNvSpPr/>
          <p:nvPr/>
        </p:nvSpPr>
        <p:spPr>
          <a:xfrm>
            <a:off x="8275320" y="5715000"/>
            <a:ext cx="324504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8ca3be"/>
                </a:solidFill>
                <a:latin typeface="Calibri"/>
                <a:ea typeface="Calibri"/>
              </a:rPr>
              <a:t>V8 isolates start in milliseconds, sidestepping the traditional container cold-start path altogether.</a:t>
            </a:r>
            <a:endParaRPr b="0" lang="en-US" sz="9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0" name="Text 14"/>
          <p:cNvSpPr/>
          <p:nvPr/>
        </p:nvSpPr>
        <p:spPr>
          <a:xfrm>
            <a:off x="502920" y="6519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93aac7"/>
                </a:solidFill>
                <a:latin typeface="Calibri"/>
                <a:ea typeface="Calibri"/>
              </a:rPr>
              <a:t>Scaling Comparison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1" name="Text 15"/>
          <p:cNvSpPr/>
          <p:nvPr/>
        </p:nvSpPr>
        <p:spPr>
          <a:xfrm>
            <a:off x="10817280" y="6519600"/>
            <a:ext cx="8676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93aac7"/>
                </a:solidFill>
                <a:latin typeface="Calibri"/>
                <a:ea typeface="Calibri"/>
              </a:rPr>
              <a:t>20 / 25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e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2" name="Text 0"/>
          <p:cNvSpPr/>
          <p:nvPr/>
        </p:nvSpPr>
        <p:spPr>
          <a:xfrm>
            <a:off x="502920" y="320040"/>
            <a:ext cx="10514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200" spc="194" strike="noStrike">
                <a:solidFill>
                  <a:srgbClr val="7dd3fc"/>
                </a:solidFill>
                <a:latin typeface="Calibri"/>
                <a:ea typeface="Calibri"/>
              </a:rPr>
              <a:t>CHAPTER 4 – PRICING &amp; FREE TIERS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3" name="Text 1"/>
          <p:cNvSpPr/>
          <p:nvPr/>
        </p:nvSpPr>
        <p:spPr>
          <a:xfrm>
            <a:off x="502920" y="567000"/>
            <a:ext cx="11154600" cy="56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ffff"/>
                </a:solidFill>
                <a:latin typeface="Cambria"/>
                <a:ea typeface="Cambria"/>
              </a:rPr>
              <a:t>Free Tier &amp; Trial Credit Comparison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graphicFrame>
        <p:nvGraphicFramePr>
          <p:cNvPr id="1014" name="Table 0"/>
          <p:cNvGraphicFramePr/>
          <p:nvPr/>
        </p:nvGraphicFramePr>
        <p:xfrm>
          <a:off x="502920" y="1280160"/>
          <a:ext cx="11201040" cy="3291840"/>
        </p:xfrm>
        <a:graphic>
          <a:graphicData uri="http://schemas.openxmlformats.org/drawingml/2006/table">
            <a:tbl>
              <a:tblPr/>
              <a:tblGrid>
                <a:gridCol w="1645920"/>
                <a:gridCol w="1737360"/>
                <a:gridCol w="1920240"/>
                <a:gridCol w="2148840"/>
                <a:gridCol w="2148840"/>
                <a:gridCol w="1600200"/>
              </a:tblGrid>
              <a:tr h="54864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Platform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d3e63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Trial Credits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d3e63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Always-Free Tier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d3e63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Student Benefits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d3e63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Startup Program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d3e63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Card Required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d3e63"/>
                    </a:solidFill>
                  </a:tcPr>
                </a:tc>
              </a:tr>
              <a:tr h="54864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Azure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$200 (30 days)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Functions free grant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Azure for Students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Founders Hub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Trial: Yes / Student: No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</a:tr>
              <a:tr h="54864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AWS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Free Tier (12 mo.)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Yes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AWS Educate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AWS Activate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Yes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</a:tr>
              <a:tr h="54864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Google Cloud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$300 (90 days)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Yes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Education Programs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Google for Startups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Yes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</a:tr>
              <a:tr h="54864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Vercel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None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Hobby Plan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GitHub Student Pack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Vercel Startup Program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No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</a:tr>
              <a:tr h="54864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Cloudflare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None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Free Plan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None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Cloudflare for Startups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No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</a:tr>
            </a:tbl>
          </a:graphicData>
        </a:graphic>
      </p:graphicFrame>
      <p:sp>
        <p:nvSpPr>
          <p:cNvPr id="1015" name="Shape 2"/>
          <p:cNvSpPr/>
          <p:nvPr/>
        </p:nvSpPr>
        <p:spPr>
          <a:xfrm>
            <a:off x="503280" y="4800600"/>
            <a:ext cx="3610800" cy="1553400"/>
          </a:xfrm>
          <a:prstGeom prst="roundRect">
            <a:avLst>
              <a:gd name="adj" fmla="val 4103"/>
            </a:avLst>
          </a:prstGeom>
          <a:solidFill>
            <a:srgbClr val="0d2440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6" name="Shape 3"/>
          <p:cNvSpPr/>
          <p:nvPr/>
        </p:nvSpPr>
        <p:spPr>
          <a:xfrm>
            <a:off x="685800" y="5212440"/>
            <a:ext cx="501840" cy="501840"/>
          </a:xfrm>
          <a:prstGeom prst="ellipse">
            <a:avLst/>
          </a:prstGeom>
          <a:solidFill>
            <a:srgbClr val="173a5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017" name="Image 0" descr="/home/claude/work/icons/dollar_blue.png"/>
          <p:cNvPicPr/>
          <p:nvPr/>
        </p:nvPicPr>
        <p:blipFill>
          <a:blip r:embed="rId1"/>
          <a:stretch/>
        </p:blipFill>
        <p:spPr>
          <a:xfrm>
            <a:off x="859680" y="5340240"/>
            <a:ext cx="260280" cy="260280"/>
          </a:xfrm>
          <a:prstGeom prst="rect">
            <a:avLst/>
          </a:prstGeom>
          <a:ln w="0">
            <a:noFill/>
          </a:ln>
        </p:spPr>
      </p:pic>
      <p:sp>
        <p:nvSpPr>
          <p:cNvPr id="1018" name="Text 4"/>
          <p:cNvSpPr/>
          <p:nvPr/>
        </p:nvSpPr>
        <p:spPr>
          <a:xfrm>
            <a:off x="1509120" y="5120640"/>
            <a:ext cx="260496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0ea5e9"/>
                </a:solidFill>
                <a:latin typeface="Cambria"/>
                <a:ea typeface="Cambria"/>
              </a:rPr>
              <a:t>1M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9" name="Text 5"/>
          <p:cNvSpPr/>
          <p:nvPr/>
        </p:nvSpPr>
        <p:spPr>
          <a:xfrm>
            <a:off x="685800" y="5879880"/>
            <a:ext cx="320832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fffff"/>
                </a:solidFill>
                <a:latin typeface="Calibri"/>
                <a:ea typeface="Calibri"/>
              </a:rPr>
              <a:t>AWS Lambda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0" name="Text 6"/>
          <p:cNvSpPr/>
          <p:nvPr/>
        </p:nvSpPr>
        <p:spPr>
          <a:xfrm>
            <a:off x="1828800" y="5806440"/>
            <a:ext cx="32083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8ca3be"/>
                </a:solidFill>
                <a:latin typeface="Calibri"/>
                <a:ea typeface="Calibri"/>
              </a:rPr>
              <a:t>free requests every month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1" name="Shape 7"/>
          <p:cNvSpPr/>
          <p:nvPr/>
        </p:nvSpPr>
        <p:spPr>
          <a:xfrm>
            <a:off x="4297680" y="4800600"/>
            <a:ext cx="3610800" cy="1553400"/>
          </a:xfrm>
          <a:prstGeom prst="roundRect">
            <a:avLst>
              <a:gd name="adj" fmla="val 4103"/>
            </a:avLst>
          </a:prstGeom>
          <a:solidFill>
            <a:srgbClr val="0d2440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2" name="Shape 8"/>
          <p:cNvSpPr/>
          <p:nvPr/>
        </p:nvSpPr>
        <p:spPr>
          <a:xfrm>
            <a:off x="4498920" y="5212080"/>
            <a:ext cx="501840" cy="501840"/>
          </a:xfrm>
          <a:prstGeom prst="ellipse">
            <a:avLst/>
          </a:prstGeom>
          <a:solidFill>
            <a:srgbClr val="2a255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023" name="Image 1" descr="/home/claude/work/icons/coins_purple.png"/>
          <p:cNvPicPr/>
          <p:nvPr/>
        </p:nvPicPr>
        <p:blipFill>
          <a:blip r:embed="rId2"/>
          <a:stretch/>
        </p:blipFill>
        <p:spPr>
          <a:xfrm>
            <a:off x="4626720" y="5340240"/>
            <a:ext cx="260280" cy="260280"/>
          </a:xfrm>
          <a:prstGeom prst="rect">
            <a:avLst/>
          </a:prstGeom>
          <a:ln w="0">
            <a:noFill/>
          </a:ln>
        </p:spPr>
      </p:pic>
      <p:sp>
        <p:nvSpPr>
          <p:cNvPr id="1024" name="Text 9"/>
          <p:cNvSpPr/>
          <p:nvPr/>
        </p:nvSpPr>
        <p:spPr>
          <a:xfrm>
            <a:off x="5257800" y="5120640"/>
            <a:ext cx="260496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a78bfa"/>
                </a:solidFill>
                <a:latin typeface="Cambria"/>
                <a:ea typeface="Cambria"/>
              </a:rPr>
              <a:t>2M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5" name="Text 10"/>
          <p:cNvSpPr/>
          <p:nvPr/>
        </p:nvSpPr>
        <p:spPr>
          <a:xfrm>
            <a:off x="4498920" y="5879520"/>
            <a:ext cx="320832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fffff"/>
                </a:solidFill>
                <a:latin typeface="Calibri"/>
                <a:ea typeface="Calibri"/>
              </a:rPr>
              <a:t>Google Cloud Functions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6" name="Text 11"/>
          <p:cNvSpPr/>
          <p:nvPr/>
        </p:nvSpPr>
        <p:spPr>
          <a:xfrm>
            <a:off x="6217920" y="5806440"/>
            <a:ext cx="32083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8ca3be"/>
                </a:solidFill>
                <a:latin typeface="Calibri"/>
                <a:ea typeface="Calibri"/>
              </a:rPr>
              <a:t>free invocations every month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7" name="Shape 12"/>
          <p:cNvSpPr/>
          <p:nvPr/>
        </p:nvSpPr>
        <p:spPr>
          <a:xfrm>
            <a:off x="8092440" y="4800600"/>
            <a:ext cx="3610800" cy="1553400"/>
          </a:xfrm>
          <a:prstGeom prst="roundRect">
            <a:avLst>
              <a:gd name="adj" fmla="val 4103"/>
            </a:avLst>
          </a:prstGeom>
          <a:solidFill>
            <a:srgbClr val="0d2440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8" name="Shape 13"/>
          <p:cNvSpPr/>
          <p:nvPr/>
        </p:nvSpPr>
        <p:spPr>
          <a:xfrm>
            <a:off x="8293680" y="5212080"/>
            <a:ext cx="501840" cy="501840"/>
          </a:xfrm>
          <a:prstGeom prst="ellipse">
            <a:avLst/>
          </a:prstGeom>
          <a:solidFill>
            <a:srgbClr val="1038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029" name="Image 2" descr="/home/claude/work/icons/bolt_green.png"/>
          <p:cNvPicPr/>
          <p:nvPr/>
        </p:nvPicPr>
        <p:blipFill>
          <a:blip r:embed="rId3"/>
          <a:stretch/>
        </p:blipFill>
        <p:spPr>
          <a:xfrm>
            <a:off x="8467200" y="5349240"/>
            <a:ext cx="260280" cy="260280"/>
          </a:xfrm>
          <a:prstGeom prst="rect">
            <a:avLst/>
          </a:prstGeom>
          <a:ln w="0">
            <a:noFill/>
          </a:ln>
        </p:spPr>
      </p:pic>
      <p:sp>
        <p:nvSpPr>
          <p:cNvPr id="1030" name="Text 14"/>
          <p:cNvSpPr/>
          <p:nvPr/>
        </p:nvSpPr>
        <p:spPr>
          <a:xfrm>
            <a:off x="8961120" y="5120640"/>
            <a:ext cx="260496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34d399"/>
                </a:solidFill>
                <a:latin typeface="Cambria"/>
                <a:ea typeface="Cambria"/>
              </a:rPr>
              <a:t>100K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1" name="Text 15"/>
          <p:cNvSpPr/>
          <p:nvPr/>
        </p:nvSpPr>
        <p:spPr>
          <a:xfrm>
            <a:off x="8293680" y="5879520"/>
            <a:ext cx="320832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fffff"/>
                </a:solidFill>
                <a:latin typeface="Calibri"/>
                <a:ea typeface="Calibri"/>
              </a:rPr>
              <a:t>Cloudflare Workers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2" name="Text 16"/>
          <p:cNvSpPr/>
          <p:nvPr/>
        </p:nvSpPr>
        <p:spPr>
          <a:xfrm>
            <a:off x="9875520" y="5806440"/>
            <a:ext cx="32083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8ca3be"/>
                </a:solidFill>
                <a:latin typeface="Calibri"/>
                <a:ea typeface="Calibri"/>
              </a:rPr>
              <a:t>free requests every single day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3" name="Text 17"/>
          <p:cNvSpPr/>
          <p:nvPr/>
        </p:nvSpPr>
        <p:spPr>
          <a:xfrm>
            <a:off x="502920" y="6519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93aac7"/>
                </a:solidFill>
                <a:latin typeface="Calibri"/>
                <a:ea typeface="Calibri"/>
              </a:rPr>
              <a:t>Free Tier &amp; Credits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4" name="Text 18"/>
          <p:cNvSpPr/>
          <p:nvPr/>
        </p:nvSpPr>
        <p:spPr>
          <a:xfrm>
            <a:off x="10817280" y="6519600"/>
            <a:ext cx="8676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93aac7"/>
                </a:solidFill>
                <a:latin typeface="Calibri"/>
                <a:ea typeface="Calibri"/>
              </a:rPr>
              <a:t>21 / 25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e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5" name="Text 0"/>
          <p:cNvSpPr/>
          <p:nvPr/>
        </p:nvSpPr>
        <p:spPr>
          <a:xfrm>
            <a:off x="502920" y="320040"/>
            <a:ext cx="10514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200" spc="194" strike="noStrike">
                <a:solidFill>
                  <a:srgbClr val="7dd3fc"/>
                </a:solidFill>
                <a:latin typeface="Calibri"/>
                <a:ea typeface="Calibri"/>
              </a:rPr>
              <a:t>CHAPTER 4 – PRICING MODELS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6" name="Text 1"/>
          <p:cNvSpPr/>
          <p:nvPr/>
        </p:nvSpPr>
        <p:spPr>
          <a:xfrm>
            <a:off x="502920" y="567000"/>
            <a:ext cx="11154600" cy="56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ffff"/>
                </a:solidFill>
                <a:latin typeface="Cambria"/>
                <a:ea typeface="Cambria"/>
              </a:rPr>
              <a:t>Function vs Container Pricing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7" name="Text 2"/>
          <p:cNvSpPr/>
          <p:nvPr/>
        </p:nvSpPr>
        <p:spPr>
          <a:xfrm>
            <a:off x="502920" y="1207080"/>
            <a:ext cx="543960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43" strike="noStrike">
                <a:solidFill>
                  <a:srgbClr val="7dd3fc"/>
                </a:solidFill>
                <a:latin typeface="Calibri"/>
                <a:ea typeface="Calibri"/>
              </a:rPr>
              <a:t>SERVERLESS FUNCTIONS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graphicFrame>
        <p:nvGraphicFramePr>
          <p:cNvPr id="1038" name="Table 0"/>
          <p:cNvGraphicFramePr/>
          <p:nvPr/>
        </p:nvGraphicFramePr>
        <p:xfrm>
          <a:off x="457200" y="1590120"/>
          <a:ext cx="6705360" cy="2498760"/>
        </p:xfrm>
        <a:graphic>
          <a:graphicData uri="http://schemas.openxmlformats.org/drawingml/2006/table">
            <a:tbl>
              <a:tblPr/>
              <a:tblGrid>
                <a:gridCol w="1325880"/>
                <a:gridCol w="1165320"/>
                <a:gridCol w="1794960"/>
                <a:gridCol w="1276560"/>
                <a:gridCol w="114300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93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Platform</a:t>
                      </a:r>
                      <a:endParaRPr b="0" lang="en-US" sz="9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d3e63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93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Free Requests</a:t>
                      </a:r>
                      <a:endParaRPr b="0" lang="en-US" sz="9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d3e63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93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Free Compute</a:t>
                      </a:r>
                      <a:endParaRPr b="0" lang="en-US" sz="9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d3e63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93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Billing Unit</a:t>
                      </a:r>
                      <a:endParaRPr b="0" lang="en-US" sz="9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d3e63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93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Charged For</a:t>
                      </a:r>
                      <a:endParaRPr b="0" lang="en-US" sz="9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d3e63"/>
                    </a:solidFill>
                  </a:tcPr>
                </a:tc>
              </a:tr>
              <a:tr h="39636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93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Azure Functions</a:t>
                      </a:r>
                      <a:endParaRPr b="0" lang="en-US" sz="9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3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1 Million / mo.</a:t>
                      </a:r>
                      <a:endParaRPr b="0" lang="en-US" sz="9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3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400,000 GB-seconds</a:t>
                      </a:r>
                      <a:endParaRPr b="0" lang="en-US" sz="9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3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GB-seconds</a:t>
                      </a:r>
                      <a:endParaRPr b="0" lang="en-US" sz="9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3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Requests + Memory + Time</a:t>
                      </a:r>
                      <a:endParaRPr b="0" lang="en-US" sz="9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93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AWS Lambda</a:t>
                      </a:r>
                      <a:endParaRPr b="0" lang="en-US" sz="9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3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1 Million / mo.</a:t>
                      </a:r>
                      <a:endParaRPr b="0" lang="en-US" sz="9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3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400,000 GB-seconds</a:t>
                      </a:r>
                      <a:endParaRPr b="0" lang="en-US" sz="9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3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GB-seconds</a:t>
                      </a:r>
                      <a:endParaRPr b="0" lang="en-US" sz="9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3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Requests + Memory + Time</a:t>
                      </a:r>
                      <a:endParaRPr b="0" lang="en-US" sz="9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93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Google Cloud Fn.</a:t>
                      </a:r>
                      <a:endParaRPr b="0" lang="en-US" sz="9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3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2 Million / mo.</a:t>
                      </a:r>
                      <a:endParaRPr b="0" lang="en-US" sz="9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93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400,000 GB-seconds + 200,000 vCPU-seconds</a:t>
                      </a:r>
                      <a:endParaRPr b="0" lang="en-US" sz="9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3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vCPU + GiB-sec.</a:t>
                      </a:r>
                      <a:endParaRPr b="0" lang="en-US" sz="9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3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Requests + CPU + Memory</a:t>
                      </a:r>
                      <a:endParaRPr b="0" lang="en-US" sz="9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93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Vercel Functions</a:t>
                      </a:r>
                      <a:endParaRPr b="0" lang="en-US" sz="9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3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Plan quota</a:t>
                      </a:r>
                      <a:endParaRPr b="0" lang="en-US" sz="9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  <a:tabLst>
                          <a:tab algn="l" pos="0"/>
                        </a:tabLst>
                      </a:pPr>
                      <a:r>
                        <a:rPr b="0" lang="en-US" sz="93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Included CPU &amp; Memory Quotas</a:t>
                      </a:r>
                      <a:endParaRPr b="0" lang="en-US" sz="9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3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Execution duration</a:t>
                      </a:r>
                      <a:endParaRPr b="0" lang="en-US" sz="9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3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Invocations + Compute</a:t>
                      </a:r>
                      <a:endParaRPr b="0" lang="en-US" sz="9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93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Cloudflare Workers</a:t>
                      </a:r>
                      <a:endParaRPr b="0" lang="en-US" sz="9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3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100K / day</a:t>
                      </a:r>
                      <a:endParaRPr b="0" lang="en-US" sz="9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93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CPU Time Included</a:t>
                      </a:r>
                      <a:endParaRPr b="0" lang="en-US" sz="9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3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CPU milliseconds</a:t>
                      </a:r>
                      <a:endParaRPr b="0" lang="en-US" sz="9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3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Requests + CPU Time</a:t>
                      </a:r>
                      <a:endParaRPr b="0" lang="en-US" sz="9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</a:tr>
            </a:tbl>
          </a:graphicData>
        </a:graphic>
      </p:graphicFrame>
      <p:sp>
        <p:nvSpPr>
          <p:cNvPr id="1039" name="Text 3"/>
          <p:cNvSpPr/>
          <p:nvPr/>
        </p:nvSpPr>
        <p:spPr>
          <a:xfrm rot="6000">
            <a:off x="7314840" y="1202400"/>
            <a:ext cx="507384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43" strike="noStrike">
                <a:solidFill>
                  <a:srgbClr val="a78bfa"/>
                </a:solidFill>
                <a:latin typeface="Calibri"/>
                <a:ea typeface="Calibri"/>
              </a:rPr>
              <a:t>SERVERLESS CONTAINERS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graphicFrame>
        <p:nvGraphicFramePr>
          <p:cNvPr id="1040" name="Table 1"/>
          <p:cNvGraphicFramePr/>
          <p:nvPr/>
        </p:nvGraphicFramePr>
        <p:xfrm>
          <a:off x="7315200" y="1548000"/>
          <a:ext cx="4509360" cy="2603880"/>
        </p:xfrm>
        <a:graphic>
          <a:graphicData uri="http://schemas.openxmlformats.org/drawingml/2006/table">
            <a:tbl>
              <a:tblPr/>
              <a:tblGrid>
                <a:gridCol w="1667520"/>
                <a:gridCol w="1136880"/>
                <a:gridCol w="985320"/>
                <a:gridCol w="720000"/>
              </a:tblGrid>
              <a:tr h="43200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93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Platform</a:t>
                      </a:r>
                      <a:endParaRPr b="0" lang="en-US" sz="9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d3e63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93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Scale-to-Zero</a:t>
                      </a:r>
                      <a:endParaRPr b="0" lang="en-US" sz="9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d3e63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93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Billing Basis</a:t>
                      </a:r>
                      <a:endParaRPr b="0" lang="en-US" sz="9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d3e63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93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Idle Billing</a:t>
                      </a:r>
                      <a:endParaRPr b="0" lang="en-US" sz="9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d3e63"/>
                    </a:solidFill>
                  </a:tcPr>
                </a:tc>
              </a:tr>
              <a:tr h="43416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93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Azure Container Apps</a:t>
                      </a:r>
                      <a:endParaRPr b="0" lang="en-US" sz="9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3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Yes</a:t>
                      </a:r>
                      <a:endParaRPr b="0" lang="en-US" sz="9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3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vCPU + Memory</a:t>
                      </a:r>
                      <a:endParaRPr b="0" lang="en-US" sz="9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3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No (after zero)</a:t>
                      </a:r>
                      <a:endParaRPr b="0" lang="en-US" sz="9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</a:tr>
              <a:tr h="43416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93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AWS App Runner</a:t>
                      </a:r>
                      <a:endParaRPr b="0" lang="en-US" sz="9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3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Yes</a:t>
                      </a:r>
                      <a:endParaRPr b="0" lang="en-US" sz="9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3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vCPU + Memory</a:t>
                      </a:r>
                      <a:endParaRPr b="0" lang="en-US" sz="9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3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Reduced when idle</a:t>
                      </a:r>
                      <a:endParaRPr b="0" lang="en-US" sz="9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</a:tr>
              <a:tr h="43416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93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AWS ECS Fargate</a:t>
                      </a:r>
                      <a:endParaRPr b="0" lang="en-US" sz="9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3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Config dependent</a:t>
                      </a:r>
                      <a:endParaRPr b="0" lang="en-US" sz="9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3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vCPU + Memory</a:t>
                      </a:r>
                      <a:endParaRPr b="0" lang="en-US" sz="9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3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Depends on tasks</a:t>
                      </a:r>
                      <a:endParaRPr b="0" lang="en-US" sz="9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</a:tr>
              <a:tr h="43416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93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Google Cloud Run</a:t>
                      </a:r>
                      <a:endParaRPr b="0" lang="en-US" sz="9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3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Yes</a:t>
                      </a:r>
                      <a:endParaRPr b="0" lang="en-US" sz="9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3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vCPU + Memory</a:t>
                      </a:r>
                      <a:endParaRPr b="0" lang="en-US" sz="9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3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No (after zero)</a:t>
                      </a:r>
                      <a:endParaRPr b="0" lang="en-US" sz="9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</a:tr>
              <a:tr h="435240">
                <a:tc gridSpan="4"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930" spc="-1" strike="noStrike">
                          <a:solidFill>
                            <a:srgbClr val="1b1033"/>
                          </a:solidFill>
                          <a:latin typeface="Calibri"/>
                          <a:ea typeface="Calibri"/>
                        </a:rPr>
                        <a:t>All four scale to zero except Fargate, which depends on your Auto Scaling configuration.</a:t>
                      </a:r>
                      <a:endParaRPr b="0" lang="en-US" sz="93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a78bfa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</a:tbl>
          </a:graphicData>
        </a:graphic>
      </p:graphicFrame>
      <p:sp>
        <p:nvSpPr>
          <p:cNvPr id="1041" name="Text 4"/>
          <p:cNvSpPr/>
          <p:nvPr/>
        </p:nvSpPr>
        <p:spPr>
          <a:xfrm>
            <a:off x="502920" y="4306680"/>
            <a:ext cx="54853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100" spc="143" strike="noStrike">
                <a:solidFill>
                  <a:srgbClr val="7dd3fc"/>
                </a:solidFill>
                <a:latin typeface="Calibri"/>
                <a:ea typeface="Calibri"/>
              </a:rPr>
              <a:t>KEY BILLING FIGURES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2" name="Shape 5"/>
          <p:cNvSpPr/>
          <p:nvPr/>
        </p:nvSpPr>
        <p:spPr>
          <a:xfrm>
            <a:off x="502920" y="4645080"/>
            <a:ext cx="2147760" cy="456120"/>
          </a:xfrm>
          <a:prstGeom prst="roundRect">
            <a:avLst>
              <a:gd name="adj" fmla="val 50000"/>
            </a:avLst>
          </a:prstGeom>
          <a:solidFill>
            <a:srgbClr val="173a5c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3" name="Text 6"/>
          <p:cNvSpPr/>
          <p:nvPr/>
        </p:nvSpPr>
        <p:spPr>
          <a:xfrm>
            <a:off x="502920" y="4645080"/>
            <a:ext cx="21477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ea5e9"/>
                </a:solidFill>
                <a:latin typeface="Calibri"/>
                <a:ea typeface="Calibri"/>
              </a:rPr>
              <a:t>1M Requests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4" name="Shape 7"/>
          <p:cNvSpPr/>
          <p:nvPr/>
        </p:nvSpPr>
        <p:spPr>
          <a:xfrm>
            <a:off x="2770560" y="4645080"/>
            <a:ext cx="2147760" cy="456120"/>
          </a:xfrm>
          <a:prstGeom prst="roundRect">
            <a:avLst>
              <a:gd name="adj" fmla="val 50000"/>
            </a:avLst>
          </a:prstGeom>
          <a:solidFill>
            <a:srgbClr val="2a2559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5" name="Text 8"/>
          <p:cNvSpPr/>
          <p:nvPr/>
        </p:nvSpPr>
        <p:spPr>
          <a:xfrm>
            <a:off x="2770560" y="4645080"/>
            <a:ext cx="21477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a78bfa"/>
                </a:solidFill>
                <a:latin typeface="Calibri"/>
                <a:ea typeface="Calibri"/>
              </a:rPr>
              <a:t>2M Invocations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6" name="Shape 9"/>
          <p:cNvSpPr/>
          <p:nvPr/>
        </p:nvSpPr>
        <p:spPr>
          <a:xfrm>
            <a:off x="5038200" y="4645080"/>
            <a:ext cx="2147760" cy="456120"/>
          </a:xfrm>
          <a:prstGeom prst="roundRect">
            <a:avLst>
              <a:gd name="adj" fmla="val 50000"/>
            </a:avLst>
          </a:prstGeom>
          <a:solidFill>
            <a:srgbClr val="10382e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7" name="Text 10"/>
          <p:cNvSpPr/>
          <p:nvPr/>
        </p:nvSpPr>
        <p:spPr>
          <a:xfrm>
            <a:off x="5038200" y="4645080"/>
            <a:ext cx="21477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34d399"/>
                </a:solidFill>
                <a:latin typeface="Calibri"/>
                <a:ea typeface="Calibri"/>
              </a:rPr>
              <a:t>100K / day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8" name="Shape 11"/>
          <p:cNvSpPr/>
          <p:nvPr/>
        </p:nvSpPr>
        <p:spPr>
          <a:xfrm>
            <a:off x="7306200" y="4645080"/>
            <a:ext cx="2147760" cy="456120"/>
          </a:xfrm>
          <a:prstGeom prst="roundRect">
            <a:avLst>
              <a:gd name="adj" fmla="val 50000"/>
            </a:avLst>
          </a:prstGeom>
          <a:solidFill>
            <a:srgbClr val="3a2e10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9" name="Text 12"/>
          <p:cNvSpPr/>
          <p:nvPr/>
        </p:nvSpPr>
        <p:spPr>
          <a:xfrm>
            <a:off x="7306200" y="4645080"/>
            <a:ext cx="21477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bbf24"/>
                </a:solidFill>
                <a:latin typeface="Calibri"/>
                <a:ea typeface="Calibri"/>
              </a:rPr>
              <a:t>GB-seconds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0" name="Shape 13"/>
          <p:cNvSpPr/>
          <p:nvPr/>
        </p:nvSpPr>
        <p:spPr>
          <a:xfrm>
            <a:off x="9573840" y="4645080"/>
            <a:ext cx="2147760" cy="456120"/>
          </a:xfrm>
          <a:prstGeom prst="roundRect">
            <a:avLst>
              <a:gd name="adj" fmla="val 50000"/>
            </a:avLst>
          </a:prstGeom>
          <a:solidFill>
            <a:srgbClr val="173a5c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1" name="Text 14"/>
          <p:cNvSpPr/>
          <p:nvPr/>
        </p:nvSpPr>
        <p:spPr>
          <a:xfrm>
            <a:off x="9573840" y="4645080"/>
            <a:ext cx="21477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ea5e9"/>
                </a:solidFill>
                <a:latin typeface="Calibri"/>
                <a:ea typeface="Calibri"/>
              </a:rPr>
              <a:t>CPU Billing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2" name="Shape 15"/>
          <p:cNvSpPr/>
          <p:nvPr/>
        </p:nvSpPr>
        <p:spPr>
          <a:xfrm>
            <a:off x="502920" y="5330880"/>
            <a:ext cx="11200320" cy="913320"/>
          </a:xfrm>
          <a:prstGeom prst="roundRect">
            <a:avLst>
              <a:gd name="adj" fmla="val 8000"/>
            </a:avLst>
          </a:prstGeom>
          <a:solidFill>
            <a:srgbClr val="0d2440"/>
          </a:solidFill>
          <a:ln w="9525">
            <a:solidFill>
              <a:srgbClr val="2747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3" name="Text 16"/>
          <p:cNvSpPr/>
          <p:nvPr/>
        </p:nvSpPr>
        <p:spPr>
          <a:xfrm>
            <a:off x="777240" y="5330880"/>
            <a:ext cx="1065168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8ca3be"/>
                </a:solidFill>
                <a:latin typeface="Calibri"/>
                <a:ea typeface="Calibri"/>
              </a:rPr>
              <a:t>Functions are most economical for short-lived, event-driven workloads. Containers suit complete backend applications, REST APIs and microservices that need a persistent, always-available process.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4" name="Text 17"/>
          <p:cNvSpPr/>
          <p:nvPr/>
        </p:nvSpPr>
        <p:spPr>
          <a:xfrm>
            <a:off x="502920" y="6519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93aac7"/>
                </a:solidFill>
                <a:latin typeface="Calibri"/>
                <a:ea typeface="Calibri"/>
              </a:rPr>
              <a:t>Function vs Container Pricing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5" name="Text 18"/>
          <p:cNvSpPr/>
          <p:nvPr/>
        </p:nvSpPr>
        <p:spPr>
          <a:xfrm>
            <a:off x="10817280" y="6519600"/>
            <a:ext cx="8676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93aac7"/>
                </a:solidFill>
                <a:latin typeface="Calibri"/>
                <a:ea typeface="Calibri"/>
              </a:rPr>
              <a:t>22 / 25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e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6" name="Text 0"/>
          <p:cNvSpPr/>
          <p:nvPr/>
        </p:nvSpPr>
        <p:spPr>
          <a:xfrm>
            <a:off x="502920" y="320040"/>
            <a:ext cx="10514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200" spc="194" strike="noStrike">
                <a:solidFill>
                  <a:srgbClr val="7dd3fc"/>
                </a:solidFill>
                <a:latin typeface="Calibri"/>
                <a:ea typeface="Calibri"/>
              </a:rPr>
              <a:t>CHAPTER 4 – COST OPTIMIZATION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7" name="Text 1"/>
          <p:cNvSpPr/>
          <p:nvPr/>
        </p:nvSpPr>
        <p:spPr>
          <a:xfrm>
            <a:off x="502920" y="567000"/>
            <a:ext cx="11154600" cy="56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ffff"/>
                </a:solidFill>
                <a:latin typeface="Cambria"/>
                <a:ea typeface="Cambria"/>
              </a:rPr>
              <a:t>Cost Optimization Strategies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graphicFrame>
        <p:nvGraphicFramePr>
          <p:cNvPr id="1058" name="Table 0"/>
          <p:cNvGraphicFramePr/>
          <p:nvPr/>
        </p:nvGraphicFramePr>
        <p:xfrm>
          <a:off x="502920" y="1280160"/>
          <a:ext cx="11155320" cy="3619080"/>
        </p:xfrm>
        <a:graphic>
          <a:graphicData uri="http://schemas.openxmlformats.org/drawingml/2006/table">
            <a:tbl>
              <a:tblPr/>
              <a:tblGrid>
                <a:gridCol w="4201200"/>
                <a:gridCol w="2244960"/>
                <a:gridCol w="2244960"/>
                <a:gridCol w="2464560"/>
              </a:tblGrid>
              <a:tr h="4021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Strategy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d3e63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Functions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d3e63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Containers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d3e63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Benefit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d3e63"/>
                    </a:solidFill>
                  </a:tcPr>
                </a:tc>
              </a:tr>
              <a:tr h="4021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Scale-to-Zero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34d399"/>
                          </a:solidFill>
                          <a:latin typeface="Calibri"/>
                          <a:ea typeface="Calibri"/>
                        </a:rPr>
                        <a:t>Yes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34d399"/>
                          </a:solidFill>
                          <a:latin typeface="Calibri"/>
                          <a:ea typeface="Calibri"/>
                        </a:rPr>
                        <a:t>Yes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Eliminates idle compute costs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</a:tr>
              <a:tr h="4021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Warm Instances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fbbf24"/>
                          </a:solidFill>
                          <a:latin typeface="Calibri"/>
                          <a:ea typeface="Calibri"/>
                        </a:rPr>
                        <a:t>Optional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fbbf24"/>
                          </a:solidFill>
                          <a:latin typeface="Calibri"/>
                          <a:ea typeface="Calibri"/>
                        </a:rPr>
                        <a:t>Optional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Reduces cold starts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</a:tr>
              <a:tr h="4021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Event-Driven Architecture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34d399"/>
                          </a:solidFill>
                          <a:latin typeface="Calibri"/>
                          <a:ea typeface="Calibri"/>
                        </a:rPr>
                        <a:t>Best choice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93aac7"/>
                          </a:solidFill>
                          <a:latin typeface="Calibri"/>
                          <a:ea typeface="Calibri"/>
                        </a:rPr>
                        <a:t>Not ideal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Pay only when events occur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</a:tr>
              <a:tr h="4021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Long-Running APIs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93aac7"/>
                          </a:solidFill>
                          <a:latin typeface="Calibri"/>
                          <a:ea typeface="Calibri"/>
                        </a:rPr>
                        <a:t>Not ideal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34d399"/>
                          </a:solidFill>
                          <a:latin typeface="Calibri"/>
                          <a:ea typeface="Calibri"/>
                        </a:rPr>
                        <a:t>Best choice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Stable backend performance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</a:tr>
              <a:tr h="4021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Optimize CPU &amp; Memory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34d399"/>
                          </a:solidFill>
                          <a:latin typeface="Calibri"/>
                          <a:ea typeface="Calibri"/>
                        </a:rPr>
                        <a:t>Yes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34d399"/>
                          </a:solidFill>
                          <a:latin typeface="Calibri"/>
                          <a:ea typeface="Calibri"/>
                        </a:rPr>
                        <a:t>Yes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Reduces compute charges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</a:tr>
              <a:tr h="4021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Reduce Startup Time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93aac7"/>
                          </a:solidFill>
                          <a:latin typeface="Calibri"/>
                          <a:ea typeface="Calibri"/>
                        </a:rPr>
                        <a:t>Moderate impact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34d399"/>
                          </a:solidFill>
                          <a:latin typeface="Calibri"/>
                          <a:ea typeface="Calibri"/>
                        </a:rPr>
                        <a:t>High impact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Faster responses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</a:tr>
              <a:tr h="4021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Cache Responses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93aac7"/>
                          </a:solidFill>
                          <a:latin typeface="Calibri"/>
                          <a:ea typeface="Calibri"/>
                        </a:rPr>
                        <a:t>Moderate benefit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34d399"/>
                          </a:solidFill>
                          <a:latin typeface="Calibri"/>
                          <a:ea typeface="Calibri"/>
                        </a:rPr>
                        <a:t>High benefit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Lowers backend workload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</a:tr>
              <a:tr h="4021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CDN for Static Content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93aac7"/>
                          </a:solidFill>
                          <a:latin typeface="Calibri"/>
                          <a:ea typeface="Calibri"/>
                        </a:rPr>
                        <a:t>Indirect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00" spc="-1" strike="noStrike">
                          <a:solidFill>
                            <a:srgbClr val="93aac7"/>
                          </a:solidFill>
                          <a:latin typeface="Calibri"/>
                          <a:ea typeface="Calibri"/>
                        </a:rPr>
                        <a:t>Indirect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Reduces bandwidth &amp; latency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</a:tr>
            </a:tbl>
          </a:graphicData>
        </a:graphic>
      </p:graphicFrame>
      <p:sp>
        <p:nvSpPr>
          <p:cNvPr id="1059" name="Text 2"/>
          <p:cNvSpPr/>
          <p:nvPr/>
        </p:nvSpPr>
        <p:spPr>
          <a:xfrm>
            <a:off x="594360" y="5056560"/>
            <a:ext cx="38851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100" spc="143" strike="noStrike">
                <a:solidFill>
                  <a:srgbClr val="7dd3fc"/>
                </a:solidFill>
                <a:latin typeface="Calibri"/>
                <a:ea typeface="Calibri"/>
              </a:rPr>
              <a:t>BEST PRACTICES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0" name="Shape 3"/>
          <p:cNvSpPr/>
          <p:nvPr/>
        </p:nvSpPr>
        <p:spPr>
          <a:xfrm>
            <a:off x="502920" y="5367600"/>
            <a:ext cx="319320" cy="319320"/>
          </a:xfrm>
          <a:prstGeom prst="ellipse">
            <a:avLst/>
          </a:prstGeom>
          <a:solidFill>
            <a:srgbClr val="2a255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061" name="Image 0" descr="/home/claude/work/icons/snowflake_purple.png"/>
          <p:cNvPicPr/>
          <p:nvPr/>
        </p:nvPicPr>
        <p:blipFill>
          <a:blip r:embed="rId1"/>
          <a:stretch/>
        </p:blipFill>
        <p:spPr>
          <a:xfrm>
            <a:off x="594360" y="5449680"/>
            <a:ext cx="163800" cy="163800"/>
          </a:xfrm>
          <a:prstGeom prst="rect">
            <a:avLst/>
          </a:prstGeom>
          <a:ln w="0">
            <a:noFill/>
          </a:ln>
        </p:spPr>
      </p:pic>
      <p:sp>
        <p:nvSpPr>
          <p:cNvPr id="1062" name="Text 4"/>
          <p:cNvSpPr/>
          <p:nvPr/>
        </p:nvSpPr>
        <p:spPr>
          <a:xfrm>
            <a:off x="914400" y="5331240"/>
            <a:ext cx="338220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Let idle workloads scale to zero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3" name="Shape 5"/>
          <p:cNvSpPr/>
          <p:nvPr/>
        </p:nvSpPr>
        <p:spPr>
          <a:xfrm>
            <a:off x="502920" y="5760720"/>
            <a:ext cx="319320" cy="319320"/>
          </a:xfrm>
          <a:prstGeom prst="ellipse">
            <a:avLst/>
          </a:prstGeom>
          <a:solidFill>
            <a:srgbClr val="1038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064" name="Image 1" descr="/home/claude/work/icons/fire_green.png"/>
          <p:cNvPicPr/>
          <p:nvPr/>
        </p:nvPicPr>
        <p:blipFill>
          <a:blip r:embed="rId2"/>
          <a:stretch/>
        </p:blipFill>
        <p:spPr>
          <a:xfrm>
            <a:off x="603360" y="5833800"/>
            <a:ext cx="163800" cy="163800"/>
          </a:xfrm>
          <a:prstGeom prst="rect">
            <a:avLst/>
          </a:prstGeom>
          <a:ln w="0">
            <a:noFill/>
          </a:ln>
        </p:spPr>
      </p:pic>
      <p:sp>
        <p:nvSpPr>
          <p:cNvPr id="1065" name="Text 6"/>
          <p:cNvSpPr/>
          <p:nvPr/>
        </p:nvSpPr>
        <p:spPr>
          <a:xfrm>
            <a:off x="914400" y="5715000"/>
            <a:ext cx="338220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Keep warm instances only where latency is critical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6" name="Shape 7"/>
          <p:cNvSpPr/>
          <p:nvPr/>
        </p:nvSpPr>
        <p:spPr>
          <a:xfrm>
            <a:off x="502920" y="6153840"/>
            <a:ext cx="319320" cy="319320"/>
          </a:xfrm>
          <a:prstGeom prst="ellipse">
            <a:avLst/>
          </a:prstGeom>
          <a:solidFill>
            <a:srgbClr val="173a5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067" name="Image 2" descr="/home/claude/work/icons/bolt_blue.png"/>
          <p:cNvPicPr/>
          <p:nvPr/>
        </p:nvPicPr>
        <p:blipFill>
          <a:blip r:embed="rId3"/>
          <a:stretch/>
        </p:blipFill>
        <p:spPr>
          <a:xfrm>
            <a:off x="612720" y="6236280"/>
            <a:ext cx="163800" cy="163800"/>
          </a:xfrm>
          <a:prstGeom prst="rect">
            <a:avLst/>
          </a:prstGeom>
          <a:ln w="0">
            <a:noFill/>
          </a:ln>
        </p:spPr>
      </p:pic>
      <p:sp>
        <p:nvSpPr>
          <p:cNvPr id="1068" name="Text 8"/>
          <p:cNvSpPr/>
          <p:nvPr/>
        </p:nvSpPr>
        <p:spPr>
          <a:xfrm>
            <a:off x="914400" y="6098760"/>
            <a:ext cx="338220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Use functions for event-driven, short tasks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9" name="Shape 9"/>
          <p:cNvSpPr/>
          <p:nvPr/>
        </p:nvSpPr>
        <p:spPr>
          <a:xfrm>
            <a:off x="4114800" y="5367600"/>
            <a:ext cx="319320" cy="319320"/>
          </a:xfrm>
          <a:prstGeom prst="ellipse">
            <a:avLst/>
          </a:prstGeom>
          <a:solidFill>
            <a:srgbClr val="2a255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070" name="Image 3" descr="/home/claude/work/icons/container_purple.png"/>
          <p:cNvPicPr/>
          <p:nvPr/>
        </p:nvPicPr>
        <p:blipFill>
          <a:blip r:embed="rId4"/>
          <a:stretch/>
        </p:blipFill>
        <p:spPr>
          <a:xfrm>
            <a:off x="4178880" y="5449680"/>
            <a:ext cx="163800" cy="163800"/>
          </a:xfrm>
          <a:prstGeom prst="rect">
            <a:avLst/>
          </a:prstGeom>
          <a:ln w="0">
            <a:noFill/>
          </a:ln>
        </p:spPr>
      </p:pic>
      <p:sp>
        <p:nvSpPr>
          <p:cNvPr id="1071" name="Text 10"/>
          <p:cNvSpPr/>
          <p:nvPr/>
        </p:nvSpPr>
        <p:spPr>
          <a:xfrm>
            <a:off x="4572000" y="5330880"/>
            <a:ext cx="338220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Use containers for persistent backend APIs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2" name="Shape 11"/>
          <p:cNvSpPr/>
          <p:nvPr/>
        </p:nvSpPr>
        <p:spPr>
          <a:xfrm>
            <a:off x="4114800" y="5760720"/>
            <a:ext cx="319320" cy="319320"/>
          </a:xfrm>
          <a:prstGeom prst="ellipse">
            <a:avLst/>
          </a:prstGeom>
          <a:solidFill>
            <a:srgbClr val="3a2e1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073" name="Image 4" descr="/home/claude/work/icons/cache_amber.png"/>
          <p:cNvPicPr/>
          <p:nvPr/>
        </p:nvPicPr>
        <p:blipFill>
          <a:blip r:embed="rId5"/>
          <a:stretch/>
        </p:blipFill>
        <p:spPr>
          <a:xfrm>
            <a:off x="4187880" y="5833800"/>
            <a:ext cx="163800" cy="163800"/>
          </a:xfrm>
          <a:prstGeom prst="rect">
            <a:avLst/>
          </a:prstGeom>
          <a:ln w="0">
            <a:noFill/>
          </a:ln>
        </p:spPr>
      </p:pic>
      <p:sp>
        <p:nvSpPr>
          <p:cNvPr id="1074" name="Text 12"/>
          <p:cNvSpPr/>
          <p:nvPr/>
        </p:nvSpPr>
        <p:spPr>
          <a:xfrm>
            <a:off x="4572000" y="6098760"/>
            <a:ext cx="338220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Cache responses to cut backend load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5" name="Shape 13"/>
          <p:cNvSpPr/>
          <p:nvPr/>
        </p:nvSpPr>
        <p:spPr>
          <a:xfrm>
            <a:off x="4114800" y="6153840"/>
            <a:ext cx="319320" cy="319320"/>
          </a:xfrm>
          <a:prstGeom prst="ellipse">
            <a:avLst/>
          </a:prstGeom>
          <a:solidFill>
            <a:srgbClr val="173a5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076" name="Image 5" descr="/home/claude/work/icons/cdn_blue.png"/>
          <p:cNvPicPr/>
          <p:nvPr/>
        </p:nvPicPr>
        <p:blipFill>
          <a:blip r:embed="rId6"/>
          <a:stretch/>
        </p:blipFill>
        <p:spPr>
          <a:xfrm>
            <a:off x="4187880" y="6217920"/>
            <a:ext cx="163800" cy="163800"/>
          </a:xfrm>
          <a:prstGeom prst="rect">
            <a:avLst/>
          </a:prstGeom>
          <a:ln w="0">
            <a:noFill/>
          </a:ln>
        </p:spPr>
      </p:pic>
      <p:sp>
        <p:nvSpPr>
          <p:cNvPr id="1077" name="Text 14"/>
          <p:cNvSpPr/>
          <p:nvPr/>
        </p:nvSpPr>
        <p:spPr>
          <a:xfrm>
            <a:off x="4572000" y="5715000"/>
            <a:ext cx="338220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Serve static assets through a CDN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8" name="Shape 15"/>
          <p:cNvSpPr/>
          <p:nvPr/>
        </p:nvSpPr>
        <p:spPr>
          <a:xfrm>
            <a:off x="7086600" y="5257800"/>
            <a:ext cx="4616640" cy="1096200"/>
          </a:xfrm>
          <a:prstGeom prst="roundRect">
            <a:avLst>
              <a:gd name="adj" fmla="val 6667"/>
            </a:avLst>
          </a:prstGeom>
          <a:solidFill>
            <a:srgbClr val="0d2440"/>
          </a:solidFill>
          <a:ln w="9525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9" name="Shape 16"/>
          <p:cNvSpPr/>
          <p:nvPr/>
        </p:nvSpPr>
        <p:spPr>
          <a:xfrm>
            <a:off x="7315200" y="5559480"/>
            <a:ext cx="501840" cy="501840"/>
          </a:xfrm>
          <a:prstGeom prst="ellipse">
            <a:avLst/>
          </a:prstGeom>
          <a:solidFill>
            <a:srgbClr val="173a5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080" name="Image 6" descr="/home/claude/work/icons/target_blue.png"/>
          <p:cNvPicPr/>
          <p:nvPr/>
        </p:nvPicPr>
        <p:blipFill>
          <a:blip r:embed="rId7"/>
          <a:stretch/>
        </p:blipFill>
        <p:spPr>
          <a:xfrm>
            <a:off x="7434000" y="5678280"/>
            <a:ext cx="260280" cy="260280"/>
          </a:xfrm>
          <a:prstGeom prst="rect">
            <a:avLst/>
          </a:prstGeom>
          <a:ln w="0">
            <a:noFill/>
          </a:ln>
        </p:spPr>
      </p:pic>
      <p:sp>
        <p:nvSpPr>
          <p:cNvPr id="1081" name="Text 17"/>
          <p:cNvSpPr/>
          <p:nvPr/>
        </p:nvSpPr>
        <p:spPr>
          <a:xfrm>
            <a:off x="8001000" y="5257800"/>
            <a:ext cx="342792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mbria"/>
                <a:ea typeface="Cambria"/>
              </a:rPr>
              <a:t>Functions handle the spikes. Containers hold the line. Combine both and you stop paying for compute you aren't using.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2" name="Text 18"/>
          <p:cNvSpPr/>
          <p:nvPr/>
        </p:nvSpPr>
        <p:spPr>
          <a:xfrm>
            <a:off x="502920" y="6519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93aac7"/>
                </a:solidFill>
                <a:latin typeface="Calibri"/>
                <a:ea typeface="Calibri"/>
              </a:rPr>
              <a:t>Cost Optimization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3" name="Text 19"/>
          <p:cNvSpPr/>
          <p:nvPr/>
        </p:nvSpPr>
        <p:spPr>
          <a:xfrm>
            <a:off x="10817280" y="6519600"/>
            <a:ext cx="8676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93aac7"/>
                </a:solidFill>
                <a:latin typeface="Calibri"/>
                <a:ea typeface="Calibri"/>
              </a:rPr>
              <a:t>23 / 25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e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4" name="Text 0"/>
          <p:cNvSpPr/>
          <p:nvPr/>
        </p:nvSpPr>
        <p:spPr>
          <a:xfrm>
            <a:off x="502920" y="320040"/>
            <a:ext cx="10514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200" spc="194" strike="noStrike">
                <a:solidFill>
                  <a:srgbClr val="7dd3fc"/>
                </a:solidFill>
                <a:latin typeface="Calibri"/>
                <a:ea typeface="Calibri"/>
              </a:rPr>
              <a:t>FINAL DECISION MATRIX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5" name="Text 1"/>
          <p:cNvSpPr/>
          <p:nvPr/>
        </p:nvSpPr>
        <p:spPr>
          <a:xfrm>
            <a:off x="502920" y="567000"/>
            <a:ext cx="11154600" cy="56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ffff"/>
                </a:solidFill>
                <a:latin typeface="Cambria"/>
                <a:ea typeface="Cambria"/>
              </a:rPr>
              <a:t>Which Platform Provides Which Services  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graphicFrame>
        <p:nvGraphicFramePr>
          <p:cNvPr id="1086" name="Table 0"/>
          <p:cNvGraphicFramePr/>
          <p:nvPr/>
        </p:nvGraphicFramePr>
        <p:xfrm>
          <a:off x="502920" y="1280160"/>
          <a:ext cx="11383920" cy="4663440"/>
        </p:xfrm>
        <a:graphic>
          <a:graphicData uri="http://schemas.openxmlformats.org/drawingml/2006/table">
            <a:tbl>
              <a:tblPr/>
              <a:tblGrid>
                <a:gridCol w="2392560"/>
                <a:gridCol w="1929600"/>
                <a:gridCol w="1766160"/>
                <a:gridCol w="1766160"/>
                <a:gridCol w="1766160"/>
                <a:gridCol w="1763640"/>
              </a:tblGrid>
              <a:tr h="42408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3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Requirement</a:t>
                      </a:r>
                      <a:endParaRPr b="0" lang="en-US" sz="10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d3e63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3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Azure</a:t>
                      </a:r>
                      <a:endParaRPr b="0" lang="en-US" sz="10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d3e63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3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AWS</a:t>
                      </a:r>
                      <a:endParaRPr b="0" lang="en-US" sz="10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d3e63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3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GCP</a:t>
                      </a:r>
                      <a:endParaRPr b="0" lang="en-US" sz="10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d3e63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3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Vercel</a:t>
                      </a:r>
                      <a:endParaRPr b="0" lang="en-US" sz="10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d3e63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3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Cloudflare</a:t>
                      </a:r>
                      <a:endParaRPr b="0" lang="en-US" sz="10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d3e63"/>
                    </a:solidFill>
                  </a:tcPr>
                </a:tc>
              </a:tr>
              <a:tr h="42408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3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Serverless Functions</a:t>
                      </a:r>
                      <a:endParaRPr b="0" lang="en-US" sz="10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30" spc="-1" strike="noStrike">
                          <a:solidFill>
                            <a:srgbClr val="7dd3fc"/>
                          </a:solidFill>
                          <a:latin typeface="Calibri"/>
                          <a:ea typeface="Calibri"/>
                        </a:rPr>
                        <a:t>Azure Functions</a:t>
                      </a:r>
                      <a:endParaRPr b="0" lang="en-US" sz="10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  <a:tabLst>
                          <a:tab algn="l" pos="0"/>
                        </a:tabLst>
                      </a:pPr>
                      <a:r>
                        <a:rPr b="0" lang="en-US" sz="1030" spc="-1" strike="noStrike">
                          <a:solidFill>
                            <a:srgbClr val="7dd3fc"/>
                          </a:solidFill>
                          <a:latin typeface="Calibri"/>
                          <a:ea typeface="Calibri"/>
                        </a:rPr>
                        <a:t>AWS Lambda</a:t>
                      </a:r>
                      <a:endParaRPr b="0" lang="en-US" sz="10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  <a:tabLst>
                          <a:tab algn="l" pos="0"/>
                        </a:tabLst>
                      </a:pPr>
                      <a:r>
                        <a:rPr b="0" lang="en-US" sz="1030" spc="-1" strike="noStrike">
                          <a:solidFill>
                            <a:srgbClr val="7dd3fc"/>
                          </a:solidFill>
                          <a:latin typeface="Calibri"/>
                          <a:ea typeface="Calibri"/>
                        </a:rPr>
                        <a:t>Cloud Functions (Gen2)</a:t>
                      </a:r>
                      <a:endParaRPr b="0" lang="en-US" sz="10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  <a:tabLst>
                          <a:tab algn="l" pos="0"/>
                        </a:tabLst>
                      </a:pPr>
                      <a:r>
                        <a:rPr b="0" lang="en-US" sz="1030" spc="-1" strike="noStrike">
                          <a:solidFill>
                            <a:srgbClr val="7dd3fc"/>
                          </a:solidFill>
                          <a:latin typeface="Calibri"/>
                          <a:ea typeface="Calibri"/>
                        </a:rPr>
                        <a:t>Vercel Functions</a:t>
                      </a:r>
                      <a:endParaRPr b="0" lang="en-US" sz="10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7dd3fc"/>
                          </a:solidFill>
                          <a:latin typeface="Calibri"/>
                          <a:ea typeface="Calibri"/>
                        </a:rPr>
                        <a:t>Cloudflare Workers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</a:tr>
              <a:tr h="42408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3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Serverless Containers</a:t>
                      </a:r>
                      <a:endParaRPr b="0" lang="en-US" sz="10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  <a:tabLst>
                          <a:tab algn="l" pos="0"/>
                        </a:tabLst>
                      </a:pPr>
                      <a:r>
                        <a:rPr b="0" lang="en-US" sz="1030" spc="-1" strike="noStrike">
                          <a:solidFill>
                            <a:srgbClr val="7dd3fc"/>
                          </a:solidFill>
                          <a:latin typeface="Calibri"/>
                          <a:ea typeface="Calibri"/>
                        </a:rPr>
                        <a:t>Azure Container Apps</a:t>
                      </a:r>
                      <a:endParaRPr b="0" lang="en-US" sz="10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  <a:tabLst>
                          <a:tab algn="l" pos="0"/>
                        </a:tabLst>
                      </a:pPr>
                      <a:r>
                        <a:rPr b="0" lang="en-US" sz="1030" spc="-1" strike="noStrike">
                          <a:solidFill>
                            <a:srgbClr val="7dd3fc"/>
                          </a:solidFill>
                          <a:latin typeface="Calibri"/>
                          <a:ea typeface="Calibri"/>
                        </a:rPr>
                        <a:t>ECS Fargate / App Runner</a:t>
                      </a:r>
                      <a:endParaRPr b="0" lang="en-US" sz="10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30" spc="-1" strike="noStrike">
                          <a:solidFill>
                            <a:srgbClr val="7dd3fc"/>
                          </a:solidFill>
                          <a:latin typeface="Calibri"/>
                          <a:ea typeface="Calibri"/>
                        </a:rPr>
                        <a:t>Cloud Run</a:t>
                      </a:r>
                      <a:endParaRPr b="0" lang="en-US" sz="10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30" spc="-1" strike="noStrike">
                          <a:solidFill>
                            <a:srgbClr val="3f597a"/>
                          </a:solidFill>
                          <a:latin typeface="Calibri"/>
                          <a:ea typeface="Calibri"/>
                        </a:rPr>
                        <a:t>—</a:t>
                      </a:r>
                      <a:endParaRPr b="0" lang="en-US" sz="10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30" spc="-1" strike="noStrike">
                          <a:solidFill>
                            <a:srgbClr val="3f597a"/>
                          </a:solidFill>
                          <a:latin typeface="Calibri"/>
                          <a:ea typeface="Calibri"/>
                        </a:rPr>
                        <a:t>—</a:t>
                      </a:r>
                      <a:endParaRPr b="0" lang="en-US" sz="10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</a:tr>
              <a:tr h="42408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3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Always free Functions</a:t>
                      </a:r>
                      <a:endParaRPr b="0" lang="en-US" sz="10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  <a:tabLst>
                          <a:tab algn="l" pos="0"/>
                        </a:tabLst>
                      </a:pPr>
                      <a:r>
                        <a:rPr b="0" lang="en-US" sz="1030" spc="-1" strike="noStrike">
                          <a:solidFill>
                            <a:srgbClr val="7dd3fc"/>
                          </a:solidFill>
                          <a:latin typeface="Calibri"/>
                          <a:ea typeface="Calibri"/>
                        </a:rPr>
                        <a:t>1M executions + 400K GB-seconds/month</a:t>
                      </a:r>
                      <a:endParaRPr b="0" lang="en-US" sz="10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  <a:tabLst>
                          <a:tab algn="l" pos="0"/>
                        </a:tabLst>
                      </a:pPr>
                      <a:r>
                        <a:rPr b="0" lang="en-US" sz="1030" spc="-1" strike="noStrike">
                          <a:solidFill>
                            <a:srgbClr val="7dd3fc"/>
                          </a:solidFill>
                          <a:latin typeface="Calibri"/>
                          <a:ea typeface="Calibri"/>
                        </a:rPr>
                        <a:t>1M requests + 400K GB-seconds/month</a:t>
                      </a:r>
                      <a:endParaRPr b="0" lang="en-US" sz="10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  <a:tabLst>
                          <a:tab algn="l" pos="0"/>
                        </a:tabLst>
                      </a:pPr>
                      <a:r>
                        <a:rPr b="0" lang="en-US" sz="1030" spc="-1" strike="noStrike">
                          <a:solidFill>
                            <a:srgbClr val="7dd3fc"/>
                          </a:solidFill>
                          <a:latin typeface="Calibri"/>
                          <a:ea typeface="Calibri"/>
                        </a:rPr>
                        <a:t>2M invocations + 400K GiB-seconds + 200K vCPU-seconds + 5 GB egress/month</a:t>
                      </a:r>
                      <a:endParaRPr b="0" lang="en-US" sz="10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  <a:tabLst>
                          <a:tab algn="l" pos="0"/>
                        </a:tabLst>
                      </a:pPr>
                      <a:r>
                        <a:rPr b="0" lang="en-US" sz="1030" spc="-1" strike="noStrike">
                          <a:solidFill>
                            <a:srgbClr val="7dd3fc"/>
                          </a:solidFill>
                          <a:latin typeface="Calibri"/>
                          <a:ea typeface="Calibri"/>
                        </a:rPr>
                        <a:t>Included in Hobby Plan (plan quotas)</a:t>
                      </a:r>
                      <a:endParaRPr b="0" lang="en-US" sz="10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7dd3fc"/>
                          </a:solidFill>
                          <a:latin typeface="Calibri"/>
                          <a:ea typeface="Calibri"/>
                        </a:rPr>
                        <a:t>100K requests/day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</a:tr>
              <a:tr h="42408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3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Always Free Containers</a:t>
                      </a:r>
                      <a:endParaRPr b="0" lang="en-US" sz="10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30" spc="-1" strike="noStrike">
                          <a:solidFill>
                            <a:srgbClr val="3f597a"/>
                          </a:solidFill>
                          <a:latin typeface="Calibri"/>
                          <a:ea typeface="Calibri"/>
                        </a:rPr>
                        <a:t>—</a:t>
                      </a:r>
                      <a:endParaRPr b="0" lang="en-US" sz="10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30" spc="-1" strike="noStrike">
                          <a:solidFill>
                            <a:srgbClr val="3f597a"/>
                          </a:solidFill>
                          <a:latin typeface="Calibri"/>
                          <a:ea typeface="Calibri"/>
                        </a:rPr>
                        <a:t>—</a:t>
                      </a:r>
                      <a:endParaRPr b="0" lang="en-US" sz="10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  <a:tabLst>
                          <a:tab algn="l" pos="0"/>
                        </a:tabLst>
                      </a:pPr>
                      <a:r>
                        <a:rPr b="0" lang="en-US" sz="1030" spc="-1" strike="noStrike">
                          <a:solidFill>
                            <a:srgbClr val="7dd3fc"/>
                          </a:solidFill>
                          <a:latin typeface="Calibri"/>
                          <a:ea typeface="Calibri"/>
                        </a:rPr>
                        <a:t>Cloud Run: 2M requests + 180K vCPU-seconds + 360K GiB-seconds/month + 1 GiB outbound egress</a:t>
                      </a:r>
                      <a:endParaRPr b="0" lang="en-US" sz="10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30" spc="-1" strike="noStrike">
                          <a:solidFill>
                            <a:srgbClr val="3f597a"/>
                          </a:solidFill>
                          <a:latin typeface="Calibri"/>
                          <a:ea typeface="Calibri"/>
                        </a:rPr>
                        <a:t>—</a:t>
                      </a:r>
                      <a:endParaRPr b="0" lang="en-US" sz="10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30" spc="-1" strike="noStrike">
                          <a:solidFill>
                            <a:srgbClr val="3f597a"/>
                          </a:solidFill>
                          <a:latin typeface="Calibri"/>
                          <a:ea typeface="Calibri"/>
                        </a:rPr>
                        <a:t>—</a:t>
                      </a:r>
                      <a:endParaRPr b="0" lang="en-US" sz="10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</a:tr>
              <a:tr h="42408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3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Available Compute</a:t>
                      </a:r>
                      <a:endParaRPr b="0" lang="en-US" sz="10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30" spc="-1" strike="noStrike">
                          <a:solidFill>
                            <a:srgbClr val="7dd3fc"/>
                          </a:solidFill>
                          <a:latin typeface="Calibri"/>
                          <a:ea typeface="Calibri"/>
                        </a:rPr>
                        <a:t>Functions + Containers</a:t>
                      </a:r>
                      <a:endParaRPr b="0" lang="en-US" sz="10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30" spc="-1" strike="noStrike">
                          <a:solidFill>
                            <a:srgbClr val="7dd3fc"/>
                          </a:solidFill>
                          <a:latin typeface="Calibri"/>
                          <a:ea typeface="Calibri"/>
                        </a:rPr>
                        <a:t>Functions + Containers</a:t>
                      </a:r>
                      <a:endParaRPr b="0" lang="en-US" sz="1030" spc="-1" strike="noStrike">
                        <a:solidFill>
                          <a:srgbClr val="ffffff"/>
                        </a:solidFill>
                        <a:latin typeface="Times New Roman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30" spc="-1" strike="noStrike">
                          <a:solidFill>
                            <a:srgbClr val="7dd3fc"/>
                          </a:solidFill>
                          <a:latin typeface="Calibri"/>
                          <a:ea typeface="Calibri"/>
                        </a:rPr>
                        <a:t>Functions + Containers</a:t>
                      </a:r>
                      <a:endParaRPr b="0" lang="en-US" sz="1030" spc="-1" strike="noStrike">
                        <a:solidFill>
                          <a:srgbClr val="ffffff"/>
                        </a:solidFill>
                        <a:latin typeface="Times New Roman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30" spc="-1" strike="noStrike">
                          <a:solidFill>
                            <a:srgbClr val="7dd3fc"/>
                          </a:solidFill>
                          <a:latin typeface="Calibri"/>
                          <a:ea typeface="Calibri"/>
                        </a:rPr>
                        <a:t>Functions (SSR/API Routes</a:t>
                      </a:r>
                      <a:endParaRPr b="0" lang="en-US" sz="1030" spc="-1" strike="noStrike">
                        <a:solidFill>
                          <a:srgbClr val="ffffff"/>
                        </a:solidFill>
                        <a:latin typeface="Times New Roman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30" spc="-1" strike="noStrike">
                          <a:solidFill>
                            <a:srgbClr val="7dd3fc"/>
                          </a:solidFill>
                          <a:latin typeface="Calibri"/>
                          <a:ea typeface="Calibri"/>
                        </a:rPr>
                        <a:t>Edge Functions</a:t>
                      </a:r>
                      <a:endParaRPr b="0" lang="en-US" sz="10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</a:tr>
              <a:tr h="42408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3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Database</a:t>
                      </a:r>
                      <a:endParaRPr b="0" lang="en-US" sz="10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30" spc="-1" strike="noStrike">
                          <a:solidFill>
                            <a:srgbClr val="7dd3fc"/>
                          </a:solidFill>
                          <a:latin typeface="Calibri"/>
                          <a:ea typeface="Calibri"/>
                        </a:rPr>
                        <a:t>Cosmos DB(limited free options)</a:t>
                      </a:r>
                      <a:endParaRPr b="0" lang="en-US" sz="10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30" spc="-1" strike="noStrike">
                          <a:solidFill>
                            <a:srgbClr val="7dd3fc"/>
                          </a:solidFill>
                          <a:latin typeface="Calibri"/>
                          <a:ea typeface="Calibri"/>
                        </a:rPr>
                        <a:t>DynamoDB</a:t>
                      </a:r>
                      <a:endParaRPr b="0" lang="en-US" sz="10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30" spc="-1" strike="noStrike">
                          <a:solidFill>
                            <a:srgbClr val="7dd3fc"/>
                          </a:solidFill>
                          <a:latin typeface="Calibri"/>
                          <a:ea typeface="Calibri"/>
                        </a:rPr>
                        <a:t>Firestore</a:t>
                      </a:r>
                      <a:endParaRPr b="0" lang="en-US" sz="10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30" spc="-1" strike="noStrike">
                          <a:solidFill>
                            <a:srgbClr val="7dd3fc"/>
                          </a:solidFill>
                          <a:latin typeface="Calibri"/>
                          <a:ea typeface="Calibri"/>
                        </a:rPr>
                        <a:t>External</a:t>
                      </a:r>
                      <a:endParaRPr b="0" lang="en-US" sz="10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30" spc="-1" strike="noStrike">
                          <a:solidFill>
                            <a:srgbClr val="7dd3fc"/>
                          </a:solidFill>
                          <a:latin typeface="Calibri"/>
                          <a:ea typeface="Calibri"/>
                        </a:rPr>
                        <a:t>KV/D1</a:t>
                      </a:r>
                      <a:endParaRPr b="0" lang="en-US" sz="10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</a:tr>
              <a:tr h="42408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3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Object Storage</a:t>
                      </a:r>
                      <a:endParaRPr b="0" lang="en-US" sz="10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30" spc="-1" strike="noStrike">
                          <a:solidFill>
                            <a:srgbClr val="7dd3fc"/>
                          </a:solidFill>
                          <a:latin typeface="Calibri"/>
                          <a:ea typeface="Calibri"/>
                        </a:rPr>
                        <a:t>Blob Storage</a:t>
                      </a:r>
                      <a:endParaRPr b="0" lang="en-US" sz="10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30" spc="-1" strike="noStrike">
                          <a:solidFill>
                            <a:srgbClr val="7dd3fc"/>
                          </a:solidFill>
                          <a:latin typeface="Calibri"/>
                          <a:ea typeface="Calibri"/>
                        </a:rPr>
                        <a:t>S3 (12-month free)</a:t>
                      </a:r>
                      <a:endParaRPr b="0" lang="en-US" sz="10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30" spc="-1" strike="noStrike">
                          <a:solidFill>
                            <a:srgbClr val="7dd3fc"/>
                          </a:solidFill>
                          <a:latin typeface="Calibri"/>
                          <a:ea typeface="Calibri"/>
                        </a:rPr>
                        <a:t>Cloud Storage (5 GB Always Free)</a:t>
                      </a:r>
                      <a:endParaRPr b="0" lang="en-US" sz="10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30" spc="-1" strike="noStrike">
                          <a:solidFill>
                            <a:srgbClr val="7dd3fc"/>
                          </a:solidFill>
                          <a:latin typeface="Calibri"/>
                          <a:ea typeface="Calibri"/>
                        </a:rPr>
                        <a:t>External</a:t>
                      </a:r>
                      <a:endParaRPr b="0" lang="en-US" sz="10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30" spc="-1" strike="noStrike">
                          <a:solidFill>
                            <a:srgbClr val="7dd3fc"/>
                          </a:solidFill>
                          <a:latin typeface="Calibri"/>
                          <a:ea typeface="Calibri"/>
                        </a:rPr>
                        <a:t>R2</a:t>
                      </a:r>
                      <a:endParaRPr b="0" lang="en-US" sz="10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</a:tr>
              <a:tr h="42408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3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Event Bus</a:t>
                      </a:r>
                      <a:endParaRPr b="0" lang="en-US" sz="10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30" spc="-1" strike="noStrike">
                          <a:solidFill>
                            <a:srgbClr val="7dd3fc"/>
                          </a:solidFill>
                          <a:latin typeface="Calibri"/>
                          <a:ea typeface="Calibri"/>
                        </a:rPr>
                        <a:t>Event Grid</a:t>
                      </a:r>
                      <a:endParaRPr b="0" lang="en-US" sz="10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30" spc="-1" strike="noStrike">
                          <a:solidFill>
                            <a:srgbClr val="7dd3fc"/>
                          </a:solidFill>
                          <a:latin typeface="Calibri"/>
                          <a:ea typeface="Calibri"/>
                        </a:rPr>
                        <a:t>EventBridge</a:t>
                      </a:r>
                      <a:endParaRPr b="0" lang="en-US" sz="10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30" spc="-1" strike="noStrike">
                          <a:solidFill>
                            <a:srgbClr val="7dd3fc"/>
                          </a:solidFill>
                          <a:latin typeface="Calibri"/>
                          <a:ea typeface="Calibri"/>
                        </a:rPr>
                        <a:t>Pub/Sub</a:t>
                      </a:r>
                      <a:endParaRPr b="0" lang="en-US" sz="10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30" spc="-1" strike="noStrike">
                          <a:solidFill>
                            <a:srgbClr val="3f597a"/>
                          </a:solidFill>
                          <a:latin typeface="Calibri"/>
                          <a:ea typeface="Calibri"/>
                        </a:rPr>
                        <a:t>—</a:t>
                      </a:r>
                      <a:endParaRPr b="0" lang="en-US" sz="10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30" spc="-1" strike="noStrike">
                          <a:solidFill>
                            <a:srgbClr val="7dd3fc"/>
                          </a:solidFill>
                          <a:latin typeface="Calibri"/>
                          <a:ea typeface="Calibri"/>
                        </a:rPr>
                        <a:t>Queues</a:t>
                      </a:r>
                      <a:endParaRPr b="0" lang="en-US" sz="10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</a:tr>
              <a:tr h="42408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3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Schedular</a:t>
                      </a:r>
                      <a:endParaRPr b="0" lang="en-US" sz="10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30" spc="-1" strike="noStrike">
                          <a:solidFill>
                            <a:srgbClr val="7dd3fc"/>
                          </a:solidFill>
                          <a:latin typeface="Calibri"/>
                          <a:ea typeface="Calibri"/>
                        </a:rPr>
                        <a:t>Time Trigger</a:t>
                      </a:r>
                      <a:endParaRPr b="0" lang="en-US" sz="10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30" spc="-1" strike="noStrike">
                          <a:solidFill>
                            <a:srgbClr val="7dd3fc"/>
                          </a:solidFill>
                          <a:latin typeface="Calibri"/>
                          <a:ea typeface="Calibri"/>
                        </a:rPr>
                        <a:t>EventBridge Scheduler</a:t>
                      </a:r>
                      <a:endParaRPr b="0" lang="en-US" sz="10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30" spc="-1" strike="noStrike">
                          <a:solidFill>
                            <a:srgbClr val="7dd3fc"/>
                          </a:solidFill>
                          <a:latin typeface="Calibri"/>
                          <a:ea typeface="Calibri"/>
                        </a:rPr>
                        <a:t>Cloud Scheduler</a:t>
                      </a:r>
                      <a:endParaRPr b="0" lang="en-US" sz="10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30" spc="-1" strike="noStrike">
                          <a:solidFill>
                            <a:srgbClr val="7dd3fc"/>
                          </a:solidFill>
                          <a:latin typeface="Calibri"/>
                          <a:ea typeface="Calibri"/>
                        </a:rPr>
                        <a:t>Vercel Cron</a:t>
                      </a:r>
                      <a:endParaRPr b="0" lang="en-US" sz="10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30" spc="-1" strike="noStrike">
                          <a:solidFill>
                            <a:srgbClr val="7dd3fc"/>
                          </a:solidFill>
                          <a:latin typeface="Calibri"/>
                          <a:ea typeface="Calibri"/>
                        </a:rPr>
                        <a:t>Cron Triggers</a:t>
                      </a:r>
                      <a:endParaRPr b="0" lang="en-US" sz="10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</a:tr>
              <a:tr h="42264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3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Best For</a:t>
                      </a:r>
                      <a:endParaRPr b="0" lang="en-US" sz="10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30" spc="-1" strike="noStrike">
                          <a:solidFill>
                            <a:srgbClr val="7dd3fc"/>
                          </a:solidFill>
                          <a:latin typeface="Calibri"/>
                          <a:ea typeface="Calibri"/>
                        </a:rPr>
                        <a:t>Enterprise Application</a:t>
                      </a:r>
                      <a:endParaRPr b="0" lang="en-US" sz="10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30" spc="-1" strike="noStrike">
                          <a:solidFill>
                            <a:srgbClr val="7dd3fc"/>
                          </a:solidFill>
                          <a:latin typeface="Calibri"/>
                          <a:ea typeface="Calibri"/>
                        </a:rPr>
                        <a:t>Large Cloud Ecosystem</a:t>
                      </a:r>
                      <a:endParaRPr b="0" lang="en-US" sz="10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30" spc="-1" strike="noStrike">
                          <a:solidFill>
                            <a:srgbClr val="7dd3fc"/>
                          </a:solidFill>
                          <a:latin typeface="Calibri"/>
                          <a:ea typeface="Calibri"/>
                        </a:rPr>
                        <a:t>Full Serverless Stack</a:t>
                      </a:r>
                      <a:endParaRPr b="0" lang="en-US" sz="10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30" spc="-1" strike="noStrike">
                          <a:solidFill>
                            <a:srgbClr val="7dd3fc"/>
                          </a:solidFill>
                          <a:latin typeface="Calibri"/>
                          <a:ea typeface="Calibri"/>
                        </a:rPr>
                        <a:t>Next.js Frontend</a:t>
                      </a:r>
                      <a:endParaRPr b="0" lang="en-US" sz="10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30" spc="-1" strike="noStrike">
                          <a:solidFill>
                            <a:srgbClr val="7dd3fc"/>
                          </a:solidFill>
                          <a:latin typeface="Calibri"/>
                          <a:ea typeface="Calibri"/>
                        </a:rPr>
                        <a:t>Edge Computing</a:t>
                      </a:r>
                      <a:endParaRPr b="0" lang="en-US" sz="103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</a:tr>
            </a:tbl>
          </a:graphicData>
        </a:graphic>
      </p:graphicFrame>
      <p:sp>
        <p:nvSpPr>
          <p:cNvPr id="1087" name="Text 3"/>
          <p:cNvSpPr/>
          <p:nvPr/>
        </p:nvSpPr>
        <p:spPr>
          <a:xfrm>
            <a:off x="868680" y="6144840"/>
            <a:ext cx="30164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8" name="Text 5"/>
          <p:cNvSpPr/>
          <p:nvPr/>
        </p:nvSpPr>
        <p:spPr>
          <a:xfrm>
            <a:off x="4526280" y="6144840"/>
            <a:ext cx="33822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9" name="Text 7"/>
          <p:cNvSpPr/>
          <p:nvPr/>
        </p:nvSpPr>
        <p:spPr>
          <a:xfrm>
            <a:off x="8275320" y="6144840"/>
            <a:ext cx="33822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0" name="Text 8"/>
          <p:cNvSpPr/>
          <p:nvPr/>
        </p:nvSpPr>
        <p:spPr>
          <a:xfrm>
            <a:off x="502920" y="6519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93aac7"/>
                </a:solidFill>
                <a:latin typeface="Calibri"/>
                <a:ea typeface="Calibri"/>
              </a:rPr>
              <a:t>Final Decision Matrix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1" name="Text 9"/>
          <p:cNvSpPr/>
          <p:nvPr/>
        </p:nvSpPr>
        <p:spPr>
          <a:xfrm>
            <a:off x="10817280" y="6519600"/>
            <a:ext cx="8676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93aac7"/>
                </a:solidFill>
                <a:latin typeface="Calibri"/>
                <a:ea typeface="Calibri"/>
              </a:rPr>
              <a:t>24 / 25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e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2" name="Text 0"/>
          <p:cNvSpPr/>
          <p:nvPr/>
        </p:nvSpPr>
        <p:spPr>
          <a:xfrm>
            <a:off x="502920" y="320040"/>
            <a:ext cx="10515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200" spc="199" strike="noStrike">
                <a:solidFill>
                  <a:srgbClr val="7dd3fc"/>
                </a:solidFill>
                <a:latin typeface="Calibri"/>
                <a:ea typeface="Calibri"/>
              </a:rPr>
              <a:t>CHAPTER 4 – CAPACITY PLANNING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3" name="Text 1"/>
          <p:cNvSpPr/>
          <p:nvPr/>
        </p:nvSpPr>
        <p:spPr>
          <a:xfrm>
            <a:off x="502920" y="567000"/>
            <a:ext cx="111553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ffff"/>
                </a:solidFill>
                <a:latin typeface="Cambria"/>
                <a:ea typeface="Cambria"/>
              </a:rPr>
              <a:t>Estimating Load-Handling Capacity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4" name="Shape 2"/>
          <p:cNvSpPr/>
          <p:nvPr/>
        </p:nvSpPr>
        <p:spPr>
          <a:xfrm>
            <a:off x="502920" y="1170360"/>
            <a:ext cx="11201040" cy="402120"/>
          </a:xfrm>
          <a:prstGeom prst="roundRect">
            <a:avLst>
              <a:gd name="adj" fmla="val 18182"/>
            </a:avLst>
          </a:prstGeom>
          <a:solidFill>
            <a:srgbClr val="0d2440"/>
          </a:solidFill>
          <a:ln w="9525">
            <a:solidFill>
              <a:srgbClr val="2747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095" name="Image 0" descr="/home/claude/work2/icons/info_amber.png"/>
          <p:cNvPicPr/>
          <p:nvPr/>
        </p:nvPicPr>
        <p:blipFill>
          <a:blip r:embed="rId1"/>
          <a:stretch/>
        </p:blipFill>
        <p:spPr>
          <a:xfrm>
            <a:off x="685800" y="1261800"/>
            <a:ext cx="219240" cy="219240"/>
          </a:xfrm>
          <a:prstGeom prst="rect">
            <a:avLst/>
          </a:prstGeom>
          <a:ln w="0">
            <a:noFill/>
          </a:ln>
        </p:spPr>
      </p:pic>
      <p:sp>
        <p:nvSpPr>
          <p:cNvPr id="1096" name="Text 3"/>
          <p:cNvSpPr/>
          <p:nvPr/>
        </p:nvSpPr>
        <p:spPr>
          <a:xfrm>
            <a:off x="1024200" y="1170360"/>
            <a:ext cx="105152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i="1" lang="en-US" sz="1030" spc="-1" strike="noStrike">
                <a:solidFill>
                  <a:srgbClr val="93aac7"/>
                </a:solidFill>
                <a:latin typeface="Calibri"/>
                <a:ea typeface="Calibri"/>
              </a:rPr>
              <a:t>These are engineering planning estimates for lightweight CRUD business apps (HRMS, CRM, ERP, inventory) — not official platform limits.</a:t>
            </a:r>
            <a:endParaRPr b="0" lang="en-US" sz="1030" spc="-1" strike="noStrike">
              <a:solidFill>
                <a:srgbClr val="ffffff"/>
              </a:solidFill>
              <a:latin typeface="Arial"/>
            </a:endParaRPr>
          </a:p>
        </p:txBody>
      </p:sp>
      <p:graphicFrame>
        <p:nvGraphicFramePr>
          <p:cNvPr id="1097" name="Table 0"/>
          <p:cNvGraphicFramePr/>
          <p:nvPr/>
        </p:nvGraphicFramePr>
        <p:xfrm>
          <a:off x="502920" y="1737360"/>
          <a:ext cx="11201040" cy="2560320"/>
        </p:xfrm>
        <a:graphic>
          <a:graphicData uri="http://schemas.openxmlformats.org/drawingml/2006/table">
            <a:tbl>
              <a:tblPr/>
              <a:tblGrid>
                <a:gridCol w="2103120"/>
                <a:gridCol w="1874520"/>
                <a:gridCol w="1600200"/>
                <a:gridCol w="1965960"/>
                <a:gridCol w="3657600"/>
              </a:tblGrid>
              <a:tr h="36576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96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Platform</a:t>
                      </a:r>
                      <a:endParaRPr b="0" lang="en-US" sz="96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d3e63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96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Company Size</a:t>
                      </a:r>
                      <a:endParaRPr b="0" lang="en-US" sz="96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d3e63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96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Concurrent Users</a:t>
                      </a:r>
                      <a:endParaRPr b="0" lang="en-US" sz="96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d3e63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96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Monthly Active Users</a:t>
                      </a:r>
                      <a:endParaRPr b="0" lang="en-US" sz="96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d3e63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96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Typical Workload</a:t>
                      </a:r>
                      <a:endParaRPr b="0" lang="en-US" sz="96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d3e63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96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Vercel Hobby</a:t>
                      </a:r>
                      <a:endParaRPr b="0" lang="en-US" sz="96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6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10–50 employees</a:t>
                      </a:r>
                      <a:endParaRPr b="0" lang="en-US" sz="96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6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10–30</a:t>
                      </a:r>
                      <a:endParaRPr b="0" lang="en-US" sz="96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6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500–2,000</a:t>
                      </a:r>
                      <a:endParaRPr b="0" lang="en-US" sz="96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6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HR portal frontend, dashboards, internal tools</a:t>
                      </a:r>
                      <a:endParaRPr b="0" lang="en-US" sz="96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96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Azure Functions (Free)</a:t>
                      </a:r>
                      <a:endParaRPr b="0" lang="en-US" sz="96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6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50–200 employees</a:t>
                      </a:r>
                      <a:endParaRPr b="0" lang="en-US" sz="96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6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20–100</a:t>
                      </a:r>
                      <a:endParaRPr b="0" lang="en-US" sz="96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6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5,000–20,000</a:t>
                      </a:r>
                      <a:endParaRPr b="0" lang="en-US" sz="96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6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HR APIs, leave management, notifications, reports</a:t>
                      </a:r>
                      <a:endParaRPr b="0" lang="en-US" sz="96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96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AWS Lambda (Free)</a:t>
                      </a:r>
                      <a:endParaRPr b="0" lang="en-US" sz="96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6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50–200 employees</a:t>
                      </a:r>
                      <a:endParaRPr b="0" lang="en-US" sz="96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6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20–100</a:t>
                      </a:r>
                      <a:endParaRPr b="0" lang="en-US" sz="96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6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5,000–20,000</a:t>
                      </a:r>
                      <a:endParaRPr b="0" lang="en-US" sz="96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6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Event-driven business APIs</a:t>
                      </a:r>
                      <a:endParaRPr b="0" lang="en-US" sz="96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96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Google Cloud Run (Free)</a:t>
                      </a:r>
                      <a:endParaRPr b="0" lang="en-US" sz="96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6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100–500 employees</a:t>
                      </a:r>
                      <a:endParaRPr b="0" lang="en-US" sz="96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6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50–200</a:t>
                      </a:r>
                      <a:endParaRPr b="0" lang="en-US" sz="96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6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10,000–50,000</a:t>
                      </a:r>
                      <a:endParaRPr b="0" lang="en-US" sz="96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6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Containerized HRMS, CRM, inventory systems</a:t>
                      </a:r>
                      <a:endParaRPr b="0" lang="en-US" sz="96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96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Azure Container Apps</a:t>
                      </a:r>
                      <a:endParaRPr b="0" lang="en-US" sz="96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6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Hundreds–thousands</a:t>
                      </a:r>
                      <a:endParaRPr b="0" lang="en-US" sz="96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6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100–500+</a:t>
                      </a:r>
                      <a:endParaRPr b="0" lang="en-US" sz="96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6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50,000+</a:t>
                      </a:r>
                      <a:endParaRPr b="0" lang="en-US" sz="96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6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Production microservices &amp; enterprise APIs</a:t>
                      </a:r>
                      <a:endParaRPr b="0" lang="en-US" sz="96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16324f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96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AWS ECS Fargate</a:t>
                      </a:r>
                      <a:endParaRPr b="0" lang="en-US" sz="96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6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Hundreds–thousands</a:t>
                      </a:r>
                      <a:endParaRPr b="0" lang="en-US" sz="96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6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100–500+</a:t>
                      </a:r>
                      <a:endParaRPr b="0" lang="en-US" sz="96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6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50,000+</a:t>
                      </a:r>
                      <a:endParaRPr b="0" lang="en-US" sz="96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60" spc="-1" strike="noStrike">
                          <a:solidFill>
                            <a:srgbClr val="8ca3be"/>
                          </a:solidFill>
                          <a:latin typeface="Calibri"/>
                          <a:ea typeface="Calibri"/>
                        </a:rPr>
                        <a:t>Enterprise containerized workloads</a:t>
                      </a:r>
                      <a:endParaRPr b="0" lang="en-US" sz="96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27476e"/>
                      </a:solidFill>
                      <a:prstDash val="solid"/>
                    </a:lnL>
                    <a:lnR w="9360">
                      <a:solidFill>
                        <a:srgbClr val="27476e"/>
                      </a:solidFill>
                      <a:prstDash val="solid"/>
                    </a:lnR>
                    <a:lnT w="9360">
                      <a:solidFill>
                        <a:srgbClr val="27476e"/>
                      </a:solidFill>
                      <a:prstDash val="solid"/>
                    </a:lnT>
                    <a:lnB w="9360">
                      <a:solidFill>
                        <a:srgbClr val="27476e"/>
                      </a:solidFill>
                      <a:prstDash val="solid"/>
                    </a:lnB>
                    <a:solidFill>
                      <a:srgbClr val="0d2440"/>
                    </a:solidFill>
                  </a:tcPr>
                </a:tc>
              </a:tr>
            </a:tbl>
          </a:graphicData>
        </a:graphic>
      </p:graphicFrame>
      <p:sp>
        <p:nvSpPr>
          <p:cNvPr id="1098" name="Text 4"/>
          <p:cNvSpPr/>
          <p:nvPr/>
        </p:nvSpPr>
        <p:spPr>
          <a:xfrm>
            <a:off x="502920" y="4553640"/>
            <a:ext cx="91436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050" spc="128" strike="noStrike">
                <a:solidFill>
                  <a:srgbClr val="7dd3fc"/>
                </a:solidFill>
                <a:latin typeface="Calibri"/>
                <a:ea typeface="Calibri"/>
              </a:rPr>
              <a:t>CAPACITY IN PRACTICE — THREE REAL SCENARIOS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9" name="Shape 5"/>
          <p:cNvSpPr/>
          <p:nvPr/>
        </p:nvSpPr>
        <p:spPr>
          <a:xfrm>
            <a:off x="502920" y="4846320"/>
            <a:ext cx="3629880" cy="1508400"/>
          </a:xfrm>
          <a:prstGeom prst="roundRect">
            <a:avLst>
              <a:gd name="adj" fmla="val 4848"/>
            </a:avLst>
          </a:prstGeom>
          <a:solidFill>
            <a:srgbClr val="16324f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0" name="Shape 6"/>
          <p:cNvSpPr/>
          <p:nvPr/>
        </p:nvSpPr>
        <p:spPr>
          <a:xfrm>
            <a:off x="667440" y="4992480"/>
            <a:ext cx="383760" cy="383760"/>
          </a:xfrm>
          <a:prstGeom prst="ellipse">
            <a:avLst/>
          </a:prstGeom>
          <a:solidFill>
            <a:srgbClr val="173a5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101" name="Image 1" descr="/home/claude/work2/icons/briefcase_blue.png"/>
          <p:cNvPicPr/>
          <p:nvPr/>
        </p:nvPicPr>
        <p:blipFill>
          <a:blip r:embed="rId2"/>
          <a:stretch/>
        </p:blipFill>
        <p:spPr>
          <a:xfrm>
            <a:off x="759600" y="5084640"/>
            <a:ext cx="199440" cy="199440"/>
          </a:xfrm>
          <a:prstGeom prst="rect">
            <a:avLst/>
          </a:prstGeom>
          <a:ln w="0">
            <a:noFill/>
          </a:ln>
        </p:spPr>
      </p:pic>
      <p:sp>
        <p:nvSpPr>
          <p:cNvPr id="1102" name="Text 7"/>
          <p:cNvSpPr/>
          <p:nvPr/>
        </p:nvSpPr>
        <p:spPr>
          <a:xfrm>
            <a:off x="1143000" y="4965120"/>
            <a:ext cx="28252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mbria"/>
                <a:ea typeface="Cambria"/>
              </a:rPr>
              <a:t>HR Portal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3" name="Text 8"/>
          <p:cNvSpPr/>
          <p:nvPr/>
        </p:nvSpPr>
        <p:spPr>
          <a:xfrm>
            <a:off x="1143000" y="5230440"/>
            <a:ext cx="28252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930" spc="-1" strike="noStrike">
                <a:solidFill>
                  <a:srgbClr val="0ea5e9"/>
                </a:solidFill>
                <a:latin typeface="Calibri"/>
                <a:ea typeface="Calibri"/>
              </a:rPr>
              <a:t>100 employees</a:t>
            </a:r>
            <a:endParaRPr b="0" lang="en-US" sz="93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4" name="Text 9"/>
          <p:cNvSpPr/>
          <p:nvPr/>
        </p:nvSpPr>
        <p:spPr>
          <a:xfrm>
            <a:off x="667440" y="5504760"/>
            <a:ext cx="3300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30" spc="-1" strike="noStrike">
                <a:solidFill>
                  <a:srgbClr val="8ca3be"/>
                </a:solidFill>
                <a:latin typeface="Calibri"/>
                <a:ea typeface="Calibri"/>
              </a:rPr>
              <a:t>A few hundred API requests per day.</a:t>
            </a:r>
            <a:endParaRPr b="0" lang="en-US" sz="93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5" name="Text 10"/>
          <p:cNvSpPr/>
          <p:nvPr/>
        </p:nvSpPr>
        <p:spPr>
          <a:xfrm>
            <a:off x="667440" y="5779080"/>
            <a:ext cx="330048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930" spc="-1" strike="noStrike">
                <a:solidFill>
                  <a:srgbClr val="ffffff"/>
                </a:solidFill>
                <a:latin typeface="Calibri"/>
                <a:ea typeface="Calibri"/>
              </a:rPr>
              <a:t>Any platform handles this comfortably</a:t>
            </a:r>
            <a:endParaRPr b="0" lang="en-US" sz="93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6" name="Shape 11"/>
          <p:cNvSpPr/>
          <p:nvPr/>
        </p:nvSpPr>
        <p:spPr>
          <a:xfrm>
            <a:off x="4270320" y="4846320"/>
            <a:ext cx="3629880" cy="1508400"/>
          </a:xfrm>
          <a:prstGeom prst="roundRect">
            <a:avLst>
              <a:gd name="adj" fmla="val 4848"/>
            </a:avLst>
          </a:prstGeom>
          <a:solidFill>
            <a:srgbClr val="16324f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7" name="Shape 12"/>
          <p:cNvSpPr/>
          <p:nvPr/>
        </p:nvSpPr>
        <p:spPr>
          <a:xfrm>
            <a:off x="4434840" y="4992480"/>
            <a:ext cx="383760" cy="383760"/>
          </a:xfrm>
          <a:prstGeom prst="ellipse">
            <a:avLst/>
          </a:prstGeom>
          <a:solidFill>
            <a:srgbClr val="2a255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108" name="Image 2" descr="/home/claude/work2/icons/chartbar_purple.png"/>
          <p:cNvPicPr/>
          <p:nvPr/>
        </p:nvPicPr>
        <p:blipFill>
          <a:blip r:embed="rId3"/>
          <a:stretch/>
        </p:blipFill>
        <p:spPr>
          <a:xfrm>
            <a:off x="4527000" y="5084640"/>
            <a:ext cx="199440" cy="199440"/>
          </a:xfrm>
          <a:prstGeom prst="rect">
            <a:avLst/>
          </a:prstGeom>
          <a:ln w="0">
            <a:noFill/>
          </a:ln>
        </p:spPr>
      </p:pic>
      <p:sp>
        <p:nvSpPr>
          <p:cNvPr id="1109" name="Text 13"/>
          <p:cNvSpPr/>
          <p:nvPr/>
        </p:nvSpPr>
        <p:spPr>
          <a:xfrm>
            <a:off x="4910400" y="4965120"/>
            <a:ext cx="28252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mbria"/>
                <a:ea typeface="Cambria"/>
              </a:rPr>
              <a:t>Medium CRM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0" name="Text 14"/>
          <p:cNvSpPr/>
          <p:nvPr/>
        </p:nvSpPr>
        <p:spPr>
          <a:xfrm>
            <a:off x="4910400" y="5230440"/>
            <a:ext cx="28252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930" spc="-1" strike="noStrike">
                <a:solidFill>
                  <a:srgbClr val="a78bfa"/>
                </a:solidFill>
                <a:latin typeface="Calibri"/>
                <a:ea typeface="Calibri"/>
              </a:rPr>
              <a:t>500 employees · 50 concurrent</a:t>
            </a:r>
            <a:endParaRPr b="0" lang="en-US" sz="93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1" name="Text 15"/>
          <p:cNvSpPr/>
          <p:nvPr/>
        </p:nvSpPr>
        <p:spPr>
          <a:xfrm>
            <a:off x="4434840" y="5504760"/>
            <a:ext cx="3300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30" spc="-1" strike="noStrike">
                <a:solidFill>
                  <a:srgbClr val="8ca3be"/>
                </a:solidFill>
                <a:latin typeface="Calibri"/>
                <a:ea typeface="Calibri"/>
              </a:rPr>
              <a:t>~5,000 API requests per day.</a:t>
            </a:r>
            <a:endParaRPr b="0" lang="en-US" sz="93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2" name="Text 16"/>
          <p:cNvSpPr/>
          <p:nvPr/>
        </p:nvSpPr>
        <p:spPr>
          <a:xfrm>
            <a:off x="4434840" y="5779080"/>
            <a:ext cx="330048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930" spc="-1" strike="noStrike">
                <a:solidFill>
                  <a:srgbClr val="ffffff"/>
                </a:solidFill>
                <a:latin typeface="Calibri"/>
                <a:ea typeface="Calibri"/>
              </a:rPr>
              <a:t>Vercel → Container Apps / Cloud Run → Functions / Lambda</a:t>
            </a:r>
            <a:endParaRPr b="0" lang="en-US" sz="93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3" name="Shape 17"/>
          <p:cNvSpPr/>
          <p:nvPr/>
        </p:nvSpPr>
        <p:spPr>
          <a:xfrm>
            <a:off x="8037720" y="4846320"/>
            <a:ext cx="3629880" cy="1508400"/>
          </a:xfrm>
          <a:prstGeom prst="roundRect">
            <a:avLst>
              <a:gd name="adj" fmla="val 4848"/>
            </a:avLst>
          </a:prstGeom>
          <a:solidFill>
            <a:srgbClr val="16324f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4" name="Shape 18"/>
          <p:cNvSpPr/>
          <p:nvPr/>
        </p:nvSpPr>
        <p:spPr>
          <a:xfrm>
            <a:off x="8202240" y="4992480"/>
            <a:ext cx="383760" cy="383760"/>
          </a:xfrm>
          <a:prstGeom prst="ellipse">
            <a:avLst/>
          </a:prstGeom>
          <a:solidFill>
            <a:srgbClr val="3a2e1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115" name="Image 3" descr="/home/claude/work2/icons/layers_amber.png"/>
          <p:cNvPicPr/>
          <p:nvPr/>
        </p:nvPicPr>
        <p:blipFill>
          <a:blip r:embed="rId4"/>
          <a:stretch/>
        </p:blipFill>
        <p:spPr>
          <a:xfrm>
            <a:off x="8294400" y="5084640"/>
            <a:ext cx="199440" cy="199440"/>
          </a:xfrm>
          <a:prstGeom prst="rect">
            <a:avLst/>
          </a:prstGeom>
          <a:ln w="0">
            <a:noFill/>
          </a:ln>
        </p:spPr>
      </p:pic>
      <p:sp>
        <p:nvSpPr>
          <p:cNvPr id="1116" name="Text 19"/>
          <p:cNvSpPr/>
          <p:nvPr/>
        </p:nvSpPr>
        <p:spPr>
          <a:xfrm>
            <a:off x="8677800" y="4965120"/>
            <a:ext cx="28252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mbria"/>
                <a:ea typeface="Cambria"/>
              </a:rPr>
              <a:t>Enterprise HRMS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7" name="Text 20"/>
          <p:cNvSpPr/>
          <p:nvPr/>
        </p:nvSpPr>
        <p:spPr>
          <a:xfrm>
            <a:off x="8677800" y="5230440"/>
            <a:ext cx="28252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930" spc="-1" strike="noStrike">
                <a:solidFill>
                  <a:srgbClr val="fbbf24"/>
                </a:solidFill>
                <a:latin typeface="Calibri"/>
                <a:ea typeface="Calibri"/>
              </a:rPr>
              <a:t>10,000 employees · 1,000 concurrent</a:t>
            </a:r>
            <a:endParaRPr b="0" lang="en-US" sz="93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8" name="Text 21"/>
          <p:cNvSpPr/>
          <p:nvPr/>
        </p:nvSpPr>
        <p:spPr>
          <a:xfrm>
            <a:off x="8202240" y="5504760"/>
            <a:ext cx="3300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30" spc="-1" strike="noStrike">
                <a:solidFill>
                  <a:srgbClr val="8ca3be"/>
                </a:solidFill>
                <a:latin typeface="Calibri"/>
                <a:ea typeface="Calibri"/>
              </a:rPr>
              <a:t>Payroll, attendance, reports, file uploads.</a:t>
            </a:r>
            <a:endParaRPr b="0" lang="en-US" sz="93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9" name="Text 22"/>
          <p:cNvSpPr/>
          <p:nvPr/>
        </p:nvSpPr>
        <p:spPr>
          <a:xfrm>
            <a:off x="8202240" y="5779080"/>
            <a:ext cx="330048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930" spc="-1" strike="noStrike">
                <a:solidFill>
                  <a:srgbClr val="ffffff"/>
                </a:solidFill>
                <a:latin typeface="Calibri"/>
                <a:ea typeface="Calibri"/>
              </a:rPr>
              <a:t>Vercel → Container Apps / Fargate → Functions / Lambda → Managed DB + Redis</a:t>
            </a:r>
            <a:endParaRPr b="0" lang="en-US" sz="93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0" name="Text 23"/>
          <p:cNvSpPr/>
          <p:nvPr/>
        </p:nvSpPr>
        <p:spPr>
          <a:xfrm>
            <a:off x="502920" y="65196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93aac7"/>
                </a:solidFill>
                <a:latin typeface="Calibri"/>
                <a:ea typeface="Calibri"/>
              </a:rPr>
              <a:t>Capacity Planning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1" name="Text 24"/>
          <p:cNvSpPr/>
          <p:nvPr/>
        </p:nvSpPr>
        <p:spPr>
          <a:xfrm>
            <a:off x="10817280" y="6519600"/>
            <a:ext cx="8683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93aac7"/>
                </a:solidFill>
                <a:latin typeface="Calibri"/>
                <a:ea typeface="Calibri"/>
              </a:rPr>
              <a:t>25 / 25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56</TotalTime>
  <Application>LibreOffice/24.2.7.2$Linux_X86_64 LibreOffice_project/420$Build-2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2026-07-14T06:01:14Z</dcterms:created>
  <dc:creator>PptxGenJS</dc:creator>
  <dc:description/>
  <dc:language>en-US</dc:language>
  <cp:lastModifiedBy/>
  <dcterms:modified xsi:type="dcterms:W3CDTF">2026-07-17T19:11:02Z</dcterms:modified>
  <cp:revision>4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14</vt:i4>
  </property>
  <property fmtid="{D5CDD505-2E9C-101B-9397-08002B2CF9AE}" pid="3" name="PresentationFormat">
    <vt:lpwstr>On-screen Show (16:9)</vt:lpwstr>
  </property>
  <property fmtid="{D5CDD505-2E9C-101B-9397-08002B2CF9AE}" pid="4" name="Slides">
    <vt:i4>14</vt:i4>
  </property>
</Properties>
</file>