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6.png" ContentType="image/png"/>
  <Override PartName="/ppt/media/image48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47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25.png" ContentType="image/png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4.png" ContentType="image/png"/>
  <Override PartName="/ppt/media/image59.png" ContentType="image/png"/>
  <Override PartName="/ppt/media/image22.png" ContentType="image/png"/>
  <Override PartName="/ppt/media/image60.png" ContentType="image/png"/>
  <Override PartName="/ppt/media/image23.png" ContentType="image/png"/>
  <Override PartName="/ppt/media/image58.png" ContentType="image/png"/>
  <Override PartName="/ppt/media/image21.png" ContentType="image/png"/>
  <Override PartName="/ppt/media/image19.png" ContentType="image/png"/>
  <Override PartName="/ppt/media/image17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12.png" ContentType="image/png"/>
  <Override PartName="/ppt/media/image49.png" ContentType="image/png"/>
  <Override PartName="/ppt/media/image20.png" ContentType="image/png"/>
  <Override PartName="/ppt/media/image57.png" ContentType="image/png"/>
  <Override PartName="/ppt/media/image18.png" ContentType="image/png"/>
  <Override PartName="/ppt/media/image9.png" ContentType="image/png"/>
  <Override PartName="/ppt/media/image36.png" ContentType="image/png"/>
  <Override PartName="/ppt/media/image4.png" ContentType="image/png"/>
  <Override PartName="/ppt/media/image13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D9D68B4-60E1-46B6-8043-A7BBB5F7198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269A51-F5AC-4116-8D95-36A617E9E9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A1B1C0-41BB-49C8-AB88-044523A06B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3C8408-9487-4981-8E1C-858D80FE39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B2FF92-FFFB-420B-967B-F9526271E5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5D10BB-16BA-4FB5-A114-165FC54C58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0103BD-55A0-445A-A9F6-5E489D9EDD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2147F4-63E5-4136-A754-2E98794B2B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A7251D-3FEC-4833-A890-2BAE313EBB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C8CA29-2D93-4F37-BA40-91D33A7E32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E16D8B-8216-430A-8BAD-4EBB058C461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24DF2E-F57A-4E9E-86D0-1296BF70DD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C317BD-4C91-428D-9248-0381EC2D70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CDD809-DE48-4811-A43D-B22B8D3A00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48BA67-AB7D-4CBD-945B-403967DEDC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5.png"/><Relationship Id="rId8" Type="http://schemas.openxmlformats.org/officeDocument/2006/relationships/image" Target="../media/image17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1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7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8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6.png"/><Relationship Id="rId10" Type="http://schemas.openxmlformats.org/officeDocument/2006/relationships/image" Target="../media/image21.png"/><Relationship Id="rId11" Type="http://schemas.openxmlformats.org/officeDocument/2006/relationships/image" Target="../media/image8.png"/><Relationship Id="rId12" Type="http://schemas.openxmlformats.org/officeDocument/2006/relationships/image" Target="../media/image1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6.png"/><Relationship Id="rId6" Type="http://schemas.openxmlformats.org/officeDocument/2006/relationships/image" Target="../media/image26.png"/><Relationship Id="rId7" Type="http://schemas.openxmlformats.org/officeDocument/2006/relationships/image" Target="../media/image26.png"/><Relationship Id="rId8" Type="http://schemas.openxmlformats.org/officeDocument/2006/relationships/image" Target="../media/image26.png"/><Relationship Id="rId9" Type="http://schemas.openxmlformats.org/officeDocument/2006/relationships/image" Target="../media/image2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0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Relationship Id="rId6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3.png"/><Relationship Id="rId9" Type="http://schemas.openxmlformats.org/officeDocument/2006/relationships/image" Target="../media/image47.png"/><Relationship Id="rId10" Type="http://schemas.openxmlformats.org/officeDocument/2006/relationships/image" Target="../media/image53.png"/><Relationship Id="rId11" Type="http://schemas.openxmlformats.org/officeDocument/2006/relationships/image" Target="../media/image48.png"/><Relationship Id="rId12" Type="http://schemas.openxmlformats.org/officeDocument/2006/relationships/image" Target="../media/image53.png"/><Relationship Id="rId13" Type="http://schemas.openxmlformats.org/officeDocument/2006/relationships/image" Target="../media/image50.png"/><Relationship Id="rId14" Type="http://schemas.openxmlformats.org/officeDocument/2006/relationships/image" Target="../media/image53.png"/><Relationship Id="rId15" Type="http://schemas.openxmlformats.org/officeDocument/2006/relationships/image" Target="../media/image49.png"/><Relationship Id="rId16" Type="http://schemas.openxmlformats.org/officeDocument/2006/relationships/image" Target="../media/image41.png"/><Relationship Id="rId17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2.png"/><Relationship Id="rId3" Type="http://schemas.openxmlformats.org/officeDocument/2006/relationships/image" Target="../media/image47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47.png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48.png"/><Relationship Id="rId3" Type="http://schemas.openxmlformats.org/officeDocument/2006/relationships/image" Target="../media/image47.png"/><Relationship Id="rId4" Type="http://schemas.openxmlformats.org/officeDocument/2006/relationships/image" Target="../media/image39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cap_image-1-1.png"/><Relationship Id="rId2" Type="http://schemas.openxmlformats.org/officeDocument/2006/relationships/image" Target="../media/cap_image-1-2.png"/><Relationship Id="rId3" Type="http://schemas.openxmlformats.org/officeDocument/2006/relationships/image" Target="../media/cap_image-1-3.png"/><Relationship Id="rId4" Type="http://schemas.openxmlformats.org/officeDocument/2006/relationships/image" Target="../media/cap_image-1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778240" y="-2011680"/>
            <a:ext cx="6399720" cy="6399720"/>
          </a:xfrm>
          <a:prstGeom prst="ellipse">
            <a:avLst/>
          </a:prstGeom>
          <a:solidFill>
            <a:srgbClr val="1632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241280" y="3291840"/>
            <a:ext cx="4113720" cy="4113720"/>
          </a:xfrm>
          <a:prstGeom prst="ellipse">
            <a:avLst/>
          </a:prstGeom>
          <a:solidFill>
            <a:srgbClr val="0d24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464040" y="502920"/>
            <a:ext cx="1964880" cy="53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9482400" y="822960"/>
            <a:ext cx="1644840" cy="53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9500760" y="1143000"/>
            <a:ext cx="1324800" cy="53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9518760" y="1463040"/>
            <a:ext cx="1004760" cy="53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" y="1234440"/>
            <a:ext cx="8685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2" strike="noStrike">
                <a:solidFill>
                  <a:srgbClr val="7dd3fc"/>
                </a:solidFill>
                <a:latin typeface="Calibri"/>
                <a:ea typeface="Calibri"/>
              </a:rPr>
              <a:t>SERVERLESS ENGINEERING &amp; ARCHITECTURE REVIEW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94360" y="1691640"/>
            <a:ext cx="105145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fffff"/>
                </a:solidFill>
                <a:latin typeface="Cambria"/>
                <a:ea typeface="Cambria"/>
              </a:rPr>
              <a:t>Serverless Compute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94360" y="2423160"/>
            <a:ext cx="10514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0ea5e9"/>
                </a:solidFill>
                <a:latin typeface="Cambria"/>
                <a:ea typeface="Cambria"/>
              </a:rPr>
              <a:t>Research &amp; Platform Analysis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40080" y="3364920"/>
            <a:ext cx="4754880" cy="360"/>
          </a:xfrm>
          <a:prstGeom prst="line">
            <a:avLst/>
          </a:prstGeom>
          <a:ln w="1905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40080" y="3520440"/>
            <a:ext cx="69483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c7d6e8"/>
                </a:solidFill>
                <a:latin typeface="Calibri"/>
                <a:ea typeface="Calibri"/>
              </a:rPr>
              <a:t>Evaluating Function-as-a-Service, serverless containers, edge and BaaS platforms to modernize Python and Next.js workloads.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40080" y="4343400"/>
            <a:ext cx="2239200" cy="56592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" name="Image 0" descr="/home/claude/icons/python.png"/>
          <p:cNvPicPr/>
          <p:nvPr/>
        </p:nvPicPr>
        <p:blipFill>
          <a:blip r:embed="rId1"/>
          <a:stretch/>
        </p:blipFill>
        <p:spPr>
          <a:xfrm>
            <a:off x="786240" y="44805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21" name="Text 12"/>
          <p:cNvSpPr/>
          <p:nvPr/>
        </p:nvSpPr>
        <p:spPr>
          <a:xfrm>
            <a:off x="1152000" y="4343400"/>
            <a:ext cx="16905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Python Services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3108960" y="4343400"/>
            <a:ext cx="2239200" cy="565920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Image 1" descr="/home/claude/icons/react.png"/>
          <p:cNvPicPr/>
          <p:nvPr/>
        </p:nvPicPr>
        <p:blipFill>
          <a:blip r:embed="rId2"/>
          <a:stretch/>
        </p:blipFill>
        <p:spPr>
          <a:xfrm>
            <a:off x="3255120" y="44805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24" name="Text 14"/>
          <p:cNvSpPr/>
          <p:nvPr/>
        </p:nvSpPr>
        <p:spPr>
          <a:xfrm>
            <a:off x="3620880" y="4343400"/>
            <a:ext cx="16905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Next.js Frontend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640080" y="5257800"/>
            <a:ext cx="6856920" cy="1050480"/>
          </a:xfrm>
          <a:prstGeom prst="roundRect">
            <a:avLst>
              <a:gd name="adj" fmla="val 7826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914400" y="53949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ca3be"/>
                </a:solidFill>
                <a:latin typeface="Calibri"/>
                <a:ea typeface="Calibri"/>
              </a:rPr>
              <a:t>Presented by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914400" y="5650920"/>
            <a:ext cx="6216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DevOps &amp; Cloud Engineering Team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914400" y="5998320"/>
            <a:ext cx="6216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Cloud Architecture Review 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9052560" y="4480560"/>
            <a:ext cx="1050480" cy="1050480"/>
          </a:xfrm>
          <a:prstGeom prst="roundRect">
            <a:avLst>
              <a:gd name="adj" fmla="val 13913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Image 2" descr="/home/claude/icons/cloud.png"/>
          <p:cNvPicPr/>
          <p:nvPr/>
        </p:nvPicPr>
        <p:blipFill>
          <a:blip r:embed="rId3"/>
          <a:stretch/>
        </p:blipFill>
        <p:spPr>
          <a:xfrm>
            <a:off x="9326880" y="475488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31" name="Shape 20"/>
          <p:cNvSpPr/>
          <p:nvPr/>
        </p:nvSpPr>
        <p:spPr>
          <a:xfrm>
            <a:off x="10287000" y="4480560"/>
            <a:ext cx="1050480" cy="1050480"/>
          </a:xfrm>
          <a:prstGeom prst="roundRect">
            <a:avLst>
              <a:gd name="adj" fmla="val 13913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Image 3" descr="/home/claude/icons/server.png"/>
          <p:cNvPicPr/>
          <p:nvPr/>
        </p:nvPicPr>
        <p:blipFill>
          <a:blip r:embed="rId4"/>
          <a:stretch/>
        </p:blipFill>
        <p:spPr>
          <a:xfrm>
            <a:off x="10561320" y="475488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33" name="Shape 21"/>
          <p:cNvSpPr/>
          <p:nvPr/>
        </p:nvSpPr>
        <p:spPr>
          <a:xfrm>
            <a:off x="9052560" y="5715000"/>
            <a:ext cx="1050480" cy="1050480"/>
          </a:xfrm>
          <a:prstGeom prst="roundRect">
            <a:avLst>
              <a:gd name="adj" fmla="val 13913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Image 4" descr="/home/claude/icons/bolt.png"/>
          <p:cNvPicPr/>
          <p:nvPr/>
        </p:nvPicPr>
        <p:blipFill>
          <a:blip r:embed="rId5"/>
          <a:stretch/>
        </p:blipFill>
        <p:spPr>
          <a:xfrm>
            <a:off x="9326880" y="5989320"/>
            <a:ext cx="501840" cy="501840"/>
          </a:xfrm>
          <a:prstGeom prst="rect">
            <a:avLst/>
          </a:prstGeom>
          <a:ln w="0">
            <a:noFill/>
          </a:ln>
        </p:spPr>
      </p:pic>
      <p:sp>
        <p:nvSpPr>
          <p:cNvPr id="35" name="Shape 22"/>
          <p:cNvSpPr/>
          <p:nvPr/>
        </p:nvSpPr>
        <p:spPr>
          <a:xfrm>
            <a:off x="10287000" y="5715000"/>
            <a:ext cx="1050480" cy="1050480"/>
          </a:xfrm>
          <a:prstGeom prst="roundRect">
            <a:avLst>
              <a:gd name="adj" fmla="val 13913"/>
            </a:avLst>
          </a:prstGeom>
          <a:solidFill>
            <a:srgbClr val="16324f"/>
          </a:solidFill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Image 5" descr="/home/claude/icons/layer.png"/>
          <p:cNvPicPr/>
          <p:nvPr/>
        </p:nvPicPr>
        <p:blipFill>
          <a:blip r:embed="rId6"/>
          <a:stretch/>
        </p:blipFill>
        <p:spPr>
          <a:xfrm>
            <a:off x="10561320" y="5989320"/>
            <a:ext cx="501840" cy="5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7dd3fc"/>
                </a:solidFill>
                <a:latin typeface="Calibri"/>
                <a:ea typeface="Calibri"/>
              </a:rPr>
              <a:t>WHY WE'RE HERE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Problem Statement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02920" y="1188720"/>
            <a:ext cx="11154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d7e4f2"/>
                </a:solidFill>
                <a:latin typeface="Calibri"/>
                <a:ea typeface="Calibri"/>
              </a:rPr>
              <a:t>Internal Python and Next.js applications run on always-on, server-based infrastructure — regardless of how many users are active.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502920" y="1691640"/>
            <a:ext cx="6674040" cy="2559240"/>
          </a:xfrm>
          <a:prstGeom prst="roundRect">
            <a:avLst>
              <a:gd name="adj" fmla="val 3214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777240" y="1856160"/>
            <a:ext cx="6125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92" strike="noStrike">
                <a:solidFill>
                  <a:srgbClr val="93aac7"/>
                </a:solidFill>
                <a:latin typeface="Calibri"/>
                <a:ea typeface="Calibri"/>
              </a:rPr>
              <a:t>A TYPICAL WORKDAY — SERVER UTILIZATION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1037160" y="3478320"/>
            <a:ext cx="427680" cy="86760"/>
          </a:xfrm>
          <a:prstGeom prst="roundRect">
            <a:avLst>
              <a:gd name="adj" fmla="val 31250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640" bIns="26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945720" y="3602880"/>
            <a:ext cx="610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12AM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1802880" y="3511440"/>
            <a:ext cx="427680" cy="53640"/>
          </a:xfrm>
          <a:prstGeom prst="roundRect">
            <a:avLst>
              <a:gd name="adj" fmla="val 50000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1711440" y="3602880"/>
            <a:ext cx="610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4AM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2568600" y="3182040"/>
            <a:ext cx="427680" cy="383040"/>
          </a:xfrm>
          <a:prstGeom prst="roundRect">
            <a:avLst>
              <a:gd name="adj" fmla="val 7143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2477160" y="3602880"/>
            <a:ext cx="610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8AM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3334680" y="2600640"/>
            <a:ext cx="427680" cy="964440"/>
          </a:xfrm>
          <a:prstGeom prst="roundRect">
            <a:avLst>
              <a:gd name="adj" fmla="val 6397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3243240" y="3602880"/>
            <a:ext cx="610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9AM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4100400" y="2853000"/>
            <a:ext cx="427680" cy="712080"/>
          </a:xfrm>
          <a:prstGeom prst="roundRect">
            <a:avLst>
              <a:gd name="adj" fmla="val 6397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4008960" y="3602880"/>
            <a:ext cx="610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12PM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4866120" y="2556720"/>
            <a:ext cx="427680" cy="1008360"/>
          </a:xfrm>
          <a:prstGeom prst="roundRect">
            <a:avLst>
              <a:gd name="adj" fmla="val 6397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4774680" y="3602880"/>
            <a:ext cx="610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3PM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5631840" y="3127320"/>
            <a:ext cx="427680" cy="437760"/>
          </a:xfrm>
          <a:prstGeom prst="roundRect">
            <a:avLst>
              <a:gd name="adj" fmla="val 6397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5540400" y="3602880"/>
            <a:ext cx="610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6PM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6397920" y="3434400"/>
            <a:ext cx="427680" cy="130680"/>
          </a:xfrm>
          <a:prstGeom prst="roundRect">
            <a:avLst>
              <a:gd name="adj" fmla="val 20833"/>
            </a:avLst>
          </a:prstGeom>
          <a:solidFill>
            <a:srgbClr val="3c59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6306480" y="3602880"/>
            <a:ext cx="610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3aac7"/>
                </a:solidFill>
                <a:latin typeface="Calibri"/>
                <a:ea typeface="Calibri"/>
              </a:rPr>
              <a:t>9PM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21"/>
          <p:cNvSpPr/>
          <p:nvPr/>
        </p:nvSpPr>
        <p:spPr>
          <a:xfrm>
            <a:off x="868680" y="3566160"/>
            <a:ext cx="6126480" cy="360"/>
          </a:xfrm>
          <a:prstGeom prst="line">
            <a:avLst/>
          </a:prstGeom>
          <a:ln w="127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777240" y="3840480"/>
            <a:ext cx="6125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Servers stay fully provisioned around the clock even though real demand occupies only a few hours a day — muted bars are paid-for, unused capacity.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7406640" y="1691640"/>
            <a:ext cx="501840" cy="501840"/>
          </a:xfrm>
          <a:prstGeom prst="ellipse">
            <a:avLst/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" name="Image 0" descr="/home/claude/icons/clock.png"/>
          <p:cNvPicPr/>
          <p:nvPr/>
        </p:nvPicPr>
        <p:blipFill>
          <a:blip r:embed="rId1"/>
          <a:stretch/>
        </p:blipFill>
        <p:spPr>
          <a:xfrm>
            <a:off x="7472160" y="175716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62" name="Text 24"/>
          <p:cNvSpPr/>
          <p:nvPr/>
        </p:nvSpPr>
        <p:spPr>
          <a:xfrm>
            <a:off x="8028360" y="167328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Idle Compute 24/7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8028360" y="1920240"/>
            <a:ext cx="3656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Infrastructure stays active during nights and weekends with minimal traffic.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26"/>
          <p:cNvSpPr/>
          <p:nvPr/>
        </p:nvSpPr>
        <p:spPr>
          <a:xfrm>
            <a:off x="7406640" y="2340720"/>
            <a:ext cx="501840" cy="501840"/>
          </a:xfrm>
          <a:prstGeom prst="ellipse">
            <a:avLst/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Image 1" descr="/home/claude/icons/dollar.png"/>
          <p:cNvPicPr/>
          <p:nvPr/>
        </p:nvPicPr>
        <p:blipFill>
          <a:blip r:embed="rId2"/>
          <a:stretch/>
        </p:blipFill>
        <p:spPr>
          <a:xfrm>
            <a:off x="7472160" y="240624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66" name="Text 27"/>
          <p:cNvSpPr/>
          <p:nvPr/>
        </p:nvSpPr>
        <p:spPr>
          <a:xfrm>
            <a:off x="8028360" y="235908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Continuous Cost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28"/>
          <p:cNvSpPr/>
          <p:nvPr/>
        </p:nvSpPr>
        <p:spPr>
          <a:xfrm>
            <a:off x="8028360" y="2523600"/>
            <a:ext cx="3656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Organizations pay for reserved capacity, not actual usage.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9"/>
          <p:cNvSpPr/>
          <p:nvPr/>
        </p:nvSpPr>
        <p:spPr>
          <a:xfrm>
            <a:off x="7406640" y="3017520"/>
            <a:ext cx="501840" cy="501840"/>
          </a:xfrm>
          <a:prstGeom prst="ellipse">
            <a:avLst/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" name="Image 2" descr="/home/claude/icons/cogs.png"/>
          <p:cNvPicPr/>
          <p:nvPr/>
        </p:nvPicPr>
        <p:blipFill>
          <a:blip r:embed="rId3"/>
          <a:stretch/>
        </p:blipFill>
        <p:spPr>
          <a:xfrm>
            <a:off x="7472160" y="309060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70" name="Text 30"/>
          <p:cNvSpPr/>
          <p:nvPr/>
        </p:nvSpPr>
        <p:spPr>
          <a:xfrm>
            <a:off x="8028360" y="297180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Manual Scaling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31"/>
          <p:cNvSpPr/>
          <p:nvPr/>
        </p:nvSpPr>
        <p:spPr>
          <a:xfrm>
            <a:off x="8028360" y="3218760"/>
            <a:ext cx="36565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Traffic spikes require manual intervention or pre-provisioned headroom.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32"/>
          <p:cNvSpPr/>
          <p:nvPr/>
        </p:nvSpPr>
        <p:spPr>
          <a:xfrm>
            <a:off x="7406640" y="3704760"/>
            <a:ext cx="501840" cy="501840"/>
          </a:xfrm>
          <a:prstGeom prst="ellipse">
            <a:avLst/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" name="Image 3" descr="/home/claude/icons/users.png"/>
          <p:cNvPicPr/>
          <p:nvPr/>
        </p:nvPicPr>
        <p:blipFill>
          <a:blip r:embed="rId4"/>
          <a:stretch/>
        </p:blipFill>
        <p:spPr>
          <a:xfrm>
            <a:off x="7472160" y="374292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74" name="Text 33"/>
          <p:cNvSpPr/>
          <p:nvPr/>
        </p:nvSpPr>
        <p:spPr>
          <a:xfrm>
            <a:off x="8028360" y="365760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Operational Burden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8028360" y="393192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Engineering time goes into patching, capacity planning, and upkeep.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35"/>
          <p:cNvSpPr/>
          <p:nvPr/>
        </p:nvSpPr>
        <p:spPr>
          <a:xfrm>
            <a:off x="502920" y="4480560"/>
            <a:ext cx="11200320" cy="1919160"/>
          </a:xfrm>
          <a:prstGeom prst="roundRect">
            <a:avLst>
              <a:gd name="adj" fmla="val 4286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6"/>
          <p:cNvSpPr/>
          <p:nvPr/>
        </p:nvSpPr>
        <p:spPr>
          <a:xfrm>
            <a:off x="777240" y="457200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43" strike="noStrike">
                <a:solidFill>
                  <a:srgbClr val="7dd3fc"/>
                </a:solidFill>
                <a:latin typeface="Calibri"/>
                <a:ea typeface="Calibri"/>
              </a:rPr>
              <a:t>RESEARCH OBJECTIVES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37"/>
          <p:cNvSpPr/>
          <p:nvPr/>
        </p:nvSpPr>
        <p:spPr>
          <a:xfrm>
            <a:off x="1366920" y="4956120"/>
            <a:ext cx="510840" cy="510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Image 4" descr="/home/claude/icons/dollar.png"/>
          <p:cNvPicPr/>
          <p:nvPr/>
        </p:nvPicPr>
        <p:blipFill>
          <a:blip r:embed="rId5"/>
          <a:stretch/>
        </p:blipFill>
        <p:spPr>
          <a:xfrm>
            <a:off x="1433520" y="5022720"/>
            <a:ext cx="378000" cy="378000"/>
          </a:xfrm>
          <a:prstGeom prst="rect">
            <a:avLst/>
          </a:prstGeom>
          <a:ln w="0">
            <a:noFill/>
          </a:ln>
        </p:spPr>
      </p:pic>
      <p:sp>
        <p:nvSpPr>
          <p:cNvPr id="80" name="Text 38"/>
          <p:cNvSpPr/>
          <p:nvPr/>
        </p:nvSpPr>
        <p:spPr>
          <a:xfrm>
            <a:off x="594360" y="5504760"/>
            <a:ext cx="20563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Reduce Cost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39"/>
          <p:cNvSpPr/>
          <p:nvPr/>
        </p:nvSpPr>
        <p:spPr>
          <a:xfrm>
            <a:off x="631080" y="5760720"/>
            <a:ext cx="19832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Cut spend on always-on servers and idle capacity.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40"/>
          <p:cNvSpPr/>
          <p:nvPr/>
        </p:nvSpPr>
        <p:spPr>
          <a:xfrm>
            <a:off x="3607200" y="4956120"/>
            <a:ext cx="510840" cy="510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5" descr="/home/claude/icons/gauge.png"/>
          <p:cNvPicPr/>
          <p:nvPr/>
        </p:nvPicPr>
        <p:blipFill>
          <a:blip r:embed="rId6"/>
          <a:stretch/>
        </p:blipFill>
        <p:spPr>
          <a:xfrm>
            <a:off x="3673800" y="5022720"/>
            <a:ext cx="378000" cy="378000"/>
          </a:xfrm>
          <a:prstGeom prst="rect">
            <a:avLst/>
          </a:prstGeom>
          <a:ln w="0">
            <a:noFill/>
          </a:ln>
        </p:spPr>
      </p:pic>
      <p:sp>
        <p:nvSpPr>
          <p:cNvPr id="84" name="Text 41"/>
          <p:cNvSpPr/>
          <p:nvPr/>
        </p:nvSpPr>
        <p:spPr>
          <a:xfrm>
            <a:off x="2834640" y="5504760"/>
            <a:ext cx="20563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Improve Utilization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42"/>
          <p:cNvSpPr/>
          <p:nvPr/>
        </p:nvSpPr>
        <p:spPr>
          <a:xfrm>
            <a:off x="2871360" y="5760720"/>
            <a:ext cx="19832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Match compute allocation to real, live demand.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43"/>
          <p:cNvSpPr/>
          <p:nvPr/>
        </p:nvSpPr>
        <p:spPr>
          <a:xfrm>
            <a:off x="5847480" y="4956120"/>
            <a:ext cx="510840" cy="510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Image 6" descr="/home/claude/icons/cogs.png"/>
          <p:cNvPicPr/>
          <p:nvPr/>
        </p:nvPicPr>
        <p:blipFill>
          <a:blip r:embed="rId7"/>
          <a:stretch/>
        </p:blipFill>
        <p:spPr>
          <a:xfrm>
            <a:off x="5914080" y="5022720"/>
            <a:ext cx="378000" cy="378000"/>
          </a:xfrm>
          <a:prstGeom prst="rect">
            <a:avLst/>
          </a:prstGeom>
          <a:ln w="0">
            <a:noFill/>
          </a:ln>
        </p:spPr>
      </p:pic>
      <p:sp>
        <p:nvSpPr>
          <p:cNvPr id="88" name="Text 44"/>
          <p:cNvSpPr/>
          <p:nvPr/>
        </p:nvSpPr>
        <p:spPr>
          <a:xfrm>
            <a:off x="5074920" y="5504760"/>
            <a:ext cx="20563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Simplify Operations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45"/>
          <p:cNvSpPr/>
          <p:nvPr/>
        </p:nvSpPr>
        <p:spPr>
          <a:xfrm>
            <a:off x="5111640" y="5760720"/>
            <a:ext cx="19832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Offload patching, provisioning &amp; capacity planning.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46"/>
          <p:cNvSpPr/>
          <p:nvPr/>
        </p:nvSpPr>
        <p:spPr>
          <a:xfrm>
            <a:off x="8087760" y="4956120"/>
            <a:ext cx="510840" cy="510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Image 7" descr="/home/claude/icons/sync.png"/>
          <p:cNvPicPr/>
          <p:nvPr/>
        </p:nvPicPr>
        <p:blipFill>
          <a:blip r:embed="rId8"/>
          <a:stretch/>
        </p:blipFill>
        <p:spPr>
          <a:xfrm>
            <a:off x="8154360" y="5022720"/>
            <a:ext cx="378000" cy="378000"/>
          </a:xfrm>
          <a:prstGeom prst="rect">
            <a:avLst/>
          </a:prstGeom>
          <a:ln w="0">
            <a:noFill/>
          </a:ln>
        </p:spPr>
      </p:pic>
      <p:sp>
        <p:nvSpPr>
          <p:cNvPr id="92" name="Text 47"/>
          <p:cNvSpPr/>
          <p:nvPr/>
        </p:nvSpPr>
        <p:spPr>
          <a:xfrm>
            <a:off x="7315200" y="5504760"/>
            <a:ext cx="20563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Enable Auto Scaling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48"/>
          <p:cNvSpPr/>
          <p:nvPr/>
        </p:nvSpPr>
        <p:spPr>
          <a:xfrm>
            <a:off x="7351920" y="5760720"/>
            <a:ext cx="19832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Handle traffic spikes without manual intervention.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49"/>
          <p:cNvSpPr/>
          <p:nvPr/>
        </p:nvSpPr>
        <p:spPr>
          <a:xfrm>
            <a:off x="10328040" y="4956120"/>
            <a:ext cx="510840" cy="510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8" descr="/home/claude/icons/rocket.png"/>
          <p:cNvPicPr/>
          <p:nvPr/>
        </p:nvPicPr>
        <p:blipFill>
          <a:blip r:embed="rId9"/>
          <a:stretch/>
        </p:blipFill>
        <p:spPr>
          <a:xfrm>
            <a:off x="10394640" y="5022720"/>
            <a:ext cx="378000" cy="378000"/>
          </a:xfrm>
          <a:prstGeom prst="rect">
            <a:avLst/>
          </a:prstGeom>
          <a:ln w="0">
            <a:noFill/>
          </a:ln>
        </p:spPr>
      </p:pic>
      <p:sp>
        <p:nvSpPr>
          <p:cNvPr id="96" name="Text 50"/>
          <p:cNvSpPr/>
          <p:nvPr/>
        </p:nvSpPr>
        <p:spPr>
          <a:xfrm>
            <a:off x="9555480" y="5504760"/>
            <a:ext cx="20563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Lift Productivity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51"/>
          <p:cNvSpPr/>
          <p:nvPr/>
        </p:nvSpPr>
        <p:spPr>
          <a:xfrm>
            <a:off x="9592200" y="5760720"/>
            <a:ext cx="19832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Ship faster with less infrastructure overhead.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52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Problem Statement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53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02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7dd3fc"/>
                </a:solidFill>
                <a:latin typeface="Calibri"/>
                <a:ea typeface="Calibri"/>
              </a:rPr>
              <a:t>FOUNDATIONS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Understanding Serverless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502920" y="1207080"/>
            <a:ext cx="73141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93aac7"/>
                </a:solidFill>
                <a:latin typeface="Calibri"/>
                <a:ea typeface="Calibri"/>
              </a:rPr>
              <a:t>THE EVOLUTION OF COMPUTE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502920" y="1536120"/>
            <a:ext cx="2570760" cy="2376360"/>
          </a:xfrm>
          <a:prstGeom prst="roundRect">
            <a:avLst>
              <a:gd name="adj" fmla="val 3462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502920" y="1536120"/>
            <a:ext cx="2570760" cy="9036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5"/>
          <p:cNvSpPr/>
          <p:nvPr/>
        </p:nvSpPr>
        <p:spPr>
          <a:xfrm>
            <a:off x="1546560" y="1774080"/>
            <a:ext cx="620640" cy="62064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0" descr="/home/claude/icons/building.png"/>
          <p:cNvPicPr/>
          <p:nvPr/>
        </p:nvPicPr>
        <p:blipFill>
          <a:blip r:embed="rId1"/>
          <a:stretch/>
        </p:blipFill>
        <p:spPr>
          <a:xfrm>
            <a:off x="1702080" y="1929240"/>
            <a:ext cx="309960" cy="309960"/>
          </a:xfrm>
          <a:prstGeom prst="rect">
            <a:avLst/>
          </a:prstGeom>
          <a:ln w="0">
            <a:noFill/>
          </a:ln>
        </p:spPr>
      </p:pic>
      <p:sp>
        <p:nvSpPr>
          <p:cNvPr id="107" name="Text 6"/>
          <p:cNvSpPr/>
          <p:nvPr/>
        </p:nvSpPr>
        <p:spPr>
          <a:xfrm>
            <a:off x="502920" y="2505600"/>
            <a:ext cx="25707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Physical Servers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722520" y="2990160"/>
            <a:ext cx="53640" cy="5364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868680" y="287136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Owned hardware &amp; data centers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722520" y="3300840"/>
            <a:ext cx="53640" cy="5364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868680" y="318204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High capex, manual upkeep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722520" y="3611880"/>
            <a:ext cx="53640" cy="53640"/>
          </a:xfrm>
          <a:prstGeom prst="ellipse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868680" y="349308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Full control, high effort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Image 1" descr="/home/claude/icons/route.png"/>
          <p:cNvPicPr/>
          <p:nvPr/>
        </p:nvPicPr>
        <p:blipFill>
          <a:blip r:embed="rId2"/>
          <a:stretch/>
        </p:blipFill>
        <p:spPr>
          <a:xfrm>
            <a:off x="3120120" y="263340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115" name="Shape 13"/>
          <p:cNvSpPr/>
          <p:nvPr/>
        </p:nvSpPr>
        <p:spPr>
          <a:xfrm>
            <a:off x="3349080" y="1536120"/>
            <a:ext cx="2593800" cy="2376360"/>
          </a:xfrm>
          <a:prstGeom prst="roundRect">
            <a:avLst>
              <a:gd name="adj" fmla="val 3462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3349080" y="1536120"/>
            <a:ext cx="2593800" cy="9036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4343400" y="1774080"/>
            <a:ext cx="620640" cy="6206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2" descr="/home/claude/icons/server.png"/>
          <p:cNvPicPr/>
          <p:nvPr/>
        </p:nvPicPr>
        <p:blipFill>
          <a:blip r:embed="rId3"/>
          <a:stretch/>
        </p:blipFill>
        <p:spPr>
          <a:xfrm>
            <a:off x="4489920" y="1929240"/>
            <a:ext cx="309960" cy="309960"/>
          </a:xfrm>
          <a:prstGeom prst="rect">
            <a:avLst/>
          </a:prstGeom>
          <a:ln w="0">
            <a:noFill/>
          </a:ln>
        </p:spPr>
      </p:pic>
      <p:sp>
        <p:nvSpPr>
          <p:cNvPr id="119" name="Text 16"/>
          <p:cNvSpPr/>
          <p:nvPr/>
        </p:nvSpPr>
        <p:spPr>
          <a:xfrm>
            <a:off x="3349080" y="2505600"/>
            <a:ext cx="25707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Virtual Machines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3568320" y="2990160"/>
            <a:ext cx="53640" cy="536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3714840" y="287136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Rented compute (EC2, Azure VM)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9"/>
          <p:cNvSpPr/>
          <p:nvPr/>
        </p:nvSpPr>
        <p:spPr>
          <a:xfrm>
            <a:off x="3568320" y="3300840"/>
            <a:ext cx="53640" cy="536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3714840" y="318204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Still manage OS &amp; patching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1"/>
          <p:cNvSpPr/>
          <p:nvPr/>
        </p:nvSpPr>
        <p:spPr>
          <a:xfrm>
            <a:off x="3568320" y="3611880"/>
            <a:ext cx="53640" cy="536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2"/>
          <p:cNvSpPr/>
          <p:nvPr/>
        </p:nvSpPr>
        <p:spPr>
          <a:xfrm>
            <a:off x="3714840" y="349308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Pay-as-you-go infrastructure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Image 3" descr="/home/claude/icons/route.png"/>
          <p:cNvPicPr/>
          <p:nvPr/>
        </p:nvPicPr>
        <p:blipFill>
          <a:blip r:embed="rId4"/>
          <a:stretch/>
        </p:blipFill>
        <p:spPr>
          <a:xfrm>
            <a:off x="5989320" y="263340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127" name="Shape 23"/>
          <p:cNvSpPr/>
          <p:nvPr/>
        </p:nvSpPr>
        <p:spPr>
          <a:xfrm>
            <a:off x="6195240" y="1536120"/>
            <a:ext cx="2570760" cy="2376360"/>
          </a:xfrm>
          <a:prstGeom prst="roundRect">
            <a:avLst>
              <a:gd name="adj" fmla="val 3462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4"/>
          <p:cNvSpPr/>
          <p:nvPr/>
        </p:nvSpPr>
        <p:spPr>
          <a:xfrm>
            <a:off x="6195240" y="1536120"/>
            <a:ext cx="2570760" cy="9036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25"/>
          <p:cNvSpPr/>
          <p:nvPr/>
        </p:nvSpPr>
        <p:spPr>
          <a:xfrm>
            <a:off x="7151040" y="1774080"/>
            <a:ext cx="620640" cy="62064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0" name="Image 4" descr="/home/claude/icons/docker.png"/>
          <p:cNvPicPr/>
          <p:nvPr/>
        </p:nvPicPr>
        <p:blipFill>
          <a:blip r:embed="rId5"/>
          <a:stretch/>
        </p:blipFill>
        <p:spPr>
          <a:xfrm>
            <a:off x="7315200" y="1929240"/>
            <a:ext cx="309960" cy="309960"/>
          </a:xfrm>
          <a:prstGeom prst="rect">
            <a:avLst/>
          </a:prstGeom>
          <a:ln w="0">
            <a:noFill/>
          </a:ln>
        </p:spPr>
      </p:pic>
      <p:sp>
        <p:nvSpPr>
          <p:cNvPr id="131" name="Text 26"/>
          <p:cNvSpPr/>
          <p:nvPr/>
        </p:nvSpPr>
        <p:spPr>
          <a:xfrm>
            <a:off x="6195240" y="2505600"/>
            <a:ext cx="25707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Containers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27"/>
          <p:cNvSpPr/>
          <p:nvPr/>
        </p:nvSpPr>
        <p:spPr>
          <a:xfrm>
            <a:off x="6414480" y="2990160"/>
            <a:ext cx="53640" cy="5364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8"/>
          <p:cNvSpPr/>
          <p:nvPr/>
        </p:nvSpPr>
        <p:spPr>
          <a:xfrm>
            <a:off x="6561000" y="287136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Portable Docker images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9"/>
          <p:cNvSpPr/>
          <p:nvPr/>
        </p:nvSpPr>
        <p:spPr>
          <a:xfrm>
            <a:off x="6414480" y="3300840"/>
            <a:ext cx="53640" cy="5364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30"/>
          <p:cNvSpPr/>
          <p:nvPr/>
        </p:nvSpPr>
        <p:spPr>
          <a:xfrm>
            <a:off x="6561000" y="318204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Faster startup than VMs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1"/>
          <p:cNvSpPr/>
          <p:nvPr/>
        </p:nvSpPr>
        <p:spPr>
          <a:xfrm>
            <a:off x="6414480" y="3611880"/>
            <a:ext cx="53640" cy="53640"/>
          </a:xfrm>
          <a:prstGeom prst="ellipse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2"/>
          <p:cNvSpPr/>
          <p:nvPr/>
        </p:nvSpPr>
        <p:spPr>
          <a:xfrm>
            <a:off x="6561000" y="349308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Orchestrated via Kubernetes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5" descr="/home/claude/icons/route.png"/>
          <p:cNvPicPr/>
          <p:nvPr/>
        </p:nvPicPr>
        <p:blipFill>
          <a:blip r:embed="rId6"/>
          <a:stretch/>
        </p:blipFill>
        <p:spPr>
          <a:xfrm>
            <a:off x="8817840" y="2633400"/>
            <a:ext cx="181800" cy="181800"/>
          </a:xfrm>
          <a:prstGeom prst="rect">
            <a:avLst/>
          </a:prstGeom>
          <a:ln w="0">
            <a:noFill/>
          </a:ln>
        </p:spPr>
      </p:pic>
      <p:sp>
        <p:nvSpPr>
          <p:cNvPr id="139" name="Shape 33"/>
          <p:cNvSpPr/>
          <p:nvPr/>
        </p:nvSpPr>
        <p:spPr>
          <a:xfrm>
            <a:off x="9041040" y="1536120"/>
            <a:ext cx="2707920" cy="2376360"/>
          </a:xfrm>
          <a:prstGeom prst="roundRect">
            <a:avLst>
              <a:gd name="adj" fmla="val 3462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34"/>
          <p:cNvSpPr/>
          <p:nvPr/>
        </p:nvSpPr>
        <p:spPr>
          <a:xfrm>
            <a:off x="9041040" y="1536120"/>
            <a:ext cx="2707920" cy="9036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440" bIns="374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35"/>
          <p:cNvSpPr/>
          <p:nvPr/>
        </p:nvSpPr>
        <p:spPr>
          <a:xfrm>
            <a:off x="10084680" y="1774080"/>
            <a:ext cx="620640" cy="62064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2" name="Image 6" descr="/home/claude/icons/bolt.png"/>
          <p:cNvPicPr/>
          <p:nvPr/>
        </p:nvPicPr>
        <p:blipFill>
          <a:blip r:embed="rId7"/>
          <a:stretch/>
        </p:blipFill>
        <p:spPr>
          <a:xfrm>
            <a:off x="10240200" y="1929240"/>
            <a:ext cx="309960" cy="309960"/>
          </a:xfrm>
          <a:prstGeom prst="rect">
            <a:avLst/>
          </a:prstGeom>
          <a:ln w="0">
            <a:noFill/>
          </a:ln>
        </p:spPr>
      </p:pic>
      <p:sp>
        <p:nvSpPr>
          <p:cNvPr id="143" name="Text 36"/>
          <p:cNvSpPr/>
          <p:nvPr/>
        </p:nvSpPr>
        <p:spPr>
          <a:xfrm>
            <a:off x="9178200" y="2505600"/>
            <a:ext cx="24336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Serverless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37"/>
          <p:cNvSpPr/>
          <p:nvPr/>
        </p:nvSpPr>
        <p:spPr>
          <a:xfrm>
            <a:off x="9260640" y="2990160"/>
            <a:ext cx="53640" cy="5364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38"/>
          <p:cNvSpPr/>
          <p:nvPr/>
        </p:nvSpPr>
        <p:spPr>
          <a:xfrm>
            <a:off x="9406800" y="287136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Deploy code, not infrastructure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39"/>
          <p:cNvSpPr/>
          <p:nvPr/>
        </p:nvSpPr>
        <p:spPr>
          <a:xfrm>
            <a:off x="9260640" y="3300840"/>
            <a:ext cx="53640" cy="5364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0"/>
          <p:cNvSpPr/>
          <p:nvPr/>
        </p:nvSpPr>
        <p:spPr>
          <a:xfrm>
            <a:off x="9406800" y="318204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Provider handles scaling &amp; ops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41"/>
          <p:cNvSpPr/>
          <p:nvPr/>
        </p:nvSpPr>
        <p:spPr>
          <a:xfrm>
            <a:off x="9260640" y="3611880"/>
            <a:ext cx="53640" cy="5364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480" bIns="-64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2"/>
          <p:cNvSpPr/>
          <p:nvPr/>
        </p:nvSpPr>
        <p:spPr>
          <a:xfrm>
            <a:off x="9406800" y="3493080"/>
            <a:ext cx="21776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Pay only for what runs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43"/>
          <p:cNvSpPr/>
          <p:nvPr/>
        </p:nvSpPr>
        <p:spPr>
          <a:xfrm>
            <a:off x="502920" y="4041720"/>
            <a:ext cx="5439600" cy="2211840"/>
          </a:xfrm>
          <a:prstGeom prst="roundRect">
            <a:avLst>
              <a:gd name="adj" fmla="val 3719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44"/>
          <p:cNvSpPr/>
          <p:nvPr/>
        </p:nvSpPr>
        <p:spPr>
          <a:xfrm>
            <a:off x="777240" y="4197240"/>
            <a:ext cx="4936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2" strike="noStrike">
                <a:solidFill>
                  <a:srgbClr val="93aac7"/>
                </a:solidFill>
                <a:latin typeface="Calibri"/>
                <a:ea typeface="Calibri"/>
              </a:rPr>
              <a:t>TRADITIONAL vs SERVERLESS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45"/>
          <p:cNvSpPr/>
          <p:nvPr/>
        </p:nvSpPr>
        <p:spPr>
          <a:xfrm>
            <a:off x="777240" y="4544640"/>
            <a:ext cx="1370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Provisioning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46"/>
          <p:cNvSpPr/>
          <p:nvPr/>
        </p:nvSpPr>
        <p:spPr>
          <a:xfrm>
            <a:off x="2148840" y="454464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1a9a9"/>
                </a:solidFill>
                <a:latin typeface="Calibri"/>
                <a:ea typeface="Calibri"/>
              </a:rPr>
              <a:t>Always-on servers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47"/>
          <p:cNvSpPr/>
          <p:nvPr/>
        </p:nvSpPr>
        <p:spPr>
          <a:xfrm>
            <a:off x="3977640" y="4544640"/>
            <a:ext cx="1873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ee7b7"/>
                </a:solidFill>
                <a:latin typeface="Calibri"/>
                <a:ea typeface="Calibri"/>
              </a:rPr>
              <a:t>On-demand execution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48"/>
          <p:cNvSpPr/>
          <p:nvPr/>
        </p:nvSpPr>
        <p:spPr>
          <a:xfrm>
            <a:off x="777240" y="4974480"/>
            <a:ext cx="1370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Scaling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49"/>
          <p:cNvSpPr/>
          <p:nvPr/>
        </p:nvSpPr>
        <p:spPr>
          <a:xfrm>
            <a:off x="2148840" y="497448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1a9a9"/>
                </a:solidFill>
                <a:latin typeface="Calibri"/>
                <a:ea typeface="Calibri"/>
              </a:rPr>
              <a:t>Manual / pre-planned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50"/>
          <p:cNvSpPr/>
          <p:nvPr/>
        </p:nvSpPr>
        <p:spPr>
          <a:xfrm>
            <a:off x="3977640" y="4974480"/>
            <a:ext cx="1873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ee7b7"/>
                </a:solidFill>
                <a:latin typeface="Calibri"/>
                <a:ea typeface="Calibri"/>
              </a:rPr>
              <a:t>Automatic, elastic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51"/>
          <p:cNvSpPr/>
          <p:nvPr/>
        </p:nvSpPr>
        <p:spPr>
          <a:xfrm>
            <a:off x="777240" y="5403960"/>
            <a:ext cx="1370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Billing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52"/>
          <p:cNvSpPr/>
          <p:nvPr/>
        </p:nvSpPr>
        <p:spPr>
          <a:xfrm>
            <a:off x="2148840" y="540396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1a9a9"/>
                </a:solidFill>
                <a:latin typeface="Calibri"/>
                <a:ea typeface="Calibri"/>
              </a:rPr>
              <a:t>Reserved capacity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53"/>
          <p:cNvSpPr/>
          <p:nvPr/>
        </p:nvSpPr>
        <p:spPr>
          <a:xfrm>
            <a:off x="3977640" y="5403960"/>
            <a:ext cx="1873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ee7b7"/>
                </a:solidFill>
                <a:latin typeface="Calibri"/>
                <a:ea typeface="Calibri"/>
              </a:rPr>
              <a:t>Pay-per-use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54"/>
          <p:cNvSpPr/>
          <p:nvPr/>
        </p:nvSpPr>
        <p:spPr>
          <a:xfrm>
            <a:off x="777240" y="5833800"/>
            <a:ext cx="1370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Ops effort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55"/>
          <p:cNvSpPr/>
          <p:nvPr/>
        </p:nvSpPr>
        <p:spPr>
          <a:xfrm>
            <a:off x="2148840" y="5833800"/>
            <a:ext cx="1827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1a9a9"/>
                </a:solidFill>
                <a:latin typeface="Calibri"/>
                <a:ea typeface="Calibri"/>
              </a:rPr>
              <a:t>High (patching, capacity)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56"/>
          <p:cNvSpPr/>
          <p:nvPr/>
        </p:nvSpPr>
        <p:spPr>
          <a:xfrm>
            <a:off x="3977640" y="5833800"/>
            <a:ext cx="1873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6ee7b7"/>
                </a:solidFill>
                <a:latin typeface="Calibri"/>
                <a:ea typeface="Calibri"/>
              </a:rPr>
              <a:t>Low (provider-managed)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57"/>
          <p:cNvSpPr/>
          <p:nvPr/>
        </p:nvSpPr>
        <p:spPr>
          <a:xfrm>
            <a:off x="6172200" y="4041720"/>
            <a:ext cx="5531040" cy="2211840"/>
          </a:xfrm>
          <a:prstGeom prst="roundRect">
            <a:avLst>
              <a:gd name="adj" fmla="val 3719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58"/>
          <p:cNvSpPr/>
          <p:nvPr/>
        </p:nvSpPr>
        <p:spPr>
          <a:xfrm>
            <a:off x="6446520" y="4197240"/>
            <a:ext cx="45709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2" strike="noStrike">
                <a:solidFill>
                  <a:srgbClr val="0891b2"/>
                </a:solidFill>
                <a:latin typeface="Calibri"/>
                <a:ea typeface="Calibri"/>
              </a:rPr>
              <a:t>KEY BENEFITS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7" descr="/home/claude/icons/arrowdown.png"/>
          <p:cNvPicPr/>
          <p:nvPr/>
        </p:nvPicPr>
        <p:blipFill>
          <a:blip r:embed="rId8"/>
          <a:stretch/>
        </p:blipFill>
        <p:spPr>
          <a:xfrm>
            <a:off x="6446520" y="463608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67" name="Text 59"/>
          <p:cNvSpPr/>
          <p:nvPr/>
        </p:nvSpPr>
        <p:spPr>
          <a:xfrm>
            <a:off x="6830640" y="4590360"/>
            <a:ext cx="2084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Lower infrastructure cost:</a:t>
            </a:r>
            <a:r>
              <a:rPr b="0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 Pay only for what you use — no idle server spend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8" name="Image 8" descr="/home/claude/icons/sync.png"/>
          <p:cNvPicPr/>
          <p:nvPr/>
        </p:nvPicPr>
        <p:blipFill>
          <a:blip r:embed="rId9"/>
          <a:stretch/>
        </p:blipFill>
        <p:spPr>
          <a:xfrm>
            <a:off x="9052560" y="463608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69" name="Text 60"/>
          <p:cNvSpPr/>
          <p:nvPr/>
        </p:nvSpPr>
        <p:spPr>
          <a:xfrm>
            <a:off x="9436680" y="4590360"/>
            <a:ext cx="2147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Automatic, elastic scaling:</a:t>
            </a:r>
            <a:r>
              <a:rPr b="0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 Handles traffic spikes without manual provisioning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0" name="Image 9" descr="/home/claude/icons/rocket.png"/>
          <p:cNvPicPr/>
          <p:nvPr/>
        </p:nvPicPr>
        <p:blipFill>
          <a:blip r:embed="rId10"/>
          <a:stretch/>
        </p:blipFill>
        <p:spPr>
          <a:xfrm>
            <a:off x="6446520" y="55047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71" name="Text 61"/>
          <p:cNvSpPr/>
          <p:nvPr/>
        </p:nvSpPr>
        <p:spPr>
          <a:xfrm>
            <a:off x="6830640" y="5394960"/>
            <a:ext cx="20840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Faster time to market:</a:t>
            </a:r>
            <a:r>
              <a:rPr b="0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 Ship features without managing servers first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2" name="Image 10" descr="/home/claude/icons/cogs.png"/>
          <p:cNvPicPr/>
          <p:nvPr/>
        </p:nvPicPr>
        <p:blipFill>
          <a:blip r:embed="rId11"/>
          <a:stretch/>
        </p:blipFill>
        <p:spPr>
          <a:xfrm>
            <a:off x="9052560" y="550476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173" name="Text 62"/>
          <p:cNvSpPr/>
          <p:nvPr/>
        </p:nvSpPr>
        <p:spPr>
          <a:xfrm>
            <a:off x="9436680" y="5394960"/>
            <a:ext cx="21477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Minimal operational overhead</a:t>
            </a:r>
            <a:r>
              <a:rPr b="0" lang="en-US" sz="1100" spc="-1" strike="noStrike">
                <a:solidFill>
                  <a:srgbClr val="0f2136"/>
                </a:solidFill>
                <a:latin typeface="Calibri"/>
                <a:ea typeface="Calibri"/>
              </a:rPr>
              <a:t>: No patching, capacity planning, or server upkeep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63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Understanding Serverless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64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03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0ea5e9"/>
                </a:solidFill>
                <a:latin typeface="Calibri"/>
                <a:ea typeface="Calibri"/>
              </a:rPr>
              <a:t>SERVERLESS MODELS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136"/>
                </a:solidFill>
                <a:latin typeface="Cambria"/>
                <a:ea typeface="Cambria"/>
              </a:rPr>
              <a:t>Types of Serverless Computing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502920" y="1325880"/>
            <a:ext cx="2742120" cy="4159440"/>
          </a:xfrm>
          <a:prstGeom prst="roundRect">
            <a:avLst>
              <a:gd name="adj" fmla="val 3000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502920" y="1325880"/>
            <a:ext cx="2742120" cy="12708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1490400" y="1618560"/>
            <a:ext cx="767160" cy="76716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1" name="Image 0" descr="/home/claude/icons/bolt.png"/>
          <p:cNvPicPr/>
          <p:nvPr/>
        </p:nvPicPr>
        <p:blipFill>
          <a:blip r:embed="rId1"/>
          <a:stretch/>
        </p:blipFill>
        <p:spPr>
          <a:xfrm>
            <a:off x="1682640" y="181044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182" name="Text 5"/>
          <p:cNvSpPr/>
          <p:nvPr/>
        </p:nvSpPr>
        <p:spPr>
          <a:xfrm>
            <a:off x="685800" y="2514600"/>
            <a:ext cx="2376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3" strike="noStrike">
                <a:solidFill>
                  <a:srgbClr val="0ea5e9"/>
                </a:solidFill>
                <a:latin typeface="Calibri"/>
                <a:ea typeface="Calibri"/>
              </a:rPr>
              <a:t>FAAS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667440" y="2688480"/>
            <a:ext cx="2413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2136"/>
                </a:solidFill>
                <a:latin typeface="Cambria"/>
                <a:ea typeface="Cambria"/>
              </a:rPr>
              <a:t>Function as a Service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722520" y="3319200"/>
            <a:ext cx="63000" cy="630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 rot="3600">
            <a:off x="886680" y="3219840"/>
            <a:ext cx="231300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Deploy single functions, not full apps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722520" y="3813120"/>
            <a:ext cx="63000" cy="630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0"/>
          <p:cNvSpPr/>
          <p:nvPr/>
        </p:nvSpPr>
        <p:spPr>
          <a:xfrm>
            <a:off x="887040" y="370332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Best for independent, event-driven tasks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722520" y="4361760"/>
            <a:ext cx="63000" cy="630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887040" y="425196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Scheduled reports, email alerts, file processing, webhooks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722520" y="4910400"/>
            <a:ext cx="63000" cy="6300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887040" y="480060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Pay only for actual execution time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3364920" y="1325880"/>
            <a:ext cx="2742120" cy="4159440"/>
          </a:xfrm>
          <a:prstGeom prst="roundRect">
            <a:avLst>
              <a:gd name="adj" fmla="val 3000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3364920" y="1325880"/>
            <a:ext cx="2742120" cy="12708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4352400" y="1618560"/>
            <a:ext cx="767160" cy="76716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5" name="Image 1" descr="/home/claude/icons/docker.png"/>
          <p:cNvPicPr/>
          <p:nvPr/>
        </p:nvPicPr>
        <p:blipFill>
          <a:blip r:embed="rId2"/>
          <a:stretch/>
        </p:blipFill>
        <p:spPr>
          <a:xfrm>
            <a:off x="4544640" y="181044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196" name="Text 18"/>
          <p:cNvSpPr/>
          <p:nvPr/>
        </p:nvSpPr>
        <p:spPr>
          <a:xfrm>
            <a:off x="3547800" y="2514600"/>
            <a:ext cx="2376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3" strike="noStrike">
                <a:solidFill>
                  <a:srgbClr val="10b981"/>
                </a:solidFill>
                <a:latin typeface="Calibri"/>
                <a:ea typeface="Calibri"/>
              </a:rPr>
              <a:t>CONTAINERS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3529440" y="2688480"/>
            <a:ext cx="2413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2136"/>
                </a:solidFill>
                <a:latin typeface="Cambria"/>
                <a:ea typeface="Cambria"/>
              </a:rPr>
              <a:t>Serverless Containers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3584520" y="3319200"/>
            <a:ext cx="63000" cy="630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1"/>
          <p:cNvSpPr/>
          <p:nvPr/>
        </p:nvSpPr>
        <p:spPr>
          <a:xfrm>
            <a:off x="3749040" y="321876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Run existing Docker images as-is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2"/>
          <p:cNvSpPr/>
          <p:nvPr/>
        </p:nvSpPr>
        <p:spPr>
          <a:xfrm>
            <a:off x="3584520" y="3813120"/>
            <a:ext cx="63000" cy="630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3"/>
          <p:cNvSpPr/>
          <p:nvPr/>
        </p:nvSpPr>
        <p:spPr>
          <a:xfrm>
            <a:off x="3749040" y="370332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Preferred for existing Python apps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4"/>
          <p:cNvSpPr/>
          <p:nvPr/>
        </p:nvSpPr>
        <p:spPr>
          <a:xfrm>
            <a:off x="3584520" y="4361760"/>
            <a:ext cx="63000" cy="630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5"/>
          <p:cNvSpPr/>
          <p:nvPr/>
        </p:nvSpPr>
        <p:spPr>
          <a:xfrm>
            <a:off x="3749040" y="425196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Minimal migration for FastAPI, Django, Flask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6"/>
          <p:cNvSpPr/>
          <p:nvPr/>
        </p:nvSpPr>
        <p:spPr>
          <a:xfrm>
            <a:off x="3584520" y="4910400"/>
            <a:ext cx="63000" cy="630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7"/>
          <p:cNvSpPr/>
          <p:nvPr/>
        </p:nvSpPr>
        <p:spPr>
          <a:xfrm>
            <a:off x="3749040" y="480060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Scale-to-zero supported on most platforms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8"/>
          <p:cNvSpPr/>
          <p:nvPr/>
        </p:nvSpPr>
        <p:spPr>
          <a:xfrm>
            <a:off x="6226920" y="1325880"/>
            <a:ext cx="2742120" cy="4159440"/>
          </a:xfrm>
          <a:prstGeom prst="roundRect">
            <a:avLst>
              <a:gd name="adj" fmla="val 3000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9"/>
          <p:cNvSpPr/>
          <p:nvPr/>
        </p:nvSpPr>
        <p:spPr>
          <a:xfrm>
            <a:off x="6226920" y="1325880"/>
            <a:ext cx="2742120" cy="1270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30"/>
          <p:cNvSpPr/>
          <p:nvPr/>
        </p:nvSpPr>
        <p:spPr>
          <a:xfrm>
            <a:off x="7214760" y="1618560"/>
            <a:ext cx="767160" cy="76716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2" descr="/home/claude/icons/globe.png"/>
          <p:cNvPicPr/>
          <p:nvPr/>
        </p:nvPicPr>
        <p:blipFill>
          <a:blip r:embed="rId3"/>
          <a:stretch/>
        </p:blipFill>
        <p:spPr>
          <a:xfrm>
            <a:off x="7406640" y="181044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210" name="Text 31"/>
          <p:cNvSpPr/>
          <p:nvPr/>
        </p:nvSpPr>
        <p:spPr>
          <a:xfrm>
            <a:off x="6409800" y="2514600"/>
            <a:ext cx="2376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3" strike="noStrike">
                <a:solidFill>
                  <a:srgbClr val="7c3aed"/>
                </a:solidFill>
                <a:latin typeface="Calibri"/>
                <a:ea typeface="Calibri"/>
              </a:rPr>
              <a:t>EDGE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32"/>
          <p:cNvSpPr/>
          <p:nvPr/>
        </p:nvSpPr>
        <p:spPr>
          <a:xfrm>
            <a:off x="6391800" y="2688480"/>
            <a:ext cx="2413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2136"/>
                </a:solidFill>
                <a:latin typeface="Cambria"/>
                <a:ea typeface="Cambria"/>
              </a:rPr>
              <a:t>Edge Computing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33"/>
          <p:cNvSpPr/>
          <p:nvPr/>
        </p:nvSpPr>
        <p:spPr>
          <a:xfrm>
            <a:off x="6446520" y="3319200"/>
            <a:ext cx="63000" cy="630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4"/>
          <p:cNvSpPr/>
          <p:nvPr/>
        </p:nvSpPr>
        <p:spPr>
          <a:xfrm>
            <a:off x="6611040" y="321876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Executes logic near the end user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5"/>
          <p:cNvSpPr/>
          <p:nvPr/>
        </p:nvSpPr>
        <p:spPr>
          <a:xfrm>
            <a:off x="6446520" y="3813120"/>
            <a:ext cx="63000" cy="630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6"/>
          <p:cNvSpPr/>
          <p:nvPr/>
        </p:nvSpPr>
        <p:spPr>
          <a:xfrm>
            <a:off x="6611040" y="370332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Reduces latency for global traffic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7"/>
          <p:cNvSpPr/>
          <p:nvPr/>
        </p:nvSpPr>
        <p:spPr>
          <a:xfrm>
            <a:off x="6446520" y="4361760"/>
            <a:ext cx="63000" cy="630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8"/>
          <p:cNvSpPr/>
          <p:nvPr/>
        </p:nvSpPr>
        <p:spPr>
          <a:xfrm>
            <a:off x="6611040" y="425196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Best for: auth, middleware, personalization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39"/>
          <p:cNvSpPr/>
          <p:nvPr/>
        </p:nvSpPr>
        <p:spPr>
          <a:xfrm>
            <a:off x="6446520" y="4910400"/>
            <a:ext cx="63000" cy="6300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40"/>
          <p:cNvSpPr/>
          <p:nvPr/>
        </p:nvSpPr>
        <p:spPr>
          <a:xfrm>
            <a:off x="6611040" y="480060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Best paired with a primary cloud platform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41"/>
          <p:cNvSpPr/>
          <p:nvPr/>
        </p:nvSpPr>
        <p:spPr>
          <a:xfrm>
            <a:off x="9089280" y="1325880"/>
            <a:ext cx="2742120" cy="4159440"/>
          </a:xfrm>
          <a:prstGeom prst="roundRect">
            <a:avLst>
              <a:gd name="adj" fmla="val 3000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42"/>
          <p:cNvSpPr/>
          <p:nvPr/>
        </p:nvSpPr>
        <p:spPr>
          <a:xfrm>
            <a:off x="9089280" y="1325880"/>
            <a:ext cx="2742120" cy="1270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43"/>
          <p:cNvSpPr/>
          <p:nvPr/>
        </p:nvSpPr>
        <p:spPr>
          <a:xfrm>
            <a:off x="10076760" y="1618560"/>
            <a:ext cx="767160" cy="7671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Image 3" descr="/home/claude/icons/cubes.png"/>
          <p:cNvPicPr/>
          <p:nvPr/>
        </p:nvPicPr>
        <p:blipFill>
          <a:blip r:embed="rId4"/>
          <a:stretch/>
        </p:blipFill>
        <p:spPr>
          <a:xfrm>
            <a:off x="10268640" y="181044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224" name="Text 44"/>
          <p:cNvSpPr/>
          <p:nvPr/>
        </p:nvSpPr>
        <p:spPr>
          <a:xfrm>
            <a:off x="9272160" y="2514600"/>
            <a:ext cx="2376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3" strike="noStrike">
                <a:solidFill>
                  <a:srgbClr val="f59e0b"/>
                </a:solidFill>
                <a:latin typeface="Calibri"/>
                <a:ea typeface="Calibri"/>
              </a:rPr>
              <a:t>BAAS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5"/>
          <p:cNvSpPr/>
          <p:nvPr/>
        </p:nvSpPr>
        <p:spPr>
          <a:xfrm>
            <a:off x="9253800" y="2688480"/>
            <a:ext cx="2413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f2136"/>
                </a:solidFill>
                <a:latin typeface="Cambria"/>
                <a:ea typeface="Cambria"/>
              </a:rPr>
              <a:t>Backend as a Service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46"/>
          <p:cNvSpPr/>
          <p:nvPr/>
        </p:nvSpPr>
        <p:spPr>
          <a:xfrm>
            <a:off x="9308520" y="3319200"/>
            <a:ext cx="63000" cy="63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47"/>
          <p:cNvSpPr/>
          <p:nvPr/>
        </p:nvSpPr>
        <p:spPr>
          <a:xfrm>
            <a:off x="9473040" y="321876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Managed auth, storage, database, notifications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48"/>
          <p:cNvSpPr/>
          <p:nvPr/>
        </p:nvSpPr>
        <p:spPr>
          <a:xfrm>
            <a:off x="9308520" y="3813120"/>
            <a:ext cx="63000" cy="63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9"/>
          <p:cNvSpPr/>
          <p:nvPr/>
        </p:nvSpPr>
        <p:spPr>
          <a:xfrm>
            <a:off x="9473040" y="370332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Faster development, less backend code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50"/>
          <p:cNvSpPr/>
          <p:nvPr/>
        </p:nvSpPr>
        <p:spPr>
          <a:xfrm>
            <a:off x="9308520" y="4361760"/>
            <a:ext cx="63000" cy="63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51"/>
          <p:cNvSpPr/>
          <p:nvPr/>
        </p:nvSpPr>
        <p:spPr>
          <a:xfrm>
            <a:off x="9473040" y="425196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Trade-off: higher vendor dependency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52"/>
          <p:cNvSpPr/>
          <p:nvPr/>
        </p:nvSpPr>
        <p:spPr>
          <a:xfrm>
            <a:off x="9308520" y="4910400"/>
            <a:ext cx="63000" cy="63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53"/>
          <p:cNvSpPr/>
          <p:nvPr/>
        </p:nvSpPr>
        <p:spPr>
          <a:xfrm>
            <a:off x="9473040" y="4800600"/>
            <a:ext cx="21751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3445a"/>
                </a:solidFill>
                <a:latin typeface="Calibri"/>
                <a:ea typeface="Calibri"/>
              </a:rPr>
              <a:t>Ideal for MVPs and rapid prototyping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54"/>
          <p:cNvSpPr/>
          <p:nvPr/>
        </p:nvSpPr>
        <p:spPr>
          <a:xfrm>
            <a:off x="502920" y="5623560"/>
            <a:ext cx="11337840" cy="620640"/>
          </a:xfrm>
          <a:prstGeom prst="roundRect">
            <a:avLst>
              <a:gd name="adj" fmla="val 13235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5" name="Image 4" descr="/home/claude/icons/exchange.png"/>
          <p:cNvPicPr/>
          <p:nvPr/>
        </p:nvPicPr>
        <p:blipFill>
          <a:blip r:embed="rId5"/>
          <a:stretch/>
        </p:blipFill>
        <p:spPr>
          <a:xfrm>
            <a:off x="713160" y="578808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236" name="Text 55"/>
          <p:cNvSpPr/>
          <p:nvPr/>
        </p:nvSpPr>
        <p:spPr>
          <a:xfrm>
            <a:off x="1143000" y="5623560"/>
            <a:ext cx="105602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Modern applications rarely rely on one model alone — Python backends typically combine Serverless Containers for the core app with Functions for independent, event-driven tasks.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56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Types of Serverless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57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04 / 25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7dd3fc"/>
                </a:solidFill>
                <a:latin typeface="Calibri"/>
                <a:ea typeface="Calibri"/>
              </a:rPr>
              <a:t>METHODOLOGY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Evaluation Criteria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2"/>
          <p:cNvSpPr/>
          <p:nvPr/>
        </p:nvSpPr>
        <p:spPr>
          <a:xfrm>
            <a:off x="502920" y="1188720"/>
            <a:ext cx="10788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4f2"/>
                </a:solidFill>
                <a:latin typeface="Calibri"/>
                <a:ea typeface="Calibri"/>
              </a:rPr>
              <a:t>Every platform in this review is scored consistently against eight criteria that matter most for our Python and Next.js workloads.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502920" y="1783080"/>
            <a:ext cx="2723760" cy="2147760"/>
          </a:xfrm>
          <a:prstGeom prst="roundRect">
            <a:avLst>
              <a:gd name="adj" fmla="val 383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4"/>
          <p:cNvSpPr/>
          <p:nvPr/>
        </p:nvSpPr>
        <p:spPr>
          <a:xfrm>
            <a:off x="1572840" y="2039040"/>
            <a:ext cx="584280" cy="58428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4" name="Image 0" descr="/home/claude/icons/python.png"/>
          <p:cNvPicPr/>
          <p:nvPr/>
        </p:nvPicPr>
        <p:blipFill>
          <a:blip r:embed="rId1"/>
          <a:stretch/>
        </p:blipFill>
        <p:spPr>
          <a:xfrm>
            <a:off x="1648800" y="211536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245" name="Text 5"/>
          <p:cNvSpPr/>
          <p:nvPr/>
        </p:nvSpPr>
        <p:spPr>
          <a:xfrm>
            <a:off x="640080" y="2743200"/>
            <a:ext cx="2449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Python Support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6"/>
          <p:cNvSpPr/>
          <p:nvPr/>
        </p:nvSpPr>
        <p:spPr>
          <a:xfrm>
            <a:off x="457200" y="3173040"/>
            <a:ext cx="27694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FastAPI, Flask, Django compatibility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7"/>
          <p:cNvSpPr/>
          <p:nvPr/>
        </p:nvSpPr>
        <p:spPr>
          <a:xfrm>
            <a:off x="3319200" y="1783080"/>
            <a:ext cx="2723760" cy="2147760"/>
          </a:xfrm>
          <a:prstGeom prst="roundRect">
            <a:avLst>
              <a:gd name="adj" fmla="val 383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4389120" y="2039040"/>
            <a:ext cx="584280" cy="58428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" name="Image 1" descr="/home/claude/icons/react.png"/>
          <p:cNvPicPr/>
          <p:nvPr/>
        </p:nvPicPr>
        <p:blipFill>
          <a:blip r:embed="rId2"/>
          <a:stretch/>
        </p:blipFill>
        <p:spPr>
          <a:xfrm>
            <a:off x="4465080" y="211536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250" name="Text 9"/>
          <p:cNvSpPr/>
          <p:nvPr/>
        </p:nvSpPr>
        <p:spPr>
          <a:xfrm>
            <a:off x="3456360" y="2743200"/>
            <a:ext cx="2449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Next.js Support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3502080" y="3173040"/>
            <a:ext cx="2358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SSR, API routes, ISR, middleware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6135480" y="1783080"/>
            <a:ext cx="2723760" cy="2147760"/>
          </a:xfrm>
          <a:prstGeom prst="roundRect">
            <a:avLst>
              <a:gd name="adj" fmla="val 383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2"/>
          <p:cNvSpPr/>
          <p:nvPr/>
        </p:nvSpPr>
        <p:spPr>
          <a:xfrm>
            <a:off x="7205400" y="2039040"/>
            <a:ext cx="584280" cy="58428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4" name="Image 2" descr="/home/claude/icons/dollar.png"/>
          <p:cNvPicPr/>
          <p:nvPr/>
        </p:nvPicPr>
        <p:blipFill>
          <a:blip r:embed="rId3"/>
          <a:stretch/>
        </p:blipFill>
        <p:spPr>
          <a:xfrm>
            <a:off x="7281720" y="211536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255" name="Text 13"/>
          <p:cNvSpPr/>
          <p:nvPr/>
        </p:nvSpPr>
        <p:spPr>
          <a:xfrm>
            <a:off x="6272640" y="2743200"/>
            <a:ext cx="2449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Cost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4"/>
          <p:cNvSpPr/>
          <p:nvPr/>
        </p:nvSpPr>
        <p:spPr>
          <a:xfrm>
            <a:off x="6135480" y="3173040"/>
            <a:ext cx="272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Idle cost, consumption pricing, free tier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5"/>
          <p:cNvSpPr/>
          <p:nvPr/>
        </p:nvSpPr>
        <p:spPr>
          <a:xfrm>
            <a:off x="8952120" y="1783080"/>
            <a:ext cx="2723760" cy="2147760"/>
          </a:xfrm>
          <a:prstGeom prst="roundRect">
            <a:avLst>
              <a:gd name="adj" fmla="val 383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16"/>
          <p:cNvSpPr/>
          <p:nvPr/>
        </p:nvSpPr>
        <p:spPr>
          <a:xfrm>
            <a:off x="10021680" y="2039040"/>
            <a:ext cx="584280" cy="58428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9" name="Image 3" descr="/home/claude/icons/sync.png"/>
          <p:cNvPicPr/>
          <p:nvPr/>
        </p:nvPicPr>
        <p:blipFill>
          <a:blip r:embed="rId4"/>
          <a:stretch/>
        </p:blipFill>
        <p:spPr>
          <a:xfrm>
            <a:off x="10098000" y="211536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260" name="Text 17"/>
          <p:cNvSpPr/>
          <p:nvPr/>
        </p:nvSpPr>
        <p:spPr>
          <a:xfrm>
            <a:off x="9089280" y="2743200"/>
            <a:ext cx="2449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Auto Scaling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8"/>
          <p:cNvSpPr/>
          <p:nvPr/>
        </p:nvSpPr>
        <p:spPr>
          <a:xfrm>
            <a:off x="9135000" y="3173040"/>
            <a:ext cx="23580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Elastic scale-up under traffic spikes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9"/>
          <p:cNvSpPr/>
          <p:nvPr/>
        </p:nvSpPr>
        <p:spPr>
          <a:xfrm>
            <a:off x="502920" y="4069080"/>
            <a:ext cx="2723760" cy="2147760"/>
          </a:xfrm>
          <a:prstGeom prst="roundRect">
            <a:avLst>
              <a:gd name="adj" fmla="val 383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20"/>
          <p:cNvSpPr/>
          <p:nvPr/>
        </p:nvSpPr>
        <p:spPr>
          <a:xfrm>
            <a:off x="1572840" y="4325040"/>
            <a:ext cx="584280" cy="58428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4" name="Image 4" descr="/home/claude/icons/clock.png"/>
          <p:cNvPicPr/>
          <p:nvPr/>
        </p:nvPicPr>
        <p:blipFill>
          <a:blip r:embed="rId5"/>
          <a:stretch/>
        </p:blipFill>
        <p:spPr>
          <a:xfrm>
            <a:off x="1648800" y="440136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265" name="Text 21"/>
          <p:cNvSpPr/>
          <p:nvPr/>
        </p:nvSpPr>
        <p:spPr>
          <a:xfrm>
            <a:off x="640080" y="5029200"/>
            <a:ext cx="2449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Scale-to-Zero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2"/>
          <p:cNvSpPr/>
          <p:nvPr/>
        </p:nvSpPr>
        <p:spPr>
          <a:xfrm>
            <a:off x="502920" y="5459040"/>
            <a:ext cx="272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No cost incurred during idle periods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23"/>
          <p:cNvSpPr/>
          <p:nvPr/>
        </p:nvSpPr>
        <p:spPr>
          <a:xfrm>
            <a:off x="3319200" y="4069080"/>
            <a:ext cx="2723760" cy="2147760"/>
          </a:xfrm>
          <a:prstGeom prst="roundRect">
            <a:avLst>
              <a:gd name="adj" fmla="val 383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4"/>
          <p:cNvSpPr/>
          <p:nvPr/>
        </p:nvSpPr>
        <p:spPr>
          <a:xfrm>
            <a:off x="4389120" y="4325040"/>
            <a:ext cx="584280" cy="58428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9" name="Image 5" descr="/home/claude/icons/shield.png"/>
          <p:cNvPicPr/>
          <p:nvPr/>
        </p:nvPicPr>
        <p:blipFill>
          <a:blip r:embed="rId6"/>
          <a:stretch/>
        </p:blipFill>
        <p:spPr>
          <a:xfrm>
            <a:off x="4465080" y="440136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270" name="Text 25"/>
          <p:cNvSpPr/>
          <p:nvPr/>
        </p:nvSpPr>
        <p:spPr>
          <a:xfrm>
            <a:off x="3456360" y="5029200"/>
            <a:ext cx="2449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Security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26"/>
          <p:cNvSpPr/>
          <p:nvPr/>
        </p:nvSpPr>
        <p:spPr>
          <a:xfrm>
            <a:off x="3319200" y="5459040"/>
            <a:ext cx="272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IAM/RBAC, secrets, encryption, audits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27"/>
          <p:cNvSpPr/>
          <p:nvPr/>
        </p:nvSpPr>
        <p:spPr>
          <a:xfrm>
            <a:off x="6135480" y="4069080"/>
            <a:ext cx="2723760" cy="2147760"/>
          </a:xfrm>
          <a:prstGeom prst="roundRect">
            <a:avLst>
              <a:gd name="adj" fmla="val 383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8"/>
          <p:cNvSpPr/>
          <p:nvPr/>
        </p:nvSpPr>
        <p:spPr>
          <a:xfrm>
            <a:off x="7205400" y="4325040"/>
            <a:ext cx="584280" cy="58428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4" name="Image 6" descr="/home/claude/icons/eye.png"/>
          <p:cNvPicPr/>
          <p:nvPr/>
        </p:nvPicPr>
        <p:blipFill>
          <a:blip r:embed="rId7"/>
          <a:stretch/>
        </p:blipFill>
        <p:spPr>
          <a:xfrm>
            <a:off x="7281720" y="440136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275" name="Text 29"/>
          <p:cNvSpPr/>
          <p:nvPr/>
        </p:nvSpPr>
        <p:spPr>
          <a:xfrm>
            <a:off x="6272640" y="5029200"/>
            <a:ext cx="2449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Monitoring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6135480" y="5459040"/>
            <a:ext cx="272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Logging, metrics, tracing, diagnostics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31"/>
          <p:cNvSpPr/>
          <p:nvPr/>
        </p:nvSpPr>
        <p:spPr>
          <a:xfrm>
            <a:off x="8952120" y="4069080"/>
            <a:ext cx="2723760" cy="2147760"/>
          </a:xfrm>
          <a:prstGeom prst="roundRect">
            <a:avLst>
              <a:gd name="adj" fmla="val 383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32"/>
          <p:cNvSpPr/>
          <p:nvPr/>
        </p:nvSpPr>
        <p:spPr>
          <a:xfrm>
            <a:off x="10021680" y="4325040"/>
            <a:ext cx="584280" cy="58428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9" name="Image 7" descr="/home/claude/icons/building.png"/>
          <p:cNvPicPr/>
          <p:nvPr/>
        </p:nvPicPr>
        <p:blipFill>
          <a:blip r:embed="rId8"/>
          <a:stretch/>
        </p:blipFill>
        <p:spPr>
          <a:xfrm>
            <a:off x="10098000" y="4401360"/>
            <a:ext cx="432000" cy="432000"/>
          </a:xfrm>
          <a:prstGeom prst="rect">
            <a:avLst/>
          </a:prstGeom>
          <a:ln w="0">
            <a:noFill/>
          </a:ln>
        </p:spPr>
      </p:pic>
      <p:sp>
        <p:nvSpPr>
          <p:cNvPr id="280" name="Text 33"/>
          <p:cNvSpPr/>
          <p:nvPr/>
        </p:nvSpPr>
        <p:spPr>
          <a:xfrm>
            <a:off x="9089280" y="5029200"/>
            <a:ext cx="2449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Enterprise Readiness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34"/>
          <p:cNvSpPr/>
          <p:nvPr/>
        </p:nvSpPr>
        <p:spPr>
          <a:xfrm>
            <a:off x="8952120" y="5459040"/>
            <a:ext cx="2723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Compliance, HA, multi-region, support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35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Evaluation Criteria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6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05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7dd3fc"/>
                </a:solidFill>
                <a:latin typeface="Calibri"/>
                <a:ea typeface="Calibri"/>
              </a:rPr>
              <a:t>HEAD-TO-HEAD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Microsoft Azure vs Amazon Web Services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502920" y="1325880"/>
            <a:ext cx="2239200" cy="456120"/>
          </a:xfrm>
          <a:prstGeom prst="rect">
            <a:avLst/>
          </a:prstGeom>
          <a:solidFill>
            <a:srgbClr val="0d2440"/>
          </a:solidFill>
          <a:ln w="9525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557640" y="1325880"/>
            <a:ext cx="212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Feature</a:t>
            </a:r>
            <a:endParaRPr b="0" lang="en-US" sz="10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2743200" y="1325880"/>
            <a:ext cx="2239200" cy="456120"/>
          </a:xfrm>
          <a:prstGeom prst="rect">
            <a:avLst/>
          </a:prstGeom>
          <a:solidFill>
            <a:srgbClr val="0f3d63"/>
          </a:solidFill>
          <a:ln w="9525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2797920" y="1325880"/>
            <a:ext cx="212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Microsoft Azure</a:t>
            </a:r>
            <a:endParaRPr b="0" lang="en-US" sz="10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4983480" y="1325880"/>
            <a:ext cx="2239200" cy="456120"/>
          </a:xfrm>
          <a:prstGeom prst="rect">
            <a:avLst/>
          </a:prstGeom>
          <a:solidFill>
            <a:srgbClr val="0891b2"/>
          </a:solidFill>
          <a:ln w="9525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5038200" y="1325880"/>
            <a:ext cx="212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Amazon Web Services</a:t>
            </a:r>
            <a:endParaRPr b="0" lang="en-US" sz="10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502920" y="178308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576000" y="178308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Primary Function Service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10"/>
          <p:cNvSpPr/>
          <p:nvPr/>
        </p:nvSpPr>
        <p:spPr>
          <a:xfrm>
            <a:off x="2743200" y="178308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2816280" y="178308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Azure Functions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12"/>
          <p:cNvSpPr/>
          <p:nvPr/>
        </p:nvSpPr>
        <p:spPr>
          <a:xfrm>
            <a:off x="4983480" y="178308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5056560" y="178308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AWS Lambda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502920" y="2220840"/>
            <a:ext cx="2239200" cy="43668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576000" y="222084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Primary Container Service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2743200" y="2220840"/>
            <a:ext cx="2239200" cy="43668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2816280" y="222084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Azure Container Apps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18"/>
          <p:cNvSpPr/>
          <p:nvPr/>
        </p:nvSpPr>
        <p:spPr>
          <a:xfrm>
            <a:off x="4983480" y="2220840"/>
            <a:ext cx="2239200" cy="43668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19"/>
          <p:cNvSpPr/>
          <p:nvPr/>
        </p:nvSpPr>
        <p:spPr>
          <a:xfrm>
            <a:off x="5056560" y="222084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AWS Fargate / App Runner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502920" y="265824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21"/>
          <p:cNvSpPr/>
          <p:nvPr/>
        </p:nvSpPr>
        <p:spPr>
          <a:xfrm>
            <a:off x="576000" y="265824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Python Support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22"/>
          <p:cNvSpPr/>
          <p:nvPr/>
        </p:nvSpPr>
        <p:spPr>
          <a:xfrm>
            <a:off x="2743200" y="265824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23"/>
          <p:cNvSpPr/>
          <p:nvPr/>
        </p:nvSpPr>
        <p:spPr>
          <a:xfrm>
            <a:off x="2816280" y="265824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24"/>
          <p:cNvSpPr/>
          <p:nvPr/>
        </p:nvSpPr>
        <p:spPr>
          <a:xfrm>
            <a:off x="4983480" y="265824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25"/>
          <p:cNvSpPr/>
          <p:nvPr/>
        </p:nvSpPr>
        <p:spPr>
          <a:xfrm>
            <a:off x="5056560" y="265824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26"/>
          <p:cNvSpPr/>
          <p:nvPr/>
        </p:nvSpPr>
        <p:spPr>
          <a:xfrm>
            <a:off x="502920" y="3096000"/>
            <a:ext cx="2239200" cy="43668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27"/>
          <p:cNvSpPr/>
          <p:nvPr/>
        </p:nvSpPr>
        <p:spPr>
          <a:xfrm>
            <a:off x="576000" y="309600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Next.js Support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28"/>
          <p:cNvSpPr/>
          <p:nvPr/>
        </p:nvSpPr>
        <p:spPr>
          <a:xfrm>
            <a:off x="2743200" y="3096000"/>
            <a:ext cx="2239200" cy="43668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9"/>
          <p:cNvSpPr/>
          <p:nvPr/>
        </p:nvSpPr>
        <p:spPr>
          <a:xfrm>
            <a:off x="2816280" y="309600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30"/>
          <p:cNvSpPr/>
          <p:nvPr/>
        </p:nvSpPr>
        <p:spPr>
          <a:xfrm>
            <a:off x="4983480" y="3096000"/>
            <a:ext cx="2239200" cy="43668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31"/>
          <p:cNvSpPr/>
          <p:nvPr/>
        </p:nvSpPr>
        <p:spPr>
          <a:xfrm>
            <a:off x="5056560" y="309600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32"/>
          <p:cNvSpPr/>
          <p:nvPr/>
        </p:nvSpPr>
        <p:spPr>
          <a:xfrm>
            <a:off x="502920" y="353340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33"/>
          <p:cNvSpPr/>
          <p:nvPr/>
        </p:nvSpPr>
        <p:spPr>
          <a:xfrm>
            <a:off x="576000" y="353340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Auto Scaling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34"/>
          <p:cNvSpPr/>
          <p:nvPr/>
        </p:nvSpPr>
        <p:spPr>
          <a:xfrm>
            <a:off x="2743200" y="353340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35"/>
          <p:cNvSpPr/>
          <p:nvPr/>
        </p:nvSpPr>
        <p:spPr>
          <a:xfrm>
            <a:off x="2816280" y="353340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36"/>
          <p:cNvSpPr/>
          <p:nvPr/>
        </p:nvSpPr>
        <p:spPr>
          <a:xfrm>
            <a:off x="4983480" y="353340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37"/>
          <p:cNvSpPr/>
          <p:nvPr/>
        </p:nvSpPr>
        <p:spPr>
          <a:xfrm>
            <a:off x="5056560" y="353340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38"/>
          <p:cNvSpPr/>
          <p:nvPr/>
        </p:nvSpPr>
        <p:spPr>
          <a:xfrm>
            <a:off x="502920" y="3971160"/>
            <a:ext cx="2239200" cy="43668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39"/>
          <p:cNvSpPr/>
          <p:nvPr/>
        </p:nvSpPr>
        <p:spPr>
          <a:xfrm>
            <a:off x="576000" y="397116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Monitoring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40"/>
          <p:cNvSpPr/>
          <p:nvPr/>
        </p:nvSpPr>
        <p:spPr>
          <a:xfrm>
            <a:off x="2743200" y="3971160"/>
            <a:ext cx="2239200" cy="43668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41"/>
          <p:cNvSpPr/>
          <p:nvPr/>
        </p:nvSpPr>
        <p:spPr>
          <a:xfrm>
            <a:off x="2816280" y="397116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Azure Monitor &amp; App Insights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42"/>
          <p:cNvSpPr/>
          <p:nvPr/>
        </p:nvSpPr>
        <p:spPr>
          <a:xfrm>
            <a:off x="4983480" y="3971160"/>
            <a:ext cx="2239200" cy="436680"/>
          </a:xfrm>
          <a:prstGeom prst="rect">
            <a:avLst/>
          </a:prstGeom>
          <a:solidFill>
            <a:srgbClr val="1d3e63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43"/>
          <p:cNvSpPr/>
          <p:nvPr/>
        </p:nvSpPr>
        <p:spPr>
          <a:xfrm>
            <a:off x="5056560" y="397116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CloudWatch &amp; X-Ray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44"/>
          <p:cNvSpPr/>
          <p:nvPr/>
        </p:nvSpPr>
        <p:spPr>
          <a:xfrm>
            <a:off x="502920" y="440856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45"/>
          <p:cNvSpPr/>
          <p:nvPr/>
        </p:nvSpPr>
        <p:spPr>
          <a:xfrm>
            <a:off x="576000" y="440856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ffffff"/>
                </a:solidFill>
                <a:latin typeface="Calibri"/>
                <a:ea typeface="Calibri"/>
              </a:rPr>
              <a:t>Best Fit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46"/>
          <p:cNvSpPr/>
          <p:nvPr/>
        </p:nvSpPr>
        <p:spPr>
          <a:xfrm>
            <a:off x="2743200" y="440856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47"/>
          <p:cNvSpPr/>
          <p:nvPr/>
        </p:nvSpPr>
        <p:spPr>
          <a:xfrm>
            <a:off x="2816280" y="440856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Microsoft-centric enterprises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48"/>
          <p:cNvSpPr/>
          <p:nvPr/>
        </p:nvSpPr>
        <p:spPr>
          <a:xfrm>
            <a:off x="4983480" y="4408560"/>
            <a:ext cx="2239200" cy="436680"/>
          </a:xfrm>
          <a:prstGeom prst="rect">
            <a:avLst/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9"/>
          <p:cNvSpPr/>
          <p:nvPr/>
        </p:nvSpPr>
        <p:spPr>
          <a:xfrm>
            <a:off x="5056560" y="4408560"/>
            <a:ext cx="209304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d7e4f2"/>
                </a:solidFill>
                <a:latin typeface="Calibri"/>
                <a:ea typeface="Calibri"/>
              </a:rPr>
              <a:t>Cloud-native @ scale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50"/>
          <p:cNvSpPr/>
          <p:nvPr/>
        </p:nvSpPr>
        <p:spPr>
          <a:xfrm>
            <a:off x="7406640" y="1325880"/>
            <a:ext cx="4296600" cy="3519360"/>
          </a:xfrm>
          <a:prstGeom prst="roundRect">
            <a:avLst>
              <a:gd name="adj" fmla="val 2338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51"/>
          <p:cNvSpPr/>
          <p:nvPr/>
        </p:nvSpPr>
        <p:spPr>
          <a:xfrm>
            <a:off x="7680960" y="1490400"/>
            <a:ext cx="3747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2" strike="noStrike">
                <a:solidFill>
                  <a:srgbClr val="93aac7"/>
                </a:solidFill>
                <a:latin typeface="Calibri"/>
                <a:ea typeface="Calibri"/>
              </a:rPr>
              <a:t>WHY THESE TWO STAND OUT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52"/>
          <p:cNvSpPr/>
          <p:nvPr/>
        </p:nvSpPr>
        <p:spPr>
          <a:xfrm>
            <a:off x="7680960" y="1874520"/>
            <a:ext cx="501840" cy="501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7" name="Image 0" descr="/home/claude/icons/microsoft.png"/>
          <p:cNvPicPr/>
          <p:nvPr/>
        </p:nvPicPr>
        <p:blipFill>
          <a:blip r:embed="rId1"/>
          <a:stretch/>
        </p:blipFill>
        <p:spPr>
          <a:xfrm>
            <a:off x="7746480" y="194004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338" name="Text 53"/>
          <p:cNvSpPr/>
          <p:nvPr/>
        </p:nvSpPr>
        <p:spPr>
          <a:xfrm>
            <a:off x="8321040" y="1883520"/>
            <a:ext cx="31993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Azure Container Apps + Functions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54"/>
          <p:cNvSpPr/>
          <p:nvPr/>
        </p:nvSpPr>
        <p:spPr>
          <a:xfrm>
            <a:off x="7680960" y="2377440"/>
            <a:ext cx="38214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Deep Microsoft-ecosystem integration — Active Directory, Azure DevOps, and enterprise governance built in from day one.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55"/>
          <p:cNvSpPr/>
          <p:nvPr/>
        </p:nvSpPr>
        <p:spPr>
          <a:xfrm>
            <a:off x="7680960" y="3383280"/>
            <a:ext cx="501840" cy="501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1" name="Image 1" descr="/home/claude/icons/aws.png"/>
          <p:cNvPicPr/>
          <p:nvPr/>
        </p:nvPicPr>
        <p:blipFill>
          <a:blip r:embed="rId2"/>
          <a:stretch/>
        </p:blipFill>
        <p:spPr>
          <a:xfrm>
            <a:off x="7746480" y="344880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342" name="Text 56"/>
          <p:cNvSpPr/>
          <p:nvPr/>
        </p:nvSpPr>
        <p:spPr>
          <a:xfrm>
            <a:off x="8321040" y="3392280"/>
            <a:ext cx="31993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AWS Lambda + Fargate / App Runner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57"/>
          <p:cNvSpPr/>
          <p:nvPr/>
        </p:nvSpPr>
        <p:spPr>
          <a:xfrm>
            <a:off x="7680960" y="3886200"/>
            <a:ext cx="37479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The broadest managed-service catalog and the most battle-tested serverless ecosystem at hyperscale.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58"/>
          <p:cNvSpPr/>
          <p:nvPr/>
        </p:nvSpPr>
        <p:spPr>
          <a:xfrm>
            <a:off x="502920" y="4983480"/>
            <a:ext cx="11200320" cy="1416240"/>
          </a:xfrm>
          <a:prstGeom prst="roundRect">
            <a:avLst>
              <a:gd name="adj" fmla="val 5806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59"/>
          <p:cNvSpPr/>
          <p:nvPr/>
        </p:nvSpPr>
        <p:spPr>
          <a:xfrm>
            <a:off x="777240" y="5120640"/>
            <a:ext cx="45709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2" strike="noStrike">
                <a:solidFill>
                  <a:srgbClr val="0891b2"/>
                </a:solidFill>
                <a:latin typeface="Calibri"/>
                <a:ea typeface="Calibri"/>
              </a:rPr>
              <a:t>BEST USE CASES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77240" y="5413320"/>
            <a:ext cx="10605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Azure Functions + Container Apps: </a:t>
            </a:r>
            <a:r>
              <a:rPr b="0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 enterprise Python APIs, internal tools, DevOps-integrated CI/CD pipelines.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61"/>
          <p:cNvSpPr/>
          <p:nvPr/>
        </p:nvSpPr>
        <p:spPr>
          <a:xfrm>
            <a:off x="777240" y="5779080"/>
            <a:ext cx="10605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AWS Lambda + Fargate / App Runner:</a:t>
            </a:r>
            <a:r>
              <a:rPr b="0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  event-driven microservices, high-scale APIs, broad AWS-native architectures.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62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Azure vs AWS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63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06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0ea5e9"/>
                </a:solidFill>
                <a:latin typeface="Calibri"/>
                <a:ea typeface="Calibri"/>
              </a:rPr>
              <a:t>HEAD-TO-HEAD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136"/>
                </a:solidFill>
                <a:latin typeface="Cambria"/>
                <a:ea typeface="Cambria"/>
              </a:rPr>
              <a:t>Google Cloud Run vs Vercel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"/>
          <p:cNvSpPr/>
          <p:nvPr/>
        </p:nvSpPr>
        <p:spPr>
          <a:xfrm>
            <a:off x="502920" y="1325880"/>
            <a:ext cx="2239200" cy="456120"/>
          </a:xfrm>
          <a:prstGeom prst="rect">
            <a:avLst/>
          </a:prstGeom>
          <a:solidFill>
            <a:srgbClr val="0a1e34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3"/>
          <p:cNvSpPr/>
          <p:nvPr/>
        </p:nvSpPr>
        <p:spPr>
          <a:xfrm>
            <a:off x="557640" y="1325880"/>
            <a:ext cx="212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Feature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4"/>
          <p:cNvSpPr/>
          <p:nvPr/>
        </p:nvSpPr>
        <p:spPr>
          <a:xfrm>
            <a:off x="2743200" y="1325880"/>
            <a:ext cx="2239200" cy="456120"/>
          </a:xfrm>
          <a:prstGeom prst="rect">
            <a:avLst/>
          </a:prstGeom>
          <a:solidFill>
            <a:srgbClr val="10b98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5"/>
          <p:cNvSpPr/>
          <p:nvPr/>
        </p:nvSpPr>
        <p:spPr>
          <a:xfrm>
            <a:off x="2797920" y="1325880"/>
            <a:ext cx="212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Google Cloud Run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6"/>
          <p:cNvSpPr/>
          <p:nvPr/>
        </p:nvSpPr>
        <p:spPr>
          <a:xfrm>
            <a:off x="4983480" y="1325880"/>
            <a:ext cx="2239200" cy="456120"/>
          </a:xfrm>
          <a:prstGeom prst="rect">
            <a:avLst/>
          </a:prstGeom>
          <a:solidFill>
            <a:srgbClr val="111827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7"/>
          <p:cNvSpPr/>
          <p:nvPr/>
        </p:nvSpPr>
        <p:spPr>
          <a:xfrm>
            <a:off x="5038200" y="1325880"/>
            <a:ext cx="212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Vercel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8"/>
          <p:cNvSpPr/>
          <p:nvPr/>
        </p:nvSpPr>
        <p:spPr>
          <a:xfrm>
            <a:off x="502920" y="1783080"/>
            <a:ext cx="2239200" cy="463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9"/>
          <p:cNvSpPr/>
          <p:nvPr/>
        </p:nvSpPr>
        <p:spPr>
          <a:xfrm>
            <a:off x="576000" y="178308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Primary Strength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0"/>
          <p:cNvSpPr/>
          <p:nvPr/>
        </p:nvSpPr>
        <p:spPr>
          <a:xfrm>
            <a:off x="2743200" y="1783080"/>
            <a:ext cx="2239200" cy="463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1"/>
          <p:cNvSpPr/>
          <p:nvPr/>
        </p:nvSpPr>
        <p:spPr>
          <a:xfrm>
            <a:off x="2816280" y="178308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Serverless containers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2"/>
          <p:cNvSpPr/>
          <p:nvPr/>
        </p:nvSpPr>
        <p:spPr>
          <a:xfrm>
            <a:off x="4983480" y="1783080"/>
            <a:ext cx="2239200" cy="463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3"/>
          <p:cNvSpPr/>
          <p:nvPr/>
        </p:nvSpPr>
        <p:spPr>
          <a:xfrm>
            <a:off x="5056560" y="178308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Next.js hosting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4"/>
          <p:cNvSpPr/>
          <p:nvPr/>
        </p:nvSpPr>
        <p:spPr>
          <a:xfrm>
            <a:off x="502920" y="2247840"/>
            <a:ext cx="2239200" cy="46368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5"/>
          <p:cNvSpPr/>
          <p:nvPr/>
        </p:nvSpPr>
        <p:spPr>
          <a:xfrm>
            <a:off x="576000" y="224784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Python Support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6"/>
          <p:cNvSpPr/>
          <p:nvPr/>
        </p:nvSpPr>
        <p:spPr>
          <a:xfrm>
            <a:off x="2743200" y="2247840"/>
            <a:ext cx="2239200" cy="46368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7"/>
          <p:cNvSpPr/>
          <p:nvPr/>
        </p:nvSpPr>
        <p:spPr>
          <a:xfrm>
            <a:off x="2816280" y="224784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Excellent (any Docker image)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4983480" y="2247840"/>
            <a:ext cx="2239200" cy="46368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19"/>
          <p:cNvSpPr/>
          <p:nvPr/>
        </p:nvSpPr>
        <p:spPr>
          <a:xfrm>
            <a:off x="5056560" y="224784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Fair (via serverless functions)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0"/>
          <p:cNvSpPr/>
          <p:nvPr/>
        </p:nvSpPr>
        <p:spPr>
          <a:xfrm>
            <a:off x="502920" y="2712600"/>
            <a:ext cx="2239200" cy="463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21"/>
          <p:cNvSpPr/>
          <p:nvPr/>
        </p:nvSpPr>
        <p:spPr>
          <a:xfrm>
            <a:off x="576000" y="271260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Next.js Support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2"/>
          <p:cNvSpPr/>
          <p:nvPr/>
        </p:nvSpPr>
        <p:spPr>
          <a:xfrm>
            <a:off x="2743200" y="2712600"/>
            <a:ext cx="2239200" cy="463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3"/>
          <p:cNvSpPr/>
          <p:nvPr/>
        </p:nvSpPr>
        <p:spPr>
          <a:xfrm>
            <a:off x="2816280" y="271260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4"/>
          <p:cNvSpPr/>
          <p:nvPr/>
        </p:nvSpPr>
        <p:spPr>
          <a:xfrm>
            <a:off x="4983480" y="2712600"/>
            <a:ext cx="2239200" cy="463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5"/>
          <p:cNvSpPr/>
          <p:nvPr/>
        </p:nvSpPr>
        <p:spPr>
          <a:xfrm>
            <a:off x="5056560" y="271260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Excellent (native, first-party)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6"/>
          <p:cNvSpPr/>
          <p:nvPr/>
        </p:nvSpPr>
        <p:spPr>
          <a:xfrm>
            <a:off x="502920" y="3177720"/>
            <a:ext cx="2239200" cy="46368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27"/>
          <p:cNvSpPr/>
          <p:nvPr/>
        </p:nvSpPr>
        <p:spPr>
          <a:xfrm>
            <a:off x="576000" y="317772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Ease of Deployment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8"/>
          <p:cNvSpPr/>
          <p:nvPr/>
        </p:nvSpPr>
        <p:spPr>
          <a:xfrm>
            <a:off x="2743200" y="3177720"/>
            <a:ext cx="2239200" cy="46368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29"/>
          <p:cNvSpPr/>
          <p:nvPr/>
        </p:nvSpPr>
        <p:spPr>
          <a:xfrm>
            <a:off x="2816280" y="317772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30"/>
          <p:cNvSpPr/>
          <p:nvPr/>
        </p:nvSpPr>
        <p:spPr>
          <a:xfrm>
            <a:off x="4983480" y="3177720"/>
            <a:ext cx="2239200" cy="46368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31"/>
          <p:cNvSpPr/>
          <p:nvPr/>
        </p:nvSpPr>
        <p:spPr>
          <a:xfrm>
            <a:off x="5056560" y="317772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Excellent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32"/>
          <p:cNvSpPr/>
          <p:nvPr/>
        </p:nvSpPr>
        <p:spPr>
          <a:xfrm>
            <a:off x="502920" y="3642480"/>
            <a:ext cx="2239200" cy="463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33"/>
          <p:cNvSpPr/>
          <p:nvPr/>
        </p:nvSpPr>
        <p:spPr>
          <a:xfrm>
            <a:off x="576000" y="364248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Enterprise Features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4"/>
          <p:cNvSpPr/>
          <p:nvPr/>
        </p:nvSpPr>
        <p:spPr>
          <a:xfrm>
            <a:off x="2743200" y="3642480"/>
            <a:ext cx="2239200" cy="463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35"/>
          <p:cNvSpPr/>
          <p:nvPr/>
        </p:nvSpPr>
        <p:spPr>
          <a:xfrm>
            <a:off x="2816280" y="364248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Very Good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6"/>
          <p:cNvSpPr/>
          <p:nvPr/>
        </p:nvSpPr>
        <p:spPr>
          <a:xfrm>
            <a:off x="4983480" y="3642480"/>
            <a:ext cx="2239200" cy="463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37"/>
          <p:cNvSpPr/>
          <p:nvPr/>
        </p:nvSpPr>
        <p:spPr>
          <a:xfrm>
            <a:off x="5056560" y="364248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Fair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38"/>
          <p:cNvSpPr/>
          <p:nvPr/>
        </p:nvSpPr>
        <p:spPr>
          <a:xfrm>
            <a:off x="502920" y="4107240"/>
            <a:ext cx="2239200" cy="46368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39"/>
          <p:cNvSpPr/>
          <p:nvPr/>
        </p:nvSpPr>
        <p:spPr>
          <a:xfrm>
            <a:off x="576000" y="410724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Best Fit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40"/>
          <p:cNvSpPr/>
          <p:nvPr/>
        </p:nvSpPr>
        <p:spPr>
          <a:xfrm>
            <a:off x="2743200" y="4107240"/>
            <a:ext cx="2239200" cy="46368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41"/>
          <p:cNvSpPr/>
          <p:nvPr/>
        </p:nvSpPr>
        <p:spPr>
          <a:xfrm>
            <a:off x="2816280" y="410724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Containerized Python APIs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42"/>
          <p:cNvSpPr/>
          <p:nvPr/>
        </p:nvSpPr>
        <p:spPr>
          <a:xfrm>
            <a:off x="4983480" y="4107240"/>
            <a:ext cx="2239200" cy="46368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43"/>
          <p:cNvSpPr/>
          <p:nvPr/>
        </p:nvSpPr>
        <p:spPr>
          <a:xfrm>
            <a:off x="5056560" y="4107240"/>
            <a:ext cx="209304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Next.js frontend applications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44"/>
          <p:cNvSpPr/>
          <p:nvPr/>
        </p:nvSpPr>
        <p:spPr>
          <a:xfrm>
            <a:off x="7406640" y="1325880"/>
            <a:ext cx="4296600" cy="3245040"/>
          </a:xfrm>
          <a:prstGeom prst="roundRect">
            <a:avLst>
              <a:gd name="adj" fmla="val 2535"/>
            </a:avLst>
          </a:prstGeom>
          <a:solidFill>
            <a:srgbClr val="eef4fb"/>
          </a:solidFill>
          <a:ln w="12700">
            <a:solidFill>
              <a:srgbClr val="dce7f3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45"/>
          <p:cNvSpPr/>
          <p:nvPr/>
        </p:nvSpPr>
        <p:spPr>
          <a:xfrm>
            <a:off x="7680960" y="1490400"/>
            <a:ext cx="3747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2" strike="noStrike">
                <a:solidFill>
                  <a:srgbClr val="637488"/>
                </a:solidFill>
                <a:latin typeface="Calibri"/>
                <a:ea typeface="Calibri"/>
              </a:rPr>
              <a:t>WHY THESE TWO STAND OUT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46"/>
          <p:cNvSpPr/>
          <p:nvPr/>
        </p:nvSpPr>
        <p:spPr>
          <a:xfrm>
            <a:off x="7680960" y="1874520"/>
            <a:ext cx="501840" cy="501840"/>
          </a:xfrm>
          <a:prstGeom prst="ellipse">
            <a:avLst/>
          </a:prstGeom>
          <a:solidFill>
            <a:srgbClr val="ee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Image 0" descr="/home/claude/icons/rocket.png"/>
          <p:cNvPicPr/>
          <p:nvPr/>
        </p:nvPicPr>
        <p:blipFill>
          <a:blip r:embed="rId1"/>
          <a:stretch/>
        </p:blipFill>
        <p:spPr>
          <a:xfrm>
            <a:off x="7746480" y="194004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398" name="Text 47"/>
          <p:cNvSpPr/>
          <p:nvPr/>
        </p:nvSpPr>
        <p:spPr>
          <a:xfrm>
            <a:off x="8321040" y="193860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2136"/>
                </a:solidFill>
                <a:latin typeface="Calibri"/>
                <a:ea typeface="Calibri"/>
              </a:rPr>
              <a:t>Cloud Run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48"/>
          <p:cNvSpPr/>
          <p:nvPr/>
        </p:nvSpPr>
        <p:spPr>
          <a:xfrm>
            <a:off x="7680960" y="2331720"/>
            <a:ext cx="37479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37488"/>
                </a:solidFill>
                <a:latin typeface="Calibri"/>
                <a:ea typeface="Calibri"/>
              </a:rPr>
              <a:t>Simplest migration path for existing Dockerized Python APIs — deploy the image as-is.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49"/>
          <p:cNvSpPr/>
          <p:nvPr/>
        </p:nvSpPr>
        <p:spPr>
          <a:xfrm>
            <a:off x="7680960" y="3200400"/>
            <a:ext cx="501840" cy="501840"/>
          </a:xfrm>
          <a:prstGeom prst="ellipse">
            <a:avLst/>
          </a:prstGeom>
          <a:solidFill>
            <a:srgbClr val="ee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1" name="Image 1" descr="/home/claude/icons/react.png"/>
          <p:cNvPicPr/>
          <p:nvPr/>
        </p:nvPicPr>
        <p:blipFill>
          <a:blip r:embed="rId2"/>
          <a:stretch/>
        </p:blipFill>
        <p:spPr>
          <a:xfrm>
            <a:off x="7746480" y="326592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402" name="Text 50"/>
          <p:cNvSpPr/>
          <p:nvPr/>
        </p:nvSpPr>
        <p:spPr>
          <a:xfrm>
            <a:off x="8321040" y="3291840"/>
            <a:ext cx="3199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f2136"/>
                </a:solidFill>
                <a:latin typeface="Calibri"/>
                <a:ea typeface="Calibri"/>
              </a:rPr>
              <a:t>Vercel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51"/>
          <p:cNvSpPr/>
          <p:nvPr/>
        </p:nvSpPr>
        <p:spPr>
          <a:xfrm>
            <a:off x="7680960" y="3657600"/>
            <a:ext cx="37479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37488"/>
                </a:solidFill>
                <a:latin typeface="Calibri"/>
                <a:ea typeface="Calibri"/>
              </a:rPr>
              <a:t>Purpose-built for Next.js: SSR, ISR, edge middleware and image optimization out of the box.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52"/>
          <p:cNvSpPr/>
          <p:nvPr/>
        </p:nvSpPr>
        <p:spPr>
          <a:xfrm>
            <a:off x="502920" y="4800600"/>
            <a:ext cx="11200320" cy="1443600"/>
          </a:xfrm>
          <a:prstGeom prst="roundRect">
            <a:avLst>
              <a:gd name="adj" fmla="val 5696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53"/>
          <p:cNvSpPr/>
          <p:nvPr/>
        </p:nvSpPr>
        <p:spPr>
          <a:xfrm>
            <a:off x="777240" y="4956120"/>
            <a:ext cx="45709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2" strike="noStrike">
                <a:solidFill>
                  <a:srgbClr val="7dd3fc"/>
                </a:solidFill>
                <a:latin typeface="Calibri"/>
                <a:ea typeface="Calibri"/>
              </a:rPr>
              <a:t>BEST USE CASES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54"/>
          <p:cNvSpPr/>
          <p:nvPr/>
        </p:nvSpPr>
        <p:spPr>
          <a:xfrm>
            <a:off x="777240" y="5257800"/>
            <a:ext cx="10605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4edf7"/>
                </a:solidFill>
                <a:latin typeface="Calibri"/>
                <a:ea typeface="Calibri"/>
              </a:rPr>
              <a:t>Cloud Run:</a:t>
            </a:r>
            <a:r>
              <a:rPr b="0" lang="en-US" sz="1200" spc="-1" strike="noStrike">
                <a:solidFill>
                  <a:srgbClr val="e4edf7"/>
                </a:solidFill>
                <a:latin typeface="Calibri"/>
                <a:ea typeface="Calibri"/>
              </a:rPr>
              <a:t>  containerized FastAPI / Flask / Django services, internal tools, batch and event-driven APIs.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55"/>
          <p:cNvSpPr/>
          <p:nvPr/>
        </p:nvSpPr>
        <p:spPr>
          <a:xfrm>
            <a:off x="777240" y="5623560"/>
            <a:ext cx="10605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4edf7"/>
                </a:solidFill>
                <a:latin typeface="Calibri"/>
                <a:ea typeface="Calibri"/>
              </a:rPr>
              <a:t>Vercel:</a:t>
            </a:r>
            <a:r>
              <a:rPr b="0" lang="en-US" sz="1200" spc="-1" strike="noStrike">
                <a:solidFill>
                  <a:srgbClr val="e4edf7"/>
                </a:solidFill>
                <a:latin typeface="Calibri"/>
                <a:ea typeface="Calibri"/>
              </a:rPr>
              <a:t>  customer-facing Next.js sites, marketing pages, dashboards needing fast global delivery.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56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GCP vs Vercel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57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07 / 25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7dd3fc"/>
                </a:solidFill>
                <a:latin typeface="Calibri"/>
                <a:ea typeface="Calibri"/>
              </a:rPr>
              <a:t>COMPLEMENTARY &amp; EMERGING PLATFORMS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Cloudflare, Railway, Render &amp; Netlify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2"/>
          <p:cNvSpPr/>
          <p:nvPr/>
        </p:nvSpPr>
        <p:spPr>
          <a:xfrm>
            <a:off x="502920" y="1325880"/>
            <a:ext cx="2742120" cy="4890960"/>
          </a:xfrm>
          <a:prstGeom prst="roundRect">
            <a:avLst>
              <a:gd name="adj" fmla="val 30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3"/>
          <p:cNvSpPr/>
          <p:nvPr/>
        </p:nvSpPr>
        <p:spPr>
          <a:xfrm>
            <a:off x="1563480" y="1545480"/>
            <a:ext cx="620640" cy="6206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4" name="Image 0" descr="/home/claude/icons/globe.png"/>
          <p:cNvPicPr/>
          <p:nvPr/>
        </p:nvPicPr>
        <p:blipFill>
          <a:blip r:embed="rId1"/>
          <a:stretch/>
        </p:blipFill>
        <p:spPr>
          <a:xfrm>
            <a:off x="1719000" y="1700640"/>
            <a:ext cx="309960" cy="309960"/>
          </a:xfrm>
          <a:prstGeom prst="rect">
            <a:avLst/>
          </a:prstGeom>
          <a:ln w="0">
            <a:noFill/>
          </a:ln>
        </p:spPr>
      </p:pic>
      <p:sp>
        <p:nvSpPr>
          <p:cNvPr id="415" name="Text 4"/>
          <p:cNvSpPr/>
          <p:nvPr/>
        </p:nvSpPr>
        <p:spPr>
          <a:xfrm>
            <a:off x="640080" y="2258640"/>
            <a:ext cx="24678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Cloudflare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5"/>
          <p:cNvSpPr/>
          <p:nvPr/>
        </p:nvSpPr>
        <p:spPr>
          <a:xfrm>
            <a:off x="640080" y="256932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Edge network, CDN &amp; security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6"/>
          <p:cNvSpPr/>
          <p:nvPr/>
        </p:nvSpPr>
        <p:spPr>
          <a:xfrm>
            <a:off x="704160" y="295344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7dd3fc"/>
                </a:solidFill>
                <a:latin typeface="Calibri"/>
                <a:ea typeface="Calibri"/>
              </a:rPr>
              <a:t>CORE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7"/>
          <p:cNvSpPr/>
          <p:nvPr/>
        </p:nvSpPr>
        <p:spPr>
          <a:xfrm>
            <a:off x="704160" y="3136320"/>
            <a:ext cx="2339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Workers  •  Pages  •  D1  •  R2 Storage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8"/>
          <p:cNvSpPr/>
          <p:nvPr/>
        </p:nvSpPr>
        <p:spPr>
          <a:xfrm>
            <a:off x="704160" y="374904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10b981"/>
                </a:solidFill>
                <a:latin typeface="Calibri"/>
                <a:ea typeface="Calibri"/>
              </a:rPr>
              <a:t>STRENGTH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9"/>
          <p:cNvSpPr/>
          <p:nvPr/>
        </p:nvSpPr>
        <p:spPr>
          <a:xfrm>
            <a:off x="704160" y="3931920"/>
            <a:ext cx="2339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Lowest latency; DDoS &amp; WAF protection built 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10"/>
          <p:cNvSpPr/>
          <p:nvPr/>
        </p:nvSpPr>
        <p:spPr>
          <a:xfrm>
            <a:off x="704160" y="452628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ef4444"/>
                </a:solidFill>
                <a:latin typeface="Calibri"/>
                <a:ea typeface="Calibri"/>
              </a:rPr>
              <a:t>LIMITATION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11"/>
          <p:cNvSpPr/>
          <p:nvPr/>
        </p:nvSpPr>
        <p:spPr>
          <a:xfrm>
            <a:off x="704160" y="4709160"/>
            <a:ext cx="2495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Python support less mature than hyperscalers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12"/>
          <p:cNvSpPr/>
          <p:nvPr/>
        </p:nvSpPr>
        <p:spPr>
          <a:xfrm>
            <a:off x="667440" y="5486400"/>
            <a:ext cx="2413080" cy="565920"/>
          </a:xfrm>
          <a:prstGeom prst="roundRect">
            <a:avLst>
              <a:gd name="adj" fmla="val 12903"/>
            </a:avLst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3"/>
          <p:cNvSpPr/>
          <p:nvPr/>
        </p:nvSpPr>
        <p:spPr>
          <a:xfrm>
            <a:off x="758880" y="5486400"/>
            <a:ext cx="2230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9" spc="-1" strike="noStrike">
                <a:solidFill>
                  <a:srgbClr val="ffffff"/>
                </a:solidFill>
                <a:latin typeface="Calibri"/>
                <a:ea typeface="Calibri"/>
              </a:rPr>
              <a:t>Pair with a primary cloud for edge + CDN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4"/>
          <p:cNvSpPr/>
          <p:nvPr/>
        </p:nvSpPr>
        <p:spPr>
          <a:xfrm>
            <a:off x="3364920" y="1325880"/>
            <a:ext cx="2742120" cy="4890960"/>
          </a:xfrm>
          <a:prstGeom prst="roundRect">
            <a:avLst>
              <a:gd name="adj" fmla="val 30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5"/>
          <p:cNvSpPr/>
          <p:nvPr/>
        </p:nvSpPr>
        <p:spPr>
          <a:xfrm>
            <a:off x="4425840" y="1545480"/>
            <a:ext cx="620640" cy="620640"/>
          </a:xfrm>
          <a:prstGeom prst="ellipse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7" name="Image 1" descr="/home/claude/icons/rocket.png"/>
          <p:cNvPicPr/>
          <p:nvPr/>
        </p:nvPicPr>
        <p:blipFill>
          <a:blip r:embed="rId2"/>
          <a:stretch/>
        </p:blipFill>
        <p:spPr>
          <a:xfrm>
            <a:off x="4581000" y="1700640"/>
            <a:ext cx="309960" cy="309960"/>
          </a:xfrm>
          <a:prstGeom prst="rect">
            <a:avLst/>
          </a:prstGeom>
          <a:ln w="0">
            <a:noFill/>
          </a:ln>
        </p:spPr>
      </p:pic>
      <p:sp>
        <p:nvSpPr>
          <p:cNvPr id="428" name="Text 16"/>
          <p:cNvSpPr/>
          <p:nvPr/>
        </p:nvSpPr>
        <p:spPr>
          <a:xfrm>
            <a:off x="3502080" y="2258640"/>
            <a:ext cx="24678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Railway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17"/>
          <p:cNvSpPr/>
          <p:nvPr/>
        </p:nvSpPr>
        <p:spPr>
          <a:xfrm>
            <a:off x="3502080" y="256932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Developer-first PaaS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18"/>
          <p:cNvSpPr/>
          <p:nvPr/>
        </p:nvSpPr>
        <p:spPr>
          <a:xfrm>
            <a:off x="3566160" y="295344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7dd3fc"/>
                </a:solidFill>
                <a:latin typeface="Calibri"/>
                <a:ea typeface="Calibri"/>
              </a:rPr>
              <a:t>CORE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19"/>
          <p:cNvSpPr/>
          <p:nvPr/>
        </p:nvSpPr>
        <p:spPr>
          <a:xfrm>
            <a:off x="3566160" y="3200400"/>
            <a:ext cx="2339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Git Deploys  •  Managed Postgres/Redis  •  Python Workers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20"/>
          <p:cNvSpPr/>
          <p:nvPr/>
        </p:nvSpPr>
        <p:spPr>
          <a:xfrm>
            <a:off x="3566160" y="374904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10b981"/>
                </a:solidFill>
                <a:latin typeface="Calibri"/>
                <a:ea typeface="Calibri"/>
              </a:rPr>
              <a:t>STRENGTH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21"/>
          <p:cNvSpPr/>
          <p:nvPr/>
        </p:nvSpPr>
        <p:spPr>
          <a:xfrm>
            <a:off x="3566160" y="3931920"/>
            <a:ext cx="2339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Extremely fast Git-based deploys, minimal config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22"/>
          <p:cNvSpPr/>
          <p:nvPr/>
        </p:nvSpPr>
        <p:spPr>
          <a:xfrm>
            <a:off x="3566160" y="452628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ef4444"/>
                </a:solidFill>
                <a:latin typeface="Calibri"/>
                <a:ea typeface="Calibri"/>
              </a:rPr>
              <a:t>LIMITATION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23"/>
          <p:cNvSpPr/>
          <p:nvPr/>
        </p:nvSpPr>
        <p:spPr>
          <a:xfrm>
            <a:off x="3566160" y="4709160"/>
            <a:ext cx="2339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Limited enterprise governance &amp; compliance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24"/>
          <p:cNvSpPr/>
          <p:nvPr/>
        </p:nvSpPr>
        <p:spPr>
          <a:xfrm>
            <a:off x="3529440" y="5486400"/>
            <a:ext cx="2413080" cy="565920"/>
          </a:xfrm>
          <a:prstGeom prst="roundRect">
            <a:avLst>
              <a:gd name="adj" fmla="val 12903"/>
            </a:avLst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25"/>
          <p:cNvSpPr/>
          <p:nvPr/>
        </p:nvSpPr>
        <p:spPr>
          <a:xfrm>
            <a:off x="3620880" y="5486400"/>
            <a:ext cx="2230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9" spc="-1" strike="noStrike">
                <a:solidFill>
                  <a:srgbClr val="ffffff"/>
                </a:solidFill>
                <a:latin typeface="Calibri"/>
                <a:ea typeface="Calibri"/>
              </a:rPr>
              <a:t>Startups, MVPs, internal tools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26"/>
          <p:cNvSpPr/>
          <p:nvPr/>
        </p:nvSpPr>
        <p:spPr>
          <a:xfrm>
            <a:off x="6226920" y="1325880"/>
            <a:ext cx="2742120" cy="4890960"/>
          </a:xfrm>
          <a:prstGeom prst="roundRect">
            <a:avLst>
              <a:gd name="adj" fmla="val 30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27"/>
          <p:cNvSpPr/>
          <p:nvPr/>
        </p:nvSpPr>
        <p:spPr>
          <a:xfrm>
            <a:off x="7287840" y="1545480"/>
            <a:ext cx="620640" cy="62064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0" name="Image 2" descr="/home/claude/icons/layer.png"/>
          <p:cNvPicPr/>
          <p:nvPr/>
        </p:nvPicPr>
        <p:blipFill>
          <a:blip r:embed="rId3"/>
          <a:stretch/>
        </p:blipFill>
        <p:spPr>
          <a:xfrm>
            <a:off x="7443360" y="1700640"/>
            <a:ext cx="309960" cy="309960"/>
          </a:xfrm>
          <a:prstGeom prst="rect">
            <a:avLst/>
          </a:prstGeom>
          <a:ln w="0">
            <a:noFill/>
          </a:ln>
        </p:spPr>
      </p:pic>
      <p:sp>
        <p:nvSpPr>
          <p:cNvPr id="441" name="Text 28"/>
          <p:cNvSpPr/>
          <p:nvPr/>
        </p:nvSpPr>
        <p:spPr>
          <a:xfrm>
            <a:off x="6364080" y="2258640"/>
            <a:ext cx="24678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Render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29"/>
          <p:cNvSpPr/>
          <p:nvPr/>
        </p:nvSpPr>
        <p:spPr>
          <a:xfrm>
            <a:off x="6364080" y="256932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Managed app &amp; DB hosting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30"/>
          <p:cNvSpPr/>
          <p:nvPr/>
        </p:nvSpPr>
        <p:spPr>
          <a:xfrm>
            <a:off x="6428160" y="295344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7dd3fc"/>
                </a:solidFill>
                <a:latin typeface="Calibri"/>
                <a:ea typeface="Calibri"/>
              </a:rPr>
              <a:t>CORE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31"/>
          <p:cNvSpPr/>
          <p:nvPr/>
        </p:nvSpPr>
        <p:spPr>
          <a:xfrm>
            <a:off x="6428160" y="3200400"/>
            <a:ext cx="2339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Web Services  •  Background Workers  •  Managed DBs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32"/>
          <p:cNvSpPr/>
          <p:nvPr/>
        </p:nvSpPr>
        <p:spPr>
          <a:xfrm>
            <a:off x="6428160" y="374904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10b981"/>
                </a:solidFill>
                <a:latin typeface="Calibri"/>
                <a:ea typeface="Calibri"/>
              </a:rPr>
              <a:t>STRENGTH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33"/>
          <p:cNvSpPr/>
          <p:nvPr/>
        </p:nvSpPr>
        <p:spPr>
          <a:xfrm>
            <a:off x="6428160" y="3931920"/>
            <a:ext cx="2339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Simple, predictable deployments from Git or Docker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34"/>
          <p:cNvSpPr/>
          <p:nvPr/>
        </p:nvSpPr>
        <p:spPr>
          <a:xfrm>
            <a:off x="6428160" y="452628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ef4444"/>
                </a:solidFill>
                <a:latin typeface="Calibri"/>
                <a:ea typeface="Calibri"/>
              </a:rPr>
              <a:t>LIMITATION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35"/>
          <p:cNvSpPr/>
          <p:nvPr/>
        </p:nvSpPr>
        <p:spPr>
          <a:xfrm>
            <a:off x="6428160" y="4709160"/>
            <a:ext cx="2339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Below hyperscaler enterprise scale &amp; ecosystem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36"/>
          <p:cNvSpPr/>
          <p:nvPr/>
        </p:nvSpPr>
        <p:spPr>
          <a:xfrm>
            <a:off x="6391800" y="5486400"/>
            <a:ext cx="2413080" cy="565920"/>
          </a:xfrm>
          <a:prstGeom prst="roundRect">
            <a:avLst>
              <a:gd name="adj" fmla="val 12903"/>
            </a:avLst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37"/>
          <p:cNvSpPr/>
          <p:nvPr/>
        </p:nvSpPr>
        <p:spPr>
          <a:xfrm>
            <a:off x="6483240" y="5486400"/>
            <a:ext cx="2230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9" spc="-1" strike="noStrike">
                <a:solidFill>
                  <a:srgbClr val="ffffff"/>
                </a:solidFill>
                <a:latin typeface="Calibri"/>
                <a:ea typeface="Calibri"/>
              </a:rPr>
              <a:t>Small-to-medium cloud applications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38"/>
          <p:cNvSpPr/>
          <p:nvPr/>
        </p:nvSpPr>
        <p:spPr>
          <a:xfrm>
            <a:off x="9089280" y="1325880"/>
            <a:ext cx="2742120" cy="4890960"/>
          </a:xfrm>
          <a:prstGeom prst="roundRect">
            <a:avLst>
              <a:gd name="adj" fmla="val 30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39"/>
          <p:cNvSpPr/>
          <p:nvPr/>
        </p:nvSpPr>
        <p:spPr>
          <a:xfrm>
            <a:off x="10149840" y="1545480"/>
            <a:ext cx="620640" cy="6206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3" name="Image 3" descr="/home/claude/icons/code.png"/>
          <p:cNvPicPr/>
          <p:nvPr/>
        </p:nvPicPr>
        <p:blipFill>
          <a:blip r:embed="rId4"/>
          <a:stretch/>
        </p:blipFill>
        <p:spPr>
          <a:xfrm>
            <a:off x="10305360" y="1700640"/>
            <a:ext cx="309960" cy="309960"/>
          </a:xfrm>
          <a:prstGeom prst="rect">
            <a:avLst/>
          </a:prstGeom>
          <a:ln w="0">
            <a:noFill/>
          </a:ln>
        </p:spPr>
      </p:pic>
      <p:sp>
        <p:nvSpPr>
          <p:cNvPr id="454" name="Text 40"/>
          <p:cNvSpPr/>
          <p:nvPr/>
        </p:nvSpPr>
        <p:spPr>
          <a:xfrm>
            <a:off x="9226440" y="2258640"/>
            <a:ext cx="24678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Netlify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41"/>
          <p:cNvSpPr/>
          <p:nvPr/>
        </p:nvSpPr>
        <p:spPr>
          <a:xfrm>
            <a:off x="9226440" y="2569320"/>
            <a:ext cx="24678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Frontend / JAMstack hosting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42"/>
          <p:cNvSpPr/>
          <p:nvPr/>
        </p:nvSpPr>
        <p:spPr>
          <a:xfrm>
            <a:off x="9290160" y="295344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7dd3fc"/>
                </a:solidFill>
                <a:latin typeface="Calibri"/>
                <a:ea typeface="Calibri"/>
              </a:rPr>
              <a:t>CORE SERVICES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43"/>
          <p:cNvSpPr/>
          <p:nvPr/>
        </p:nvSpPr>
        <p:spPr>
          <a:xfrm>
            <a:off x="9290160" y="3200400"/>
            <a:ext cx="2339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Static Hosting  •  Edge Functions  •  Forms  •  Identity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44"/>
          <p:cNvSpPr/>
          <p:nvPr/>
        </p:nvSpPr>
        <p:spPr>
          <a:xfrm>
            <a:off x="9290160" y="374904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10b981"/>
                </a:solidFill>
                <a:latin typeface="Calibri"/>
                <a:ea typeface="Calibri"/>
              </a:rPr>
              <a:t>STRENGTH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45"/>
          <p:cNvSpPr/>
          <p:nvPr/>
        </p:nvSpPr>
        <p:spPr>
          <a:xfrm>
            <a:off x="9290160" y="3931920"/>
            <a:ext cx="2339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Best-in-class static &amp; SSR hosting workflow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46"/>
          <p:cNvSpPr/>
          <p:nvPr/>
        </p:nvSpPr>
        <p:spPr>
          <a:xfrm>
            <a:off x="9290160" y="4526280"/>
            <a:ext cx="2339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ef4444"/>
                </a:solidFill>
                <a:latin typeface="Calibri"/>
                <a:ea typeface="Calibri"/>
              </a:rPr>
              <a:t>LIMITATION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47"/>
          <p:cNvSpPr/>
          <p:nvPr/>
        </p:nvSpPr>
        <p:spPr>
          <a:xfrm>
            <a:off x="9290160" y="4709160"/>
            <a:ext cx="23396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7e4f2"/>
                </a:solidFill>
                <a:latin typeface="Calibri"/>
                <a:ea typeface="Calibri"/>
              </a:rPr>
              <a:t>Not built for large Python backends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48"/>
          <p:cNvSpPr/>
          <p:nvPr/>
        </p:nvSpPr>
        <p:spPr>
          <a:xfrm>
            <a:off x="9253800" y="5486400"/>
            <a:ext cx="2413080" cy="565920"/>
          </a:xfrm>
          <a:prstGeom prst="roundRect">
            <a:avLst>
              <a:gd name="adj" fmla="val 12903"/>
            </a:avLst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49"/>
          <p:cNvSpPr/>
          <p:nvPr/>
        </p:nvSpPr>
        <p:spPr>
          <a:xfrm>
            <a:off x="9345240" y="5486400"/>
            <a:ext cx="22302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9" spc="-1" strike="noStrike">
                <a:solidFill>
                  <a:srgbClr val="ffffff"/>
                </a:solidFill>
                <a:latin typeface="Calibri"/>
                <a:ea typeface="Calibri"/>
              </a:rPr>
              <a:t>Static sites &amp; frontend hosting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50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Cloudflare, Railway, Render &amp; Netlify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51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08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7dd3fc"/>
                </a:solidFill>
                <a:latin typeface="Calibri"/>
                <a:ea typeface="Calibri"/>
              </a:rPr>
              <a:t>ECONOMICS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Pricing &amp; Cost Comparison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2"/>
          <p:cNvSpPr/>
          <p:nvPr/>
        </p:nvSpPr>
        <p:spPr>
          <a:xfrm>
            <a:off x="502920" y="1325880"/>
            <a:ext cx="5393880" cy="3976560"/>
          </a:xfrm>
          <a:prstGeom prst="roundRect">
            <a:avLst>
              <a:gd name="adj" fmla="val 2069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3"/>
          <p:cNvSpPr/>
          <p:nvPr/>
        </p:nvSpPr>
        <p:spPr>
          <a:xfrm>
            <a:off x="777240" y="1481400"/>
            <a:ext cx="4845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92" strike="noStrike">
                <a:solidFill>
                  <a:srgbClr val="93aac7"/>
                </a:solidFill>
                <a:latin typeface="Calibri"/>
                <a:ea typeface="Calibri"/>
              </a:rPr>
              <a:t>PRICING PHILOSOPHY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4"/>
          <p:cNvSpPr/>
          <p:nvPr/>
        </p:nvSpPr>
        <p:spPr>
          <a:xfrm>
            <a:off x="777240" y="1874520"/>
            <a:ext cx="501840" cy="501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1" name="Image 0" descr="/home/claude/icons/dollar.png"/>
          <p:cNvPicPr/>
          <p:nvPr/>
        </p:nvPicPr>
        <p:blipFill>
          <a:blip r:embed="rId1"/>
          <a:stretch/>
        </p:blipFill>
        <p:spPr>
          <a:xfrm>
            <a:off x="842760" y="194004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472" name="Text 5"/>
          <p:cNvSpPr/>
          <p:nvPr/>
        </p:nvSpPr>
        <p:spPr>
          <a:xfrm>
            <a:off x="1417320" y="1856160"/>
            <a:ext cx="4296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Consumption-Based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6"/>
          <p:cNvSpPr/>
          <p:nvPr/>
        </p:nvSpPr>
        <p:spPr>
          <a:xfrm>
            <a:off x="1417320" y="2011680"/>
            <a:ext cx="42966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All platforms bill primarily by requests, execution time, memory and bandwidth — not reserved capacity.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7"/>
          <p:cNvSpPr/>
          <p:nvPr/>
        </p:nvSpPr>
        <p:spPr>
          <a:xfrm>
            <a:off x="777240" y="3017520"/>
            <a:ext cx="501840" cy="501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5" name="Image 1" descr="/home/claude/icons/clock.png"/>
          <p:cNvPicPr/>
          <p:nvPr/>
        </p:nvPicPr>
        <p:blipFill>
          <a:blip r:embed="rId2"/>
          <a:stretch/>
        </p:blipFill>
        <p:spPr>
          <a:xfrm>
            <a:off x="842760" y="308304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476" name="Text 8"/>
          <p:cNvSpPr/>
          <p:nvPr/>
        </p:nvSpPr>
        <p:spPr>
          <a:xfrm>
            <a:off x="1417320" y="2999160"/>
            <a:ext cx="4296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Scale-to-Zero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9"/>
          <p:cNvSpPr/>
          <p:nvPr/>
        </p:nvSpPr>
        <p:spPr>
          <a:xfrm>
            <a:off x="1417320" y="3154680"/>
            <a:ext cx="42966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Azure, AWS, GCP, Vercel, Cloudflare, Railway &amp; Netlify all reduce idle workloads toward zero cost.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10"/>
          <p:cNvSpPr/>
          <p:nvPr/>
        </p:nvSpPr>
        <p:spPr>
          <a:xfrm>
            <a:off x="777240" y="4160520"/>
            <a:ext cx="501840" cy="501840"/>
          </a:xfrm>
          <a:prstGeom prst="ellipse">
            <a:avLst/>
          </a:prstGeom>
          <a:solidFill>
            <a:srgbClr val="2650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9" name="Image 2" descr="/home/claude/icons/gauge.png"/>
          <p:cNvPicPr/>
          <p:nvPr/>
        </p:nvPicPr>
        <p:blipFill>
          <a:blip r:embed="rId3"/>
          <a:stretch/>
        </p:blipFill>
        <p:spPr>
          <a:xfrm>
            <a:off x="842760" y="4226040"/>
            <a:ext cx="371160" cy="371160"/>
          </a:xfrm>
          <a:prstGeom prst="rect">
            <a:avLst/>
          </a:prstGeom>
          <a:ln w="0">
            <a:noFill/>
          </a:ln>
        </p:spPr>
      </p:pic>
      <p:sp>
        <p:nvSpPr>
          <p:cNvPr id="480" name="Text 11"/>
          <p:cNvSpPr/>
          <p:nvPr/>
        </p:nvSpPr>
        <p:spPr>
          <a:xfrm>
            <a:off x="1417320" y="4142160"/>
            <a:ext cx="42966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Free Tiers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12"/>
          <p:cNvSpPr/>
          <p:nvPr/>
        </p:nvSpPr>
        <p:spPr>
          <a:xfrm>
            <a:off x="1417320" y="4297680"/>
            <a:ext cx="42966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3aac7"/>
                </a:solidFill>
                <a:latin typeface="Calibri"/>
                <a:ea typeface="Calibri"/>
              </a:rPr>
              <a:t>Every shortlisted platform offers a free or trial tier suitable for evaluation and small workloads.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13"/>
          <p:cNvSpPr/>
          <p:nvPr/>
        </p:nvSpPr>
        <p:spPr>
          <a:xfrm>
            <a:off x="6035040" y="1325880"/>
            <a:ext cx="5668200" cy="2330640"/>
          </a:xfrm>
          <a:prstGeom prst="roundRect">
            <a:avLst>
              <a:gd name="adj" fmla="val 3529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14"/>
          <p:cNvSpPr/>
          <p:nvPr/>
        </p:nvSpPr>
        <p:spPr>
          <a:xfrm>
            <a:off x="6309360" y="1481400"/>
            <a:ext cx="5119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43" strike="noStrike">
                <a:solidFill>
                  <a:srgbClr val="93aac7"/>
                </a:solidFill>
                <a:latin typeface="Calibri"/>
                <a:ea typeface="Calibri"/>
              </a:rPr>
              <a:t>COST EFFICIENCY — LOW-TRAFFIC WORKLOADS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15"/>
          <p:cNvSpPr/>
          <p:nvPr/>
        </p:nvSpPr>
        <p:spPr>
          <a:xfrm>
            <a:off x="6309360" y="187452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Railway / Render / Netlify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16"/>
          <p:cNvSpPr/>
          <p:nvPr/>
        </p:nvSpPr>
        <p:spPr>
          <a:xfrm>
            <a:off x="8823960" y="1929240"/>
            <a:ext cx="2604960" cy="17280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17"/>
          <p:cNvSpPr/>
          <p:nvPr/>
        </p:nvSpPr>
        <p:spPr>
          <a:xfrm>
            <a:off x="8823960" y="1929240"/>
            <a:ext cx="2474640" cy="172800"/>
          </a:xfrm>
          <a:prstGeom prst="roundRect">
            <a:avLst>
              <a:gd name="adj" fmla="val 47368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18"/>
          <p:cNvSpPr/>
          <p:nvPr/>
        </p:nvSpPr>
        <p:spPr>
          <a:xfrm>
            <a:off x="6309360" y="224028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Cloudflare Workers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19"/>
          <p:cNvSpPr/>
          <p:nvPr/>
        </p:nvSpPr>
        <p:spPr>
          <a:xfrm>
            <a:off x="8823960" y="2295000"/>
            <a:ext cx="2604960" cy="17280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20"/>
          <p:cNvSpPr/>
          <p:nvPr/>
        </p:nvSpPr>
        <p:spPr>
          <a:xfrm>
            <a:off x="8823960" y="2295000"/>
            <a:ext cx="2344320" cy="172800"/>
          </a:xfrm>
          <a:prstGeom prst="roundRect">
            <a:avLst>
              <a:gd name="adj" fmla="val 47368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21"/>
          <p:cNvSpPr/>
          <p:nvPr/>
        </p:nvSpPr>
        <p:spPr>
          <a:xfrm>
            <a:off x="6309360" y="260604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Vercel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22"/>
          <p:cNvSpPr/>
          <p:nvPr/>
        </p:nvSpPr>
        <p:spPr>
          <a:xfrm>
            <a:off x="8823960" y="2660760"/>
            <a:ext cx="2604960" cy="17280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23"/>
          <p:cNvSpPr/>
          <p:nvPr/>
        </p:nvSpPr>
        <p:spPr>
          <a:xfrm>
            <a:off x="8823960" y="2660760"/>
            <a:ext cx="2214000" cy="172800"/>
          </a:xfrm>
          <a:prstGeom prst="roundRect">
            <a:avLst>
              <a:gd name="adj" fmla="val 47368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24"/>
          <p:cNvSpPr/>
          <p:nvPr/>
        </p:nvSpPr>
        <p:spPr>
          <a:xfrm>
            <a:off x="6309360" y="297180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Google Cloud Run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25"/>
          <p:cNvSpPr/>
          <p:nvPr/>
        </p:nvSpPr>
        <p:spPr>
          <a:xfrm>
            <a:off x="8823960" y="3026520"/>
            <a:ext cx="2604960" cy="17280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Shape 26"/>
          <p:cNvSpPr/>
          <p:nvPr/>
        </p:nvSpPr>
        <p:spPr>
          <a:xfrm>
            <a:off x="8823960" y="3026520"/>
            <a:ext cx="2135880" cy="172800"/>
          </a:xfrm>
          <a:prstGeom prst="roundRect">
            <a:avLst>
              <a:gd name="adj" fmla="val 47368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27"/>
          <p:cNvSpPr/>
          <p:nvPr/>
        </p:nvSpPr>
        <p:spPr>
          <a:xfrm>
            <a:off x="6309360" y="333756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7e4f2"/>
                </a:solidFill>
                <a:latin typeface="Calibri"/>
                <a:ea typeface="Calibri"/>
              </a:rPr>
              <a:t>Azure / AWS Functions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Shape 28"/>
          <p:cNvSpPr/>
          <p:nvPr/>
        </p:nvSpPr>
        <p:spPr>
          <a:xfrm>
            <a:off x="8823960" y="3392280"/>
            <a:ext cx="2604960" cy="172800"/>
          </a:xfrm>
          <a:prstGeom prst="roundRect">
            <a:avLst>
              <a:gd name="adj" fmla="val 47368"/>
            </a:avLst>
          </a:prstGeom>
          <a:solidFill>
            <a:srgbClr val="1d3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29"/>
          <p:cNvSpPr/>
          <p:nvPr/>
        </p:nvSpPr>
        <p:spPr>
          <a:xfrm>
            <a:off x="8823960" y="3392280"/>
            <a:ext cx="2031480" cy="172800"/>
          </a:xfrm>
          <a:prstGeom prst="roundRect">
            <a:avLst>
              <a:gd name="adj" fmla="val 47368"/>
            </a:avLst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30"/>
          <p:cNvSpPr/>
          <p:nvPr/>
        </p:nvSpPr>
        <p:spPr>
          <a:xfrm>
            <a:off x="6035040" y="3794760"/>
            <a:ext cx="5668200" cy="1507680"/>
          </a:xfrm>
          <a:prstGeom prst="roundRect">
            <a:avLst>
              <a:gd name="adj" fmla="val 5455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31"/>
          <p:cNvSpPr/>
          <p:nvPr/>
        </p:nvSpPr>
        <p:spPr>
          <a:xfrm>
            <a:off x="6309360" y="3931920"/>
            <a:ext cx="51195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2" strike="noStrike">
                <a:solidFill>
                  <a:srgbClr val="0891b2"/>
                </a:solidFill>
                <a:latin typeface="Calibri"/>
                <a:ea typeface="Calibri"/>
              </a:rPr>
              <a:t>MOST ECONOMICAL BY ORGANIZATION SIZE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32"/>
          <p:cNvSpPr/>
          <p:nvPr/>
        </p:nvSpPr>
        <p:spPr>
          <a:xfrm>
            <a:off x="6309360" y="4224600"/>
            <a:ext cx="1919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Startups / MVPs: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33"/>
          <p:cNvSpPr/>
          <p:nvPr/>
        </p:nvSpPr>
        <p:spPr>
          <a:xfrm>
            <a:off x="8229600" y="422460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3445a"/>
                </a:solidFill>
                <a:latin typeface="Calibri"/>
                <a:ea typeface="Calibri"/>
              </a:rPr>
              <a:t>Railway, Render, Netlify, Vercel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34"/>
          <p:cNvSpPr/>
          <p:nvPr/>
        </p:nvSpPr>
        <p:spPr>
          <a:xfrm>
            <a:off x="6309360" y="4553640"/>
            <a:ext cx="1919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Enterprise scale: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35"/>
          <p:cNvSpPr/>
          <p:nvPr/>
        </p:nvSpPr>
        <p:spPr>
          <a:xfrm>
            <a:off x="8229600" y="455364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3445a"/>
                </a:solidFill>
                <a:latin typeface="Calibri"/>
                <a:ea typeface="Calibri"/>
              </a:rPr>
              <a:t>Azure, AWS, Google Cloud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36"/>
          <p:cNvSpPr/>
          <p:nvPr/>
        </p:nvSpPr>
        <p:spPr>
          <a:xfrm>
            <a:off x="6309360" y="4883040"/>
            <a:ext cx="1919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Global / low-latency: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37"/>
          <p:cNvSpPr/>
          <p:nvPr/>
        </p:nvSpPr>
        <p:spPr>
          <a:xfrm>
            <a:off x="8229600" y="488304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33445a"/>
                </a:solidFill>
                <a:latin typeface="Calibri"/>
                <a:ea typeface="Calibri"/>
              </a:rPr>
              <a:t>Cloudflare (as a complement)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Shape 38"/>
          <p:cNvSpPr/>
          <p:nvPr/>
        </p:nvSpPr>
        <p:spPr>
          <a:xfrm>
            <a:off x="502920" y="5468040"/>
            <a:ext cx="11200320" cy="776160"/>
          </a:xfrm>
          <a:prstGeom prst="roundRect">
            <a:avLst>
              <a:gd name="adj" fmla="val 10588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8" name="Image 3" descr="/home/claude/icons/check.png"/>
          <p:cNvPicPr/>
          <p:nvPr/>
        </p:nvPicPr>
        <p:blipFill>
          <a:blip r:embed="rId4"/>
          <a:stretch/>
        </p:blipFill>
        <p:spPr>
          <a:xfrm>
            <a:off x="713160" y="565092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509" name="Text 39"/>
          <p:cNvSpPr/>
          <p:nvPr/>
        </p:nvSpPr>
        <p:spPr>
          <a:xfrm>
            <a:off x="1143000" y="5468040"/>
            <a:ext cx="103316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f2136"/>
                </a:solidFill>
                <a:latin typeface="Calibri"/>
                <a:ea typeface="Calibri"/>
              </a:rPr>
              <a:t>Scale-to-zero is the single biggest lever for low-traffic internal tools — idle applications generate near-zero compute cost across every shortlisted platform.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40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Pricing &amp; Cost Comparison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41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09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0ea5e9"/>
                </a:solidFill>
                <a:latin typeface="Calibri"/>
                <a:ea typeface="Calibri"/>
              </a:rPr>
              <a:t>FULL PICTURE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136"/>
                </a:solidFill>
                <a:latin typeface="Cambria"/>
                <a:ea typeface="Cambria"/>
              </a:rPr>
              <a:t>Platform Comparison Matrix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"/>
          <p:cNvSpPr/>
          <p:nvPr/>
        </p:nvSpPr>
        <p:spPr>
          <a:xfrm>
            <a:off x="502920" y="1371600"/>
            <a:ext cx="1599120" cy="456120"/>
          </a:xfrm>
          <a:prstGeom prst="rect">
            <a:avLst/>
          </a:prstGeom>
          <a:solidFill>
            <a:srgbClr val="0a1e34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3"/>
          <p:cNvSpPr/>
          <p:nvPr/>
        </p:nvSpPr>
        <p:spPr>
          <a:xfrm>
            <a:off x="557640" y="1371600"/>
            <a:ext cx="148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Platform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4"/>
          <p:cNvSpPr/>
          <p:nvPr/>
        </p:nvSpPr>
        <p:spPr>
          <a:xfrm>
            <a:off x="2103120" y="1371600"/>
            <a:ext cx="1599120" cy="45612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5"/>
          <p:cNvSpPr/>
          <p:nvPr/>
        </p:nvSpPr>
        <p:spPr>
          <a:xfrm>
            <a:off x="2157840" y="1371600"/>
            <a:ext cx="148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Python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6"/>
          <p:cNvSpPr/>
          <p:nvPr/>
        </p:nvSpPr>
        <p:spPr>
          <a:xfrm>
            <a:off x="3703320" y="1371600"/>
            <a:ext cx="1599120" cy="45612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7"/>
          <p:cNvSpPr/>
          <p:nvPr/>
        </p:nvSpPr>
        <p:spPr>
          <a:xfrm>
            <a:off x="3758040" y="1371600"/>
            <a:ext cx="148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Next.js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8"/>
          <p:cNvSpPr/>
          <p:nvPr/>
        </p:nvSpPr>
        <p:spPr>
          <a:xfrm>
            <a:off x="5303520" y="1371600"/>
            <a:ext cx="1599120" cy="45612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9"/>
          <p:cNvSpPr/>
          <p:nvPr/>
        </p:nvSpPr>
        <p:spPr>
          <a:xfrm>
            <a:off x="5358240" y="1371600"/>
            <a:ext cx="148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Scaling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0"/>
          <p:cNvSpPr/>
          <p:nvPr/>
        </p:nvSpPr>
        <p:spPr>
          <a:xfrm>
            <a:off x="6903720" y="1371600"/>
            <a:ext cx="1599120" cy="45612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11"/>
          <p:cNvSpPr/>
          <p:nvPr/>
        </p:nvSpPr>
        <p:spPr>
          <a:xfrm>
            <a:off x="6958440" y="1371600"/>
            <a:ext cx="148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Enterprise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12"/>
          <p:cNvSpPr/>
          <p:nvPr/>
        </p:nvSpPr>
        <p:spPr>
          <a:xfrm>
            <a:off x="8503920" y="1371600"/>
            <a:ext cx="1599120" cy="456120"/>
          </a:xfrm>
          <a:prstGeom prst="rect">
            <a:avLst/>
          </a:prstGeom>
          <a:solidFill>
            <a:srgbClr val="0f3d6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 13"/>
          <p:cNvSpPr/>
          <p:nvPr/>
        </p:nvSpPr>
        <p:spPr>
          <a:xfrm>
            <a:off x="8558640" y="1371600"/>
            <a:ext cx="148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Dev Experience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14"/>
          <p:cNvSpPr/>
          <p:nvPr/>
        </p:nvSpPr>
        <p:spPr>
          <a:xfrm>
            <a:off x="10104120" y="1371600"/>
            <a:ext cx="1599120" cy="456120"/>
          </a:xfrm>
          <a:prstGeom prst="rect">
            <a:avLst/>
          </a:prstGeom>
          <a:solidFill>
            <a:srgbClr val="0891b2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15"/>
          <p:cNvSpPr/>
          <p:nvPr/>
        </p:nvSpPr>
        <p:spPr>
          <a:xfrm>
            <a:off x="10158840" y="1371600"/>
            <a:ext cx="148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70" spc="-1" strike="noStrike">
                <a:solidFill>
                  <a:srgbClr val="ffffff"/>
                </a:solidFill>
                <a:latin typeface="Calibri"/>
                <a:ea typeface="Calibri"/>
              </a:rPr>
              <a:t>Best Use Case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6"/>
          <p:cNvSpPr/>
          <p:nvPr/>
        </p:nvSpPr>
        <p:spPr>
          <a:xfrm>
            <a:off x="502920" y="182880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17"/>
          <p:cNvSpPr/>
          <p:nvPr/>
        </p:nvSpPr>
        <p:spPr>
          <a:xfrm>
            <a:off x="576000" y="18288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Microsoft Azure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8"/>
          <p:cNvSpPr/>
          <p:nvPr/>
        </p:nvSpPr>
        <p:spPr>
          <a:xfrm>
            <a:off x="2103120" y="182880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19"/>
          <p:cNvSpPr/>
          <p:nvPr/>
        </p:nvSpPr>
        <p:spPr>
          <a:xfrm>
            <a:off x="2176200" y="18288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20"/>
          <p:cNvSpPr/>
          <p:nvPr/>
        </p:nvSpPr>
        <p:spPr>
          <a:xfrm>
            <a:off x="3703320" y="182880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21"/>
          <p:cNvSpPr/>
          <p:nvPr/>
        </p:nvSpPr>
        <p:spPr>
          <a:xfrm>
            <a:off x="3776400" y="18288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22"/>
          <p:cNvSpPr/>
          <p:nvPr/>
        </p:nvSpPr>
        <p:spPr>
          <a:xfrm>
            <a:off x="5303520" y="182880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23"/>
          <p:cNvSpPr/>
          <p:nvPr/>
        </p:nvSpPr>
        <p:spPr>
          <a:xfrm>
            <a:off x="5376600" y="18288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4"/>
          <p:cNvSpPr/>
          <p:nvPr/>
        </p:nvSpPr>
        <p:spPr>
          <a:xfrm>
            <a:off x="6903720" y="182880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25"/>
          <p:cNvSpPr/>
          <p:nvPr/>
        </p:nvSpPr>
        <p:spPr>
          <a:xfrm>
            <a:off x="6976800" y="18288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26"/>
          <p:cNvSpPr/>
          <p:nvPr/>
        </p:nvSpPr>
        <p:spPr>
          <a:xfrm>
            <a:off x="8503920" y="182880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27"/>
          <p:cNvSpPr/>
          <p:nvPr/>
        </p:nvSpPr>
        <p:spPr>
          <a:xfrm>
            <a:off x="8577000" y="18288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28"/>
          <p:cNvSpPr/>
          <p:nvPr/>
        </p:nvSpPr>
        <p:spPr>
          <a:xfrm>
            <a:off x="10104120" y="182880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29"/>
          <p:cNvSpPr/>
          <p:nvPr/>
        </p:nvSpPr>
        <p:spPr>
          <a:xfrm>
            <a:off x="10177200" y="18288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Enterprise Python services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30"/>
          <p:cNvSpPr/>
          <p:nvPr/>
        </p:nvSpPr>
        <p:spPr>
          <a:xfrm>
            <a:off x="502920" y="240372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31"/>
          <p:cNvSpPr/>
          <p:nvPr/>
        </p:nvSpPr>
        <p:spPr>
          <a:xfrm>
            <a:off x="576000" y="240372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AWS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32"/>
          <p:cNvSpPr/>
          <p:nvPr/>
        </p:nvSpPr>
        <p:spPr>
          <a:xfrm>
            <a:off x="2103120" y="240372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33"/>
          <p:cNvSpPr/>
          <p:nvPr/>
        </p:nvSpPr>
        <p:spPr>
          <a:xfrm>
            <a:off x="2176200" y="240372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34"/>
          <p:cNvSpPr/>
          <p:nvPr/>
        </p:nvSpPr>
        <p:spPr>
          <a:xfrm>
            <a:off x="3703320" y="240372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35"/>
          <p:cNvSpPr/>
          <p:nvPr/>
        </p:nvSpPr>
        <p:spPr>
          <a:xfrm>
            <a:off x="3776400" y="240372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36"/>
          <p:cNvSpPr/>
          <p:nvPr/>
        </p:nvSpPr>
        <p:spPr>
          <a:xfrm>
            <a:off x="5303520" y="240372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37"/>
          <p:cNvSpPr/>
          <p:nvPr/>
        </p:nvSpPr>
        <p:spPr>
          <a:xfrm>
            <a:off x="5376600" y="240372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38"/>
          <p:cNvSpPr/>
          <p:nvPr/>
        </p:nvSpPr>
        <p:spPr>
          <a:xfrm>
            <a:off x="6903720" y="240372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39"/>
          <p:cNvSpPr/>
          <p:nvPr/>
        </p:nvSpPr>
        <p:spPr>
          <a:xfrm>
            <a:off x="6976800" y="240372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40"/>
          <p:cNvSpPr/>
          <p:nvPr/>
        </p:nvSpPr>
        <p:spPr>
          <a:xfrm>
            <a:off x="8503920" y="240372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41"/>
          <p:cNvSpPr/>
          <p:nvPr/>
        </p:nvSpPr>
        <p:spPr>
          <a:xfrm>
            <a:off x="8577000" y="240372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42"/>
          <p:cNvSpPr/>
          <p:nvPr/>
        </p:nvSpPr>
        <p:spPr>
          <a:xfrm>
            <a:off x="10104120" y="240372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43"/>
          <p:cNvSpPr/>
          <p:nvPr/>
        </p:nvSpPr>
        <p:spPr>
          <a:xfrm>
            <a:off x="10177200" y="240372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Cloud-native enterprise apps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44"/>
          <p:cNvSpPr/>
          <p:nvPr/>
        </p:nvSpPr>
        <p:spPr>
          <a:xfrm>
            <a:off x="502920" y="297828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45"/>
          <p:cNvSpPr/>
          <p:nvPr/>
        </p:nvSpPr>
        <p:spPr>
          <a:xfrm>
            <a:off x="576000" y="29782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Google Cloud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46"/>
          <p:cNvSpPr/>
          <p:nvPr/>
        </p:nvSpPr>
        <p:spPr>
          <a:xfrm>
            <a:off x="2103120" y="297828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47"/>
          <p:cNvSpPr/>
          <p:nvPr/>
        </p:nvSpPr>
        <p:spPr>
          <a:xfrm>
            <a:off x="2176200" y="29782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48"/>
          <p:cNvSpPr/>
          <p:nvPr/>
        </p:nvSpPr>
        <p:spPr>
          <a:xfrm>
            <a:off x="3703320" y="297828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49"/>
          <p:cNvSpPr/>
          <p:nvPr/>
        </p:nvSpPr>
        <p:spPr>
          <a:xfrm>
            <a:off x="3776400" y="29782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50"/>
          <p:cNvSpPr/>
          <p:nvPr/>
        </p:nvSpPr>
        <p:spPr>
          <a:xfrm>
            <a:off x="5303520" y="297828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51"/>
          <p:cNvSpPr/>
          <p:nvPr/>
        </p:nvSpPr>
        <p:spPr>
          <a:xfrm>
            <a:off x="5376600" y="29782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52"/>
          <p:cNvSpPr/>
          <p:nvPr/>
        </p:nvSpPr>
        <p:spPr>
          <a:xfrm>
            <a:off x="6903720" y="297828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53"/>
          <p:cNvSpPr/>
          <p:nvPr/>
        </p:nvSpPr>
        <p:spPr>
          <a:xfrm>
            <a:off x="6976800" y="29782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54"/>
          <p:cNvSpPr/>
          <p:nvPr/>
        </p:nvSpPr>
        <p:spPr>
          <a:xfrm>
            <a:off x="8503920" y="297828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55"/>
          <p:cNvSpPr/>
          <p:nvPr/>
        </p:nvSpPr>
        <p:spPr>
          <a:xfrm>
            <a:off x="8577000" y="29782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56"/>
          <p:cNvSpPr/>
          <p:nvPr/>
        </p:nvSpPr>
        <p:spPr>
          <a:xfrm>
            <a:off x="10104120" y="297828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57"/>
          <p:cNvSpPr/>
          <p:nvPr/>
        </p:nvSpPr>
        <p:spPr>
          <a:xfrm>
            <a:off x="10177200" y="29782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Containerized Python apps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58"/>
          <p:cNvSpPr/>
          <p:nvPr/>
        </p:nvSpPr>
        <p:spPr>
          <a:xfrm>
            <a:off x="502920" y="355320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59"/>
          <p:cNvSpPr/>
          <p:nvPr/>
        </p:nvSpPr>
        <p:spPr>
          <a:xfrm>
            <a:off x="576000" y="35532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Vercel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60"/>
          <p:cNvSpPr/>
          <p:nvPr/>
        </p:nvSpPr>
        <p:spPr>
          <a:xfrm>
            <a:off x="2103120" y="355320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61"/>
          <p:cNvSpPr/>
          <p:nvPr/>
        </p:nvSpPr>
        <p:spPr>
          <a:xfrm>
            <a:off x="2176200" y="35532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62"/>
          <p:cNvSpPr/>
          <p:nvPr/>
        </p:nvSpPr>
        <p:spPr>
          <a:xfrm>
            <a:off x="3703320" y="355320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63"/>
          <p:cNvSpPr/>
          <p:nvPr/>
        </p:nvSpPr>
        <p:spPr>
          <a:xfrm>
            <a:off x="3776400" y="35532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64"/>
          <p:cNvSpPr/>
          <p:nvPr/>
        </p:nvSpPr>
        <p:spPr>
          <a:xfrm>
            <a:off x="5303520" y="355320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65"/>
          <p:cNvSpPr/>
          <p:nvPr/>
        </p:nvSpPr>
        <p:spPr>
          <a:xfrm>
            <a:off x="5376600" y="35532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66"/>
          <p:cNvSpPr/>
          <p:nvPr/>
        </p:nvSpPr>
        <p:spPr>
          <a:xfrm>
            <a:off x="6903720" y="355320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67"/>
          <p:cNvSpPr/>
          <p:nvPr/>
        </p:nvSpPr>
        <p:spPr>
          <a:xfrm>
            <a:off x="6976800" y="35532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68"/>
          <p:cNvSpPr/>
          <p:nvPr/>
        </p:nvSpPr>
        <p:spPr>
          <a:xfrm>
            <a:off x="8503920" y="355320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69"/>
          <p:cNvSpPr/>
          <p:nvPr/>
        </p:nvSpPr>
        <p:spPr>
          <a:xfrm>
            <a:off x="8577000" y="35532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70"/>
          <p:cNvSpPr/>
          <p:nvPr/>
        </p:nvSpPr>
        <p:spPr>
          <a:xfrm>
            <a:off x="10104120" y="355320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71"/>
          <p:cNvSpPr/>
          <p:nvPr/>
        </p:nvSpPr>
        <p:spPr>
          <a:xfrm>
            <a:off x="10177200" y="355320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Next.js frontend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72"/>
          <p:cNvSpPr/>
          <p:nvPr/>
        </p:nvSpPr>
        <p:spPr>
          <a:xfrm>
            <a:off x="502920" y="412776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73"/>
          <p:cNvSpPr/>
          <p:nvPr/>
        </p:nvSpPr>
        <p:spPr>
          <a:xfrm>
            <a:off x="576000" y="412776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Cloudflare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74"/>
          <p:cNvSpPr/>
          <p:nvPr/>
        </p:nvSpPr>
        <p:spPr>
          <a:xfrm>
            <a:off x="2103120" y="412776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75"/>
          <p:cNvSpPr/>
          <p:nvPr/>
        </p:nvSpPr>
        <p:spPr>
          <a:xfrm>
            <a:off x="2176200" y="412776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76"/>
          <p:cNvSpPr/>
          <p:nvPr/>
        </p:nvSpPr>
        <p:spPr>
          <a:xfrm>
            <a:off x="3703320" y="412776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77"/>
          <p:cNvSpPr/>
          <p:nvPr/>
        </p:nvSpPr>
        <p:spPr>
          <a:xfrm>
            <a:off x="3776400" y="412776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78"/>
          <p:cNvSpPr/>
          <p:nvPr/>
        </p:nvSpPr>
        <p:spPr>
          <a:xfrm>
            <a:off x="5303520" y="412776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79"/>
          <p:cNvSpPr/>
          <p:nvPr/>
        </p:nvSpPr>
        <p:spPr>
          <a:xfrm>
            <a:off x="5376600" y="412776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80"/>
          <p:cNvSpPr/>
          <p:nvPr/>
        </p:nvSpPr>
        <p:spPr>
          <a:xfrm>
            <a:off x="6903720" y="412776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81"/>
          <p:cNvSpPr/>
          <p:nvPr/>
        </p:nvSpPr>
        <p:spPr>
          <a:xfrm>
            <a:off x="6976800" y="412776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82"/>
          <p:cNvSpPr/>
          <p:nvPr/>
        </p:nvSpPr>
        <p:spPr>
          <a:xfrm>
            <a:off x="8503920" y="412776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83"/>
          <p:cNvSpPr/>
          <p:nvPr/>
        </p:nvSpPr>
        <p:spPr>
          <a:xfrm>
            <a:off x="8577000" y="412776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84"/>
          <p:cNvSpPr/>
          <p:nvPr/>
        </p:nvSpPr>
        <p:spPr>
          <a:xfrm>
            <a:off x="10104120" y="412776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85"/>
          <p:cNvSpPr/>
          <p:nvPr/>
        </p:nvSpPr>
        <p:spPr>
          <a:xfrm>
            <a:off x="10177200" y="412776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Edge, CDN &amp; security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86"/>
          <p:cNvSpPr/>
          <p:nvPr/>
        </p:nvSpPr>
        <p:spPr>
          <a:xfrm>
            <a:off x="502920" y="470268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87"/>
          <p:cNvSpPr/>
          <p:nvPr/>
        </p:nvSpPr>
        <p:spPr>
          <a:xfrm>
            <a:off x="576000" y="47026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Railway / Render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88"/>
          <p:cNvSpPr/>
          <p:nvPr/>
        </p:nvSpPr>
        <p:spPr>
          <a:xfrm>
            <a:off x="2103120" y="470268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89"/>
          <p:cNvSpPr/>
          <p:nvPr/>
        </p:nvSpPr>
        <p:spPr>
          <a:xfrm>
            <a:off x="2176200" y="47026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90"/>
          <p:cNvSpPr/>
          <p:nvPr/>
        </p:nvSpPr>
        <p:spPr>
          <a:xfrm>
            <a:off x="3703320" y="470268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91"/>
          <p:cNvSpPr/>
          <p:nvPr/>
        </p:nvSpPr>
        <p:spPr>
          <a:xfrm>
            <a:off x="3776400" y="47026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92"/>
          <p:cNvSpPr/>
          <p:nvPr/>
        </p:nvSpPr>
        <p:spPr>
          <a:xfrm>
            <a:off x="5303520" y="470268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93"/>
          <p:cNvSpPr/>
          <p:nvPr/>
        </p:nvSpPr>
        <p:spPr>
          <a:xfrm>
            <a:off x="5376600" y="47026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94"/>
          <p:cNvSpPr/>
          <p:nvPr/>
        </p:nvSpPr>
        <p:spPr>
          <a:xfrm>
            <a:off x="6903720" y="470268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95"/>
          <p:cNvSpPr/>
          <p:nvPr/>
        </p:nvSpPr>
        <p:spPr>
          <a:xfrm>
            <a:off x="6976800" y="47026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96"/>
          <p:cNvSpPr/>
          <p:nvPr/>
        </p:nvSpPr>
        <p:spPr>
          <a:xfrm>
            <a:off x="8503920" y="470268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97"/>
          <p:cNvSpPr/>
          <p:nvPr/>
        </p:nvSpPr>
        <p:spPr>
          <a:xfrm>
            <a:off x="8577000" y="47026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98"/>
          <p:cNvSpPr/>
          <p:nvPr/>
        </p:nvSpPr>
        <p:spPr>
          <a:xfrm>
            <a:off x="10104120" y="4702680"/>
            <a:ext cx="1599120" cy="573840"/>
          </a:xfrm>
          <a:prstGeom prst="rect">
            <a:avLst/>
          </a:prstGeom>
          <a:solidFill>
            <a:srgbClr val="f1f6fb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99"/>
          <p:cNvSpPr/>
          <p:nvPr/>
        </p:nvSpPr>
        <p:spPr>
          <a:xfrm>
            <a:off x="10177200" y="470268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Startups &amp; internal tools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00"/>
          <p:cNvSpPr/>
          <p:nvPr/>
        </p:nvSpPr>
        <p:spPr>
          <a:xfrm>
            <a:off x="502920" y="527724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101"/>
          <p:cNvSpPr/>
          <p:nvPr/>
        </p:nvSpPr>
        <p:spPr>
          <a:xfrm>
            <a:off x="576000" y="527724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0f2136"/>
                </a:solidFill>
                <a:latin typeface="Calibri"/>
                <a:ea typeface="Calibri"/>
              </a:rPr>
              <a:t>Netlify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02"/>
          <p:cNvSpPr/>
          <p:nvPr/>
        </p:nvSpPr>
        <p:spPr>
          <a:xfrm>
            <a:off x="2103120" y="527724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103"/>
          <p:cNvSpPr/>
          <p:nvPr/>
        </p:nvSpPr>
        <p:spPr>
          <a:xfrm>
            <a:off x="2176200" y="527724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04"/>
          <p:cNvSpPr/>
          <p:nvPr/>
        </p:nvSpPr>
        <p:spPr>
          <a:xfrm>
            <a:off x="3703320" y="527724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105"/>
          <p:cNvSpPr/>
          <p:nvPr/>
        </p:nvSpPr>
        <p:spPr>
          <a:xfrm>
            <a:off x="3776400" y="527724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06"/>
          <p:cNvSpPr/>
          <p:nvPr/>
        </p:nvSpPr>
        <p:spPr>
          <a:xfrm>
            <a:off x="5303520" y="527724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107"/>
          <p:cNvSpPr/>
          <p:nvPr/>
        </p:nvSpPr>
        <p:spPr>
          <a:xfrm>
            <a:off x="5376600" y="527724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108"/>
          <p:cNvSpPr/>
          <p:nvPr/>
        </p:nvSpPr>
        <p:spPr>
          <a:xfrm>
            <a:off x="6903720" y="527724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109"/>
          <p:cNvSpPr/>
          <p:nvPr/>
        </p:nvSpPr>
        <p:spPr>
          <a:xfrm>
            <a:off x="6976800" y="527724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★★★☆☆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110"/>
          <p:cNvSpPr/>
          <p:nvPr/>
        </p:nvSpPr>
        <p:spPr>
          <a:xfrm>
            <a:off x="8503920" y="527724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111"/>
          <p:cNvSpPr/>
          <p:nvPr/>
        </p:nvSpPr>
        <p:spPr>
          <a:xfrm>
            <a:off x="8577000" y="527724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★★★★★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112"/>
          <p:cNvSpPr/>
          <p:nvPr/>
        </p:nvSpPr>
        <p:spPr>
          <a:xfrm>
            <a:off x="10104120" y="5277240"/>
            <a:ext cx="1599120" cy="573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7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113"/>
          <p:cNvSpPr/>
          <p:nvPr/>
        </p:nvSpPr>
        <p:spPr>
          <a:xfrm>
            <a:off x="10177200" y="5277240"/>
            <a:ext cx="14529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Static &amp; frontend hosting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114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Platform Comparison Matrix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115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10 / 25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0ea5e9"/>
                </a:solidFill>
                <a:latin typeface="Calibri"/>
                <a:ea typeface="Calibri"/>
              </a:rPr>
              <a:t>SCORING THE FIELD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f2136"/>
                </a:solidFill>
                <a:latin typeface="Cambria"/>
                <a:ea typeface="Cambria"/>
              </a:rPr>
              <a:t>Decision Matrix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2"/>
          <p:cNvSpPr/>
          <p:nvPr/>
        </p:nvSpPr>
        <p:spPr>
          <a:xfrm>
            <a:off x="502920" y="1188720"/>
            <a:ext cx="11154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33445a"/>
                </a:solidFill>
                <a:latin typeface="Calibri"/>
                <a:ea typeface="Calibri"/>
              </a:rPr>
              <a:t>Weighted score across 10 criteria (Python, Next.js, migration, scaling, scale-to-zero, cost, enterprise features, dev experience, monitoring, ecosystem) — total out of 50.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3"/>
          <p:cNvSpPr/>
          <p:nvPr/>
        </p:nvSpPr>
        <p:spPr>
          <a:xfrm>
            <a:off x="502920" y="169164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0a1e34"/>
                </a:solidFill>
                <a:latin typeface="Calibri"/>
                <a:ea typeface="Calibri"/>
              </a:rPr>
              <a:t>Microsoft Azure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4"/>
          <p:cNvSpPr/>
          <p:nvPr/>
        </p:nvSpPr>
        <p:spPr>
          <a:xfrm>
            <a:off x="2926080" y="1746360"/>
            <a:ext cx="7405560" cy="28224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5"/>
          <p:cNvSpPr/>
          <p:nvPr/>
        </p:nvSpPr>
        <p:spPr>
          <a:xfrm>
            <a:off x="2926080" y="1746360"/>
            <a:ext cx="6961320" cy="282240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Text 6"/>
          <p:cNvSpPr/>
          <p:nvPr/>
        </p:nvSpPr>
        <p:spPr>
          <a:xfrm>
            <a:off x="10469880" y="1691640"/>
            <a:ext cx="913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a5e9"/>
                </a:solidFill>
                <a:latin typeface="Calibri"/>
                <a:ea typeface="Calibri"/>
              </a:rPr>
              <a:t>47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5" name="Image 0" descr="/home/claude/icons/trophy.png"/>
          <p:cNvPicPr/>
          <p:nvPr/>
        </p:nvPicPr>
        <p:blipFill>
          <a:blip r:embed="rId1"/>
          <a:stretch/>
        </p:blipFill>
        <p:spPr>
          <a:xfrm>
            <a:off x="2468880" y="181512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636" name="Text 7"/>
          <p:cNvSpPr/>
          <p:nvPr/>
        </p:nvSpPr>
        <p:spPr>
          <a:xfrm>
            <a:off x="502920" y="215784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0a1e34"/>
                </a:solidFill>
                <a:latin typeface="Calibri"/>
                <a:ea typeface="Calibri"/>
              </a:rPr>
              <a:t>Amazon Web Services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8"/>
          <p:cNvSpPr/>
          <p:nvPr/>
        </p:nvSpPr>
        <p:spPr>
          <a:xfrm>
            <a:off x="2926080" y="2212920"/>
            <a:ext cx="7405560" cy="28224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9"/>
          <p:cNvSpPr/>
          <p:nvPr/>
        </p:nvSpPr>
        <p:spPr>
          <a:xfrm>
            <a:off x="2926080" y="2212920"/>
            <a:ext cx="6961320" cy="282240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10"/>
          <p:cNvSpPr/>
          <p:nvPr/>
        </p:nvSpPr>
        <p:spPr>
          <a:xfrm>
            <a:off x="10469880" y="2157840"/>
            <a:ext cx="913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a5e9"/>
                </a:solidFill>
                <a:latin typeface="Calibri"/>
                <a:ea typeface="Calibri"/>
              </a:rPr>
              <a:t>47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0" name="Image 1" descr="/home/claude/icons/trophy.png"/>
          <p:cNvPicPr/>
          <p:nvPr/>
        </p:nvPicPr>
        <p:blipFill>
          <a:blip r:embed="rId2"/>
          <a:stretch/>
        </p:blipFill>
        <p:spPr>
          <a:xfrm>
            <a:off x="2468880" y="228132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641" name="Text 11"/>
          <p:cNvSpPr/>
          <p:nvPr/>
        </p:nvSpPr>
        <p:spPr>
          <a:xfrm>
            <a:off x="502920" y="262440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0a1e34"/>
                </a:solidFill>
                <a:latin typeface="Calibri"/>
                <a:ea typeface="Calibri"/>
              </a:rPr>
              <a:t>Google Cloud Platform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2"/>
          <p:cNvSpPr/>
          <p:nvPr/>
        </p:nvSpPr>
        <p:spPr>
          <a:xfrm>
            <a:off x="2926080" y="2679120"/>
            <a:ext cx="7405560" cy="28224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13"/>
          <p:cNvSpPr/>
          <p:nvPr/>
        </p:nvSpPr>
        <p:spPr>
          <a:xfrm>
            <a:off x="2926080" y="2679120"/>
            <a:ext cx="6813000" cy="282240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Text 14"/>
          <p:cNvSpPr/>
          <p:nvPr/>
        </p:nvSpPr>
        <p:spPr>
          <a:xfrm>
            <a:off x="10469880" y="2624400"/>
            <a:ext cx="913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a5e9"/>
                </a:solidFill>
                <a:latin typeface="Calibri"/>
                <a:ea typeface="Calibri"/>
              </a:rPr>
              <a:t>46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5" name="Image 2" descr="/home/claude/icons/trophy.png"/>
          <p:cNvPicPr/>
          <p:nvPr/>
        </p:nvPicPr>
        <p:blipFill>
          <a:blip r:embed="rId3"/>
          <a:stretch/>
        </p:blipFill>
        <p:spPr>
          <a:xfrm>
            <a:off x="2468880" y="274788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646" name="Text 15"/>
          <p:cNvSpPr/>
          <p:nvPr/>
        </p:nvSpPr>
        <p:spPr>
          <a:xfrm>
            <a:off x="502920" y="309060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Vercel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6"/>
          <p:cNvSpPr/>
          <p:nvPr/>
        </p:nvSpPr>
        <p:spPr>
          <a:xfrm>
            <a:off x="2926080" y="3145680"/>
            <a:ext cx="7405560" cy="28224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7"/>
          <p:cNvSpPr/>
          <p:nvPr/>
        </p:nvSpPr>
        <p:spPr>
          <a:xfrm>
            <a:off x="2926080" y="3145680"/>
            <a:ext cx="6072480" cy="28224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18"/>
          <p:cNvSpPr/>
          <p:nvPr/>
        </p:nvSpPr>
        <p:spPr>
          <a:xfrm>
            <a:off x="10469880" y="3090600"/>
            <a:ext cx="913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41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19"/>
          <p:cNvSpPr/>
          <p:nvPr/>
        </p:nvSpPr>
        <p:spPr>
          <a:xfrm>
            <a:off x="502920" y="355716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Cloudflare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20"/>
          <p:cNvSpPr/>
          <p:nvPr/>
        </p:nvSpPr>
        <p:spPr>
          <a:xfrm>
            <a:off x="2926080" y="3611880"/>
            <a:ext cx="7405560" cy="28224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21"/>
          <p:cNvSpPr/>
          <p:nvPr/>
        </p:nvSpPr>
        <p:spPr>
          <a:xfrm>
            <a:off x="2926080" y="3611880"/>
            <a:ext cx="6072480" cy="28224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22"/>
          <p:cNvSpPr/>
          <p:nvPr/>
        </p:nvSpPr>
        <p:spPr>
          <a:xfrm>
            <a:off x="10469880" y="3557160"/>
            <a:ext cx="913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41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23"/>
          <p:cNvSpPr/>
          <p:nvPr/>
        </p:nvSpPr>
        <p:spPr>
          <a:xfrm>
            <a:off x="502920" y="402336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Railway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4"/>
          <p:cNvSpPr/>
          <p:nvPr/>
        </p:nvSpPr>
        <p:spPr>
          <a:xfrm>
            <a:off x="2926080" y="4078080"/>
            <a:ext cx="7405560" cy="28224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5"/>
          <p:cNvSpPr/>
          <p:nvPr/>
        </p:nvSpPr>
        <p:spPr>
          <a:xfrm>
            <a:off x="2926080" y="4078080"/>
            <a:ext cx="5479920" cy="28224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 26"/>
          <p:cNvSpPr/>
          <p:nvPr/>
        </p:nvSpPr>
        <p:spPr>
          <a:xfrm>
            <a:off x="10469880" y="4023360"/>
            <a:ext cx="913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37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27"/>
          <p:cNvSpPr/>
          <p:nvPr/>
        </p:nvSpPr>
        <p:spPr>
          <a:xfrm>
            <a:off x="502920" y="448956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Render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8"/>
          <p:cNvSpPr/>
          <p:nvPr/>
        </p:nvSpPr>
        <p:spPr>
          <a:xfrm>
            <a:off x="2926080" y="4544640"/>
            <a:ext cx="7405560" cy="28224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29"/>
          <p:cNvSpPr/>
          <p:nvPr/>
        </p:nvSpPr>
        <p:spPr>
          <a:xfrm>
            <a:off x="2926080" y="4544640"/>
            <a:ext cx="5479920" cy="28224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 30"/>
          <p:cNvSpPr/>
          <p:nvPr/>
        </p:nvSpPr>
        <p:spPr>
          <a:xfrm>
            <a:off x="10469880" y="4489560"/>
            <a:ext cx="913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37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 31"/>
          <p:cNvSpPr/>
          <p:nvPr/>
        </p:nvSpPr>
        <p:spPr>
          <a:xfrm>
            <a:off x="502920" y="4956120"/>
            <a:ext cx="23306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0f2136"/>
                </a:solidFill>
                <a:latin typeface="Calibri"/>
                <a:ea typeface="Calibri"/>
              </a:rPr>
              <a:t>Netlify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32"/>
          <p:cNvSpPr/>
          <p:nvPr/>
        </p:nvSpPr>
        <p:spPr>
          <a:xfrm>
            <a:off x="2926080" y="5010840"/>
            <a:ext cx="7405560" cy="282240"/>
          </a:xfrm>
          <a:prstGeom prst="roundRect">
            <a:avLst>
              <a:gd name="adj" fmla="val 19355"/>
            </a:avLst>
          </a:prstGeom>
          <a:solidFill>
            <a:srgbClr val="e2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33"/>
          <p:cNvSpPr/>
          <p:nvPr/>
        </p:nvSpPr>
        <p:spPr>
          <a:xfrm>
            <a:off x="2926080" y="5010840"/>
            <a:ext cx="5479920" cy="282240"/>
          </a:xfrm>
          <a:prstGeom prst="roundRect">
            <a:avLst>
              <a:gd name="adj" fmla="val 19355"/>
            </a:avLst>
          </a:prstGeom>
          <a:solidFill>
            <a:srgbClr val="8fb6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 34"/>
          <p:cNvSpPr/>
          <p:nvPr/>
        </p:nvSpPr>
        <p:spPr>
          <a:xfrm>
            <a:off x="10469880" y="4956120"/>
            <a:ext cx="9133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637488"/>
                </a:solidFill>
                <a:latin typeface="Calibri"/>
                <a:ea typeface="Calibri"/>
              </a:rPr>
              <a:t>37 / 50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35"/>
          <p:cNvSpPr/>
          <p:nvPr/>
        </p:nvSpPr>
        <p:spPr>
          <a:xfrm>
            <a:off x="502920" y="5559480"/>
            <a:ext cx="11200320" cy="931680"/>
          </a:xfrm>
          <a:prstGeom prst="roundRect">
            <a:avLst>
              <a:gd name="adj" fmla="val 8824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7" name="Image 3" descr="/home/claude/icons/star.png"/>
          <p:cNvPicPr/>
          <p:nvPr/>
        </p:nvPicPr>
        <p:blipFill>
          <a:blip r:embed="rId4"/>
          <a:stretch/>
        </p:blipFill>
        <p:spPr>
          <a:xfrm>
            <a:off x="731520" y="5788080"/>
            <a:ext cx="383040" cy="383040"/>
          </a:xfrm>
          <a:prstGeom prst="rect">
            <a:avLst/>
          </a:prstGeom>
          <a:ln w="0">
            <a:noFill/>
          </a:ln>
        </p:spPr>
      </p:pic>
      <p:sp>
        <p:nvSpPr>
          <p:cNvPr id="668" name="Text 36"/>
          <p:cNvSpPr/>
          <p:nvPr/>
        </p:nvSpPr>
        <p:spPr>
          <a:xfrm>
            <a:off x="1234440" y="5559480"/>
            <a:ext cx="102402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e4edf7"/>
                </a:solidFill>
                <a:latin typeface="Calibri"/>
                <a:ea typeface="Calibri"/>
              </a:rPr>
              <a:t>Azure, AWS and Google Cloud emerge as the clear top tier — all three combine mature serverless ecosystems, enterprise-grade security, and strong support for containerized Python workloads.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37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Decision Matrix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38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37488"/>
                </a:solidFill>
                <a:latin typeface="Calibri"/>
                <a:ea typeface="Calibri"/>
              </a:rPr>
              <a:t>11 / 25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7dd3fc"/>
                </a:solidFill>
                <a:latin typeface="Calibri"/>
                <a:ea typeface="Calibri"/>
              </a:rPr>
              <a:t>BLUEPRINT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1"/>
          <p:cNvSpPr/>
          <p:nvPr/>
        </p:nvSpPr>
        <p:spPr>
          <a:xfrm>
            <a:off x="502920" y="56700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Recommended Architecture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2"/>
          <p:cNvSpPr/>
          <p:nvPr/>
        </p:nvSpPr>
        <p:spPr>
          <a:xfrm>
            <a:off x="502920" y="1188720"/>
            <a:ext cx="11154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7e4f2"/>
                </a:solidFill>
                <a:latin typeface="Calibri"/>
                <a:ea typeface="Calibri"/>
              </a:rPr>
              <a:t>A workload-driven, hybrid architecture — the right platform for each workload type, not one platform for everything.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Shape 3"/>
          <p:cNvSpPr/>
          <p:nvPr/>
        </p:nvSpPr>
        <p:spPr>
          <a:xfrm>
            <a:off x="502920" y="3035880"/>
            <a:ext cx="1416240" cy="821880"/>
          </a:xfrm>
          <a:prstGeom prst="roundRect">
            <a:avLst>
              <a:gd name="adj" fmla="val 100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5" name="Image 0" descr="/home/claude/icons/users.png"/>
          <p:cNvPicPr/>
          <p:nvPr/>
        </p:nvPicPr>
        <p:blipFill>
          <a:blip r:embed="rId1"/>
          <a:stretch/>
        </p:blipFill>
        <p:spPr>
          <a:xfrm>
            <a:off x="1006200" y="320040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676" name="Text 4"/>
          <p:cNvSpPr/>
          <p:nvPr/>
        </p:nvSpPr>
        <p:spPr>
          <a:xfrm>
            <a:off x="502920" y="356616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Users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Shape 5"/>
          <p:cNvSpPr/>
          <p:nvPr/>
        </p:nvSpPr>
        <p:spPr>
          <a:xfrm>
            <a:off x="2331720" y="3035880"/>
            <a:ext cx="1736280" cy="821880"/>
          </a:xfrm>
          <a:prstGeom prst="roundRect">
            <a:avLst>
              <a:gd name="adj" fmla="val 10000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8" name="Image 1" descr="/home/claude/icons/globe.png"/>
          <p:cNvPicPr/>
          <p:nvPr/>
        </p:nvPicPr>
        <p:blipFill>
          <a:blip r:embed="rId2"/>
          <a:stretch/>
        </p:blipFill>
        <p:spPr>
          <a:xfrm>
            <a:off x="3017520" y="3108960"/>
            <a:ext cx="364680" cy="364680"/>
          </a:xfrm>
          <a:prstGeom prst="rect">
            <a:avLst/>
          </a:prstGeom>
          <a:ln w="0">
            <a:noFill/>
          </a:ln>
        </p:spPr>
      </p:pic>
      <p:sp>
        <p:nvSpPr>
          <p:cNvPr id="679" name="Text 6"/>
          <p:cNvSpPr/>
          <p:nvPr/>
        </p:nvSpPr>
        <p:spPr>
          <a:xfrm>
            <a:off x="2331720" y="3456360"/>
            <a:ext cx="17362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7c3aed"/>
                </a:solidFill>
                <a:latin typeface="Calibri"/>
                <a:ea typeface="Calibri"/>
              </a:rPr>
              <a:t>Cloudflare</a:t>
            </a:r>
            <a:endParaRPr b="0" lang="en-US" sz="10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 7"/>
          <p:cNvSpPr/>
          <p:nvPr/>
        </p:nvSpPr>
        <p:spPr>
          <a:xfrm>
            <a:off x="2331720" y="3630240"/>
            <a:ext cx="1736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37488"/>
                </a:solidFill>
                <a:latin typeface="Calibri"/>
                <a:ea typeface="Calibri"/>
              </a:rPr>
              <a:t>CDN + Edge Security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Shape 8"/>
          <p:cNvSpPr/>
          <p:nvPr/>
        </p:nvSpPr>
        <p:spPr>
          <a:xfrm>
            <a:off x="1920240" y="3447000"/>
            <a:ext cx="411480" cy="360"/>
          </a:xfrm>
          <a:prstGeom prst="line">
            <a:avLst/>
          </a:prstGeom>
          <a:ln w="25400">
            <a:solidFill>
              <a:srgbClr val="4e6e9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Shape 9"/>
          <p:cNvSpPr/>
          <p:nvPr/>
        </p:nvSpPr>
        <p:spPr>
          <a:xfrm>
            <a:off x="4069080" y="3447000"/>
            <a:ext cx="365760" cy="360"/>
          </a:xfrm>
          <a:prstGeom prst="line">
            <a:avLst/>
          </a:prstGeom>
          <a:ln w="25400">
            <a:solidFill>
              <a:srgbClr val="4e6e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Shape 10"/>
          <p:cNvSpPr/>
          <p:nvPr/>
        </p:nvSpPr>
        <p:spPr>
          <a:xfrm>
            <a:off x="4434840" y="2212560"/>
            <a:ext cx="360" cy="2423160"/>
          </a:xfrm>
          <a:prstGeom prst="line">
            <a:avLst/>
          </a:prstGeom>
          <a:ln w="25400">
            <a:solidFill>
              <a:srgbClr val="4e6e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Shape 11"/>
          <p:cNvSpPr/>
          <p:nvPr/>
        </p:nvSpPr>
        <p:spPr>
          <a:xfrm>
            <a:off x="4434840" y="2212560"/>
            <a:ext cx="457200" cy="360"/>
          </a:xfrm>
          <a:prstGeom prst="line">
            <a:avLst/>
          </a:prstGeom>
          <a:ln w="25400">
            <a:solidFill>
              <a:srgbClr val="4e6e9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Shape 12"/>
          <p:cNvSpPr/>
          <p:nvPr/>
        </p:nvSpPr>
        <p:spPr>
          <a:xfrm>
            <a:off x="4434840" y="3447000"/>
            <a:ext cx="457200" cy="360"/>
          </a:xfrm>
          <a:prstGeom prst="line">
            <a:avLst/>
          </a:prstGeom>
          <a:ln w="25400">
            <a:solidFill>
              <a:srgbClr val="4e6e9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Shape 13"/>
          <p:cNvSpPr/>
          <p:nvPr/>
        </p:nvSpPr>
        <p:spPr>
          <a:xfrm>
            <a:off x="4434840" y="4635720"/>
            <a:ext cx="457200" cy="360"/>
          </a:xfrm>
          <a:prstGeom prst="line">
            <a:avLst/>
          </a:prstGeom>
          <a:ln w="25400">
            <a:solidFill>
              <a:srgbClr val="4e6e9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Shape 14"/>
          <p:cNvSpPr/>
          <p:nvPr/>
        </p:nvSpPr>
        <p:spPr>
          <a:xfrm>
            <a:off x="4892040" y="1664280"/>
            <a:ext cx="2879280" cy="1096200"/>
          </a:xfrm>
          <a:prstGeom prst="roundRect">
            <a:avLst>
              <a:gd name="adj" fmla="val 75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8" name="Image 2" descr="/home/claude/icons/react.png"/>
          <p:cNvPicPr/>
          <p:nvPr/>
        </p:nvPicPr>
        <p:blipFill>
          <a:blip r:embed="rId3"/>
          <a:stretch/>
        </p:blipFill>
        <p:spPr>
          <a:xfrm>
            <a:off x="5056560" y="18104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689" name="Text 15"/>
          <p:cNvSpPr/>
          <p:nvPr/>
        </p:nvSpPr>
        <p:spPr>
          <a:xfrm>
            <a:off x="5486400" y="1783080"/>
            <a:ext cx="2147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Next.js Frontend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16"/>
          <p:cNvSpPr/>
          <p:nvPr/>
        </p:nvSpPr>
        <p:spPr>
          <a:xfrm>
            <a:off x="5486400" y="2030040"/>
            <a:ext cx="2147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Vercel / Azure Static Web Apps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17"/>
          <p:cNvSpPr/>
          <p:nvPr/>
        </p:nvSpPr>
        <p:spPr>
          <a:xfrm>
            <a:off x="5056560" y="237744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SSR • ISR • API Routes • Edge Middleware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18"/>
          <p:cNvSpPr/>
          <p:nvPr/>
        </p:nvSpPr>
        <p:spPr>
          <a:xfrm>
            <a:off x="4892040" y="2898720"/>
            <a:ext cx="2879280" cy="1096200"/>
          </a:xfrm>
          <a:prstGeom prst="roundRect">
            <a:avLst>
              <a:gd name="adj" fmla="val 75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3" name="Image 3" descr="/home/claude/icons/python.png"/>
          <p:cNvPicPr/>
          <p:nvPr/>
        </p:nvPicPr>
        <p:blipFill>
          <a:blip r:embed="rId4"/>
          <a:stretch/>
        </p:blipFill>
        <p:spPr>
          <a:xfrm>
            <a:off x="5056560" y="30448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694" name="Text 19"/>
          <p:cNvSpPr/>
          <p:nvPr/>
        </p:nvSpPr>
        <p:spPr>
          <a:xfrm>
            <a:off x="5486400" y="3017520"/>
            <a:ext cx="2147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Python APIs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 20"/>
          <p:cNvSpPr/>
          <p:nvPr/>
        </p:nvSpPr>
        <p:spPr>
          <a:xfrm>
            <a:off x="5486400" y="3264480"/>
            <a:ext cx="2147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FastAPI / Flask / Django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21"/>
          <p:cNvSpPr/>
          <p:nvPr/>
        </p:nvSpPr>
        <p:spPr>
          <a:xfrm>
            <a:off x="5056560" y="361188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7e4f2"/>
                </a:solidFill>
                <a:latin typeface="Calibri"/>
                <a:ea typeface="Calibri"/>
              </a:rPr>
              <a:t>Azure Container Apps / Cloud Run / AWS App Runner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Shape 22"/>
          <p:cNvSpPr/>
          <p:nvPr/>
        </p:nvSpPr>
        <p:spPr>
          <a:xfrm>
            <a:off x="4892040" y="4133160"/>
            <a:ext cx="2879280" cy="1004760"/>
          </a:xfrm>
          <a:prstGeom prst="roundRect">
            <a:avLst>
              <a:gd name="adj" fmla="val 8182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98" name="Image 4" descr="/home/claude/icons/bolt.png"/>
          <p:cNvPicPr/>
          <p:nvPr/>
        </p:nvPicPr>
        <p:blipFill>
          <a:blip r:embed="rId5"/>
          <a:stretch/>
        </p:blipFill>
        <p:spPr>
          <a:xfrm>
            <a:off x="5056560" y="4270320"/>
            <a:ext cx="327960" cy="327960"/>
          </a:xfrm>
          <a:prstGeom prst="rect">
            <a:avLst/>
          </a:prstGeom>
          <a:ln w="0">
            <a:noFill/>
          </a:ln>
        </p:spPr>
      </p:pic>
      <p:sp>
        <p:nvSpPr>
          <p:cNvPr id="699" name="Text 23"/>
          <p:cNvSpPr/>
          <p:nvPr/>
        </p:nvSpPr>
        <p:spPr>
          <a:xfrm>
            <a:off x="5486400" y="4251960"/>
            <a:ext cx="2147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Event-Driven Jobs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24"/>
          <p:cNvSpPr/>
          <p:nvPr/>
        </p:nvSpPr>
        <p:spPr>
          <a:xfrm>
            <a:off x="5056560" y="4590360"/>
            <a:ext cx="2559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Azure Functions / Lambda / Cloud Functions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25"/>
          <p:cNvSpPr/>
          <p:nvPr/>
        </p:nvSpPr>
        <p:spPr>
          <a:xfrm>
            <a:off x="8275320" y="1664280"/>
            <a:ext cx="3382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2" strike="noStrike">
                <a:solidFill>
                  <a:srgbClr val="93aac7"/>
                </a:solidFill>
                <a:latin typeface="Calibri"/>
                <a:ea typeface="Calibri"/>
              </a:rPr>
              <a:t>SUPPORTING SERVICES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Shape 26"/>
          <p:cNvSpPr/>
          <p:nvPr/>
        </p:nvSpPr>
        <p:spPr>
          <a:xfrm>
            <a:off x="8275320" y="1965960"/>
            <a:ext cx="3382200" cy="913320"/>
          </a:xfrm>
          <a:prstGeom prst="roundRect">
            <a:avLst>
              <a:gd name="adj" fmla="val 90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3" name="Image 5" descr="/home/claude/icons/database.png"/>
          <p:cNvPicPr/>
          <p:nvPr/>
        </p:nvPicPr>
        <p:blipFill>
          <a:blip r:embed="rId6"/>
          <a:stretch/>
        </p:blipFill>
        <p:spPr>
          <a:xfrm>
            <a:off x="8439840" y="21488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704" name="Text 27"/>
          <p:cNvSpPr/>
          <p:nvPr/>
        </p:nvSpPr>
        <p:spPr>
          <a:xfrm>
            <a:off x="8915400" y="2075760"/>
            <a:ext cx="2650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Managed Database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28"/>
          <p:cNvSpPr/>
          <p:nvPr/>
        </p:nvSpPr>
        <p:spPr>
          <a:xfrm>
            <a:off x="8915400" y="2331720"/>
            <a:ext cx="2650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Cloud SQL / RDS / Cosmos DB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Shape 29"/>
          <p:cNvSpPr/>
          <p:nvPr/>
        </p:nvSpPr>
        <p:spPr>
          <a:xfrm>
            <a:off x="8275320" y="3054240"/>
            <a:ext cx="3382200" cy="913320"/>
          </a:xfrm>
          <a:prstGeom prst="roundRect">
            <a:avLst>
              <a:gd name="adj" fmla="val 9000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7" name="Image 6" descr="/home/claude/icons/shield.png"/>
          <p:cNvPicPr/>
          <p:nvPr/>
        </p:nvPicPr>
        <p:blipFill>
          <a:blip r:embed="rId7"/>
          <a:stretch/>
        </p:blipFill>
        <p:spPr>
          <a:xfrm>
            <a:off x="8439840" y="323712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708" name="Text 30"/>
          <p:cNvSpPr/>
          <p:nvPr/>
        </p:nvSpPr>
        <p:spPr>
          <a:xfrm>
            <a:off x="8915400" y="3163680"/>
            <a:ext cx="2650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Identity &amp; Secrets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 31"/>
          <p:cNvSpPr/>
          <p:nvPr/>
        </p:nvSpPr>
        <p:spPr>
          <a:xfrm>
            <a:off x="8915400" y="3420000"/>
            <a:ext cx="2650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IAM, RBAC, Key Vault / Secrets Manager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Shape 32"/>
          <p:cNvSpPr/>
          <p:nvPr/>
        </p:nvSpPr>
        <p:spPr>
          <a:xfrm>
            <a:off x="8275320" y="4142160"/>
            <a:ext cx="3382200" cy="913320"/>
          </a:xfrm>
          <a:prstGeom prst="roundRect">
            <a:avLst>
              <a:gd name="adj" fmla="val 9000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1" name="Image 7" descr="/home/claude/icons/eye.png"/>
          <p:cNvPicPr/>
          <p:nvPr/>
        </p:nvPicPr>
        <p:blipFill>
          <a:blip r:embed="rId8"/>
          <a:stretch/>
        </p:blipFill>
        <p:spPr>
          <a:xfrm>
            <a:off x="8439840" y="43250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712" name="Text 33"/>
          <p:cNvSpPr/>
          <p:nvPr/>
        </p:nvSpPr>
        <p:spPr>
          <a:xfrm>
            <a:off x="8915400" y="4251960"/>
            <a:ext cx="26506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Observability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Text 34"/>
          <p:cNvSpPr/>
          <p:nvPr/>
        </p:nvSpPr>
        <p:spPr>
          <a:xfrm>
            <a:off x="8915400" y="4507920"/>
            <a:ext cx="265068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Cloud-native monitoring &amp; tracing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Shape 35"/>
          <p:cNvSpPr/>
          <p:nvPr/>
        </p:nvSpPr>
        <p:spPr>
          <a:xfrm>
            <a:off x="502920" y="5413320"/>
            <a:ext cx="11200320" cy="913320"/>
          </a:xfrm>
          <a:prstGeom prst="roundRect">
            <a:avLst>
              <a:gd name="adj" fmla="val 9000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36"/>
          <p:cNvSpPr/>
          <p:nvPr/>
        </p:nvSpPr>
        <p:spPr>
          <a:xfrm>
            <a:off x="777240" y="5513760"/>
            <a:ext cx="54853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2" strike="noStrike">
                <a:solidFill>
                  <a:srgbClr val="0891b2"/>
                </a:solidFill>
                <a:latin typeface="Calibri"/>
                <a:ea typeface="Calibri"/>
              </a:rPr>
              <a:t>WHY THIS ARCHITECTURE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6" name="Image 8" descr="/home/claude/icons/check.png"/>
          <p:cNvPicPr/>
          <p:nvPr/>
        </p:nvPicPr>
        <p:blipFill>
          <a:blip r:embed="rId9"/>
          <a:stretch/>
        </p:blipFill>
        <p:spPr>
          <a:xfrm>
            <a:off x="777240" y="577908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17" name="Text 37"/>
          <p:cNvSpPr/>
          <p:nvPr/>
        </p:nvSpPr>
        <p:spPr>
          <a:xfrm>
            <a:off x="1106280" y="5742360"/>
            <a:ext cx="2330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Right tool for each workload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8" name="Image 9" descr="/home/claude/icons/shield.png"/>
          <p:cNvPicPr/>
          <p:nvPr/>
        </p:nvPicPr>
        <p:blipFill>
          <a:blip r:embed="rId10"/>
          <a:stretch/>
        </p:blipFill>
        <p:spPr>
          <a:xfrm>
            <a:off x="3520440" y="577908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19" name="Text 38"/>
          <p:cNvSpPr/>
          <p:nvPr/>
        </p:nvSpPr>
        <p:spPr>
          <a:xfrm>
            <a:off x="3849480" y="5742360"/>
            <a:ext cx="2330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No single point of failure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0" name="Image 10" descr="/home/claude/icons/dollar.png"/>
          <p:cNvPicPr/>
          <p:nvPr/>
        </p:nvPicPr>
        <p:blipFill>
          <a:blip r:embed="rId11"/>
          <a:stretch/>
        </p:blipFill>
        <p:spPr>
          <a:xfrm>
            <a:off x="6263640" y="577908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21" name="Text 39"/>
          <p:cNvSpPr/>
          <p:nvPr/>
        </p:nvSpPr>
        <p:spPr>
          <a:xfrm>
            <a:off x="6592680" y="5742360"/>
            <a:ext cx="2330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Lower cost per workload type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2" name="Image 11" descr="/home/claude/icons/rocket.png"/>
          <p:cNvPicPr/>
          <p:nvPr/>
        </p:nvPicPr>
        <p:blipFill>
          <a:blip r:embed="rId12"/>
          <a:stretch/>
        </p:blipFill>
        <p:spPr>
          <a:xfrm>
            <a:off x="9006840" y="577908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23" name="Text 40"/>
          <p:cNvSpPr/>
          <p:nvPr/>
        </p:nvSpPr>
        <p:spPr>
          <a:xfrm>
            <a:off x="9335880" y="5742360"/>
            <a:ext cx="2330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Faster developer onboarding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41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Recommended Architecture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Text 42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12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Text 0"/>
          <p:cNvSpPr/>
          <p:nvPr/>
        </p:nvSpPr>
        <p:spPr>
          <a:xfrm>
            <a:off x="502920" y="320040"/>
            <a:ext cx="9142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Text 1"/>
          <p:cNvSpPr/>
          <p:nvPr/>
        </p:nvSpPr>
        <p:spPr>
          <a:xfrm>
            <a:off x="502920" y="182880"/>
            <a:ext cx="1115460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Migration Strategy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2"/>
          <p:cNvSpPr/>
          <p:nvPr/>
        </p:nvSpPr>
        <p:spPr>
          <a:xfrm>
            <a:off x="3886560" y="5029200"/>
            <a:ext cx="109717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7e4f2"/>
                </a:solidFill>
                <a:latin typeface="Calibri"/>
                <a:ea typeface="Calibri"/>
              </a:rPr>
              <a:t>A phased, low-risk migration validates each step before expanding scope.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3"/>
          <p:cNvSpPr/>
          <p:nvPr/>
        </p:nvSpPr>
        <p:spPr>
          <a:xfrm>
            <a:off x="1769040" y="2743200"/>
            <a:ext cx="8668800" cy="360"/>
          </a:xfrm>
          <a:prstGeom prst="line">
            <a:avLst/>
          </a:prstGeom>
          <a:ln w="25400">
            <a:solidFill>
              <a:srgbClr val="1d3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Shape 4"/>
          <p:cNvSpPr/>
          <p:nvPr/>
        </p:nvSpPr>
        <p:spPr>
          <a:xfrm>
            <a:off x="1476720" y="2450520"/>
            <a:ext cx="584280" cy="58428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1" name="Image 0" descr="/home/claude/icons/search.png"/>
          <p:cNvPicPr/>
          <p:nvPr/>
        </p:nvPicPr>
        <p:blipFill>
          <a:blip r:embed="rId1"/>
          <a:stretch/>
        </p:blipFill>
        <p:spPr>
          <a:xfrm>
            <a:off x="1623240" y="25970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732" name="Shape 5"/>
          <p:cNvSpPr/>
          <p:nvPr/>
        </p:nvSpPr>
        <p:spPr>
          <a:xfrm>
            <a:off x="758880" y="3246120"/>
            <a:ext cx="2019600" cy="1461960"/>
          </a:xfrm>
          <a:prstGeom prst="roundRect">
            <a:avLst>
              <a:gd name="adj" fmla="val 5625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Shape 6"/>
          <p:cNvSpPr/>
          <p:nvPr/>
        </p:nvSpPr>
        <p:spPr>
          <a:xfrm>
            <a:off x="1769040" y="3035520"/>
            <a:ext cx="360" cy="21060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7"/>
          <p:cNvSpPr/>
          <p:nvPr/>
        </p:nvSpPr>
        <p:spPr>
          <a:xfrm>
            <a:off x="868680" y="3355920"/>
            <a:ext cx="1800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2" strike="noStrike">
                <a:solidFill>
                  <a:srgbClr val="7dd3fc"/>
                </a:solidFill>
                <a:latin typeface="Calibri"/>
                <a:ea typeface="Calibri"/>
              </a:rPr>
              <a:t>PHASE 1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Text 8"/>
          <p:cNvSpPr/>
          <p:nvPr/>
        </p:nvSpPr>
        <p:spPr>
          <a:xfrm>
            <a:off x="831960" y="3557160"/>
            <a:ext cx="1873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Assessment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Text 9"/>
          <p:cNvSpPr/>
          <p:nvPr/>
        </p:nvSpPr>
        <p:spPr>
          <a:xfrm>
            <a:off x="868680" y="3904560"/>
            <a:ext cx="18003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Identify suitable workloads: internal APIs, scheduled jobs, background workers, event-driven services.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Shape 10"/>
          <p:cNvSpPr/>
          <p:nvPr/>
        </p:nvSpPr>
        <p:spPr>
          <a:xfrm>
            <a:off x="3643920" y="2450520"/>
            <a:ext cx="584280" cy="58428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8" name="Image 1" descr="/home/claude/icons/box.png"/>
          <p:cNvPicPr/>
          <p:nvPr/>
        </p:nvPicPr>
        <p:blipFill>
          <a:blip r:embed="rId2"/>
          <a:stretch/>
        </p:blipFill>
        <p:spPr>
          <a:xfrm>
            <a:off x="3790080" y="25970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739" name="Shape 11"/>
          <p:cNvSpPr/>
          <p:nvPr/>
        </p:nvSpPr>
        <p:spPr>
          <a:xfrm>
            <a:off x="2926080" y="777240"/>
            <a:ext cx="2019600" cy="1461960"/>
          </a:xfrm>
          <a:prstGeom prst="roundRect">
            <a:avLst>
              <a:gd name="adj" fmla="val 5625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Shape 12"/>
          <p:cNvSpPr/>
          <p:nvPr/>
        </p:nvSpPr>
        <p:spPr>
          <a:xfrm>
            <a:off x="3936240" y="2240280"/>
            <a:ext cx="360" cy="21024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Text 13"/>
          <p:cNvSpPr/>
          <p:nvPr/>
        </p:nvSpPr>
        <p:spPr>
          <a:xfrm>
            <a:off x="3035880" y="887040"/>
            <a:ext cx="1800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2" strike="noStrike">
                <a:solidFill>
                  <a:srgbClr val="7dd3fc"/>
                </a:solidFill>
                <a:latin typeface="Calibri"/>
                <a:ea typeface="Calibri"/>
              </a:rPr>
              <a:t>PHASE 2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14"/>
          <p:cNvSpPr/>
          <p:nvPr/>
        </p:nvSpPr>
        <p:spPr>
          <a:xfrm>
            <a:off x="2999160" y="1088280"/>
            <a:ext cx="1873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Containerization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15"/>
          <p:cNvSpPr/>
          <p:nvPr/>
        </p:nvSpPr>
        <p:spPr>
          <a:xfrm>
            <a:off x="3035880" y="1417320"/>
            <a:ext cx="18003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Move complete backend applications to serverless containers; migrate independent event-driven tasks to functions.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Shape 16"/>
          <p:cNvSpPr/>
          <p:nvPr/>
        </p:nvSpPr>
        <p:spPr>
          <a:xfrm>
            <a:off x="5811120" y="2450520"/>
            <a:ext cx="584280" cy="58428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5" name="Image 2" descr="/home/claude/icons/play.png"/>
          <p:cNvPicPr/>
          <p:nvPr/>
        </p:nvPicPr>
        <p:blipFill>
          <a:blip r:embed="rId3"/>
          <a:stretch/>
        </p:blipFill>
        <p:spPr>
          <a:xfrm>
            <a:off x="5957280" y="25970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746" name="Shape 17"/>
          <p:cNvSpPr/>
          <p:nvPr/>
        </p:nvSpPr>
        <p:spPr>
          <a:xfrm>
            <a:off x="5093280" y="3246120"/>
            <a:ext cx="2019600" cy="1461960"/>
          </a:xfrm>
          <a:prstGeom prst="roundRect">
            <a:avLst>
              <a:gd name="adj" fmla="val 5625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Shape 18"/>
          <p:cNvSpPr/>
          <p:nvPr/>
        </p:nvSpPr>
        <p:spPr>
          <a:xfrm>
            <a:off x="6103440" y="3035520"/>
            <a:ext cx="360" cy="21060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Text 19"/>
          <p:cNvSpPr/>
          <p:nvPr/>
        </p:nvSpPr>
        <p:spPr>
          <a:xfrm>
            <a:off x="5203080" y="3355920"/>
            <a:ext cx="1800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2" strike="noStrike">
                <a:solidFill>
                  <a:srgbClr val="7dd3fc"/>
                </a:solidFill>
                <a:latin typeface="Calibri"/>
                <a:ea typeface="Calibri"/>
              </a:rPr>
              <a:t>PHASE 3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Text 20"/>
          <p:cNvSpPr/>
          <p:nvPr/>
        </p:nvSpPr>
        <p:spPr>
          <a:xfrm>
            <a:off x="5166360" y="3557160"/>
            <a:ext cx="1873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Pilot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21"/>
          <p:cNvSpPr/>
          <p:nvPr/>
        </p:nvSpPr>
        <p:spPr>
          <a:xfrm>
            <a:off x="5203080" y="3904560"/>
            <a:ext cx="18003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Deploy pilot applications to a serverless container platform; monitor performance, cost, reliability and effort.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Shape 22"/>
          <p:cNvSpPr/>
          <p:nvPr/>
        </p:nvSpPr>
        <p:spPr>
          <a:xfrm>
            <a:off x="7978320" y="2450520"/>
            <a:ext cx="584280" cy="58428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2" name="Image 3" descr="/home/claude/icons/arrowup.png"/>
          <p:cNvPicPr/>
          <p:nvPr/>
        </p:nvPicPr>
        <p:blipFill>
          <a:blip r:embed="rId4"/>
          <a:stretch/>
        </p:blipFill>
        <p:spPr>
          <a:xfrm>
            <a:off x="8124480" y="25970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753" name="Shape 23"/>
          <p:cNvSpPr/>
          <p:nvPr/>
        </p:nvSpPr>
        <p:spPr>
          <a:xfrm>
            <a:off x="7260480" y="777240"/>
            <a:ext cx="2019600" cy="1461960"/>
          </a:xfrm>
          <a:prstGeom prst="roundRect">
            <a:avLst>
              <a:gd name="adj" fmla="val 5625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Shape 24"/>
          <p:cNvSpPr/>
          <p:nvPr/>
        </p:nvSpPr>
        <p:spPr>
          <a:xfrm>
            <a:off x="8270640" y="2240280"/>
            <a:ext cx="360" cy="21024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25"/>
          <p:cNvSpPr/>
          <p:nvPr/>
        </p:nvSpPr>
        <p:spPr>
          <a:xfrm>
            <a:off x="7369920" y="887040"/>
            <a:ext cx="1800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2" strike="noStrike">
                <a:solidFill>
                  <a:srgbClr val="7dd3fc"/>
                </a:solidFill>
                <a:latin typeface="Calibri"/>
                <a:ea typeface="Calibri"/>
              </a:rPr>
              <a:t>PHASE 4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26"/>
          <p:cNvSpPr/>
          <p:nvPr/>
        </p:nvSpPr>
        <p:spPr>
          <a:xfrm>
            <a:off x="7333560" y="1088280"/>
            <a:ext cx="1873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Production Rollout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Text 27"/>
          <p:cNvSpPr/>
          <p:nvPr/>
        </p:nvSpPr>
        <p:spPr>
          <a:xfrm>
            <a:off x="7369920" y="1435680"/>
            <a:ext cx="18003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Measure performance and cost improvements, then gradually migrate additional applications.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Shape 28"/>
          <p:cNvSpPr/>
          <p:nvPr/>
        </p:nvSpPr>
        <p:spPr>
          <a:xfrm>
            <a:off x="10145160" y="2450520"/>
            <a:ext cx="584280" cy="58428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0a1e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9" name="Image 4" descr="/home/claude/icons/gauge.png"/>
          <p:cNvPicPr/>
          <p:nvPr/>
        </p:nvPicPr>
        <p:blipFill>
          <a:blip r:embed="rId5"/>
          <a:stretch/>
        </p:blipFill>
        <p:spPr>
          <a:xfrm>
            <a:off x="10291680" y="2597040"/>
            <a:ext cx="291600" cy="291600"/>
          </a:xfrm>
          <a:prstGeom prst="rect">
            <a:avLst/>
          </a:prstGeom>
          <a:ln w="0">
            <a:noFill/>
          </a:ln>
        </p:spPr>
      </p:pic>
      <p:sp>
        <p:nvSpPr>
          <p:cNvPr id="760" name="Shape 29"/>
          <p:cNvSpPr/>
          <p:nvPr/>
        </p:nvSpPr>
        <p:spPr>
          <a:xfrm>
            <a:off x="9427320" y="3246120"/>
            <a:ext cx="2019600" cy="1461960"/>
          </a:xfrm>
          <a:prstGeom prst="roundRect">
            <a:avLst>
              <a:gd name="adj" fmla="val 5625"/>
            </a:avLst>
          </a:prstGeom>
          <a:solidFill>
            <a:srgbClr val="16324f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30"/>
          <p:cNvSpPr/>
          <p:nvPr/>
        </p:nvSpPr>
        <p:spPr>
          <a:xfrm>
            <a:off x="10437840" y="3035520"/>
            <a:ext cx="360" cy="210600"/>
          </a:xfrm>
          <a:prstGeom prst="line">
            <a:avLst/>
          </a:prstGeom>
          <a:ln w="15875">
            <a:solidFill>
              <a:srgbClr val="1d3e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Text 31"/>
          <p:cNvSpPr/>
          <p:nvPr/>
        </p:nvSpPr>
        <p:spPr>
          <a:xfrm>
            <a:off x="9537120" y="3355920"/>
            <a:ext cx="18003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92" strike="noStrike">
                <a:solidFill>
                  <a:srgbClr val="7dd3fc"/>
                </a:solidFill>
                <a:latin typeface="Calibri"/>
                <a:ea typeface="Calibri"/>
              </a:rPr>
              <a:t>PHASE 5</a:t>
            </a:r>
            <a:endParaRPr b="0" lang="en-US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Text 32"/>
          <p:cNvSpPr/>
          <p:nvPr/>
        </p:nvSpPr>
        <p:spPr>
          <a:xfrm>
            <a:off x="9500760" y="3557160"/>
            <a:ext cx="1873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Optimization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Text 33"/>
          <p:cNvSpPr/>
          <p:nvPr/>
        </p:nvSpPr>
        <p:spPr>
          <a:xfrm>
            <a:off x="9537120" y="3886200"/>
            <a:ext cx="180036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Modernize incrementally rather than a full cutover; retain traditional infra only for long-running or legacy workloads.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Shape 34"/>
          <p:cNvSpPr/>
          <p:nvPr/>
        </p:nvSpPr>
        <p:spPr>
          <a:xfrm>
            <a:off x="502920" y="5440680"/>
            <a:ext cx="11200320" cy="913320"/>
          </a:xfrm>
          <a:prstGeom prst="roundRect">
            <a:avLst>
              <a:gd name="adj" fmla="val 9000"/>
            </a:avLst>
          </a:prstGeom>
          <a:solidFill>
            <a:srgbClr val="eaf4fd"/>
          </a:solidFill>
          <a:ln w="12700">
            <a:solidFill>
              <a:srgbClr val="bfe0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 35"/>
          <p:cNvSpPr/>
          <p:nvPr/>
        </p:nvSpPr>
        <p:spPr>
          <a:xfrm>
            <a:off x="777240" y="5541120"/>
            <a:ext cx="54853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2" strike="noStrike">
                <a:solidFill>
                  <a:srgbClr val="0891b2"/>
                </a:solidFill>
                <a:latin typeface="Calibri"/>
                <a:ea typeface="Calibri"/>
              </a:rPr>
              <a:t>WHY A PHASED APPROACH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7" name="Image 5" descr="/home/claude/icons/shield.png"/>
          <p:cNvPicPr/>
          <p:nvPr/>
        </p:nvPicPr>
        <p:blipFill>
          <a:blip r:embed="rId6"/>
          <a:stretch/>
        </p:blipFill>
        <p:spPr>
          <a:xfrm>
            <a:off x="777240" y="58064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68" name="Text 36"/>
          <p:cNvSpPr/>
          <p:nvPr/>
        </p:nvSpPr>
        <p:spPr>
          <a:xfrm>
            <a:off x="1106280" y="5769720"/>
            <a:ext cx="2330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Minimizes migration risk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9" name="Image 6" descr="/home/claude/icons/check.png"/>
          <p:cNvPicPr/>
          <p:nvPr/>
        </p:nvPicPr>
        <p:blipFill>
          <a:blip r:embed="rId7"/>
          <a:stretch/>
        </p:blipFill>
        <p:spPr>
          <a:xfrm>
            <a:off x="3520440" y="58064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70" name="Text 37"/>
          <p:cNvSpPr/>
          <p:nvPr/>
        </p:nvSpPr>
        <p:spPr>
          <a:xfrm>
            <a:off x="3849480" y="5769720"/>
            <a:ext cx="2330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Validates before scaling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1" name="Image 7" descr="/home/claude/icons/gauge.png"/>
          <p:cNvPicPr/>
          <p:nvPr/>
        </p:nvPicPr>
        <p:blipFill>
          <a:blip r:embed="rId8"/>
          <a:stretch/>
        </p:blipFill>
        <p:spPr>
          <a:xfrm>
            <a:off x="6263640" y="58064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72" name="Text 38"/>
          <p:cNvSpPr/>
          <p:nvPr/>
        </p:nvSpPr>
        <p:spPr>
          <a:xfrm>
            <a:off x="6592680" y="5769720"/>
            <a:ext cx="2330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Confirms cost &amp; performance gains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3" name="Image 8" descr="/home/claude/icons/rocket.png"/>
          <p:cNvPicPr/>
          <p:nvPr/>
        </p:nvPicPr>
        <p:blipFill>
          <a:blip r:embed="rId9"/>
          <a:stretch/>
        </p:blipFill>
        <p:spPr>
          <a:xfrm>
            <a:off x="9006840" y="5806440"/>
            <a:ext cx="254880" cy="254880"/>
          </a:xfrm>
          <a:prstGeom prst="rect">
            <a:avLst/>
          </a:prstGeom>
          <a:ln w="0">
            <a:noFill/>
          </a:ln>
        </p:spPr>
      </p:pic>
      <p:sp>
        <p:nvSpPr>
          <p:cNvPr id="774" name="Text 39"/>
          <p:cNvSpPr/>
          <p:nvPr/>
        </p:nvSpPr>
        <p:spPr>
          <a:xfrm>
            <a:off x="9335880" y="5769720"/>
            <a:ext cx="2330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0f2136"/>
                </a:solidFill>
                <a:latin typeface="Calibri"/>
                <a:ea typeface="Calibri"/>
              </a:rPr>
              <a:t>Protects business continuity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 40"/>
          <p:cNvSpPr/>
          <p:nvPr/>
        </p:nvSpPr>
        <p:spPr>
          <a:xfrm>
            <a:off x="457200" y="65289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Migration Strategy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 41"/>
          <p:cNvSpPr/>
          <p:nvPr/>
        </p:nvSpPr>
        <p:spPr>
          <a:xfrm>
            <a:off x="11003040" y="65289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13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0"/>
          <p:cNvSpPr/>
          <p:nvPr/>
        </p:nvSpPr>
        <p:spPr>
          <a:xfrm>
            <a:off x="9326880" y="-2286000"/>
            <a:ext cx="5942520" cy="5942520"/>
          </a:xfrm>
          <a:prstGeom prst="ellipse">
            <a:avLst/>
          </a:prstGeom>
          <a:solidFill>
            <a:srgbClr val="1632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Text 1"/>
          <p:cNvSpPr/>
          <p:nvPr/>
        </p:nvSpPr>
        <p:spPr>
          <a:xfrm>
            <a:off x="502920" y="36576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4" strike="noStrike">
                <a:solidFill>
                  <a:srgbClr val="7dd3fc"/>
                </a:solidFill>
                <a:latin typeface="Calibri"/>
                <a:ea typeface="Calibri"/>
              </a:rPr>
              <a:t>CONCLUSION &amp; NEXT STEPS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2"/>
          <p:cNvSpPr/>
          <p:nvPr/>
        </p:nvSpPr>
        <p:spPr>
          <a:xfrm>
            <a:off x="502920" y="621720"/>
            <a:ext cx="91429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Final Recommendations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Shape 3"/>
          <p:cNvSpPr/>
          <p:nvPr/>
        </p:nvSpPr>
        <p:spPr>
          <a:xfrm>
            <a:off x="502920" y="1371600"/>
            <a:ext cx="3610800" cy="1553400"/>
          </a:xfrm>
          <a:prstGeom prst="roundRect">
            <a:avLst>
              <a:gd name="adj" fmla="val 5294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1" name="Image 0" descr="/home/claude/icons/microsoft.png"/>
          <p:cNvPicPr/>
          <p:nvPr/>
        </p:nvPicPr>
        <p:blipFill>
          <a:blip r:embed="rId1"/>
          <a:stretch/>
        </p:blipFill>
        <p:spPr>
          <a:xfrm>
            <a:off x="731520" y="1554480"/>
            <a:ext cx="401400" cy="401400"/>
          </a:xfrm>
          <a:prstGeom prst="rect">
            <a:avLst/>
          </a:prstGeom>
          <a:ln w="0">
            <a:noFill/>
          </a:ln>
        </p:spPr>
      </p:pic>
      <p:sp>
        <p:nvSpPr>
          <p:cNvPr id="782" name="Text 4"/>
          <p:cNvSpPr/>
          <p:nvPr/>
        </p:nvSpPr>
        <p:spPr>
          <a:xfrm>
            <a:off x="1280160" y="153612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3" strike="noStrike">
                <a:solidFill>
                  <a:srgbClr val="10b981"/>
                </a:solidFill>
                <a:latin typeface="Calibri"/>
                <a:ea typeface="Calibri"/>
              </a:rPr>
              <a:t>ENTERPRISE PLATFORM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ext 5"/>
          <p:cNvSpPr/>
          <p:nvPr/>
        </p:nvSpPr>
        <p:spPr>
          <a:xfrm>
            <a:off x="1280160" y="177408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Azure, AWS or Google Cloud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6"/>
          <p:cNvSpPr/>
          <p:nvPr/>
        </p:nvSpPr>
        <p:spPr>
          <a:xfrm>
            <a:off x="731520" y="2377440"/>
            <a:ext cx="319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b6d4"/>
                </a:solidFill>
                <a:latin typeface="Calibri"/>
                <a:ea typeface="Calibri"/>
              </a:rPr>
              <a:t>Best fit for our current &amp; near-term workloads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7"/>
          <p:cNvSpPr/>
          <p:nvPr/>
        </p:nvSpPr>
        <p:spPr>
          <a:xfrm>
            <a:off x="4279320" y="1371600"/>
            <a:ext cx="3610800" cy="1553400"/>
          </a:xfrm>
          <a:prstGeom prst="roundRect">
            <a:avLst>
              <a:gd name="adj" fmla="val 5294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6" name="Image 1" descr="/home/claude/icons/react.png"/>
          <p:cNvPicPr/>
          <p:nvPr/>
        </p:nvPicPr>
        <p:blipFill>
          <a:blip r:embed="rId2"/>
          <a:stretch/>
        </p:blipFill>
        <p:spPr>
          <a:xfrm>
            <a:off x="4507920" y="1554480"/>
            <a:ext cx="401400" cy="401400"/>
          </a:xfrm>
          <a:prstGeom prst="rect">
            <a:avLst/>
          </a:prstGeom>
          <a:ln w="0">
            <a:noFill/>
          </a:ln>
        </p:spPr>
      </p:pic>
      <p:sp>
        <p:nvSpPr>
          <p:cNvPr id="787" name="Text 8"/>
          <p:cNvSpPr/>
          <p:nvPr/>
        </p:nvSpPr>
        <p:spPr>
          <a:xfrm>
            <a:off x="5056560" y="153612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3" strike="noStrike">
                <a:solidFill>
                  <a:srgbClr val="0ea5e9"/>
                </a:solidFill>
                <a:latin typeface="Calibri"/>
                <a:ea typeface="Calibri"/>
              </a:rPr>
              <a:t>FRONTEND PLATFORM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9"/>
          <p:cNvSpPr/>
          <p:nvPr/>
        </p:nvSpPr>
        <p:spPr>
          <a:xfrm>
            <a:off x="5056560" y="177408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Vercel for Next.js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10"/>
          <p:cNvSpPr/>
          <p:nvPr/>
        </p:nvSpPr>
        <p:spPr>
          <a:xfrm>
            <a:off x="4507920" y="2377440"/>
            <a:ext cx="319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b6d4"/>
                </a:solidFill>
                <a:latin typeface="Calibri"/>
                <a:ea typeface="Calibri"/>
              </a:rPr>
              <a:t>Best fit for our current &amp; near-term workloads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11"/>
          <p:cNvSpPr/>
          <p:nvPr/>
        </p:nvSpPr>
        <p:spPr>
          <a:xfrm>
            <a:off x="8055720" y="1371600"/>
            <a:ext cx="3610800" cy="1553400"/>
          </a:xfrm>
          <a:prstGeom prst="roundRect">
            <a:avLst>
              <a:gd name="adj" fmla="val 5294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1" name="Image 2" descr="/home/claude/icons/globe.png"/>
          <p:cNvPicPr/>
          <p:nvPr/>
        </p:nvPicPr>
        <p:blipFill>
          <a:blip r:embed="rId3"/>
          <a:stretch/>
        </p:blipFill>
        <p:spPr>
          <a:xfrm>
            <a:off x="8284320" y="1554480"/>
            <a:ext cx="401400" cy="401400"/>
          </a:xfrm>
          <a:prstGeom prst="rect">
            <a:avLst/>
          </a:prstGeom>
          <a:ln w="0">
            <a:noFill/>
          </a:ln>
        </p:spPr>
      </p:pic>
      <p:sp>
        <p:nvSpPr>
          <p:cNvPr id="792" name="Text 12"/>
          <p:cNvSpPr/>
          <p:nvPr/>
        </p:nvSpPr>
        <p:spPr>
          <a:xfrm>
            <a:off x="8832960" y="1536120"/>
            <a:ext cx="2742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3" strike="noStrike">
                <a:solidFill>
                  <a:srgbClr val="7c3aed"/>
                </a:solidFill>
                <a:latin typeface="Calibri"/>
                <a:ea typeface="Calibri"/>
              </a:rPr>
              <a:t>COMPLEMENTARY LAYER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13"/>
          <p:cNvSpPr/>
          <p:nvPr/>
        </p:nvSpPr>
        <p:spPr>
          <a:xfrm>
            <a:off x="8832960" y="1774080"/>
            <a:ext cx="2742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Cloudflare for CDN &amp; security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14"/>
          <p:cNvSpPr/>
          <p:nvPr/>
        </p:nvSpPr>
        <p:spPr>
          <a:xfrm>
            <a:off x="8284320" y="2377440"/>
            <a:ext cx="3199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fb6d4"/>
                </a:solidFill>
                <a:latin typeface="Calibri"/>
                <a:ea typeface="Calibri"/>
              </a:rPr>
              <a:t>Best fit for our current &amp; near-term workloads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15"/>
          <p:cNvSpPr/>
          <p:nvPr/>
        </p:nvSpPr>
        <p:spPr>
          <a:xfrm>
            <a:off x="502920" y="3200400"/>
            <a:ext cx="54853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43" strike="noStrike">
                <a:solidFill>
                  <a:srgbClr val="7dd3fc"/>
                </a:solidFill>
                <a:latin typeface="Calibri"/>
                <a:ea typeface="Calibri"/>
              </a:rPr>
              <a:t>EXPECTED BENEFITS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6" name="Image 3" descr="/home/claude/icons/check.png"/>
          <p:cNvPicPr/>
          <p:nvPr/>
        </p:nvPicPr>
        <p:blipFill>
          <a:blip r:embed="rId4"/>
          <a:stretch/>
        </p:blipFill>
        <p:spPr>
          <a:xfrm>
            <a:off x="502920" y="353880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797" name="Text 16"/>
          <p:cNvSpPr/>
          <p:nvPr/>
        </p:nvSpPr>
        <p:spPr>
          <a:xfrm>
            <a:off x="813960" y="3520440"/>
            <a:ext cx="32907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Lower infrastructure cost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8" name="Image 4" descr="/home/claude/icons/check.png"/>
          <p:cNvPicPr/>
          <p:nvPr/>
        </p:nvPicPr>
        <p:blipFill>
          <a:blip r:embed="rId5"/>
          <a:stretch/>
        </p:blipFill>
        <p:spPr>
          <a:xfrm>
            <a:off x="4279320" y="353880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799" name="Text 17"/>
          <p:cNvSpPr/>
          <p:nvPr/>
        </p:nvSpPr>
        <p:spPr>
          <a:xfrm>
            <a:off x="4590360" y="3520440"/>
            <a:ext cx="32907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Automatic scaling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0" name="Image 5" descr="/home/claude/icons/check.png"/>
          <p:cNvPicPr/>
          <p:nvPr/>
        </p:nvPicPr>
        <p:blipFill>
          <a:blip r:embed="rId6"/>
          <a:stretch/>
        </p:blipFill>
        <p:spPr>
          <a:xfrm>
            <a:off x="8055720" y="353880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801" name="Text 18"/>
          <p:cNvSpPr/>
          <p:nvPr/>
        </p:nvSpPr>
        <p:spPr>
          <a:xfrm>
            <a:off x="8366760" y="3520440"/>
            <a:ext cx="32907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Scale-to-zero savings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2" name="Image 6" descr="/home/claude/icons/check.png"/>
          <p:cNvPicPr/>
          <p:nvPr/>
        </p:nvPicPr>
        <p:blipFill>
          <a:blip r:embed="rId7"/>
          <a:stretch/>
        </p:blipFill>
        <p:spPr>
          <a:xfrm>
            <a:off x="502920" y="399600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803" name="Text 19"/>
          <p:cNvSpPr/>
          <p:nvPr/>
        </p:nvSpPr>
        <p:spPr>
          <a:xfrm>
            <a:off x="813960" y="3977640"/>
            <a:ext cx="32907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Reduced ops overhead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4" name="Image 7" descr="/home/claude/icons/check.png"/>
          <p:cNvPicPr/>
          <p:nvPr/>
        </p:nvPicPr>
        <p:blipFill>
          <a:blip r:embed="rId8"/>
          <a:stretch/>
        </p:blipFill>
        <p:spPr>
          <a:xfrm>
            <a:off x="4279320" y="399600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805" name="Text 20"/>
          <p:cNvSpPr/>
          <p:nvPr/>
        </p:nvSpPr>
        <p:spPr>
          <a:xfrm>
            <a:off x="4590360" y="3977640"/>
            <a:ext cx="32907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Faster deployments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6" name="Image 8" descr="/home/claude/icons/check.png"/>
          <p:cNvPicPr/>
          <p:nvPr/>
        </p:nvPicPr>
        <p:blipFill>
          <a:blip r:embed="rId9"/>
          <a:stretch/>
        </p:blipFill>
        <p:spPr>
          <a:xfrm>
            <a:off x="8055720" y="399600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807" name="Text 21"/>
          <p:cNvSpPr/>
          <p:nvPr/>
        </p:nvSpPr>
        <p:spPr>
          <a:xfrm>
            <a:off x="8366760" y="3977640"/>
            <a:ext cx="32907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4edf7"/>
                </a:solidFill>
                <a:latin typeface="Calibri"/>
                <a:ea typeface="Calibri"/>
              </a:rPr>
              <a:t>Better resource utilization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22"/>
          <p:cNvSpPr/>
          <p:nvPr/>
        </p:nvSpPr>
        <p:spPr>
          <a:xfrm>
            <a:off x="502920" y="4617720"/>
            <a:ext cx="11200320" cy="1690560"/>
          </a:xfrm>
          <a:prstGeom prst="roundRect">
            <a:avLst>
              <a:gd name="adj" fmla="val 4865"/>
            </a:avLst>
          </a:prstGeom>
          <a:solidFill>
            <a:srgbClr val="1d3e63"/>
          </a:solidFill>
          <a:ln w="12700">
            <a:solidFill>
              <a:srgbClr val="27476e"/>
            </a:solidFill>
            <a:round/>
          </a:ln>
          <a:effectLst>
            <a:outerShdw algn="bl" blurRad="88920" dir="5400000" dist="25560" kx="0" ky="0" rotWithShape="0" sx="100000" sy="100000">
              <a:srgbClr val="01050c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23"/>
          <p:cNvSpPr/>
          <p:nvPr/>
        </p:nvSpPr>
        <p:spPr>
          <a:xfrm>
            <a:off x="777240" y="4754880"/>
            <a:ext cx="54853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143" strike="noStrike">
                <a:solidFill>
                  <a:srgbClr val="7dd3fc"/>
                </a:solidFill>
                <a:latin typeface="Calibri"/>
                <a:ea typeface="Calibri"/>
              </a:rPr>
              <a:t>BOTTOM LINE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 24"/>
          <p:cNvSpPr/>
          <p:nvPr/>
        </p:nvSpPr>
        <p:spPr>
          <a:xfrm>
            <a:off x="777240" y="5029200"/>
            <a:ext cx="1060596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4edf7"/>
                </a:solidFill>
                <a:latin typeface="Calibri"/>
                <a:ea typeface="Calibri"/>
              </a:rPr>
              <a:t>Serverless is not a replacement for our applications — it's a smarter way to run them. Choosing the right compute model (containers vs. functions) matters more than choosing a cloud provider: Serverless Containers suit existing Python apps with minimal migration, while Functions suit independent, event-driven tasks. Adopt a workload-driven, hybrid architecture — Python APIs on serverless containers, event-driven jobs on functions, Next.js on Vercel, Cloudflare for CDN and security — and modernize incrementally rather than attempting a full cutover.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 25"/>
          <p:cNvSpPr/>
          <p:nvPr/>
        </p:nvSpPr>
        <p:spPr>
          <a:xfrm>
            <a:off x="11003040" y="649224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b87a8"/>
                </a:solidFill>
                <a:latin typeface="Calibri"/>
                <a:ea typeface="Calibri"/>
              </a:rPr>
              <a:t>14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Text 66"/>
          <p:cNvSpPr/>
          <p:nvPr/>
        </p:nvSpPr>
        <p:spPr>
          <a:xfrm>
            <a:off x="6105600" y="5014800"/>
            <a:ext cx="1060596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CHAPTER 1 – COMMUNICATION MODELS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Real-Time Communication in Serverless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Shape 2"/>
          <p:cNvSpPr/>
          <p:nvPr/>
        </p:nvSpPr>
        <p:spPr>
          <a:xfrm>
            <a:off x="502920" y="1234440"/>
            <a:ext cx="3528720" cy="1690920"/>
          </a:xfrm>
          <a:prstGeom prst="roundRect">
            <a:avLst>
              <a:gd name="adj" fmla="val 4324"/>
            </a:avLst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Shape 3"/>
          <p:cNvSpPr/>
          <p:nvPr/>
        </p:nvSpPr>
        <p:spPr>
          <a:xfrm>
            <a:off x="704160" y="1417320"/>
            <a:ext cx="456480" cy="45648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7" name="Image 0" descr="/home/claude/work/icons/broadcast_blue.png"/>
          <p:cNvPicPr/>
          <p:nvPr/>
        </p:nvPicPr>
        <p:blipFill>
          <a:blip r:embed="rId1"/>
          <a:stretch/>
        </p:blipFill>
        <p:spPr>
          <a:xfrm>
            <a:off x="813960" y="152712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818" name="Text 4"/>
          <p:cNvSpPr/>
          <p:nvPr/>
        </p:nvSpPr>
        <p:spPr>
          <a:xfrm>
            <a:off x="1280160" y="1398960"/>
            <a:ext cx="2614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Server-Sent Events (SSE)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Text 5"/>
          <p:cNvSpPr/>
          <p:nvPr/>
        </p:nvSpPr>
        <p:spPr>
          <a:xfrm>
            <a:off x="704160" y="1947600"/>
            <a:ext cx="312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ea5e9"/>
                </a:solidFill>
                <a:latin typeface="Courier New"/>
                <a:ea typeface="Courier New"/>
              </a:rPr>
              <a:t>Server ───► Client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 6"/>
          <p:cNvSpPr/>
          <p:nvPr/>
        </p:nvSpPr>
        <p:spPr>
          <a:xfrm>
            <a:off x="704160" y="2258640"/>
            <a:ext cx="3126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One-way stream from server to client. Ideal for live logs &amp; notifications.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Shape 7"/>
          <p:cNvSpPr/>
          <p:nvPr/>
        </p:nvSpPr>
        <p:spPr>
          <a:xfrm>
            <a:off x="4215240" y="1234440"/>
            <a:ext cx="3528720" cy="1690920"/>
          </a:xfrm>
          <a:prstGeom prst="roundRect">
            <a:avLst>
              <a:gd name="adj" fmla="val 4324"/>
            </a:avLst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Shape 8"/>
          <p:cNvSpPr/>
          <p:nvPr/>
        </p:nvSpPr>
        <p:spPr>
          <a:xfrm>
            <a:off x="4416480" y="1417320"/>
            <a:ext cx="456480" cy="45648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3" name="Image 1" descr="/home/claude/work/icons/exchange_purple.png"/>
          <p:cNvPicPr/>
          <p:nvPr/>
        </p:nvPicPr>
        <p:blipFill>
          <a:blip r:embed="rId2"/>
          <a:stretch/>
        </p:blipFill>
        <p:spPr>
          <a:xfrm>
            <a:off x="4526280" y="152712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824" name="Text 9"/>
          <p:cNvSpPr/>
          <p:nvPr/>
        </p:nvSpPr>
        <p:spPr>
          <a:xfrm>
            <a:off x="4992480" y="1398960"/>
            <a:ext cx="2614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WebSockets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Text 10"/>
          <p:cNvSpPr/>
          <p:nvPr/>
        </p:nvSpPr>
        <p:spPr>
          <a:xfrm>
            <a:off x="4416480" y="1947600"/>
            <a:ext cx="312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78bfa"/>
                </a:solidFill>
                <a:latin typeface="Courier New"/>
                <a:ea typeface="Courier New"/>
              </a:rPr>
              <a:t>Client ◄──► Server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Text 11"/>
          <p:cNvSpPr/>
          <p:nvPr/>
        </p:nvSpPr>
        <p:spPr>
          <a:xfrm>
            <a:off x="4416480" y="2258640"/>
            <a:ext cx="3126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Persistent, bidirectional channel. Ideal for chat &amp; multiplayer.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Shape 12"/>
          <p:cNvSpPr/>
          <p:nvPr/>
        </p:nvSpPr>
        <p:spPr>
          <a:xfrm>
            <a:off x="7927920" y="1234440"/>
            <a:ext cx="3528720" cy="1690920"/>
          </a:xfrm>
          <a:prstGeom prst="roundRect">
            <a:avLst>
              <a:gd name="adj" fmla="val 4324"/>
            </a:avLst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Shape 13"/>
          <p:cNvSpPr/>
          <p:nvPr/>
        </p:nvSpPr>
        <p:spPr>
          <a:xfrm>
            <a:off x="8129160" y="1417320"/>
            <a:ext cx="456480" cy="456480"/>
          </a:xfrm>
          <a:prstGeom prst="ellipse">
            <a:avLst/>
          </a:prstGeom>
          <a:solidFill>
            <a:srgbClr val="1038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9" name="Image 2" descr="/home/claude/work/icons/plug_green.png"/>
          <p:cNvPicPr/>
          <p:nvPr/>
        </p:nvPicPr>
        <p:blipFill>
          <a:blip r:embed="rId3"/>
          <a:stretch/>
        </p:blipFill>
        <p:spPr>
          <a:xfrm>
            <a:off x="8238600" y="152712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830" name="Text 14"/>
          <p:cNvSpPr/>
          <p:nvPr/>
        </p:nvSpPr>
        <p:spPr>
          <a:xfrm>
            <a:off x="8705160" y="1398960"/>
            <a:ext cx="2614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Socket.IO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Text 15"/>
          <p:cNvSpPr/>
          <p:nvPr/>
        </p:nvSpPr>
        <p:spPr>
          <a:xfrm>
            <a:off x="8129160" y="1947600"/>
            <a:ext cx="312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d399"/>
                </a:solidFill>
                <a:latin typeface="Courier New"/>
                <a:ea typeface="Courier New"/>
              </a:rPr>
              <a:t>Client ◄──► Server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Text 16"/>
          <p:cNvSpPr/>
          <p:nvPr/>
        </p:nvSpPr>
        <p:spPr>
          <a:xfrm>
            <a:off x="8129160" y="2258640"/>
            <a:ext cx="3126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WebSocket library with reconnection, rooms &amp; broadcasting built in.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 17"/>
          <p:cNvSpPr/>
          <p:nvPr/>
        </p:nvSpPr>
        <p:spPr>
          <a:xfrm>
            <a:off x="502920" y="309060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5" strike="noStrike">
                <a:solidFill>
                  <a:srgbClr val="7dd3fc"/>
                </a:solidFill>
                <a:latin typeface="Calibri"/>
                <a:ea typeface="Calibri"/>
              </a:rPr>
              <a:t>COMPATIBILITY OVERVIEW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34" name="Table 0"/>
          <p:cNvGraphicFramePr/>
          <p:nvPr/>
        </p:nvGraphicFramePr>
        <p:xfrm>
          <a:off x="502920" y="3401640"/>
          <a:ext cx="6949080" cy="1347120"/>
        </p:xfrm>
        <a:graphic>
          <a:graphicData uri="http://schemas.openxmlformats.org/drawingml/2006/table">
            <a:tbl>
              <a:tblPr/>
              <a:tblGrid>
                <a:gridCol w="1828800"/>
                <a:gridCol w="1234440"/>
                <a:gridCol w="1234440"/>
                <a:gridCol w="1371600"/>
                <a:gridCol w="1280160"/>
              </a:tblGrid>
              <a:tr h="310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Technology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One-way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Two-way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Persistent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Typical Use Case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</a:tr>
              <a:tr h="310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SSE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Live logs, notifications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310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WebSocket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Chat, multiplayer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3106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Socket.IO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Real-time web apps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</a:tbl>
          </a:graphicData>
        </a:graphic>
      </p:graphicFrame>
      <p:sp>
        <p:nvSpPr>
          <p:cNvPr id="835" name="Shape 18"/>
          <p:cNvSpPr/>
          <p:nvPr/>
        </p:nvSpPr>
        <p:spPr>
          <a:xfrm>
            <a:off x="502920" y="4937760"/>
            <a:ext cx="6994800" cy="1325520"/>
          </a:xfrm>
          <a:prstGeom prst="roundRect">
            <a:avLst>
              <a:gd name="adj" fmla="val 5128"/>
            </a:avLst>
          </a:prstGeom>
          <a:solidFill>
            <a:srgbClr val="0d2440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Shape 19"/>
          <p:cNvSpPr/>
          <p:nvPr/>
        </p:nvSpPr>
        <p:spPr>
          <a:xfrm>
            <a:off x="713160" y="5102280"/>
            <a:ext cx="419760" cy="41976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7" name="Image 3" descr="/home/claude/work/icons/info_blue.png"/>
          <p:cNvPicPr/>
          <p:nvPr/>
        </p:nvPicPr>
        <p:blipFill>
          <a:blip r:embed="rId4"/>
          <a:stretch/>
        </p:blipFill>
        <p:spPr>
          <a:xfrm>
            <a:off x="814320" y="5212080"/>
            <a:ext cx="218160" cy="218160"/>
          </a:xfrm>
          <a:prstGeom prst="rect">
            <a:avLst/>
          </a:prstGeom>
          <a:ln w="0">
            <a:noFill/>
          </a:ln>
        </p:spPr>
      </p:pic>
      <p:sp>
        <p:nvSpPr>
          <p:cNvPr id="838" name="Text 20"/>
          <p:cNvSpPr/>
          <p:nvPr/>
        </p:nvSpPr>
        <p:spPr>
          <a:xfrm>
            <a:off x="1280160" y="5074920"/>
            <a:ext cx="6034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Why SSE can't talk back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Text 21"/>
          <p:cNvSpPr/>
          <p:nvPr/>
        </p:nvSpPr>
        <p:spPr>
          <a:xfrm>
            <a:off x="1280160" y="5486400"/>
            <a:ext cx="5988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SSE keeps a single one-way pipe open from server to client — perfect for streaming deployment logs or AI progress updates, but if the client needs to respond, it must open a separate HTTP request. WebSockets and Socket.IO solve this by keeping one channel open in both directions.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22"/>
          <p:cNvSpPr/>
          <p:nvPr/>
        </p:nvSpPr>
        <p:spPr>
          <a:xfrm>
            <a:off x="7726680" y="309060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5" strike="noStrike">
                <a:solidFill>
                  <a:srgbClr val="7dd3fc"/>
                </a:solidFill>
                <a:latin typeface="Calibri"/>
                <a:ea typeface="Calibri"/>
              </a:rPr>
              <a:t>PLATFORM COMPATIBILITY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Shape 23"/>
          <p:cNvSpPr/>
          <p:nvPr/>
        </p:nvSpPr>
        <p:spPr>
          <a:xfrm>
            <a:off x="7726680" y="3401640"/>
            <a:ext cx="4251600" cy="2870640"/>
          </a:xfrm>
          <a:prstGeom prst="roundRect">
            <a:avLst>
              <a:gd name="adj" fmla="val 2548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ext 24"/>
          <p:cNvSpPr/>
          <p:nvPr/>
        </p:nvSpPr>
        <p:spPr>
          <a:xfrm>
            <a:off x="7909560" y="354780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dd3fc"/>
                </a:solidFill>
                <a:latin typeface="Calibri"/>
                <a:ea typeface="Calibri"/>
              </a:rPr>
              <a:t>Functions (event-driven)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Shape 25"/>
          <p:cNvSpPr/>
          <p:nvPr/>
        </p:nvSpPr>
        <p:spPr>
          <a:xfrm>
            <a:off x="7909560" y="3877200"/>
            <a:ext cx="1462680" cy="310320"/>
          </a:xfrm>
          <a:prstGeom prst="roundRect">
            <a:avLst>
              <a:gd name="adj" fmla="val 17647"/>
            </a:avLst>
          </a:prstGeom>
          <a:solidFill>
            <a:srgbClr val="1d3e63"/>
          </a:solidFill>
          <a:ln w="6350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Text 26"/>
          <p:cNvSpPr/>
          <p:nvPr/>
        </p:nvSpPr>
        <p:spPr>
          <a:xfrm>
            <a:off x="8046720" y="3877200"/>
            <a:ext cx="32911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Azure Functions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Shape 27"/>
          <p:cNvSpPr/>
          <p:nvPr/>
        </p:nvSpPr>
        <p:spPr>
          <a:xfrm>
            <a:off x="7909560" y="4242960"/>
            <a:ext cx="1462680" cy="310320"/>
          </a:xfrm>
          <a:prstGeom prst="roundRect">
            <a:avLst>
              <a:gd name="adj" fmla="val 17647"/>
            </a:avLst>
          </a:prstGeom>
          <a:solidFill>
            <a:srgbClr val="1d3e63"/>
          </a:solidFill>
          <a:ln w="6350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28"/>
          <p:cNvSpPr/>
          <p:nvPr/>
        </p:nvSpPr>
        <p:spPr>
          <a:xfrm>
            <a:off x="8046720" y="4242960"/>
            <a:ext cx="32911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AWS Lambda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Shape 29"/>
          <p:cNvSpPr/>
          <p:nvPr/>
        </p:nvSpPr>
        <p:spPr>
          <a:xfrm>
            <a:off x="7909560" y="4608720"/>
            <a:ext cx="1462680" cy="310320"/>
          </a:xfrm>
          <a:prstGeom prst="roundRect">
            <a:avLst>
              <a:gd name="adj" fmla="val 17647"/>
            </a:avLst>
          </a:prstGeom>
          <a:solidFill>
            <a:srgbClr val="1d3e63"/>
          </a:solidFill>
          <a:ln w="6350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Text 30"/>
          <p:cNvSpPr/>
          <p:nvPr/>
        </p:nvSpPr>
        <p:spPr>
          <a:xfrm>
            <a:off x="8046720" y="4608720"/>
            <a:ext cx="32911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Google Cloud Functions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Text 31"/>
          <p:cNvSpPr/>
          <p:nvPr/>
        </p:nvSpPr>
        <p:spPr>
          <a:xfrm>
            <a:off x="9509760" y="354780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Calibri"/>
                <a:ea typeface="Calibri"/>
              </a:rPr>
              <a:t>Containers (communication workloads)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32"/>
          <p:cNvSpPr/>
          <p:nvPr/>
        </p:nvSpPr>
        <p:spPr>
          <a:xfrm>
            <a:off x="9509760" y="3877200"/>
            <a:ext cx="2304000" cy="310320"/>
          </a:xfrm>
          <a:prstGeom prst="roundRect">
            <a:avLst>
              <a:gd name="adj" fmla="val 17647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 33"/>
          <p:cNvSpPr/>
          <p:nvPr/>
        </p:nvSpPr>
        <p:spPr>
          <a:xfrm>
            <a:off x="9601200" y="3877200"/>
            <a:ext cx="3382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70" spc="-1" strike="noStrike">
                <a:solidFill>
                  <a:srgbClr val="1b1033"/>
                </a:solidFill>
                <a:latin typeface="Calibri"/>
                <a:ea typeface="Calibri"/>
              </a:rPr>
              <a:t>Azure Container Apps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Text 34"/>
          <p:cNvSpPr/>
          <p:nvPr/>
        </p:nvSpPr>
        <p:spPr>
          <a:xfrm>
            <a:off x="7936920" y="5449680"/>
            <a:ext cx="36111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Functions execute a task and terminate — they can't hold a connection open. Containers run continuously, which is exactly what real-time protocols need.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3" name="Text 35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Real-Time Communication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 36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15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Shape 45"/>
          <p:cNvSpPr/>
          <p:nvPr/>
        </p:nvSpPr>
        <p:spPr>
          <a:xfrm>
            <a:off x="9509760" y="4608720"/>
            <a:ext cx="2304000" cy="310320"/>
          </a:xfrm>
          <a:prstGeom prst="roundRect">
            <a:avLst>
              <a:gd name="adj" fmla="val 17647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47"/>
          <p:cNvSpPr/>
          <p:nvPr/>
        </p:nvSpPr>
        <p:spPr>
          <a:xfrm>
            <a:off x="9509760" y="4242960"/>
            <a:ext cx="2304000" cy="310320"/>
          </a:xfrm>
          <a:prstGeom prst="roundRect">
            <a:avLst>
              <a:gd name="adj" fmla="val 17647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51"/>
          <p:cNvSpPr/>
          <p:nvPr/>
        </p:nvSpPr>
        <p:spPr>
          <a:xfrm>
            <a:off x="9509760" y="4974480"/>
            <a:ext cx="2304000" cy="310320"/>
          </a:xfrm>
          <a:prstGeom prst="roundRect">
            <a:avLst>
              <a:gd name="adj" fmla="val 17647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"/>
          <p:cNvSpPr/>
          <p:nvPr/>
        </p:nvSpPr>
        <p:spPr>
          <a:xfrm>
            <a:off x="9518760" y="4279320"/>
            <a:ext cx="166032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970" spc="-1" strike="noStrike">
                <a:solidFill>
                  <a:srgbClr val="1b1033"/>
                </a:solidFill>
                <a:latin typeface="Calibri"/>
                <a:ea typeface="Calibri"/>
              </a:rPr>
              <a:t>AWS App Runner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9528120" y="4645080"/>
            <a:ext cx="121572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970" spc="-1" strike="noStrike">
                <a:solidFill>
                  <a:srgbClr val="1b1033"/>
                </a:solidFill>
                <a:latin typeface="Calibri"/>
                <a:ea typeface="Calibri"/>
              </a:rPr>
              <a:t>AWS Fargate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"/>
          <p:cNvSpPr/>
          <p:nvPr/>
        </p:nvSpPr>
        <p:spPr>
          <a:xfrm>
            <a:off x="9528120" y="5001840"/>
            <a:ext cx="121572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970" spc="-1" strike="noStrike">
                <a:solidFill>
                  <a:srgbClr val="1b1033"/>
                </a:solidFill>
                <a:latin typeface="Calibri"/>
                <a:ea typeface="Calibri"/>
              </a:rPr>
              <a:t>Google Cloud Run</a:t>
            </a:r>
            <a:endParaRPr b="0" lang="en-US" sz="9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CHAPTER 1 – PLATFORM COMPATIBILITY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Communication Support Across Platforms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63" name="Table 0"/>
          <p:cNvGraphicFramePr/>
          <p:nvPr/>
        </p:nvGraphicFramePr>
        <p:xfrm>
          <a:off x="502920" y="1243440"/>
          <a:ext cx="11201040" cy="2871360"/>
        </p:xfrm>
        <a:graphic>
          <a:graphicData uri="http://schemas.openxmlformats.org/drawingml/2006/table">
            <a:tbl>
              <a:tblPr/>
              <a:tblGrid>
                <a:gridCol w="2331720"/>
                <a:gridCol w="960120"/>
                <a:gridCol w="1371600"/>
                <a:gridCol w="1280160"/>
                <a:gridCol w="1645920"/>
                <a:gridCol w="3611880"/>
              </a:tblGrid>
              <a:tr h="28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Platform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SSE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WebSockets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Socket.IO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Recommended?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Reason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</a:tr>
              <a:tr h="28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Azure Functions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recommended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Event-driven workloads only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28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Azure Container Apps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Recommended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Long-running backend services &amp; APIs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28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 Lambda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recommended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Event-driven workloads only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28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 App Runner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Recommended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Containerized web applications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28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 ECS Fargate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Recommended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Enterprise microservices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28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Google Cloud Functions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recommended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Event-driven workloads only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28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Google Cloud Run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Recommended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Containerized applications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286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Vercel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Limited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Conditional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Next.js frontend &amp; lightweight APIs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289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Cloudflare Workers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Limited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Conditional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Edge &amp; global low-latency services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</a:tbl>
          </a:graphicData>
        </a:graphic>
      </p:graphicFrame>
      <p:sp>
        <p:nvSpPr>
          <p:cNvPr id="864" name="Shape 2"/>
          <p:cNvSpPr/>
          <p:nvPr/>
        </p:nvSpPr>
        <p:spPr>
          <a:xfrm>
            <a:off x="502920" y="4343400"/>
            <a:ext cx="11200680" cy="1828440"/>
          </a:xfrm>
          <a:prstGeom prst="roundRect">
            <a:avLst>
              <a:gd name="adj" fmla="val 3509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5" name="Text 3"/>
          <p:cNvSpPr/>
          <p:nvPr/>
        </p:nvSpPr>
        <p:spPr>
          <a:xfrm>
            <a:off x="777240" y="4526280"/>
            <a:ext cx="10606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5" strike="noStrike">
                <a:solidFill>
                  <a:srgbClr val="7dd3fc"/>
                </a:solidFill>
                <a:latin typeface="Calibri"/>
                <a:ea typeface="Calibri"/>
              </a:rPr>
              <a:t>WHY THE PATTERN ABOVE HOLDS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Shape 4"/>
          <p:cNvSpPr/>
          <p:nvPr/>
        </p:nvSpPr>
        <p:spPr>
          <a:xfrm>
            <a:off x="6108120" y="4572000"/>
            <a:ext cx="360" cy="1417320"/>
          </a:xfrm>
          <a:prstGeom prst="line">
            <a:avLst/>
          </a:prstGeom>
          <a:ln w="12700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Shape 5"/>
          <p:cNvSpPr/>
          <p:nvPr/>
        </p:nvSpPr>
        <p:spPr>
          <a:xfrm>
            <a:off x="777240" y="5029200"/>
            <a:ext cx="456480" cy="45648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8" name="Image 0" descr="/home/claude/work/icons/function_blue.png"/>
          <p:cNvPicPr/>
          <p:nvPr/>
        </p:nvPicPr>
        <p:blipFill>
          <a:blip r:embed="rId1"/>
          <a:stretch/>
        </p:blipFill>
        <p:spPr>
          <a:xfrm>
            <a:off x="887040" y="51390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869" name="Text 6"/>
          <p:cNvSpPr/>
          <p:nvPr/>
        </p:nvSpPr>
        <p:spPr>
          <a:xfrm>
            <a:off x="1371600" y="4983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Functions → not recommended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Text 7"/>
          <p:cNvSpPr/>
          <p:nvPr/>
        </p:nvSpPr>
        <p:spPr>
          <a:xfrm>
            <a:off x="1371600" y="5395320"/>
            <a:ext cx="4617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A Function executes a single task and terminates. It cannot keep an SSE stream, WebSocket, or Socket.IO connection open — that's why every functions row above reads “No.”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Shape 8"/>
          <p:cNvSpPr/>
          <p:nvPr/>
        </p:nvSpPr>
        <p:spPr>
          <a:xfrm>
            <a:off x="6400800" y="5029200"/>
            <a:ext cx="456480" cy="45648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2" name="Image 1" descr="/home/claude/work/icons/container_purple.png"/>
          <p:cNvPicPr/>
          <p:nvPr/>
        </p:nvPicPr>
        <p:blipFill>
          <a:blip r:embed="rId2"/>
          <a:stretch/>
        </p:blipFill>
        <p:spPr>
          <a:xfrm>
            <a:off x="6501240" y="51390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873" name="Text 9"/>
          <p:cNvSpPr/>
          <p:nvPr/>
        </p:nvSpPr>
        <p:spPr>
          <a:xfrm>
            <a:off x="6995160" y="4983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Containers → recommended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Text 10"/>
          <p:cNvSpPr/>
          <p:nvPr/>
        </p:nvSpPr>
        <p:spPr>
          <a:xfrm>
            <a:off x="6995160" y="5394960"/>
            <a:ext cx="45255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A Container hosts a continuously running app, so it can keep the connection open for as long as the client needs it — the reason every container row above reads “Yes.”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Text 11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Platform Compatibility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Text 12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16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CHAPTER 2 – EXECUTION TIMEOUTS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Function Timeout Comparison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Text 2"/>
          <p:cNvSpPr/>
          <p:nvPr/>
        </p:nvSpPr>
        <p:spPr>
          <a:xfrm>
            <a:off x="502920" y="1207080"/>
            <a:ext cx="66744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14" strike="noStrike">
                <a:solidFill>
                  <a:srgbClr val="7dd3fc"/>
                </a:solidFill>
                <a:latin typeface="Calibri"/>
                <a:ea typeface="Calibri"/>
              </a:rPr>
              <a:t>SERVERLESS FUNCTIONS — TIMED EXECUTION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80" name="Table 0"/>
          <p:cNvGraphicFramePr/>
          <p:nvPr/>
        </p:nvGraphicFramePr>
        <p:xfrm>
          <a:off x="502920" y="1508760"/>
          <a:ext cx="7040520" cy="2834640"/>
        </p:xfrm>
        <a:graphic>
          <a:graphicData uri="http://schemas.openxmlformats.org/drawingml/2006/table">
            <a:tbl>
              <a:tblPr/>
              <a:tblGrid>
                <a:gridCol w="2989800"/>
                <a:gridCol w="1446480"/>
                <a:gridCol w="1494720"/>
                <a:gridCol w="1109880"/>
              </a:tblGrid>
              <a:tr h="47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Platform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Default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Maximum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HTTP Limit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</a:tr>
              <a:tr h="47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Azure Functions (Consumption)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5 min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10 min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~230 sec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7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 Lambda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Configurable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15 min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= timeout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7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Google Cloud Fn. (Gen2)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1 min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60 min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Configurable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72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Vercel (Fluid Compute)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300 sec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800 sec*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Duration limit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730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Cloudflare Workers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N/A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Plan CPU time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~100 sec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</a:tbl>
          </a:graphicData>
        </a:graphic>
      </p:graphicFrame>
      <p:sp>
        <p:nvSpPr>
          <p:cNvPr id="881" name="Text 3"/>
          <p:cNvSpPr/>
          <p:nvPr/>
        </p:nvSpPr>
        <p:spPr>
          <a:xfrm>
            <a:off x="502920" y="4389120"/>
            <a:ext cx="6674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3aac7"/>
                </a:solidFill>
                <a:latin typeface="Calibri"/>
                <a:ea typeface="Calibri"/>
              </a:rPr>
              <a:t>*Pro / Enterprise plans — Hobby is capped at 300 seconds.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 4"/>
          <p:cNvSpPr/>
          <p:nvPr/>
        </p:nvSpPr>
        <p:spPr>
          <a:xfrm>
            <a:off x="7818120" y="1207080"/>
            <a:ext cx="4296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14" strike="noStrike">
                <a:solidFill>
                  <a:srgbClr val="a78bfa"/>
                </a:solidFill>
                <a:latin typeface="Calibri"/>
                <a:ea typeface="Calibri"/>
              </a:rPr>
              <a:t>SERVERLESS CONTAINERS — ALWAYS 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Shape 5"/>
          <p:cNvSpPr/>
          <p:nvPr/>
        </p:nvSpPr>
        <p:spPr>
          <a:xfrm>
            <a:off x="7772400" y="1508760"/>
            <a:ext cx="3885840" cy="2834280"/>
          </a:xfrm>
          <a:prstGeom prst="roundRect">
            <a:avLst>
              <a:gd name="adj" fmla="val 2712"/>
            </a:avLst>
          </a:prstGeom>
          <a:solidFill>
            <a:srgbClr val="0d2440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Text 6"/>
          <p:cNvSpPr/>
          <p:nvPr/>
        </p:nvSpPr>
        <p:spPr>
          <a:xfrm>
            <a:off x="8001000" y="1645920"/>
            <a:ext cx="389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No function-style timeout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5" name="Image 0" descr="/home/claude/work/icons/check_purple.png"/>
          <p:cNvPicPr/>
          <p:nvPr/>
        </p:nvPicPr>
        <p:blipFill>
          <a:blip r:embed="rId1"/>
          <a:stretch/>
        </p:blipFill>
        <p:spPr>
          <a:xfrm>
            <a:off x="7991640" y="2048400"/>
            <a:ext cx="218880" cy="218880"/>
          </a:xfrm>
          <a:prstGeom prst="rect">
            <a:avLst/>
          </a:prstGeom>
          <a:ln w="0">
            <a:noFill/>
          </a:ln>
        </p:spPr>
      </p:pic>
      <p:sp>
        <p:nvSpPr>
          <p:cNvPr id="886" name="Text 7"/>
          <p:cNvSpPr/>
          <p:nvPr/>
        </p:nvSpPr>
        <p:spPr>
          <a:xfrm>
            <a:off x="8321040" y="1993320"/>
            <a:ext cx="3611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Azure Container Apps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7" name="Image 1" descr="/home/claude/work/icons/check_purple.png"/>
          <p:cNvPicPr/>
          <p:nvPr/>
        </p:nvPicPr>
        <p:blipFill>
          <a:blip r:embed="rId2"/>
          <a:stretch/>
        </p:blipFill>
        <p:spPr>
          <a:xfrm>
            <a:off x="8001000" y="2441520"/>
            <a:ext cx="218880" cy="218880"/>
          </a:xfrm>
          <a:prstGeom prst="rect">
            <a:avLst/>
          </a:prstGeom>
          <a:ln w="0">
            <a:noFill/>
          </a:ln>
        </p:spPr>
      </p:pic>
      <p:sp>
        <p:nvSpPr>
          <p:cNvPr id="888" name="Text 8"/>
          <p:cNvSpPr/>
          <p:nvPr/>
        </p:nvSpPr>
        <p:spPr>
          <a:xfrm>
            <a:off x="8321040" y="2816280"/>
            <a:ext cx="3611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AWS ECS Fargate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9" name="Image 2" descr="/home/claude/work/icons/check_purple.png"/>
          <p:cNvPicPr/>
          <p:nvPr/>
        </p:nvPicPr>
        <p:blipFill>
          <a:blip r:embed="rId3"/>
          <a:stretch/>
        </p:blipFill>
        <p:spPr>
          <a:xfrm>
            <a:off x="8001000" y="2880360"/>
            <a:ext cx="218880" cy="218880"/>
          </a:xfrm>
          <a:prstGeom prst="rect">
            <a:avLst/>
          </a:prstGeom>
          <a:ln w="0">
            <a:noFill/>
          </a:ln>
        </p:spPr>
      </p:pic>
      <p:sp>
        <p:nvSpPr>
          <p:cNvPr id="890" name="Text 9"/>
          <p:cNvSpPr/>
          <p:nvPr/>
        </p:nvSpPr>
        <p:spPr>
          <a:xfrm>
            <a:off x="8321040" y="3237120"/>
            <a:ext cx="36111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Google Cloud Run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Text 10"/>
          <p:cNvSpPr/>
          <p:nvPr/>
        </p:nvSpPr>
        <p:spPr>
          <a:xfrm>
            <a:off x="7992360" y="3657600"/>
            <a:ext cx="34372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3aac7"/>
                </a:solidFill>
                <a:latin typeface="Calibri"/>
                <a:ea typeface="Calibri"/>
              </a:rPr>
              <a:t>The app stays running, so there's nothing to time out — availability is bounded by traffic, not execution duration.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Shape 11"/>
          <p:cNvSpPr/>
          <p:nvPr/>
        </p:nvSpPr>
        <p:spPr>
          <a:xfrm>
            <a:off x="502920" y="4800600"/>
            <a:ext cx="11200680" cy="1325160"/>
          </a:xfrm>
          <a:prstGeom prst="roundRect">
            <a:avLst>
              <a:gd name="adj" fmla="val 4571"/>
            </a:avLst>
          </a:prstGeom>
          <a:solidFill>
            <a:srgbClr val="0d2440"/>
          </a:solidFill>
          <a:ln w="9525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Shape 12"/>
          <p:cNvSpPr/>
          <p:nvPr/>
        </p:nvSpPr>
        <p:spPr>
          <a:xfrm>
            <a:off x="914400" y="5120640"/>
            <a:ext cx="548280" cy="54828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4" name="Image 3" descr="/home/claude/work/icons/hourglass_blue.png"/>
          <p:cNvPicPr/>
          <p:nvPr/>
        </p:nvPicPr>
        <p:blipFill>
          <a:blip r:embed="rId4"/>
          <a:stretch/>
        </p:blipFill>
        <p:spPr>
          <a:xfrm rot="82800">
            <a:off x="1071000" y="5243040"/>
            <a:ext cx="312840" cy="312480"/>
          </a:xfrm>
          <a:prstGeom prst="rect">
            <a:avLst/>
          </a:prstGeom>
          <a:ln w="0">
            <a:noFill/>
          </a:ln>
        </p:spPr>
      </p:pic>
      <p:sp>
        <p:nvSpPr>
          <p:cNvPr id="895" name="Text 13"/>
          <p:cNvSpPr/>
          <p:nvPr/>
        </p:nvSpPr>
        <p:spPr>
          <a:xfrm>
            <a:off x="1783080" y="4983480"/>
            <a:ext cx="9600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fffff"/>
                </a:solidFill>
                <a:latin typeface="Cambria"/>
                <a:ea typeface="Cambria"/>
              </a:rPr>
              <a:t>HTTP Request Timeout ≠ Background Execution Timeout</a:t>
            </a:r>
            <a:endParaRPr b="0" lang="en-US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Text 14"/>
          <p:cNvSpPr/>
          <p:nvPr/>
        </p:nvSpPr>
        <p:spPr>
          <a:xfrm>
            <a:off x="1783080" y="5486400"/>
            <a:ext cx="96462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ca3be"/>
                </a:solidFill>
                <a:latin typeface="Calibri"/>
                <a:ea typeface="Calibri"/>
              </a:rPr>
              <a:t>A browser may stop waiting for a response long before the underlying Function has actually finished executing. These two timeout mechanisms operate completely independently — designing around this distinction is the foundation of resilient serverless architecture.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Text 15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Execution Timeouts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Text 16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17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9" name="Image 15" descr="/home/claude/work/icons/check_purple.png"/>
          <p:cNvPicPr/>
          <p:nvPr/>
        </p:nvPicPr>
        <p:blipFill>
          <a:blip r:embed="rId5"/>
          <a:stretch/>
        </p:blipFill>
        <p:spPr>
          <a:xfrm>
            <a:off x="8010360" y="3291840"/>
            <a:ext cx="218880" cy="218880"/>
          </a:xfrm>
          <a:prstGeom prst="rect">
            <a:avLst/>
          </a:prstGeom>
          <a:ln w="0">
            <a:noFill/>
          </a:ln>
        </p:spPr>
      </p:pic>
      <p:sp>
        <p:nvSpPr>
          <p:cNvPr id="900" name=""/>
          <p:cNvSpPr/>
          <p:nvPr/>
        </p:nvSpPr>
        <p:spPr>
          <a:xfrm>
            <a:off x="8227080" y="2423160"/>
            <a:ext cx="183096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AWS App Runner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CHAPTER 2 – TIMEOUT SCENARIOS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Four Workloads, Four Different Answers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Shape 2"/>
          <p:cNvSpPr/>
          <p:nvPr/>
        </p:nvSpPr>
        <p:spPr>
          <a:xfrm>
            <a:off x="502920" y="1261800"/>
            <a:ext cx="2715120" cy="3245400"/>
          </a:xfrm>
          <a:prstGeom prst="roundRect">
            <a:avLst>
              <a:gd name="adj" fmla="val 2694"/>
            </a:avLst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Shape 3"/>
          <p:cNvSpPr/>
          <p:nvPr/>
        </p:nvSpPr>
        <p:spPr>
          <a:xfrm>
            <a:off x="1549800" y="1481400"/>
            <a:ext cx="621000" cy="62100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5" name="Image 0" descr="/home/claude/work/icons/leave_blue.png"/>
          <p:cNvPicPr/>
          <p:nvPr/>
        </p:nvPicPr>
        <p:blipFill>
          <a:blip r:embed="rId1"/>
          <a:stretch/>
        </p:blipFill>
        <p:spPr>
          <a:xfrm>
            <a:off x="1699200" y="1630440"/>
            <a:ext cx="322560" cy="322560"/>
          </a:xfrm>
          <a:prstGeom prst="rect">
            <a:avLst/>
          </a:prstGeom>
          <a:ln w="0">
            <a:noFill/>
          </a:ln>
        </p:spPr>
      </p:pic>
      <p:sp>
        <p:nvSpPr>
          <p:cNvPr id="906" name="Text 4"/>
          <p:cNvSpPr/>
          <p:nvPr/>
        </p:nvSpPr>
        <p:spPr>
          <a:xfrm>
            <a:off x="594360" y="2221920"/>
            <a:ext cx="2532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Leave Application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Shape 5"/>
          <p:cNvSpPr/>
          <p:nvPr/>
        </p:nvSpPr>
        <p:spPr>
          <a:xfrm>
            <a:off x="667440" y="2724840"/>
            <a:ext cx="2385720" cy="365040"/>
          </a:xfrm>
          <a:prstGeom prst="roundRect">
            <a:avLst>
              <a:gd name="adj" fmla="val 50000"/>
            </a:avLst>
          </a:prstGeom>
          <a:solidFill>
            <a:srgbClr val="173a5c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Text 6"/>
          <p:cNvSpPr/>
          <p:nvPr/>
        </p:nvSpPr>
        <p:spPr>
          <a:xfrm>
            <a:off x="667440" y="2724840"/>
            <a:ext cx="2385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a5e9"/>
                </a:solidFill>
                <a:latin typeface="Calibri"/>
                <a:ea typeface="Calibri"/>
              </a:rPr>
              <a:t>Instant HTTP Response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Text 7"/>
          <p:cNvSpPr/>
          <p:nvPr/>
        </p:nvSpPr>
        <p:spPr>
          <a:xfrm>
            <a:off x="667440" y="3383280"/>
            <a:ext cx="23857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ca3be"/>
                </a:solidFill>
                <a:latin typeface="Calibri"/>
                <a:ea typeface="Calibri"/>
              </a:rPr>
              <a:t>A simple REST call completes in well under a second — no special timeout handling required.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Shape 8"/>
          <p:cNvSpPr/>
          <p:nvPr/>
        </p:nvSpPr>
        <p:spPr>
          <a:xfrm>
            <a:off x="3364920" y="1261800"/>
            <a:ext cx="2715120" cy="3245400"/>
          </a:xfrm>
          <a:prstGeom prst="roundRect">
            <a:avLst>
              <a:gd name="adj" fmla="val 2694"/>
            </a:avLst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Shape 9"/>
          <p:cNvSpPr/>
          <p:nvPr/>
        </p:nvSpPr>
        <p:spPr>
          <a:xfrm>
            <a:off x="4412160" y="1481400"/>
            <a:ext cx="621000" cy="62100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2" name="Image 1" descr="/home/claude/work/icons/payroll_purple.png"/>
          <p:cNvPicPr/>
          <p:nvPr/>
        </p:nvPicPr>
        <p:blipFill>
          <a:blip r:embed="rId2"/>
          <a:stretch/>
        </p:blipFill>
        <p:spPr>
          <a:xfrm>
            <a:off x="4561200" y="1630440"/>
            <a:ext cx="322560" cy="322560"/>
          </a:xfrm>
          <a:prstGeom prst="rect">
            <a:avLst/>
          </a:prstGeom>
          <a:ln w="0">
            <a:noFill/>
          </a:ln>
        </p:spPr>
      </p:pic>
      <p:sp>
        <p:nvSpPr>
          <p:cNvPr id="913" name="Text 10"/>
          <p:cNvSpPr/>
          <p:nvPr/>
        </p:nvSpPr>
        <p:spPr>
          <a:xfrm>
            <a:off x="3456360" y="2221920"/>
            <a:ext cx="2532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Monthly Payroll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Shape 11"/>
          <p:cNvSpPr/>
          <p:nvPr/>
        </p:nvSpPr>
        <p:spPr>
          <a:xfrm>
            <a:off x="3529440" y="2724840"/>
            <a:ext cx="2385720" cy="365040"/>
          </a:xfrm>
          <a:prstGeom prst="roundRect">
            <a:avLst>
              <a:gd name="adj" fmla="val 50000"/>
            </a:avLst>
          </a:prstGeom>
          <a:solidFill>
            <a:srgbClr val="2a2559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5" name="Text 12"/>
          <p:cNvSpPr/>
          <p:nvPr/>
        </p:nvSpPr>
        <p:spPr>
          <a:xfrm>
            <a:off x="3529440" y="2724840"/>
            <a:ext cx="2385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Calibri"/>
                <a:ea typeface="Calibri"/>
              </a:rPr>
              <a:t>Background Function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 13"/>
          <p:cNvSpPr/>
          <p:nvPr/>
        </p:nvSpPr>
        <p:spPr>
          <a:xfrm>
            <a:off x="3529440" y="3383280"/>
            <a:ext cx="23857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ca3be"/>
                </a:solidFill>
                <a:latin typeface="Calibri"/>
                <a:ea typeface="Calibri"/>
              </a:rPr>
              <a:t>Salary calculations and report generation can take minutes — triggered by a timer, independent of any waiting user.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Shape 14"/>
          <p:cNvSpPr/>
          <p:nvPr/>
        </p:nvSpPr>
        <p:spPr>
          <a:xfrm>
            <a:off x="6226920" y="1261800"/>
            <a:ext cx="2715120" cy="3245400"/>
          </a:xfrm>
          <a:prstGeom prst="roundRect">
            <a:avLst>
              <a:gd name="adj" fmla="val 2694"/>
            </a:avLst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Shape 15"/>
          <p:cNvSpPr/>
          <p:nvPr/>
        </p:nvSpPr>
        <p:spPr>
          <a:xfrm>
            <a:off x="7274160" y="1481400"/>
            <a:ext cx="621000" cy="62100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9" name="Image 2" descr="/home/claude/work/icons/video_purple.png"/>
          <p:cNvPicPr/>
          <p:nvPr/>
        </p:nvPicPr>
        <p:blipFill>
          <a:blip r:embed="rId3"/>
          <a:stretch/>
        </p:blipFill>
        <p:spPr>
          <a:xfrm>
            <a:off x="7423200" y="1630440"/>
            <a:ext cx="322560" cy="322560"/>
          </a:xfrm>
          <a:prstGeom prst="rect">
            <a:avLst/>
          </a:prstGeom>
          <a:ln w="0">
            <a:noFill/>
          </a:ln>
        </p:spPr>
      </p:pic>
      <p:sp>
        <p:nvSpPr>
          <p:cNvPr id="920" name="Text 16"/>
          <p:cNvSpPr/>
          <p:nvPr/>
        </p:nvSpPr>
        <p:spPr>
          <a:xfrm>
            <a:off x="6318360" y="2221920"/>
            <a:ext cx="2532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AI Video Upload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Shape 17"/>
          <p:cNvSpPr/>
          <p:nvPr/>
        </p:nvSpPr>
        <p:spPr>
          <a:xfrm>
            <a:off x="6391800" y="2724840"/>
            <a:ext cx="2385720" cy="365040"/>
          </a:xfrm>
          <a:prstGeom prst="roundRect">
            <a:avLst>
              <a:gd name="adj" fmla="val 50000"/>
            </a:avLst>
          </a:prstGeom>
          <a:solidFill>
            <a:srgbClr val="2a2559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Text 18"/>
          <p:cNvSpPr/>
          <p:nvPr/>
        </p:nvSpPr>
        <p:spPr>
          <a:xfrm>
            <a:off x="6391800" y="2724840"/>
            <a:ext cx="2385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Calibri"/>
                <a:ea typeface="Calibri"/>
              </a:rPr>
              <a:t>Function + SSE Progress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19"/>
          <p:cNvSpPr/>
          <p:nvPr/>
        </p:nvSpPr>
        <p:spPr>
          <a:xfrm>
            <a:off x="6391800" y="3383280"/>
            <a:ext cx="23857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ca3be"/>
                </a:solidFill>
                <a:latin typeface="Calibri"/>
                <a:ea typeface="Calibri"/>
              </a:rPr>
              <a:t>Processing runs 20–30 minutes, so the upload is accepted instantly while SSE streams progress back to the browser.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Shape 20"/>
          <p:cNvSpPr/>
          <p:nvPr/>
        </p:nvSpPr>
        <p:spPr>
          <a:xfrm>
            <a:off x="9089280" y="1261800"/>
            <a:ext cx="2715120" cy="3245400"/>
          </a:xfrm>
          <a:prstGeom prst="roundRect">
            <a:avLst>
              <a:gd name="adj" fmla="val 2694"/>
            </a:avLst>
          </a:prstGeom>
          <a:solidFill>
            <a:srgbClr val="16324f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5" name="Shape 21"/>
          <p:cNvSpPr/>
          <p:nvPr/>
        </p:nvSpPr>
        <p:spPr>
          <a:xfrm>
            <a:off x="10136160" y="1481400"/>
            <a:ext cx="621000" cy="621000"/>
          </a:xfrm>
          <a:prstGeom prst="ellipse">
            <a:avLst/>
          </a:prstGeom>
          <a:solidFill>
            <a:srgbClr val="1038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6" name="Image 3" descr="/home/claude/work/icons/chat_green.png"/>
          <p:cNvPicPr/>
          <p:nvPr/>
        </p:nvPicPr>
        <p:blipFill>
          <a:blip r:embed="rId4"/>
          <a:stretch/>
        </p:blipFill>
        <p:spPr>
          <a:xfrm>
            <a:off x="10285200" y="1630440"/>
            <a:ext cx="322560" cy="322560"/>
          </a:xfrm>
          <a:prstGeom prst="rect">
            <a:avLst/>
          </a:prstGeom>
          <a:ln w="0">
            <a:noFill/>
          </a:ln>
        </p:spPr>
      </p:pic>
      <p:sp>
        <p:nvSpPr>
          <p:cNvPr id="927" name="Text 22"/>
          <p:cNvSpPr/>
          <p:nvPr/>
        </p:nvSpPr>
        <p:spPr>
          <a:xfrm>
            <a:off x="9180720" y="2221920"/>
            <a:ext cx="2532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mbria"/>
                <a:ea typeface="Cambria"/>
              </a:rPr>
              <a:t>Chat Application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Shape 23"/>
          <p:cNvSpPr/>
          <p:nvPr/>
        </p:nvSpPr>
        <p:spPr>
          <a:xfrm>
            <a:off x="9253800" y="2724840"/>
            <a:ext cx="2385720" cy="365040"/>
          </a:xfrm>
          <a:prstGeom prst="roundRect">
            <a:avLst>
              <a:gd name="adj" fmla="val 50000"/>
            </a:avLst>
          </a:prstGeom>
          <a:solidFill>
            <a:srgbClr val="10382e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Text 24"/>
          <p:cNvSpPr/>
          <p:nvPr/>
        </p:nvSpPr>
        <p:spPr>
          <a:xfrm>
            <a:off x="9253800" y="2724840"/>
            <a:ext cx="2385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4d399"/>
                </a:solidFill>
                <a:latin typeface="Calibri"/>
                <a:ea typeface="Calibri"/>
              </a:rPr>
              <a:t>Always-On Container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Text 25"/>
          <p:cNvSpPr/>
          <p:nvPr/>
        </p:nvSpPr>
        <p:spPr>
          <a:xfrm>
            <a:off x="9253800" y="3383280"/>
            <a:ext cx="23857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ca3be"/>
                </a:solidFill>
                <a:latin typeface="Calibri"/>
                <a:ea typeface="Calibri"/>
              </a:rPr>
              <a:t>Messages must flow instantly in both directions — this needs a persistent connection, not a timed execution.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Shape 26"/>
          <p:cNvSpPr/>
          <p:nvPr/>
        </p:nvSpPr>
        <p:spPr>
          <a:xfrm>
            <a:off x="502920" y="4709160"/>
            <a:ext cx="11200680" cy="1562760"/>
          </a:xfrm>
          <a:prstGeom prst="roundRect">
            <a:avLst>
              <a:gd name="adj" fmla="val 4678"/>
            </a:avLst>
          </a:prstGeom>
          <a:solidFill>
            <a:srgbClr val="0d2440"/>
          </a:solidFill>
          <a:ln w="9525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hape 27"/>
          <p:cNvSpPr/>
          <p:nvPr/>
        </p:nvSpPr>
        <p:spPr>
          <a:xfrm>
            <a:off x="777240" y="5257800"/>
            <a:ext cx="456480" cy="456480"/>
          </a:xfrm>
          <a:prstGeom prst="ellipse">
            <a:avLst/>
          </a:prstGeom>
          <a:solidFill>
            <a:srgbClr val="3a2e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3" name="Image 4" descr="/home/claude/work/icons/lightbulb_amber.png"/>
          <p:cNvPicPr/>
          <p:nvPr/>
        </p:nvPicPr>
        <p:blipFill>
          <a:blip r:embed="rId5"/>
          <a:stretch/>
        </p:blipFill>
        <p:spPr>
          <a:xfrm>
            <a:off x="914400" y="535824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34" name="Text 28"/>
          <p:cNvSpPr/>
          <p:nvPr/>
        </p:nvSpPr>
        <p:spPr>
          <a:xfrm>
            <a:off x="1371600" y="4709160"/>
            <a:ext cx="9966240" cy="15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The right compute model depends on how long the work takes — and who's waiting for the result.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Text 29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Timeout Scenarios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ext 30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18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CHAPTER 3 – COLD STARTS &amp; SCALING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The Vocabulary of Automatic Scaling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Shape 2"/>
          <p:cNvSpPr/>
          <p:nvPr/>
        </p:nvSpPr>
        <p:spPr>
          <a:xfrm>
            <a:off x="502920" y="1280160"/>
            <a:ext cx="456480" cy="45648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0" name="Image 0" descr="/home/claude/work/icons/bolt_blue.png"/>
          <p:cNvPicPr/>
          <p:nvPr/>
        </p:nvPicPr>
        <p:blipFill>
          <a:blip r:embed="rId1"/>
          <a:stretch/>
        </p:blipFill>
        <p:spPr>
          <a:xfrm>
            <a:off x="667440" y="138996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41" name="Text 3"/>
          <p:cNvSpPr/>
          <p:nvPr/>
        </p:nvSpPr>
        <p:spPr>
          <a:xfrm>
            <a:off x="1124640" y="1261800"/>
            <a:ext cx="481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Cold Start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Text 4"/>
          <p:cNvSpPr/>
          <p:nvPr/>
        </p:nvSpPr>
        <p:spPr>
          <a:xfrm>
            <a:off x="1124640" y="1536120"/>
            <a:ext cx="481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New compute is provisioned from zero before the first request can be served.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Shape 5"/>
          <p:cNvSpPr/>
          <p:nvPr/>
        </p:nvSpPr>
        <p:spPr>
          <a:xfrm>
            <a:off x="6263640" y="1280160"/>
            <a:ext cx="456480" cy="456480"/>
          </a:xfrm>
          <a:prstGeom prst="ellipse">
            <a:avLst/>
          </a:prstGeom>
          <a:solidFill>
            <a:srgbClr val="1038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4" name="Image 1" descr="/home/claude/work/icons/fire_green.png"/>
          <p:cNvPicPr/>
          <p:nvPr/>
        </p:nvPicPr>
        <p:blipFill>
          <a:blip r:embed="rId2"/>
          <a:stretch/>
        </p:blipFill>
        <p:spPr>
          <a:xfrm>
            <a:off x="6400800" y="138996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45" name="Text 6"/>
          <p:cNvSpPr/>
          <p:nvPr/>
        </p:nvSpPr>
        <p:spPr>
          <a:xfrm>
            <a:off x="6885360" y="1261800"/>
            <a:ext cx="481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Warm Instance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Text 7"/>
          <p:cNvSpPr/>
          <p:nvPr/>
        </p:nvSpPr>
        <p:spPr>
          <a:xfrm>
            <a:off x="6885360" y="1536120"/>
            <a:ext cx="481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An already-running environment that serves requests instantly, no startup needed.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8"/>
          <p:cNvSpPr/>
          <p:nvPr/>
        </p:nvSpPr>
        <p:spPr>
          <a:xfrm>
            <a:off x="502920" y="2121480"/>
            <a:ext cx="456480" cy="45648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8" name="Image 2" descr="/home/claude/work/icons/snowflake_purple.png"/>
          <p:cNvPicPr/>
          <p:nvPr/>
        </p:nvPicPr>
        <p:blipFill>
          <a:blip r:embed="rId3"/>
          <a:stretch/>
        </p:blipFill>
        <p:spPr>
          <a:xfrm>
            <a:off x="621720" y="223128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49" name="Text 9"/>
          <p:cNvSpPr/>
          <p:nvPr/>
        </p:nvSpPr>
        <p:spPr>
          <a:xfrm>
            <a:off x="1124640" y="2103120"/>
            <a:ext cx="481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Scale to Zero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Text 10"/>
          <p:cNvSpPr/>
          <p:nvPr/>
        </p:nvSpPr>
        <p:spPr>
          <a:xfrm>
            <a:off x="1124640" y="2377440"/>
            <a:ext cx="481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All compute is automatically removed once traffic stops — and billing stops with it.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11"/>
          <p:cNvSpPr/>
          <p:nvPr/>
        </p:nvSpPr>
        <p:spPr>
          <a:xfrm>
            <a:off x="6263640" y="2121480"/>
            <a:ext cx="456480" cy="456480"/>
          </a:xfrm>
          <a:prstGeom prst="ellipse">
            <a:avLst/>
          </a:prstGeom>
          <a:solidFill>
            <a:srgbClr val="3a2e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2" name="Image 3" descr="/home/claude/work/icons/pause_amber.png"/>
          <p:cNvPicPr/>
          <p:nvPr/>
        </p:nvPicPr>
        <p:blipFill>
          <a:blip r:embed="rId4"/>
          <a:stretch/>
        </p:blipFill>
        <p:spPr>
          <a:xfrm>
            <a:off x="6373440" y="223128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53" name="Text 12"/>
          <p:cNvSpPr/>
          <p:nvPr/>
        </p:nvSpPr>
        <p:spPr>
          <a:xfrm>
            <a:off x="6885360" y="2103120"/>
            <a:ext cx="481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Cooldown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Text 13"/>
          <p:cNvSpPr/>
          <p:nvPr/>
        </p:nvSpPr>
        <p:spPr>
          <a:xfrm>
            <a:off x="6885360" y="2377440"/>
            <a:ext cx="481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The idle window a platform waits before it actually scales instances down.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14"/>
          <p:cNvSpPr/>
          <p:nvPr/>
        </p:nvSpPr>
        <p:spPr>
          <a:xfrm>
            <a:off x="502920" y="2962800"/>
            <a:ext cx="456480" cy="45648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6" name="Image 4" descr="/home/claude/work/icons/radar_blue.png"/>
          <p:cNvPicPr/>
          <p:nvPr/>
        </p:nvPicPr>
        <p:blipFill>
          <a:blip r:embed="rId5"/>
          <a:stretch/>
        </p:blipFill>
        <p:spPr>
          <a:xfrm>
            <a:off x="612720" y="307224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57" name="Text 15"/>
          <p:cNvSpPr/>
          <p:nvPr/>
        </p:nvSpPr>
        <p:spPr>
          <a:xfrm>
            <a:off x="1124640" y="2944440"/>
            <a:ext cx="481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Polling Interval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Text 16"/>
          <p:cNvSpPr/>
          <p:nvPr/>
        </p:nvSpPr>
        <p:spPr>
          <a:xfrm>
            <a:off x="1124640" y="3218760"/>
            <a:ext cx="481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How often the autoscaler checks metrics to decide whether to scale.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17"/>
          <p:cNvSpPr/>
          <p:nvPr/>
        </p:nvSpPr>
        <p:spPr>
          <a:xfrm>
            <a:off x="6263640" y="2962800"/>
            <a:ext cx="456480" cy="45648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0" name="Image 5" descr="/home/claude/work/icons/battery_purple.png"/>
          <p:cNvPicPr/>
          <p:nvPr/>
        </p:nvPicPr>
        <p:blipFill>
          <a:blip r:embed="rId6"/>
          <a:stretch/>
        </p:blipFill>
        <p:spPr>
          <a:xfrm>
            <a:off x="6373440" y="307224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61" name="Text 18"/>
          <p:cNvSpPr/>
          <p:nvPr/>
        </p:nvSpPr>
        <p:spPr>
          <a:xfrm>
            <a:off x="6885360" y="2944440"/>
            <a:ext cx="481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Provisioned Concurrency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Text 19"/>
          <p:cNvSpPr/>
          <p:nvPr/>
        </p:nvSpPr>
        <p:spPr>
          <a:xfrm>
            <a:off x="6885360" y="3218760"/>
            <a:ext cx="481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ca3be"/>
                </a:solidFill>
                <a:latin typeface="Calibri"/>
                <a:ea typeface="Calibri"/>
              </a:rPr>
              <a:t>Pre-warmed environments kept ready on standby to avoid cold starts entirely.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Shape 20"/>
          <p:cNvSpPr/>
          <p:nvPr/>
        </p:nvSpPr>
        <p:spPr>
          <a:xfrm>
            <a:off x="502920" y="3895200"/>
            <a:ext cx="11201400" cy="360"/>
          </a:xfrm>
          <a:prstGeom prst="line">
            <a:avLst/>
          </a:prstGeom>
          <a:ln w="12700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Text 21"/>
          <p:cNvSpPr/>
          <p:nvPr/>
        </p:nvSpPr>
        <p:spPr>
          <a:xfrm>
            <a:off x="502920" y="402336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5" strike="noStrike">
                <a:solidFill>
                  <a:srgbClr val="7dd3fc"/>
                </a:solidFill>
                <a:latin typeface="Calibri"/>
                <a:ea typeface="Calibri"/>
              </a:rPr>
              <a:t>REQUEST LIFECYCLE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22"/>
          <p:cNvSpPr/>
          <p:nvPr/>
        </p:nvSpPr>
        <p:spPr>
          <a:xfrm>
            <a:off x="502920" y="4343400"/>
            <a:ext cx="1965240" cy="1233720"/>
          </a:xfrm>
          <a:prstGeom prst="roundRect">
            <a:avLst>
              <a:gd name="adj" fmla="val 5926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Shape 23"/>
          <p:cNvSpPr/>
          <p:nvPr/>
        </p:nvSpPr>
        <p:spPr>
          <a:xfrm>
            <a:off x="1248120" y="4572000"/>
            <a:ext cx="474840" cy="47484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7" name="Image 6" descr="/home/claude/work/icons/arrowright_blue.png"/>
          <p:cNvPicPr/>
          <p:nvPr/>
        </p:nvPicPr>
        <p:blipFill>
          <a:blip r:embed="rId7"/>
          <a:stretch/>
        </p:blipFill>
        <p:spPr>
          <a:xfrm>
            <a:off x="1380600" y="469080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968" name="Text 24"/>
          <p:cNvSpPr/>
          <p:nvPr/>
        </p:nvSpPr>
        <p:spPr>
          <a:xfrm>
            <a:off x="502920" y="5212440"/>
            <a:ext cx="1965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Request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9" name="Image 7" descr="/home/claude/work/icons/arrowright_blue.png"/>
          <p:cNvPicPr/>
          <p:nvPr/>
        </p:nvPicPr>
        <p:blipFill>
          <a:blip r:embed="rId8"/>
          <a:stretch/>
        </p:blipFill>
        <p:spPr>
          <a:xfrm>
            <a:off x="2496240" y="486000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970" name="Shape 25"/>
          <p:cNvSpPr/>
          <p:nvPr/>
        </p:nvSpPr>
        <p:spPr>
          <a:xfrm>
            <a:off x="2724840" y="4343400"/>
            <a:ext cx="1965240" cy="1233720"/>
          </a:xfrm>
          <a:prstGeom prst="roundRect">
            <a:avLst>
              <a:gd name="adj" fmla="val 5926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Shape 26"/>
          <p:cNvSpPr/>
          <p:nvPr/>
        </p:nvSpPr>
        <p:spPr>
          <a:xfrm>
            <a:off x="3470040" y="4572000"/>
            <a:ext cx="474840" cy="474840"/>
          </a:xfrm>
          <a:prstGeom prst="ellipse">
            <a:avLst/>
          </a:prstGeom>
          <a:solidFill>
            <a:srgbClr val="3a2e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2" name="Image 8" descr="/home/claude/work/icons/bolt_amber.png"/>
          <p:cNvPicPr/>
          <p:nvPr/>
        </p:nvPicPr>
        <p:blipFill>
          <a:blip r:embed="rId9"/>
          <a:stretch/>
        </p:blipFill>
        <p:spPr>
          <a:xfrm>
            <a:off x="3639240" y="468180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973" name="Text 27"/>
          <p:cNvSpPr/>
          <p:nvPr/>
        </p:nvSpPr>
        <p:spPr>
          <a:xfrm>
            <a:off x="2770560" y="5212080"/>
            <a:ext cx="1873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Cold Start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4" name="Image 9" descr="/home/claude/work/icons/arrowright_blue.png"/>
          <p:cNvPicPr/>
          <p:nvPr/>
        </p:nvPicPr>
        <p:blipFill>
          <a:blip r:embed="rId10"/>
          <a:stretch/>
        </p:blipFill>
        <p:spPr>
          <a:xfrm>
            <a:off x="4718160" y="486000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975" name="Shape 28"/>
          <p:cNvSpPr/>
          <p:nvPr/>
        </p:nvSpPr>
        <p:spPr>
          <a:xfrm>
            <a:off x="4946760" y="4343400"/>
            <a:ext cx="1965240" cy="1233720"/>
          </a:xfrm>
          <a:prstGeom prst="roundRect">
            <a:avLst>
              <a:gd name="adj" fmla="val 5926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Shape 29"/>
          <p:cNvSpPr/>
          <p:nvPr/>
        </p:nvSpPr>
        <p:spPr>
          <a:xfrm>
            <a:off x="5692320" y="4572000"/>
            <a:ext cx="474840" cy="474840"/>
          </a:xfrm>
          <a:prstGeom prst="ellipse">
            <a:avLst/>
          </a:prstGeom>
          <a:solidFill>
            <a:srgbClr val="1038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7" name="Image 10" descr="/home/claude/work/icons/fire_green.png"/>
          <p:cNvPicPr/>
          <p:nvPr/>
        </p:nvPicPr>
        <p:blipFill>
          <a:blip r:embed="rId11"/>
          <a:stretch/>
        </p:blipFill>
        <p:spPr>
          <a:xfrm>
            <a:off x="5833800" y="468180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978" name="Text 30"/>
          <p:cNvSpPr/>
          <p:nvPr/>
        </p:nvSpPr>
        <p:spPr>
          <a:xfrm>
            <a:off x="4992480" y="5212080"/>
            <a:ext cx="1873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Warm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9" name="Image 11" descr="/home/claude/work/icons/arrowright_blue.png"/>
          <p:cNvPicPr/>
          <p:nvPr/>
        </p:nvPicPr>
        <p:blipFill>
          <a:blip r:embed="rId12"/>
          <a:stretch/>
        </p:blipFill>
        <p:spPr>
          <a:xfrm>
            <a:off x="6940440" y="486000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980" name="Shape 31"/>
          <p:cNvSpPr/>
          <p:nvPr/>
        </p:nvSpPr>
        <p:spPr>
          <a:xfrm>
            <a:off x="7169040" y="4343400"/>
            <a:ext cx="1965240" cy="1233720"/>
          </a:xfrm>
          <a:prstGeom prst="roundRect">
            <a:avLst>
              <a:gd name="adj" fmla="val 5926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Shape 32"/>
          <p:cNvSpPr/>
          <p:nvPr/>
        </p:nvSpPr>
        <p:spPr>
          <a:xfrm>
            <a:off x="7914240" y="4572000"/>
            <a:ext cx="474840" cy="474840"/>
          </a:xfrm>
          <a:prstGeom prst="ellipse">
            <a:avLst/>
          </a:prstGeom>
          <a:solidFill>
            <a:srgbClr val="3a2e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2" name="Image 12" descr="/home/claude/work/icons/pause_amber.png"/>
          <p:cNvPicPr/>
          <p:nvPr/>
        </p:nvPicPr>
        <p:blipFill>
          <a:blip r:embed="rId13"/>
          <a:stretch/>
        </p:blipFill>
        <p:spPr>
          <a:xfrm>
            <a:off x="8028360" y="468180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983" name="Text 33"/>
          <p:cNvSpPr/>
          <p:nvPr/>
        </p:nvSpPr>
        <p:spPr>
          <a:xfrm>
            <a:off x="7214760" y="5212080"/>
            <a:ext cx="1873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Cooldown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4" name="Image 13" descr="/home/claude/work/icons/arrowright_blue.png"/>
          <p:cNvPicPr/>
          <p:nvPr/>
        </p:nvPicPr>
        <p:blipFill>
          <a:blip r:embed="rId14"/>
          <a:stretch/>
        </p:blipFill>
        <p:spPr>
          <a:xfrm>
            <a:off x="9162360" y="4860000"/>
            <a:ext cx="200520" cy="200520"/>
          </a:xfrm>
          <a:prstGeom prst="rect">
            <a:avLst/>
          </a:prstGeom>
          <a:ln w="0">
            <a:noFill/>
          </a:ln>
        </p:spPr>
      </p:pic>
      <p:sp>
        <p:nvSpPr>
          <p:cNvPr id="985" name="Shape 34"/>
          <p:cNvSpPr/>
          <p:nvPr/>
        </p:nvSpPr>
        <p:spPr>
          <a:xfrm>
            <a:off x="9390960" y="4343400"/>
            <a:ext cx="1965240" cy="1233720"/>
          </a:xfrm>
          <a:prstGeom prst="roundRect">
            <a:avLst>
              <a:gd name="adj" fmla="val 5926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Shape 35"/>
          <p:cNvSpPr/>
          <p:nvPr/>
        </p:nvSpPr>
        <p:spPr>
          <a:xfrm>
            <a:off x="10136160" y="4572000"/>
            <a:ext cx="474840" cy="47484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7" name="Image 14" descr="/home/claude/work/icons/snowflake_purple.png"/>
          <p:cNvPicPr/>
          <p:nvPr/>
        </p:nvPicPr>
        <p:blipFill>
          <a:blip r:embed="rId15"/>
          <a:stretch/>
        </p:blipFill>
        <p:spPr>
          <a:xfrm>
            <a:off x="10259640" y="468180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988" name="Text 36"/>
          <p:cNvSpPr/>
          <p:nvPr/>
        </p:nvSpPr>
        <p:spPr>
          <a:xfrm>
            <a:off x="9436680" y="5212080"/>
            <a:ext cx="1873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Scale to Zero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Text 37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Cold Starts &amp; Scaling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Text 38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19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1" name="Image 16" descr="/home/claude/work/icons/hourglass_blue.png"/>
          <p:cNvPicPr/>
          <p:nvPr/>
        </p:nvPicPr>
        <p:blipFill>
          <a:blip r:embed="rId16"/>
          <a:stretch/>
        </p:blipFill>
        <p:spPr>
          <a:xfrm rot="84000">
            <a:off x="631800" y="3066120"/>
            <a:ext cx="249480" cy="24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CHAPTER 3 – PLATFORM COMPARISON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Scaling Behaviour Across Platforms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994" name="Table 0"/>
          <p:cNvGraphicFramePr/>
          <p:nvPr/>
        </p:nvGraphicFramePr>
        <p:xfrm>
          <a:off x="502920" y="1280160"/>
          <a:ext cx="11201040" cy="3520440"/>
        </p:xfrm>
        <a:graphic>
          <a:graphicData uri="http://schemas.openxmlformats.org/drawingml/2006/table">
            <a:tbl>
              <a:tblPr/>
              <a:tblGrid>
                <a:gridCol w="2331720"/>
                <a:gridCol w="1874520"/>
                <a:gridCol w="1874520"/>
                <a:gridCol w="1874520"/>
                <a:gridCol w="1600200"/>
                <a:gridCol w="164592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970" spc="-1" strike="noStrike">
                        <a:solidFill>
                          <a:srgbClr val="ffffff"/>
                        </a:solidFill>
                        <a:latin typeface="Calibri"/>
                        <a:ea typeface="Calibri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Azure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GCP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Vercel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Cloudflare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Cold Start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 (Medium)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 (Medium)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 (Low)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 (Low)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Very Low (Isolates)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Scale to Zero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 (per request)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Cooldown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300 sec (official)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published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published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published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applicable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Warm Instances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Min Replicas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Provisioned Conc.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Min Instances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Platform managed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Isolate reuse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Polling Interval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30 sec (official)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published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published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published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applicable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Provisional Concurrency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Always Ready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 (native)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Min Instances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Platform managed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7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Not applicable</a:t>
                      </a:r>
                      <a:endParaRPr b="0" lang="en-U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</a:tbl>
          </a:graphicData>
        </a:graphic>
      </p:graphicFrame>
      <p:sp>
        <p:nvSpPr>
          <p:cNvPr id="995" name="Shape 2"/>
          <p:cNvSpPr/>
          <p:nvPr/>
        </p:nvSpPr>
        <p:spPr>
          <a:xfrm>
            <a:off x="502920" y="5029200"/>
            <a:ext cx="3611160" cy="1370880"/>
          </a:xfrm>
          <a:prstGeom prst="roundRect">
            <a:avLst>
              <a:gd name="adj" fmla="val 4000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6" name="Shape 3"/>
          <p:cNvSpPr/>
          <p:nvPr/>
        </p:nvSpPr>
        <p:spPr>
          <a:xfrm>
            <a:off x="686160" y="5266440"/>
            <a:ext cx="456480" cy="45648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97" name="Image 0" descr="/home/claude/work/icons/chartbar_blue.png"/>
          <p:cNvPicPr/>
          <p:nvPr/>
        </p:nvPicPr>
        <p:blipFill>
          <a:blip r:embed="rId1"/>
          <a:stretch/>
        </p:blipFill>
        <p:spPr>
          <a:xfrm>
            <a:off x="786240" y="53766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998" name="Text 4"/>
          <p:cNvSpPr/>
          <p:nvPr/>
        </p:nvSpPr>
        <p:spPr>
          <a:xfrm>
            <a:off x="1371600" y="5303520"/>
            <a:ext cx="3245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Azure — Full Transparency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Text 5"/>
          <p:cNvSpPr/>
          <p:nvPr/>
        </p:nvSpPr>
        <p:spPr>
          <a:xfrm>
            <a:off x="640440" y="571500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8ca3be"/>
                </a:solidFill>
                <a:latin typeface="Calibri"/>
                <a:ea typeface="Calibri"/>
              </a:rPr>
              <a:t>The only provider to officially publish exact cooldown (300s) and polling (30s) figures.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0" name="Shape 6"/>
          <p:cNvSpPr/>
          <p:nvPr/>
        </p:nvSpPr>
        <p:spPr>
          <a:xfrm>
            <a:off x="4297680" y="5029200"/>
            <a:ext cx="3611160" cy="1370880"/>
          </a:xfrm>
          <a:prstGeom prst="roundRect">
            <a:avLst>
              <a:gd name="adj" fmla="val 4000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Shape 7"/>
          <p:cNvSpPr/>
          <p:nvPr/>
        </p:nvSpPr>
        <p:spPr>
          <a:xfrm>
            <a:off x="4480560" y="5266800"/>
            <a:ext cx="456480" cy="45648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2" name="Image 1" descr="/home/claude/work/icons/battery_purple.png"/>
          <p:cNvPicPr/>
          <p:nvPr/>
        </p:nvPicPr>
        <p:blipFill>
          <a:blip r:embed="rId2"/>
          <a:stretch/>
        </p:blipFill>
        <p:spPr>
          <a:xfrm>
            <a:off x="4590360" y="53766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1003" name="Text 8"/>
          <p:cNvSpPr/>
          <p:nvPr/>
        </p:nvSpPr>
        <p:spPr>
          <a:xfrm>
            <a:off x="5166360" y="5303520"/>
            <a:ext cx="3245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AWS — Deepest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Text 9"/>
          <p:cNvSpPr/>
          <p:nvPr/>
        </p:nvSpPr>
        <p:spPr>
          <a:xfrm>
            <a:off x="4480560" y="571500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8ca3be"/>
                </a:solidFill>
                <a:latin typeface="Calibri"/>
                <a:ea typeface="Calibri"/>
              </a:rPr>
              <a:t>Provisioned Concurrency can eliminate cold starts entirely, at the cost of paying for standby capacity.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Shape 10"/>
          <p:cNvSpPr/>
          <p:nvPr/>
        </p:nvSpPr>
        <p:spPr>
          <a:xfrm>
            <a:off x="8092440" y="5029200"/>
            <a:ext cx="3611160" cy="1370880"/>
          </a:xfrm>
          <a:prstGeom prst="roundRect">
            <a:avLst>
              <a:gd name="adj" fmla="val 4000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6" name="Shape 11"/>
          <p:cNvSpPr/>
          <p:nvPr/>
        </p:nvSpPr>
        <p:spPr>
          <a:xfrm>
            <a:off x="8275320" y="5266800"/>
            <a:ext cx="456480" cy="456480"/>
          </a:xfrm>
          <a:prstGeom prst="ellipse">
            <a:avLst/>
          </a:prstGeom>
          <a:solidFill>
            <a:srgbClr val="1038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7" name="Image 2" descr="/home/claude/work/icons/bolt_green.png"/>
          <p:cNvPicPr/>
          <p:nvPr/>
        </p:nvPicPr>
        <p:blipFill>
          <a:blip r:embed="rId3"/>
          <a:stretch/>
        </p:blipFill>
        <p:spPr>
          <a:xfrm>
            <a:off x="8439840" y="537660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1008" name="Text 12"/>
          <p:cNvSpPr/>
          <p:nvPr/>
        </p:nvSpPr>
        <p:spPr>
          <a:xfrm>
            <a:off x="8946360" y="5303520"/>
            <a:ext cx="3245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Cloudflare — Near-Zero Latency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" name="Text 13"/>
          <p:cNvSpPr/>
          <p:nvPr/>
        </p:nvSpPr>
        <p:spPr>
          <a:xfrm>
            <a:off x="8275320" y="571500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8ca3be"/>
                </a:solidFill>
                <a:latin typeface="Calibri"/>
                <a:ea typeface="Calibri"/>
              </a:rPr>
              <a:t>V8 isolates start in milliseconds, sidestepping the traditional container cold-start path altogether.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Text 14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Scaling Comparison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Text 15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20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CHAPTER 4 – PRICING &amp; FREE TIERS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Free Tier &amp; Trial Credit Comparison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14" name="Table 0"/>
          <p:cNvGraphicFramePr/>
          <p:nvPr/>
        </p:nvGraphicFramePr>
        <p:xfrm>
          <a:off x="502920" y="1280160"/>
          <a:ext cx="1120104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920240"/>
                <a:gridCol w="2148840"/>
                <a:gridCol w="2148840"/>
                <a:gridCol w="160020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Platform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Trial Credits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Always-Free Tier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Student Benefits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Startup Program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Card Required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Azure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$200 (30 days)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Functions free grant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Azure for Students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Founders Hub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Trial: Yes / Student: 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Free Tier (12 mo.)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AWS Educate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AWS Activate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Google Cloud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$300 (90 days)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Education Programs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Google for Startups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Vercel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None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Hobby Plan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GitHub Student Pack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Vercel Startup Program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Cloudflare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None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Free Plan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None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Cloudflare for Startups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</a:tbl>
          </a:graphicData>
        </a:graphic>
      </p:graphicFrame>
      <p:sp>
        <p:nvSpPr>
          <p:cNvPr id="1015" name="Shape 2"/>
          <p:cNvSpPr/>
          <p:nvPr/>
        </p:nvSpPr>
        <p:spPr>
          <a:xfrm>
            <a:off x="503280" y="4800600"/>
            <a:ext cx="3611160" cy="1553760"/>
          </a:xfrm>
          <a:prstGeom prst="roundRect">
            <a:avLst>
              <a:gd name="adj" fmla="val 4103"/>
            </a:avLst>
          </a:prstGeom>
          <a:solidFill>
            <a:srgbClr val="0d2440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6" name="Shape 3"/>
          <p:cNvSpPr/>
          <p:nvPr/>
        </p:nvSpPr>
        <p:spPr>
          <a:xfrm>
            <a:off x="685800" y="5212440"/>
            <a:ext cx="502200" cy="50220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17" name="Image 0" descr="/home/claude/work/icons/dollar_blue.png"/>
          <p:cNvPicPr/>
          <p:nvPr/>
        </p:nvPicPr>
        <p:blipFill>
          <a:blip r:embed="rId1"/>
          <a:stretch/>
        </p:blipFill>
        <p:spPr>
          <a:xfrm>
            <a:off x="859680" y="5340240"/>
            <a:ext cx="260640" cy="260640"/>
          </a:xfrm>
          <a:prstGeom prst="rect">
            <a:avLst/>
          </a:prstGeom>
          <a:ln w="0">
            <a:noFill/>
          </a:ln>
        </p:spPr>
      </p:pic>
      <p:sp>
        <p:nvSpPr>
          <p:cNvPr id="1018" name="Text 4"/>
          <p:cNvSpPr/>
          <p:nvPr/>
        </p:nvSpPr>
        <p:spPr>
          <a:xfrm>
            <a:off x="1509120" y="5120640"/>
            <a:ext cx="2605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ea5e9"/>
                </a:solidFill>
                <a:latin typeface="Cambria"/>
                <a:ea typeface="Cambria"/>
              </a:rPr>
              <a:t>1M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Text 5"/>
          <p:cNvSpPr/>
          <p:nvPr/>
        </p:nvSpPr>
        <p:spPr>
          <a:xfrm>
            <a:off x="685800" y="5879880"/>
            <a:ext cx="3208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AWS Lambda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 6"/>
          <p:cNvSpPr/>
          <p:nvPr/>
        </p:nvSpPr>
        <p:spPr>
          <a:xfrm>
            <a:off x="1828800" y="5806440"/>
            <a:ext cx="3208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ca3be"/>
                </a:solidFill>
                <a:latin typeface="Calibri"/>
                <a:ea typeface="Calibri"/>
              </a:rPr>
              <a:t>free requests every month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Shape 7"/>
          <p:cNvSpPr/>
          <p:nvPr/>
        </p:nvSpPr>
        <p:spPr>
          <a:xfrm>
            <a:off x="4297680" y="4800600"/>
            <a:ext cx="3611160" cy="1553760"/>
          </a:xfrm>
          <a:prstGeom prst="roundRect">
            <a:avLst>
              <a:gd name="adj" fmla="val 4103"/>
            </a:avLst>
          </a:prstGeom>
          <a:solidFill>
            <a:srgbClr val="0d2440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Shape 8"/>
          <p:cNvSpPr/>
          <p:nvPr/>
        </p:nvSpPr>
        <p:spPr>
          <a:xfrm>
            <a:off x="4498920" y="5212080"/>
            <a:ext cx="502200" cy="50220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3" name="Image 1" descr="/home/claude/work/icons/coins_purple.png"/>
          <p:cNvPicPr/>
          <p:nvPr/>
        </p:nvPicPr>
        <p:blipFill>
          <a:blip r:embed="rId2"/>
          <a:stretch/>
        </p:blipFill>
        <p:spPr>
          <a:xfrm>
            <a:off x="4626720" y="5340240"/>
            <a:ext cx="260640" cy="260640"/>
          </a:xfrm>
          <a:prstGeom prst="rect">
            <a:avLst/>
          </a:prstGeom>
          <a:ln w="0">
            <a:noFill/>
          </a:ln>
        </p:spPr>
      </p:pic>
      <p:sp>
        <p:nvSpPr>
          <p:cNvPr id="1024" name="Text 9"/>
          <p:cNvSpPr/>
          <p:nvPr/>
        </p:nvSpPr>
        <p:spPr>
          <a:xfrm>
            <a:off x="5257800" y="5120640"/>
            <a:ext cx="2605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a78bfa"/>
                </a:solidFill>
                <a:latin typeface="Cambria"/>
                <a:ea typeface="Cambria"/>
              </a:rPr>
              <a:t>2M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Text 10"/>
          <p:cNvSpPr/>
          <p:nvPr/>
        </p:nvSpPr>
        <p:spPr>
          <a:xfrm>
            <a:off x="4498920" y="5879520"/>
            <a:ext cx="3208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Google Cloud Functions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6" name="Text 11"/>
          <p:cNvSpPr/>
          <p:nvPr/>
        </p:nvSpPr>
        <p:spPr>
          <a:xfrm>
            <a:off x="6217920" y="5806440"/>
            <a:ext cx="3208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ca3be"/>
                </a:solidFill>
                <a:latin typeface="Calibri"/>
                <a:ea typeface="Calibri"/>
              </a:rPr>
              <a:t>free invocations every month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Shape 12"/>
          <p:cNvSpPr/>
          <p:nvPr/>
        </p:nvSpPr>
        <p:spPr>
          <a:xfrm>
            <a:off x="8092440" y="4800600"/>
            <a:ext cx="3611160" cy="1553760"/>
          </a:xfrm>
          <a:prstGeom prst="roundRect">
            <a:avLst>
              <a:gd name="adj" fmla="val 4103"/>
            </a:avLst>
          </a:prstGeom>
          <a:solidFill>
            <a:srgbClr val="0d2440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Shape 13"/>
          <p:cNvSpPr/>
          <p:nvPr/>
        </p:nvSpPr>
        <p:spPr>
          <a:xfrm>
            <a:off x="8293680" y="5212080"/>
            <a:ext cx="502200" cy="502200"/>
          </a:xfrm>
          <a:prstGeom prst="ellipse">
            <a:avLst/>
          </a:prstGeom>
          <a:solidFill>
            <a:srgbClr val="1038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9" name="Image 2" descr="/home/claude/work/icons/bolt_green.png"/>
          <p:cNvPicPr/>
          <p:nvPr/>
        </p:nvPicPr>
        <p:blipFill>
          <a:blip r:embed="rId3"/>
          <a:stretch/>
        </p:blipFill>
        <p:spPr>
          <a:xfrm>
            <a:off x="8467200" y="5349240"/>
            <a:ext cx="260640" cy="260640"/>
          </a:xfrm>
          <a:prstGeom prst="rect">
            <a:avLst/>
          </a:prstGeom>
          <a:ln w="0">
            <a:noFill/>
          </a:ln>
        </p:spPr>
      </p:pic>
      <p:sp>
        <p:nvSpPr>
          <p:cNvPr id="1030" name="Text 14"/>
          <p:cNvSpPr/>
          <p:nvPr/>
        </p:nvSpPr>
        <p:spPr>
          <a:xfrm>
            <a:off x="8961120" y="5120640"/>
            <a:ext cx="2605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34d399"/>
                </a:solidFill>
                <a:latin typeface="Cambria"/>
                <a:ea typeface="Cambria"/>
              </a:rPr>
              <a:t>100K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Text 15"/>
          <p:cNvSpPr/>
          <p:nvPr/>
        </p:nvSpPr>
        <p:spPr>
          <a:xfrm>
            <a:off x="8293680" y="5879520"/>
            <a:ext cx="3208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Cloudflare Workers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Text 16"/>
          <p:cNvSpPr/>
          <p:nvPr/>
        </p:nvSpPr>
        <p:spPr>
          <a:xfrm>
            <a:off x="9875520" y="5806440"/>
            <a:ext cx="3208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ca3be"/>
                </a:solidFill>
                <a:latin typeface="Calibri"/>
                <a:ea typeface="Calibri"/>
              </a:rPr>
              <a:t>free requests every single day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3" name="Text 17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Free Tier &amp; Credits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4" name="Text 18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21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CHAPTER 4 – PRICING MODELS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6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Function vs Container Pricing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Text 2"/>
          <p:cNvSpPr/>
          <p:nvPr/>
        </p:nvSpPr>
        <p:spPr>
          <a:xfrm>
            <a:off x="502920" y="1207080"/>
            <a:ext cx="543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45" strike="noStrike">
                <a:solidFill>
                  <a:srgbClr val="7dd3fc"/>
                </a:solidFill>
                <a:latin typeface="Calibri"/>
                <a:ea typeface="Calibri"/>
              </a:rPr>
              <a:t>SERVERLESS FUNCTIONS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38" name="Table 0"/>
          <p:cNvGraphicFramePr/>
          <p:nvPr/>
        </p:nvGraphicFramePr>
        <p:xfrm>
          <a:off x="457200" y="1590120"/>
          <a:ext cx="6705360" cy="2498760"/>
        </p:xfrm>
        <a:graphic>
          <a:graphicData uri="http://schemas.openxmlformats.org/drawingml/2006/table">
            <a:tbl>
              <a:tblPr/>
              <a:tblGrid>
                <a:gridCol w="1325880"/>
                <a:gridCol w="1165320"/>
                <a:gridCol w="1794960"/>
                <a:gridCol w="1276560"/>
                <a:gridCol w="11430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Platform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Free Requests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Free Compute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Billing Unit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Charged For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</a:tr>
              <a:tr h="396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Azure Functions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1 Million / mo.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400,000 GB-seconds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GB-seconds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Requests + Memory + Time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 Lambda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1 Million / mo.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400,000 GB-seconds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GB-seconds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Requests + Memory + Time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Google Cloud Fn.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2 Million / mo.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400,000 GB-seconds + 200,000 vCPU-seconds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vCPU + GiB-sec.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Requests + CPU + Memory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Vercel Functions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Plan quota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Included CPU &amp; Memory Quotas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Execution duration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Invocations + Compute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Cloudflare Workers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100K / day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CPU Time Included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CPU milliseconds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Requests + CPU Time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</a:tbl>
          </a:graphicData>
        </a:graphic>
      </p:graphicFrame>
      <p:sp>
        <p:nvSpPr>
          <p:cNvPr id="1039" name="Text 3"/>
          <p:cNvSpPr/>
          <p:nvPr/>
        </p:nvSpPr>
        <p:spPr>
          <a:xfrm rot="6000">
            <a:off x="7314840" y="1202400"/>
            <a:ext cx="5074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45" strike="noStrike">
                <a:solidFill>
                  <a:srgbClr val="a78bfa"/>
                </a:solidFill>
                <a:latin typeface="Calibri"/>
                <a:ea typeface="Calibri"/>
              </a:rPr>
              <a:t>SERVERLESS CONTAINERS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40" name="Table 1"/>
          <p:cNvGraphicFramePr/>
          <p:nvPr/>
        </p:nvGraphicFramePr>
        <p:xfrm>
          <a:off x="7315200" y="1548000"/>
          <a:ext cx="4509360" cy="2603880"/>
        </p:xfrm>
        <a:graphic>
          <a:graphicData uri="http://schemas.openxmlformats.org/drawingml/2006/table">
            <a:tbl>
              <a:tblPr/>
              <a:tblGrid>
                <a:gridCol w="1667520"/>
                <a:gridCol w="1136880"/>
                <a:gridCol w="985320"/>
                <a:gridCol w="720000"/>
              </a:tblGrid>
              <a:tr h="4320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Platform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Scale-to-Zero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Billing Basis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Idle Billing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</a:tr>
              <a:tr h="4341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Azure Container Apps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vCPU + Memory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 (after zero)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341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 App Runner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vCPU + Memory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Reduced when idle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341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 ECS Fargate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Config dependent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vCPU + Memory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Depends on tasks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341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Google Cloud Run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vCPU + Memory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No (after zero)</a:t>
                      </a:r>
                      <a:endParaRPr b="0" lang="en-U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35240">
                <a:tc gridSpan="4"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1b1033"/>
                          </a:solidFill>
                          <a:latin typeface="Calibri"/>
                          <a:ea typeface="Calibri"/>
                        </a:rPr>
                        <a:t>All four scale to zero except Fargate, which depends on your Auto Scaling configuration.</a:t>
                      </a:r>
                      <a:endParaRPr b="0" lang="en-U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a78bf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1041" name="Text 4"/>
          <p:cNvSpPr/>
          <p:nvPr/>
        </p:nvSpPr>
        <p:spPr>
          <a:xfrm>
            <a:off x="502920" y="430668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5" strike="noStrike">
                <a:solidFill>
                  <a:srgbClr val="7dd3fc"/>
                </a:solidFill>
                <a:latin typeface="Calibri"/>
                <a:ea typeface="Calibri"/>
              </a:rPr>
              <a:t>KEY BILLING FIGURES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Shape 5"/>
          <p:cNvSpPr/>
          <p:nvPr/>
        </p:nvSpPr>
        <p:spPr>
          <a:xfrm>
            <a:off x="502920" y="4645080"/>
            <a:ext cx="2148120" cy="456480"/>
          </a:xfrm>
          <a:prstGeom prst="roundRect">
            <a:avLst>
              <a:gd name="adj" fmla="val 50000"/>
            </a:avLst>
          </a:prstGeom>
          <a:solidFill>
            <a:srgbClr val="173a5c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Text 6"/>
          <p:cNvSpPr/>
          <p:nvPr/>
        </p:nvSpPr>
        <p:spPr>
          <a:xfrm>
            <a:off x="502920" y="464508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ea5e9"/>
                </a:solidFill>
                <a:latin typeface="Calibri"/>
                <a:ea typeface="Calibri"/>
              </a:rPr>
              <a:t>1M Requests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Shape 7"/>
          <p:cNvSpPr/>
          <p:nvPr/>
        </p:nvSpPr>
        <p:spPr>
          <a:xfrm>
            <a:off x="2770560" y="4645080"/>
            <a:ext cx="2148120" cy="456480"/>
          </a:xfrm>
          <a:prstGeom prst="roundRect">
            <a:avLst>
              <a:gd name="adj" fmla="val 50000"/>
            </a:avLst>
          </a:prstGeom>
          <a:solidFill>
            <a:srgbClr val="2a2559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Text 8"/>
          <p:cNvSpPr/>
          <p:nvPr/>
        </p:nvSpPr>
        <p:spPr>
          <a:xfrm>
            <a:off x="2770560" y="464508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Calibri"/>
                <a:ea typeface="Calibri"/>
              </a:rPr>
              <a:t>2M Invocations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Shape 9"/>
          <p:cNvSpPr/>
          <p:nvPr/>
        </p:nvSpPr>
        <p:spPr>
          <a:xfrm>
            <a:off x="5038200" y="4645080"/>
            <a:ext cx="2148120" cy="456480"/>
          </a:xfrm>
          <a:prstGeom prst="roundRect">
            <a:avLst>
              <a:gd name="adj" fmla="val 50000"/>
            </a:avLst>
          </a:prstGeom>
          <a:solidFill>
            <a:srgbClr val="10382e"/>
          </a:solidFill>
          <a:ln w="127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10"/>
          <p:cNvSpPr/>
          <p:nvPr/>
        </p:nvSpPr>
        <p:spPr>
          <a:xfrm>
            <a:off x="5038200" y="464508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  <a:ea typeface="Calibri"/>
              </a:rPr>
              <a:t>100K / day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Shape 11"/>
          <p:cNvSpPr/>
          <p:nvPr/>
        </p:nvSpPr>
        <p:spPr>
          <a:xfrm>
            <a:off x="7306200" y="4645080"/>
            <a:ext cx="2148120" cy="456480"/>
          </a:xfrm>
          <a:prstGeom prst="roundRect">
            <a:avLst>
              <a:gd name="adj" fmla="val 50000"/>
            </a:avLst>
          </a:prstGeom>
          <a:solidFill>
            <a:srgbClr val="3a2e10"/>
          </a:solidFill>
          <a:ln w="12700">
            <a:solidFill>
              <a:srgbClr val="fbbf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Text 12"/>
          <p:cNvSpPr/>
          <p:nvPr/>
        </p:nvSpPr>
        <p:spPr>
          <a:xfrm>
            <a:off x="7306200" y="464508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bbf24"/>
                </a:solidFill>
                <a:latin typeface="Calibri"/>
                <a:ea typeface="Calibri"/>
              </a:rPr>
              <a:t>GB-seconds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Shape 13"/>
          <p:cNvSpPr/>
          <p:nvPr/>
        </p:nvSpPr>
        <p:spPr>
          <a:xfrm>
            <a:off x="9573840" y="4645080"/>
            <a:ext cx="2148120" cy="456480"/>
          </a:xfrm>
          <a:prstGeom prst="roundRect">
            <a:avLst>
              <a:gd name="adj" fmla="val 50000"/>
            </a:avLst>
          </a:prstGeom>
          <a:solidFill>
            <a:srgbClr val="173a5c"/>
          </a:solidFill>
          <a:ln w="127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Text 14"/>
          <p:cNvSpPr/>
          <p:nvPr/>
        </p:nvSpPr>
        <p:spPr>
          <a:xfrm>
            <a:off x="9573840" y="4645080"/>
            <a:ext cx="2148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ea5e9"/>
                </a:solidFill>
                <a:latin typeface="Calibri"/>
                <a:ea typeface="Calibri"/>
              </a:rPr>
              <a:t>CPU Billing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Shape 15"/>
          <p:cNvSpPr/>
          <p:nvPr/>
        </p:nvSpPr>
        <p:spPr>
          <a:xfrm>
            <a:off x="502920" y="5330880"/>
            <a:ext cx="11200680" cy="913680"/>
          </a:xfrm>
          <a:prstGeom prst="roundRect">
            <a:avLst>
              <a:gd name="adj" fmla="val 8000"/>
            </a:avLst>
          </a:prstGeom>
          <a:solidFill>
            <a:srgbClr val="0d2440"/>
          </a:solidFill>
          <a:ln w="9525">
            <a:solidFill>
              <a:srgbClr val="2747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Text 16"/>
          <p:cNvSpPr/>
          <p:nvPr/>
        </p:nvSpPr>
        <p:spPr>
          <a:xfrm>
            <a:off x="777240" y="5330880"/>
            <a:ext cx="106520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ca3be"/>
                </a:solidFill>
                <a:latin typeface="Calibri"/>
                <a:ea typeface="Calibri"/>
              </a:rPr>
              <a:t>Functions are most economical for short-lived, event-driven workloads. Containers suit complete backend applications, REST APIs and microservices that need a persistent, always-available process.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Text 17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Function vs Container Pricing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Text 18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22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CHAPTER 4 – COST OPTIMIZATION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Cost Optimization Strategies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58" name="Table 0"/>
          <p:cNvGraphicFramePr/>
          <p:nvPr/>
        </p:nvGraphicFramePr>
        <p:xfrm>
          <a:off x="502920" y="1280160"/>
          <a:ext cx="11155320" cy="3619080"/>
        </p:xfrm>
        <a:graphic>
          <a:graphicData uri="http://schemas.openxmlformats.org/drawingml/2006/table">
            <a:tbl>
              <a:tblPr/>
              <a:tblGrid>
                <a:gridCol w="4201200"/>
                <a:gridCol w="2244960"/>
                <a:gridCol w="2244960"/>
                <a:gridCol w="2464560"/>
              </a:tblGrid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Strategy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Functions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Containers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Benefit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Scale-to-Zero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Eliminates idle compute costs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Warm Instances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bbf24"/>
                          </a:solidFill>
                          <a:latin typeface="Calibri"/>
                          <a:ea typeface="Calibri"/>
                        </a:rPr>
                        <a:t>Optional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bbf24"/>
                          </a:solidFill>
                          <a:latin typeface="Calibri"/>
                          <a:ea typeface="Calibri"/>
                        </a:rPr>
                        <a:t>Optional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Reduces cold starts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Event-Driven Architecture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choice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93aac7"/>
                          </a:solidFill>
                          <a:latin typeface="Calibri"/>
                          <a:ea typeface="Calibri"/>
                        </a:rPr>
                        <a:t>Not ideal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Pay only when events occur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Long-Running APIs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93aac7"/>
                          </a:solidFill>
                          <a:latin typeface="Calibri"/>
                          <a:ea typeface="Calibri"/>
                        </a:rPr>
                        <a:t>Not ideal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choice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Stable backend performance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Optimize CPU &amp; Memory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Reduces compute charges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Reduce Startup Time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93aac7"/>
                          </a:solidFill>
                          <a:latin typeface="Calibri"/>
                          <a:ea typeface="Calibri"/>
                        </a:rPr>
                        <a:t>Moderate impact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High impact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Faster responses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Cache Responses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93aac7"/>
                          </a:solidFill>
                          <a:latin typeface="Calibri"/>
                          <a:ea typeface="Calibri"/>
                        </a:rPr>
                        <a:t>Moderate benefit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High benefit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Lowers backend workload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CDN for Static Content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93aac7"/>
                          </a:solidFill>
                          <a:latin typeface="Calibri"/>
                          <a:ea typeface="Calibri"/>
                        </a:rPr>
                        <a:t>Indirect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93aac7"/>
                          </a:solidFill>
                          <a:latin typeface="Calibri"/>
                          <a:ea typeface="Calibri"/>
                        </a:rPr>
                        <a:t>Indirect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8ca3be"/>
                          </a:solidFill>
                          <a:latin typeface="Calibri"/>
                          <a:ea typeface="Calibri"/>
                        </a:rPr>
                        <a:t>Reduces bandwidth &amp; latency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</a:tbl>
          </a:graphicData>
        </a:graphic>
      </p:graphicFrame>
      <p:sp>
        <p:nvSpPr>
          <p:cNvPr id="1059" name="Text 2"/>
          <p:cNvSpPr/>
          <p:nvPr/>
        </p:nvSpPr>
        <p:spPr>
          <a:xfrm>
            <a:off x="594360" y="5056560"/>
            <a:ext cx="3885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5" strike="noStrike">
                <a:solidFill>
                  <a:srgbClr val="7dd3fc"/>
                </a:solidFill>
                <a:latin typeface="Calibri"/>
                <a:ea typeface="Calibri"/>
              </a:rPr>
              <a:t>BEST PRACTICES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Shape 3"/>
          <p:cNvSpPr/>
          <p:nvPr/>
        </p:nvSpPr>
        <p:spPr>
          <a:xfrm>
            <a:off x="502920" y="5367600"/>
            <a:ext cx="319680" cy="31968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1" name="Image 0" descr="/home/claude/work/icons/snowflake_purple.png"/>
          <p:cNvPicPr/>
          <p:nvPr/>
        </p:nvPicPr>
        <p:blipFill>
          <a:blip r:embed="rId1"/>
          <a:stretch/>
        </p:blipFill>
        <p:spPr>
          <a:xfrm>
            <a:off x="594360" y="544968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062" name="Text 4"/>
          <p:cNvSpPr/>
          <p:nvPr/>
        </p:nvSpPr>
        <p:spPr>
          <a:xfrm>
            <a:off x="914400" y="533124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Let idle workloads scale to zero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3" name="Shape 5"/>
          <p:cNvSpPr/>
          <p:nvPr/>
        </p:nvSpPr>
        <p:spPr>
          <a:xfrm>
            <a:off x="502920" y="5760720"/>
            <a:ext cx="319680" cy="319680"/>
          </a:xfrm>
          <a:prstGeom prst="ellipse">
            <a:avLst/>
          </a:prstGeom>
          <a:solidFill>
            <a:srgbClr val="1038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4" name="Image 1" descr="/home/claude/work/icons/fire_green.png"/>
          <p:cNvPicPr/>
          <p:nvPr/>
        </p:nvPicPr>
        <p:blipFill>
          <a:blip r:embed="rId2"/>
          <a:stretch/>
        </p:blipFill>
        <p:spPr>
          <a:xfrm>
            <a:off x="603360" y="583380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065" name="Text 6"/>
          <p:cNvSpPr/>
          <p:nvPr/>
        </p:nvSpPr>
        <p:spPr>
          <a:xfrm>
            <a:off x="914400" y="571500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Keep warm instances only where latency is critical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Shape 7"/>
          <p:cNvSpPr/>
          <p:nvPr/>
        </p:nvSpPr>
        <p:spPr>
          <a:xfrm>
            <a:off x="502920" y="6153840"/>
            <a:ext cx="319680" cy="31968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7" name="Image 2" descr="/home/claude/work/icons/bolt_blue.png"/>
          <p:cNvPicPr/>
          <p:nvPr/>
        </p:nvPicPr>
        <p:blipFill>
          <a:blip r:embed="rId3"/>
          <a:stretch/>
        </p:blipFill>
        <p:spPr>
          <a:xfrm>
            <a:off x="612720" y="623628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068" name="Text 8"/>
          <p:cNvSpPr/>
          <p:nvPr/>
        </p:nvSpPr>
        <p:spPr>
          <a:xfrm>
            <a:off x="914400" y="609876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Use functions for event-driven, short tasks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Shape 9"/>
          <p:cNvSpPr/>
          <p:nvPr/>
        </p:nvSpPr>
        <p:spPr>
          <a:xfrm>
            <a:off x="4114800" y="5367600"/>
            <a:ext cx="319680" cy="319680"/>
          </a:xfrm>
          <a:prstGeom prst="ellipse">
            <a:avLst/>
          </a:prstGeom>
          <a:solidFill>
            <a:srgbClr val="2a25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0" name="Image 3" descr="/home/claude/work/icons/container_purple.png"/>
          <p:cNvPicPr/>
          <p:nvPr/>
        </p:nvPicPr>
        <p:blipFill>
          <a:blip r:embed="rId4"/>
          <a:stretch/>
        </p:blipFill>
        <p:spPr>
          <a:xfrm>
            <a:off x="4178880" y="544968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071" name="Text 10"/>
          <p:cNvSpPr/>
          <p:nvPr/>
        </p:nvSpPr>
        <p:spPr>
          <a:xfrm>
            <a:off x="4572000" y="533088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Use containers for persistent backend APIs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Shape 11"/>
          <p:cNvSpPr/>
          <p:nvPr/>
        </p:nvSpPr>
        <p:spPr>
          <a:xfrm>
            <a:off x="4114800" y="5760720"/>
            <a:ext cx="319680" cy="319680"/>
          </a:xfrm>
          <a:prstGeom prst="ellipse">
            <a:avLst/>
          </a:prstGeom>
          <a:solidFill>
            <a:srgbClr val="3a2e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3" name="Image 4" descr="/home/claude/work/icons/cache_amber.png"/>
          <p:cNvPicPr/>
          <p:nvPr/>
        </p:nvPicPr>
        <p:blipFill>
          <a:blip r:embed="rId5"/>
          <a:stretch/>
        </p:blipFill>
        <p:spPr>
          <a:xfrm>
            <a:off x="4187880" y="583380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074" name="Text 12"/>
          <p:cNvSpPr/>
          <p:nvPr/>
        </p:nvSpPr>
        <p:spPr>
          <a:xfrm>
            <a:off x="4572000" y="609876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Cache responses to cut backend load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Shape 13"/>
          <p:cNvSpPr/>
          <p:nvPr/>
        </p:nvSpPr>
        <p:spPr>
          <a:xfrm>
            <a:off x="4114800" y="6153840"/>
            <a:ext cx="319680" cy="31968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6" name="Image 5" descr="/home/claude/work/icons/cdn_blue.png"/>
          <p:cNvPicPr/>
          <p:nvPr/>
        </p:nvPicPr>
        <p:blipFill>
          <a:blip r:embed="rId6"/>
          <a:stretch/>
        </p:blipFill>
        <p:spPr>
          <a:xfrm>
            <a:off x="4187880" y="6217920"/>
            <a:ext cx="164160" cy="164160"/>
          </a:xfrm>
          <a:prstGeom prst="rect">
            <a:avLst/>
          </a:prstGeom>
          <a:ln w="0">
            <a:noFill/>
          </a:ln>
        </p:spPr>
      </p:pic>
      <p:sp>
        <p:nvSpPr>
          <p:cNvPr id="1077" name="Text 14"/>
          <p:cNvSpPr/>
          <p:nvPr/>
        </p:nvSpPr>
        <p:spPr>
          <a:xfrm>
            <a:off x="4572000" y="5715000"/>
            <a:ext cx="33825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Serve static assets through a CDN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8" name="Shape 15"/>
          <p:cNvSpPr/>
          <p:nvPr/>
        </p:nvSpPr>
        <p:spPr>
          <a:xfrm>
            <a:off x="7086600" y="5257800"/>
            <a:ext cx="4617000" cy="1096560"/>
          </a:xfrm>
          <a:prstGeom prst="roundRect">
            <a:avLst>
              <a:gd name="adj" fmla="val 6667"/>
            </a:avLst>
          </a:prstGeom>
          <a:solidFill>
            <a:srgbClr val="0d2440"/>
          </a:solidFill>
          <a:ln w="9525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9" name="Shape 16"/>
          <p:cNvSpPr/>
          <p:nvPr/>
        </p:nvSpPr>
        <p:spPr>
          <a:xfrm>
            <a:off x="7315200" y="5559480"/>
            <a:ext cx="502200" cy="502200"/>
          </a:xfrm>
          <a:prstGeom prst="ellipse">
            <a:avLst/>
          </a:prstGeom>
          <a:solidFill>
            <a:srgbClr val="17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0" name="Image 6" descr="/home/claude/work/icons/target_blue.png"/>
          <p:cNvPicPr/>
          <p:nvPr/>
        </p:nvPicPr>
        <p:blipFill>
          <a:blip r:embed="rId7"/>
          <a:stretch/>
        </p:blipFill>
        <p:spPr>
          <a:xfrm>
            <a:off x="7434000" y="5678280"/>
            <a:ext cx="260640" cy="260640"/>
          </a:xfrm>
          <a:prstGeom prst="rect">
            <a:avLst/>
          </a:prstGeom>
          <a:ln w="0">
            <a:noFill/>
          </a:ln>
        </p:spPr>
      </p:pic>
      <p:sp>
        <p:nvSpPr>
          <p:cNvPr id="1081" name="Text 17"/>
          <p:cNvSpPr/>
          <p:nvPr/>
        </p:nvSpPr>
        <p:spPr>
          <a:xfrm>
            <a:off x="8001000" y="5257800"/>
            <a:ext cx="3428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mbria"/>
                <a:ea typeface="Cambria"/>
              </a:rPr>
              <a:t>Functions handle the spikes. Containers hold the line. Combine both and you stop paying for compute you aren't using.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2" name="Text 18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Cost Optimization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3" name="Text 19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23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Text 0"/>
          <p:cNvSpPr/>
          <p:nvPr/>
        </p:nvSpPr>
        <p:spPr>
          <a:xfrm>
            <a:off x="502920" y="320040"/>
            <a:ext cx="10514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7dd3fc"/>
                </a:solidFill>
                <a:latin typeface="Calibri"/>
                <a:ea typeface="Calibri"/>
              </a:rPr>
              <a:t>FINAL DECISION MATRIX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5" name="Text 1"/>
          <p:cNvSpPr/>
          <p:nvPr/>
        </p:nvSpPr>
        <p:spPr>
          <a:xfrm>
            <a:off x="502920" y="567000"/>
            <a:ext cx="111549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Which Platform Fits Which Requirement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86" name="Table 0"/>
          <p:cNvGraphicFramePr/>
          <p:nvPr/>
        </p:nvGraphicFramePr>
        <p:xfrm>
          <a:off x="502920" y="1280160"/>
          <a:ext cx="11383920" cy="4663440"/>
        </p:xfrm>
        <a:graphic>
          <a:graphicData uri="http://schemas.openxmlformats.org/drawingml/2006/table">
            <a:tbl>
              <a:tblPr/>
              <a:tblGrid>
                <a:gridCol w="2556000"/>
                <a:gridCol w="1766160"/>
                <a:gridCol w="1766160"/>
                <a:gridCol w="1766160"/>
                <a:gridCol w="1766160"/>
                <a:gridCol w="1763640"/>
              </a:tblGrid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Requirement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Azure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AWS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GCP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Vercel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Cloudflare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d3e63"/>
                    </a:solidFill>
                  </a:tcPr>
                </a:tc>
              </a:tr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Enterprise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AI Workloads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Containers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Functions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Next.js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Edge / Low Latency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Startup / MVP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Portfolio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  <a:tr h="424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Static Website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3f597a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422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Learning / Free Tier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30" spc="-1" strike="noStrike">
                          <a:solidFill>
                            <a:srgbClr val="34d399"/>
                          </a:solidFill>
                          <a:latin typeface="Calibri"/>
                          <a:ea typeface="Calibri"/>
                        </a:rPr>
                        <a:t>Best fit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30" spc="-1" strike="noStrike">
                          <a:solidFill>
                            <a:srgbClr val="7dd3fc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b="0" lang="en-US" sz="10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27476e"/>
                      </a:solidFill>
                      <a:prstDash val="solid"/>
                    </a:lnL>
                    <a:lnR w="9360">
                      <a:solidFill>
                        <a:srgbClr val="27476e"/>
                      </a:solidFill>
                      <a:prstDash val="solid"/>
                    </a:lnR>
                    <a:lnT w="9360">
                      <a:solidFill>
                        <a:srgbClr val="27476e"/>
                      </a:solidFill>
                      <a:prstDash val="solid"/>
                    </a:lnT>
                    <a:lnB w="9360">
                      <a:solidFill>
                        <a:srgbClr val="27476e"/>
                      </a:solidFill>
                      <a:prstDash val="solid"/>
                    </a:lnB>
                    <a:solidFill>
                      <a:srgbClr val="0d2440"/>
                    </a:solidFill>
                  </a:tcPr>
                </a:tc>
              </a:tr>
            </a:tbl>
          </a:graphicData>
        </a:graphic>
      </p:graphicFrame>
      <p:sp>
        <p:nvSpPr>
          <p:cNvPr id="1087" name="Shape 2"/>
          <p:cNvSpPr/>
          <p:nvPr/>
        </p:nvSpPr>
        <p:spPr>
          <a:xfrm>
            <a:off x="594360" y="6217920"/>
            <a:ext cx="145440" cy="14544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Text 3"/>
          <p:cNvSpPr/>
          <p:nvPr/>
        </p:nvSpPr>
        <p:spPr>
          <a:xfrm>
            <a:off x="868680" y="614484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ca3be"/>
                </a:solidFill>
                <a:latin typeface="Calibri"/>
                <a:ea typeface="Calibri"/>
              </a:rPr>
              <a:t>Best fit for this requirement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9" name="Shape 4"/>
          <p:cNvSpPr/>
          <p:nvPr/>
        </p:nvSpPr>
        <p:spPr>
          <a:xfrm>
            <a:off x="4251960" y="6217920"/>
            <a:ext cx="145440" cy="145440"/>
          </a:xfrm>
          <a:prstGeom prst="ellipse">
            <a:avLst/>
          </a:prstGeom>
          <a:solidFill>
            <a:srgbClr val="7dd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Text 5"/>
          <p:cNvSpPr/>
          <p:nvPr/>
        </p:nvSpPr>
        <p:spPr>
          <a:xfrm>
            <a:off x="4526280" y="6144840"/>
            <a:ext cx="3382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ca3be"/>
                </a:solidFill>
                <a:latin typeface="Calibri"/>
                <a:ea typeface="Calibri"/>
              </a:rPr>
              <a:t>Fully supported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1" name="Shape 6"/>
          <p:cNvSpPr/>
          <p:nvPr/>
        </p:nvSpPr>
        <p:spPr>
          <a:xfrm>
            <a:off x="8001000" y="6217920"/>
            <a:ext cx="145440" cy="145440"/>
          </a:xfrm>
          <a:prstGeom prst="ellipse">
            <a:avLst/>
          </a:prstGeom>
          <a:solidFill>
            <a:srgbClr val="3f59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Text 7"/>
          <p:cNvSpPr/>
          <p:nvPr/>
        </p:nvSpPr>
        <p:spPr>
          <a:xfrm>
            <a:off x="8275320" y="6144840"/>
            <a:ext cx="3382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ca3be"/>
                </a:solidFill>
                <a:latin typeface="Calibri"/>
                <a:ea typeface="Calibri"/>
              </a:rPr>
              <a:t>Not a primary fit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3" name="Text 8"/>
          <p:cNvSpPr/>
          <p:nvPr/>
        </p:nvSpPr>
        <p:spPr>
          <a:xfrm>
            <a:off x="502920" y="6519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Final Decision Matrix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Text 9"/>
          <p:cNvSpPr/>
          <p:nvPr/>
        </p:nvSpPr>
        <p:spPr>
          <a:xfrm>
            <a:off x="10817280" y="6519600"/>
            <a:ext cx="867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ac7"/>
                </a:solidFill>
                <a:latin typeface="Calibri"/>
                <a:ea typeface="Calibri"/>
              </a:rPr>
              <a:t>24 / 25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– CAPACITY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Load-Handling Capacity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201400" cy="402336"/>
          </a:xfrm>
          <a:prstGeom prst="roundRect">
            <a:avLst>
              <a:gd name="adj" fmla="val 18182"/>
            </a:avLst>
          </a:prstGeom>
          <a:solidFill>
            <a:srgbClr val="0D2440"/>
          </a:solidFill>
          <a:ln w="9525">
            <a:solidFill>
              <a:srgbClr val="27476E"/>
            </a:solidFill>
            <a:prstDash val="solid"/>
          </a:ln>
        </p:spPr>
      </p:sp>
      <p:pic>
        <p:nvPicPr>
          <p:cNvPr id="5" name="Image 0" descr="/home/claude/work2/icons/info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618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17043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93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engineering planning estimates for lightweight CRUD business apps (HRMS, CRM, ERP, inventory) — not official platform limits.</a:t>
            </a:r>
            <a:endParaRPr lang="en-US" sz="103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201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74520"/>
                <a:gridCol w="1600200"/>
                <a:gridCol w="196596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Size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Users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Active Users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E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Workload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E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Hobby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10–50 employees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10–30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500–2,000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portal frontend, dashboards, internal tools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 (Free)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50–200 employees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20–100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5,000–20,000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APIs, leave management, notifications, reports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Lambda (Free)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50–200 employees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20–100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5,000–20,000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business APIs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 Run (Free)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100–500 employees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50–200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10,000–50,000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Containerized HRMS, CRM, inventory systems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Container Apps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Hundreds–thousands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100–500+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50,000+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microservices &amp; enterprise APIs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ECS Fargate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Hundreds–thousands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100–500+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50,000+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8CA3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containerized workloads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47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40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45537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IN PRACTICE — THREE REAL SCENARIOS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4846320"/>
            <a:ext cx="3630168" cy="1508760"/>
          </a:xfrm>
          <a:prstGeom prst="roundRect">
            <a:avLst>
              <a:gd name="adj" fmla="val 4848"/>
            </a:avLst>
          </a:prstGeom>
          <a:solidFill>
            <a:srgbClr val="16324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67512" y="4992624"/>
            <a:ext cx="384048" cy="384048"/>
          </a:xfrm>
          <a:prstGeom prst="ellipse">
            <a:avLst/>
          </a:prstGeom>
          <a:solidFill>
            <a:srgbClr val="173A5C"/>
          </a:solidFill>
          <a:ln/>
        </p:spPr>
      </p:sp>
      <p:pic>
        <p:nvPicPr>
          <p:cNvPr id="11" name="Image 1" descr="/home/claude/work2/icons/briefcas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84" y="5084796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496519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Portal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43000" y="5230368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employees</a:t>
            </a:r>
            <a:endParaRPr lang="en-US" sz="930" dirty="0"/>
          </a:p>
        </p:txBody>
      </p:sp>
      <p:sp>
        <p:nvSpPr>
          <p:cNvPr id="14" name="Text 9"/>
          <p:cNvSpPr/>
          <p:nvPr/>
        </p:nvSpPr>
        <p:spPr>
          <a:xfrm>
            <a:off x="667512" y="55046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API requests per day.</a:t>
            </a:r>
            <a:endParaRPr lang="en-US" sz="930" dirty="0"/>
          </a:p>
        </p:txBody>
      </p:sp>
      <p:sp>
        <p:nvSpPr>
          <p:cNvPr id="15" name="Text 10"/>
          <p:cNvSpPr/>
          <p:nvPr/>
        </p:nvSpPr>
        <p:spPr>
          <a:xfrm>
            <a:off x="667512" y="5779008"/>
            <a:ext cx="3300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platform handles this comfortably</a:t>
            </a:r>
            <a:endParaRPr lang="en-US" sz="930" dirty="0"/>
          </a:p>
        </p:txBody>
      </p:sp>
      <p:sp>
        <p:nvSpPr>
          <p:cNvPr id="16" name="Shape 11"/>
          <p:cNvSpPr/>
          <p:nvPr/>
        </p:nvSpPr>
        <p:spPr>
          <a:xfrm>
            <a:off x="4270248" y="4846320"/>
            <a:ext cx="3630168" cy="1508760"/>
          </a:xfrm>
          <a:prstGeom prst="roundRect">
            <a:avLst>
              <a:gd name="adj" fmla="val 4848"/>
            </a:avLst>
          </a:prstGeom>
          <a:solidFill>
            <a:srgbClr val="16324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434840" y="4992624"/>
            <a:ext cx="384048" cy="384048"/>
          </a:xfrm>
          <a:prstGeom prst="ellipse">
            <a:avLst/>
          </a:prstGeom>
          <a:solidFill>
            <a:srgbClr val="2A2559"/>
          </a:solidFill>
          <a:ln/>
        </p:spPr>
      </p:sp>
      <p:pic>
        <p:nvPicPr>
          <p:cNvPr id="18" name="Image 2" descr="/home/claude/work2/icons/chartbar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012" y="5084796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10328" y="496519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CRM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10328" y="5230368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employees · 50 concurrent</a:t>
            </a:r>
            <a:endParaRPr lang="en-US" sz="930" dirty="0"/>
          </a:p>
        </p:txBody>
      </p:sp>
      <p:sp>
        <p:nvSpPr>
          <p:cNvPr id="21" name="Text 15"/>
          <p:cNvSpPr/>
          <p:nvPr/>
        </p:nvSpPr>
        <p:spPr>
          <a:xfrm>
            <a:off x="4434840" y="55046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API requests per day.</a:t>
            </a:r>
            <a:endParaRPr lang="en-US" sz="930" dirty="0"/>
          </a:p>
        </p:txBody>
      </p:sp>
      <p:sp>
        <p:nvSpPr>
          <p:cNvPr id="22" name="Text 16"/>
          <p:cNvSpPr/>
          <p:nvPr/>
        </p:nvSpPr>
        <p:spPr>
          <a:xfrm>
            <a:off x="4434840" y="5779008"/>
            <a:ext cx="3300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→ Container Apps / Cloud Run → Functions / Lambda</a:t>
            </a:r>
            <a:endParaRPr lang="en-US" sz="930" dirty="0"/>
          </a:p>
        </p:txBody>
      </p:sp>
      <p:sp>
        <p:nvSpPr>
          <p:cNvPr id="23" name="Shape 17"/>
          <p:cNvSpPr/>
          <p:nvPr/>
        </p:nvSpPr>
        <p:spPr>
          <a:xfrm>
            <a:off x="8037576" y="4846320"/>
            <a:ext cx="3630168" cy="1508760"/>
          </a:xfrm>
          <a:prstGeom prst="roundRect">
            <a:avLst>
              <a:gd name="adj" fmla="val 4848"/>
            </a:avLst>
          </a:prstGeom>
          <a:solidFill>
            <a:srgbClr val="16324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202168" y="4992624"/>
            <a:ext cx="384048" cy="384048"/>
          </a:xfrm>
          <a:prstGeom prst="ellipse">
            <a:avLst/>
          </a:prstGeom>
          <a:solidFill>
            <a:srgbClr val="3A2E10"/>
          </a:solidFill>
          <a:ln/>
        </p:spPr>
      </p:sp>
      <p:pic>
        <p:nvPicPr>
          <p:cNvPr id="25" name="Image 3" descr="/home/claude/work2/icons/layers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340" y="5084796"/>
            <a:ext cx="199705" cy="19970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77656" y="4965192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HRMS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8677656" y="5230368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employees · 1,000 concurrent</a:t>
            </a:r>
            <a:endParaRPr lang="en-US" sz="930" dirty="0"/>
          </a:p>
        </p:txBody>
      </p:sp>
      <p:sp>
        <p:nvSpPr>
          <p:cNvPr id="28" name="Text 21"/>
          <p:cNvSpPr/>
          <p:nvPr/>
        </p:nvSpPr>
        <p:spPr>
          <a:xfrm>
            <a:off x="8202168" y="55046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C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attendance, reports, file uploads.</a:t>
            </a:r>
            <a:endParaRPr lang="en-US" sz="930" dirty="0"/>
          </a:p>
        </p:txBody>
      </p:sp>
      <p:sp>
        <p:nvSpPr>
          <p:cNvPr id="29" name="Text 22"/>
          <p:cNvSpPr/>
          <p:nvPr/>
        </p:nvSpPr>
        <p:spPr>
          <a:xfrm>
            <a:off x="8202168" y="5779008"/>
            <a:ext cx="3300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→ Container Apps / Fargate → Functions / Lambda → Managed DB + Redis</a:t>
            </a:r>
            <a:endParaRPr lang="en-US" sz="930" dirty="0"/>
          </a:p>
        </p:txBody>
      </p:sp>
      <p:sp>
        <p:nvSpPr>
          <p:cNvPr id="30" name="Text 23"/>
          <p:cNvSpPr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10817352" y="65196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2026-07-14T06:01:14Z</dcterms:created>
  <dc:creator>PptxGenJS</dc:creator>
  <dc:description/>
  <dc:language>en-US</dc:language>
  <cp:lastModifiedBy/>
  <dcterms:modified xsi:type="dcterms:W3CDTF">2026-07-17T16:20:17Z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