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2.png" ContentType="image/png"/>
  <Override PartName="/ppt/media/image21.png" ContentType="image/png"/>
  <Override PartName="/ppt/media/image19.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16.png" ContentType="image/png"/>
  <Override PartName="/ppt/media/image7.png" ContentType="image/png"/>
  <Override PartName="/ppt/media/image2.png" ContentType="image/png"/>
  <Override PartName="/ppt/media/image11.png" ContentType="image/png"/>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F55C4E98-E618-417C-9688-68C7EB98546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685800" y="1143000"/>
            <a:ext cx="5486040" cy="3085920"/>
          </a:xfrm>
          <a:prstGeom prst="rect">
            <a:avLst/>
          </a:prstGeom>
          <a:ln w="0">
            <a:noFill/>
          </a:ln>
        </p:spPr>
      </p:sp>
      <p:sp>
        <p:nvSpPr>
          <p:cNvPr id="5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5"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79DE8A3-BF17-40F8-B6D9-524ED18F146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685800" y="1143000"/>
            <a:ext cx="5486040" cy="3085920"/>
          </a:xfrm>
          <a:prstGeom prst="rect">
            <a:avLst/>
          </a:prstGeom>
          <a:ln w="0">
            <a:noFill/>
          </a:ln>
        </p:spPr>
      </p:sp>
      <p:sp>
        <p:nvSpPr>
          <p:cNvPr id="5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8"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F010D4B-4F7E-496C-A67E-97AFB00BAC9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6040" cy="3085920"/>
          </a:xfrm>
          <a:prstGeom prst="rect">
            <a:avLst/>
          </a:prstGeom>
          <a:ln w="0">
            <a:noFill/>
          </a:ln>
        </p:spPr>
      </p:sp>
      <p:sp>
        <p:nvSpPr>
          <p:cNvPr id="5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21"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8D6EF3F-E6D7-41EC-B1C4-A431587DD3F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6040" cy="3085920"/>
          </a:xfrm>
          <a:prstGeom prst="rect">
            <a:avLst/>
          </a:prstGeom>
          <a:ln w="0">
            <a:noFill/>
          </a:ln>
        </p:spPr>
      </p:sp>
      <p:sp>
        <p:nvSpPr>
          <p:cNvPr id="5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24"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1ADF558-1D25-4D6C-9D08-08FA4EA7DDB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6040" cy="3085920"/>
          </a:xfrm>
          <a:prstGeom prst="rect">
            <a:avLst/>
          </a:prstGeom>
          <a:ln w="0">
            <a:noFill/>
          </a:ln>
        </p:spPr>
      </p:sp>
      <p:sp>
        <p:nvSpPr>
          <p:cNvPr id="5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27"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786B1A4-9150-4026-9400-97F16B6D8DB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685800" y="1143000"/>
            <a:ext cx="5486040" cy="3085920"/>
          </a:xfrm>
          <a:prstGeom prst="rect">
            <a:avLst/>
          </a:prstGeom>
          <a:ln w="0">
            <a:noFill/>
          </a:ln>
        </p:spPr>
      </p:sp>
      <p:sp>
        <p:nvSpPr>
          <p:cNvPr id="5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30"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137F8A2-CB1E-4E0E-96FB-A6304A91170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685800" y="1143000"/>
            <a:ext cx="5486040" cy="3085920"/>
          </a:xfrm>
          <a:prstGeom prst="rect">
            <a:avLst/>
          </a:prstGeom>
          <a:ln w="0">
            <a:noFill/>
          </a:ln>
        </p:spPr>
      </p:sp>
      <p:sp>
        <p:nvSpPr>
          <p:cNvPr id="5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33"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7EA7801-99B9-4AC0-8CFE-DE522B19AFF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685800" y="1143000"/>
            <a:ext cx="5486040" cy="3085920"/>
          </a:xfrm>
          <a:prstGeom prst="rect">
            <a:avLst/>
          </a:prstGeom>
          <a:ln w="0">
            <a:noFill/>
          </a:ln>
        </p:spPr>
      </p:sp>
      <p:sp>
        <p:nvSpPr>
          <p:cNvPr id="5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36"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38ED02E-BC52-4D09-9943-8B639EC7F9D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685800" y="1143000"/>
            <a:ext cx="5486040" cy="3085920"/>
          </a:xfrm>
          <a:prstGeom prst="rect">
            <a:avLst/>
          </a:prstGeom>
          <a:ln w="0">
            <a:noFill/>
          </a:ln>
        </p:spPr>
      </p:sp>
      <p:sp>
        <p:nvSpPr>
          <p:cNvPr id="5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39"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9B5918E-42E0-496B-8BC1-DE0691507F0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685800" y="1143000"/>
            <a:ext cx="5486040" cy="3085920"/>
          </a:xfrm>
          <a:prstGeom prst="rect">
            <a:avLst/>
          </a:prstGeom>
          <a:ln w="0">
            <a:noFill/>
          </a:ln>
        </p:spPr>
      </p:sp>
      <p:sp>
        <p:nvSpPr>
          <p:cNvPr id="5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42"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7043091-5B5E-4B9E-88C0-6EF28B2AFDB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685800" y="1143000"/>
            <a:ext cx="5486040" cy="3085920"/>
          </a:xfrm>
          <a:prstGeom prst="rect">
            <a:avLst/>
          </a:prstGeom>
          <a:ln w="0">
            <a:noFill/>
          </a:ln>
        </p:spPr>
      </p:sp>
      <p:sp>
        <p:nvSpPr>
          <p:cNvPr id="5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45"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D9AF58E-A506-4886-A482-EC08D3A166F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685800" y="1143000"/>
            <a:ext cx="5486040" cy="3085920"/>
          </a:xfrm>
          <a:prstGeom prst="rect">
            <a:avLst/>
          </a:prstGeom>
          <a:ln w="0">
            <a:noFill/>
          </a:ln>
        </p:spPr>
      </p:sp>
      <p:sp>
        <p:nvSpPr>
          <p:cNvPr id="5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48"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2C6124F-95A8-4EA1-9ACC-588461ECF66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685800" y="1143000"/>
            <a:ext cx="5486040" cy="3085920"/>
          </a:xfrm>
          <a:prstGeom prst="rect">
            <a:avLst/>
          </a:prstGeom>
          <a:ln w="0">
            <a:noFill/>
          </a:ln>
        </p:spPr>
      </p:sp>
      <p:sp>
        <p:nvSpPr>
          <p:cNvPr id="5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51"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C2E6199-8726-4E7E-8606-665FAB0D55E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685800" y="1143000"/>
            <a:ext cx="5486040" cy="3085920"/>
          </a:xfrm>
          <a:prstGeom prst="rect">
            <a:avLst/>
          </a:prstGeom>
          <a:ln w="0">
            <a:noFill/>
          </a:ln>
        </p:spPr>
      </p:sp>
      <p:sp>
        <p:nvSpPr>
          <p:cNvPr id="5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54"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1370EB2-C98A-4683-9E28-EA20045F1E1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Img"/>
          </p:nvPr>
        </p:nvSpPr>
        <p:spPr>
          <a:xfrm>
            <a:off x="685800" y="1143000"/>
            <a:ext cx="5486040" cy="3085920"/>
          </a:xfrm>
          <a:prstGeom prst="rect">
            <a:avLst/>
          </a:prstGeom>
          <a:ln w="0">
            <a:noFill/>
          </a:ln>
        </p:spPr>
      </p:sp>
      <p:sp>
        <p:nvSpPr>
          <p:cNvPr id="5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57"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6354232-0D31-4114-9B9C-46B2BE60838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a:t>
            </a:r>
            <a:r>
              <a:rPr b="0" lang="en-US" sz="1800" spc="-1" strike="noStrike">
                <a:solidFill>
                  <a:schemeClr val="dk1"/>
                </a:solidFill>
                <a:latin typeface="Calibri"/>
              </a:rPr>
              <a:t>format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slideLayout" Target="../slideLayouts/slideLayout1.xml"/><Relationship Id="rId7"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3.png"/><Relationship Id="rId10" Type="http://schemas.openxmlformats.org/officeDocument/2006/relationships/slideLayout" Target="../slideLayouts/slideLayout1.xml"/><Relationship Id="rId11"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1.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1.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20.png"/><Relationship Id="rId3" Type="http://schemas.openxmlformats.org/officeDocument/2006/relationships/slideLayout" Target="../slideLayouts/slideLayout1.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image" Target="../media/image20.png"/><Relationship Id="rId4" Type="http://schemas.openxmlformats.org/officeDocument/2006/relationships/slideLayout" Target="../slideLayouts/slideLayout1.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8.png"/><Relationship Id="rId5" Type="http://schemas.openxmlformats.org/officeDocument/2006/relationships/image" Target="../media/image20.png"/><Relationship Id="rId6" Type="http://schemas.openxmlformats.org/officeDocument/2006/relationships/image" Target="../media/image14.png"/><Relationship Id="rId7" Type="http://schemas.openxmlformats.org/officeDocument/2006/relationships/image" Target="../media/image21.png"/><Relationship Id="rId8" Type="http://schemas.openxmlformats.org/officeDocument/2006/relationships/slideLayout" Target="../slideLayouts/slideLayout1.xml"/><Relationship Id="rId9"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8" name="Shape 0"/>
          <p:cNvSpPr/>
          <p:nvPr/>
        </p:nvSpPr>
        <p:spPr>
          <a:xfrm>
            <a:off x="10607040" y="-1463040"/>
            <a:ext cx="3840120" cy="3840120"/>
          </a:xfrm>
          <a:prstGeom prst="ellipse">
            <a:avLst/>
          </a:prstGeom>
          <a:solidFill>
            <a:srgbClr val="252a6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640080" y="384120"/>
            <a:ext cx="456840" cy="45684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 name="Image 0" descr="/home/claude/work/icons/balance_0F1035.png"/>
          <p:cNvPicPr/>
          <p:nvPr/>
        </p:nvPicPr>
        <p:blipFill>
          <a:blip r:embed="rId1"/>
          <a:stretch/>
        </p:blipFill>
        <p:spPr>
          <a:xfrm>
            <a:off x="743040" y="487080"/>
            <a:ext cx="251280" cy="251280"/>
          </a:xfrm>
          <a:prstGeom prst="rect">
            <a:avLst/>
          </a:prstGeom>
          <a:ln w="0">
            <a:noFill/>
          </a:ln>
        </p:spPr>
      </p:pic>
      <p:sp>
        <p:nvSpPr>
          <p:cNvPr id="11" name="Text 2"/>
          <p:cNvSpPr/>
          <p:nvPr/>
        </p:nvSpPr>
        <p:spPr>
          <a:xfrm>
            <a:off x="1234440" y="384120"/>
            <a:ext cx="5486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248" strike="noStrike">
                <a:solidFill>
                  <a:srgbClr val="f5a623"/>
                </a:solidFill>
                <a:latin typeface="Calibri"/>
                <a:ea typeface="Calibri"/>
              </a:rPr>
              <a:t>SOFTWARE LICENSING</a:t>
            </a:r>
            <a:endParaRPr b="0" lang="en-US" sz="1350" spc="-1" strike="noStrike">
              <a:solidFill>
                <a:srgbClr val="ffffff"/>
              </a:solidFill>
              <a:latin typeface="Arial"/>
            </a:endParaRPr>
          </a:p>
        </p:txBody>
      </p:sp>
      <p:sp>
        <p:nvSpPr>
          <p:cNvPr id="12" name="Text 3"/>
          <p:cNvSpPr/>
          <p:nvPr/>
        </p:nvSpPr>
        <p:spPr>
          <a:xfrm>
            <a:off x="640080" y="1051560"/>
            <a:ext cx="6857640" cy="1599840"/>
          </a:xfrm>
          <a:prstGeom prst="rect">
            <a:avLst/>
          </a:prstGeom>
          <a:noFill/>
          <a:ln w="0">
            <a:noFill/>
          </a:ln>
        </p:spPr>
        <p:style>
          <a:lnRef idx="0"/>
          <a:fillRef idx="0"/>
          <a:effectRef idx="0"/>
          <a:fontRef idx="minor"/>
        </p:style>
        <p:txBody>
          <a:bodyPr lIns="0" rIns="0" tIns="0" bIns="0" anchor="ctr">
            <a:noAutofit/>
          </a:bodyPr>
          <a:p>
            <a:pPr defTabSz="914400">
              <a:lnSpc>
                <a:spcPct val="108000"/>
              </a:lnSpc>
              <a:tabLst>
                <a:tab algn="l" pos="0"/>
              </a:tabLst>
            </a:pPr>
            <a:r>
              <a:rPr b="1" lang="en-US" sz="3800" spc="-1" strike="noStrike">
                <a:solidFill>
                  <a:srgbClr val="ffffff"/>
                </a:solidFill>
                <a:latin typeface="Cambria"/>
                <a:ea typeface="Cambria"/>
              </a:rPr>
              <a:t>Understanding</a:t>
            </a:r>
            <a:endParaRPr b="0" lang="en-US" sz="3800" spc="-1" strike="noStrike">
              <a:solidFill>
                <a:srgbClr val="ffffff"/>
              </a:solidFill>
              <a:latin typeface="Arial"/>
            </a:endParaRPr>
          </a:p>
          <a:p>
            <a:pPr defTabSz="914400">
              <a:lnSpc>
                <a:spcPct val="108000"/>
              </a:lnSpc>
              <a:tabLst>
                <a:tab algn="l" pos="0"/>
              </a:tabLst>
            </a:pPr>
            <a:r>
              <a:rPr b="1" lang="en-US" sz="3800" spc="-1" strike="noStrike">
                <a:solidFill>
                  <a:srgbClr val="ffffff"/>
                </a:solidFill>
                <a:latin typeface="Cambria"/>
                <a:ea typeface="Cambria"/>
              </a:rPr>
              <a:t>Software Licensing</a:t>
            </a:r>
            <a:endParaRPr b="0" lang="en-US" sz="3800" spc="-1" strike="noStrike">
              <a:solidFill>
                <a:srgbClr val="ffffff"/>
              </a:solidFill>
              <a:latin typeface="Arial"/>
            </a:endParaRPr>
          </a:p>
        </p:txBody>
      </p:sp>
      <p:sp>
        <p:nvSpPr>
          <p:cNvPr id="13" name="Text 4"/>
          <p:cNvSpPr/>
          <p:nvPr/>
        </p:nvSpPr>
        <p:spPr>
          <a:xfrm>
            <a:off x="640080" y="2697480"/>
            <a:ext cx="67662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550" spc="-1" strike="noStrike">
                <a:solidFill>
                  <a:srgbClr val="c7cdeb"/>
                </a:solidFill>
                <a:latin typeface="Calibri"/>
                <a:ea typeface="Calibri"/>
              </a:rPr>
              <a:t>From Fundamentals to Open Source Licenses</a:t>
            </a:r>
            <a:endParaRPr b="0" lang="en-US" sz="1550" spc="-1" strike="noStrike">
              <a:solidFill>
                <a:srgbClr val="ffffff"/>
              </a:solidFill>
              <a:latin typeface="Arial"/>
            </a:endParaRPr>
          </a:p>
        </p:txBody>
      </p:sp>
      <p:sp>
        <p:nvSpPr>
          <p:cNvPr id="14" name="Shape 5"/>
          <p:cNvSpPr/>
          <p:nvPr/>
        </p:nvSpPr>
        <p:spPr>
          <a:xfrm>
            <a:off x="640080" y="3429000"/>
            <a:ext cx="1572480" cy="1051200"/>
          </a:xfrm>
          <a:prstGeom prst="roundRect">
            <a:avLst>
              <a:gd name="adj" fmla="val 7826"/>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 name="Text 6"/>
          <p:cNvSpPr/>
          <p:nvPr/>
        </p:nvSpPr>
        <p:spPr>
          <a:xfrm>
            <a:off x="640080" y="3538800"/>
            <a:ext cx="1572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pc="-1" strike="noStrike">
                <a:solidFill>
                  <a:srgbClr val="f5a623"/>
                </a:solidFill>
                <a:latin typeface="Cambria"/>
                <a:ea typeface="Cambria"/>
              </a:rPr>
              <a:t>7</a:t>
            </a:r>
            <a:endParaRPr b="0" lang="en-US" sz="2400" spc="-1" strike="noStrike">
              <a:solidFill>
                <a:srgbClr val="ffffff"/>
              </a:solidFill>
              <a:latin typeface="Arial"/>
            </a:endParaRPr>
          </a:p>
        </p:txBody>
      </p:sp>
      <p:sp>
        <p:nvSpPr>
          <p:cNvPr id="16" name="Text 7"/>
          <p:cNvSpPr/>
          <p:nvPr/>
        </p:nvSpPr>
        <p:spPr>
          <a:xfrm>
            <a:off x="713160" y="4014360"/>
            <a:ext cx="142596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5000"/>
              </a:lnSpc>
              <a:tabLst>
                <a:tab algn="l" pos="0"/>
              </a:tabLst>
            </a:pPr>
            <a:r>
              <a:rPr b="0" lang="en-US" sz="950" spc="-1" strike="noStrike">
                <a:solidFill>
                  <a:srgbClr val="c7cdeb"/>
                </a:solidFill>
                <a:latin typeface="Calibri"/>
                <a:ea typeface="Calibri"/>
              </a:rPr>
              <a:t>Licenses</a:t>
            </a:r>
            <a:endParaRPr b="0" lang="en-US" sz="950" spc="-1" strike="noStrike">
              <a:solidFill>
                <a:srgbClr val="ffffff"/>
              </a:solidFill>
              <a:latin typeface="Arial"/>
            </a:endParaRPr>
          </a:p>
          <a:p>
            <a:pPr algn="ctr" defTabSz="914400">
              <a:lnSpc>
                <a:spcPct val="105000"/>
              </a:lnSpc>
              <a:tabLst>
                <a:tab algn="l" pos="0"/>
              </a:tabLst>
            </a:pPr>
            <a:r>
              <a:rPr b="0" lang="en-US" sz="950" spc="-1" strike="noStrike">
                <a:solidFill>
                  <a:srgbClr val="c7cdeb"/>
                </a:solidFill>
                <a:latin typeface="Calibri"/>
                <a:ea typeface="Calibri"/>
              </a:rPr>
              <a:t>Explained</a:t>
            </a:r>
            <a:endParaRPr b="0" lang="en-US" sz="950" spc="-1" strike="noStrike">
              <a:solidFill>
                <a:srgbClr val="ffffff"/>
              </a:solidFill>
              <a:latin typeface="Arial"/>
            </a:endParaRPr>
          </a:p>
        </p:txBody>
      </p:sp>
      <p:sp>
        <p:nvSpPr>
          <p:cNvPr id="17" name="Shape 8"/>
          <p:cNvSpPr/>
          <p:nvPr/>
        </p:nvSpPr>
        <p:spPr>
          <a:xfrm>
            <a:off x="2340720" y="3429000"/>
            <a:ext cx="1572480" cy="1051200"/>
          </a:xfrm>
          <a:prstGeom prst="roundRect">
            <a:avLst>
              <a:gd name="adj" fmla="val 7826"/>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Text 9"/>
          <p:cNvSpPr/>
          <p:nvPr/>
        </p:nvSpPr>
        <p:spPr>
          <a:xfrm>
            <a:off x="2340720" y="3538800"/>
            <a:ext cx="1572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pc="-1" strike="noStrike">
                <a:solidFill>
                  <a:srgbClr val="f5a623"/>
                </a:solidFill>
                <a:latin typeface="Cambria"/>
                <a:ea typeface="Cambria"/>
              </a:rPr>
              <a:t>2</a:t>
            </a:r>
            <a:endParaRPr b="0" lang="en-US" sz="2400" spc="-1" strike="noStrike">
              <a:solidFill>
                <a:srgbClr val="ffffff"/>
              </a:solidFill>
              <a:latin typeface="Arial"/>
            </a:endParaRPr>
          </a:p>
        </p:txBody>
      </p:sp>
      <p:sp>
        <p:nvSpPr>
          <p:cNvPr id="19" name="Text 10"/>
          <p:cNvSpPr/>
          <p:nvPr/>
        </p:nvSpPr>
        <p:spPr>
          <a:xfrm>
            <a:off x="2414160" y="4014360"/>
            <a:ext cx="142596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5000"/>
              </a:lnSpc>
              <a:tabLst>
                <a:tab algn="l" pos="0"/>
              </a:tabLst>
            </a:pPr>
            <a:r>
              <a:rPr b="0" lang="en-US" sz="950" spc="-1" strike="noStrike">
                <a:solidFill>
                  <a:srgbClr val="c7cdeb"/>
                </a:solidFill>
                <a:latin typeface="Calibri"/>
                <a:ea typeface="Calibri"/>
              </a:rPr>
              <a:t>Core</a:t>
            </a:r>
            <a:endParaRPr b="0" lang="en-US" sz="950" spc="-1" strike="noStrike">
              <a:solidFill>
                <a:srgbClr val="ffffff"/>
              </a:solidFill>
              <a:latin typeface="Arial"/>
            </a:endParaRPr>
          </a:p>
          <a:p>
            <a:pPr algn="ctr" defTabSz="914400">
              <a:lnSpc>
                <a:spcPct val="105000"/>
              </a:lnSpc>
              <a:tabLst>
                <a:tab algn="l" pos="0"/>
              </a:tabLst>
            </a:pPr>
            <a:r>
              <a:rPr b="0" lang="en-US" sz="950" spc="-1" strike="noStrike">
                <a:solidFill>
                  <a:srgbClr val="c7cdeb"/>
                </a:solidFill>
                <a:latin typeface="Calibri"/>
                <a:ea typeface="Calibri"/>
              </a:rPr>
              <a:t>Philosophies</a:t>
            </a:r>
            <a:endParaRPr b="0" lang="en-US" sz="950" spc="-1" strike="noStrike">
              <a:solidFill>
                <a:srgbClr val="ffffff"/>
              </a:solidFill>
              <a:latin typeface="Arial"/>
            </a:endParaRPr>
          </a:p>
        </p:txBody>
      </p:sp>
      <p:sp>
        <p:nvSpPr>
          <p:cNvPr id="20" name="Shape 11"/>
          <p:cNvSpPr/>
          <p:nvPr/>
        </p:nvSpPr>
        <p:spPr>
          <a:xfrm>
            <a:off x="4041720" y="3429000"/>
            <a:ext cx="1572480" cy="1051200"/>
          </a:xfrm>
          <a:prstGeom prst="roundRect">
            <a:avLst>
              <a:gd name="adj" fmla="val 7826"/>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Text 12"/>
          <p:cNvSpPr/>
          <p:nvPr/>
        </p:nvSpPr>
        <p:spPr>
          <a:xfrm>
            <a:off x="4041720" y="3538800"/>
            <a:ext cx="1572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pc="-1" strike="noStrike">
                <a:solidFill>
                  <a:srgbClr val="f5a623"/>
                </a:solidFill>
                <a:latin typeface="Cambria"/>
                <a:ea typeface="Cambria"/>
              </a:rPr>
              <a:t>3</a:t>
            </a:r>
            <a:endParaRPr b="0" lang="en-US" sz="2400" spc="-1" strike="noStrike">
              <a:solidFill>
                <a:srgbClr val="ffffff"/>
              </a:solidFill>
              <a:latin typeface="Arial"/>
            </a:endParaRPr>
          </a:p>
        </p:txBody>
      </p:sp>
      <p:sp>
        <p:nvSpPr>
          <p:cNvPr id="22" name="Text 13"/>
          <p:cNvSpPr/>
          <p:nvPr/>
        </p:nvSpPr>
        <p:spPr>
          <a:xfrm>
            <a:off x="4114800" y="4014360"/>
            <a:ext cx="142596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5000"/>
              </a:lnSpc>
              <a:tabLst>
                <a:tab algn="l" pos="0"/>
              </a:tabLst>
            </a:pPr>
            <a:r>
              <a:rPr b="0" lang="en-US" sz="950" spc="-1" strike="noStrike">
                <a:solidFill>
                  <a:srgbClr val="c7cdeb"/>
                </a:solidFill>
                <a:latin typeface="Calibri"/>
                <a:ea typeface="Calibri"/>
              </a:rPr>
              <a:t>Software</a:t>
            </a:r>
            <a:endParaRPr b="0" lang="en-US" sz="950" spc="-1" strike="noStrike">
              <a:solidFill>
                <a:srgbClr val="ffffff"/>
              </a:solidFill>
              <a:latin typeface="Arial"/>
            </a:endParaRPr>
          </a:p>
          <a:p>
            <a:pPr algn="ctr" defTabSz="914400">
              <a:lnSpc>
                <a:spcPct val="105000"/>
              </a:lnSpc>
              <a:tabLst>
                <a:tab algn="l" pos="0"/>
              </a:tabLst>
            </a:pPr>
            <a:r>
              <a:rPr b="0" lang="en-US" sz="950" spc="-1" strike="noStrike">
                <a:solidFill>
                  <a:srgbClr val="c7cdeb"/>
                </a:solidFill>
                <a:latin typeface="Calibri"/>
                <a:ea typeface="Calibri"/>
              </a:rPr>
              <a:t>Categories</a:t>
            </a:r>
            <a:endParaRPr b="0" lang="en-US" sz="950" spc="-1" strike="noStrike">
              <a:solidFill>
                <a:srgbClr val="ffffff"/>
              </a:solidFill>
              <a:latin typeface="Arial"/>
            </a:endParaRPr>
          </a:p>
        </p:txBody>
      </p:sp>
      <p:sp>
        <p:nvSpPr>
          <p:cNvPr id="23" name="Shape 14"/>
          <p:cNvSpPr/>
          <p:nvPr/>
        </p:nvSpPr>
        <p:spPr>
          <a:xfrm>
            <a:off x="5742360" y="3429000"/>
            <a:ext cx="1572480" cy="1051200"/>
          </a:xfrm>
          <a:prstGeom prst="roundRect">
            <a:avLst>
              <a:gd name="adj" fmla="val 7826"/>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Text 15"/>
          <p:cNvSpPr/>
          <p:nvPr/>
        </p:nvSpPr>
        <p:spPr>
          <a:xfrm>
            <a:off x="5742360" y="3538800"/>
            <a:ext cx="1572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pc="-1" strike="noStrike">
                <a:solidFill>
                  <a:srgbClr val="f5a623"/>
                </a:solidFill>
                <a:latin typeface="Cambria"/>
                <a:ea typeface="Cambria"/>
              </a:rPr>
              <a:t>10+</a:t>
            </a:r>
            <a:endParaRPr b="0" lang="en-US" sz="2400" spc="-1" strike="noStrike">
              <a:solidFill>
                <a:srgbClr val="ffffff"/>
              </a:solidFill>
              <a:latin typeface="Arial"/>
            </a:endParaRPr>
          </a:p>
        </p:txBody>
      </p:sp>
      <p:sp>
        <p:nvSpPr>
          <p:cNvPr id="25" name="Text 16"/>
          <p:cNvSpPr/>
          <p:nvPr/>
        </p:nvSpPr>
        <p:spPr>
          <a:xfrm>
            <a:off x="5815440" y="4014360"/>
            <a:ext cx="142596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5000"/>
              </a:lnSpc>
              <a:tabLst>
                <a:tab algn="l" pos="0"/>
              </a:tabLst>
            </a:pPr>
            <a:r>
              <a:rPr b="0" lang="en-US" sz="950" spc="-1" strike="noStrike">
                <a:solidFill>
                  <a:srgbClr val="c7cdeb"/>
                </a:solidFill>
                <a:latin typeface="Calibri"/>
                <a:ea typeface="Calibri"/>
              </a:rPr>
              <a:t>Real-World</a:t>
            </a:r>
            <a:endParaRPr b="0" lang="en-US" sz="950" spc="-1" strike="noStrike">
              <a:solidFill>
                <a:srgbClr val="ffffff"/>
              </a:solidFill>
              <a:latin typeface="Arial"/>
            </a:endParaRPr>
          </a:p>
          <a:p>
            <a:pPr algn="ctr" defTabSz="914400">
              <a:lnSpc>
                <a:spcPct val="105000"/>
              </a:lnSpc>
              <a:tabLst>
                <a:tab algn="l" pos="0"/>
              </a:tabLst>
            </a:pPr>
            <a:r>
              <a:rPr b="0" lang="en-US" sz="950" spc="-1" strike="noStrike">
                <a:solidFill>
                  <a:srgbClr val="c7cdeb"/>
                </a:solidFill>
                <a:latin typeface="Calibri"/>
                <a:ea typeface="Calibri"/>
              </a:rPr>
              <a:t>Projects</a:t>
            </a:r>
            <a:endParaRPr b="0" lang="en-US" sz="950" spc="-1" strike="noStrike">
              <a:solidFill>
                <a:srgbClr val="ffffff"/>
              </a:solidFill>
              <a:latin typeface="Arial"/>
            </a:endParaRPr>
          </a:p>
        </p:txBody>
      </p:sp>
      <p:sp>
        <p:nvSpPr>
          <p:cNvPr id="26" name="Shape 17"/>
          <p:cNvSpPr/>
          <p:nvPr/>
        </p:nvSpPr>
        <p:spPr>
          <a:xfrm>
            <a:off x="640080" y="5989320"/>
            <a:ext cx="6766560" cy="360"/>
          </a:xfrm>
          <a:prstGeom prst="line">
            <a:avLst/>
          </a:prstGeom>
          <a:ln w="1270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7" name="Text 18"/>
          <p:cNvSpPr/>
          <p:nvPr/>
        </p:nvSpPr>
        <p:spPr>
          <a:xfrm>
            <a:off x="640080" y="6172200"/>
            <a:ext cx="69490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892b8"/>
                </a:solidFill>
                <a:latin typeface="Calibri"/>
                <a:ea typeface="Calibri"/>
              </a:rPr>
              <a:t>Engineering Students  •  Developers  •  DevOps &amp; Cloud Engineers  •  Technical Interviews  •  Corporate Knowledge-Sharing</a:t>
            </a:r>
            <a:endParaRPr b="0" lang="en-US" sz="1050" spc="-1" strike="noStrike">
              <a:solidFill>
                <a:srgbClr val="ffffff"/>
              </a:solidFill>
              <a:latin typeface="Arial"/>
            </a:endParaRPr>
          </a:p>
        </p:txBody>
      </p:sp>
      <p:sp>
        <p:nvSpPr>
          <p:cNvPr id="28" name="Text 19"/>
          <p:cNvSpPr/>
          <p:nvPr/>
        </p:nvSpPr>
        <p:spPr>
          <a:xfrm>
            <a:off x="7909560" y="457200"/>
            <a:ext cx="37029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80" strike="noStrike">
                <a:solidFill>
                  <a:srgbClr val="f5a623"/>
                </a:solidFill>
                <a:latin typeface="Calibri"/>
                <a:ea typeface="Calibri"/>
              </a:rPr>
              <a:t>WHAT THIS DECK COVERS</a:t>
            </a:r>
            <a:endParaRPr b="0" lang="en-US" sz="1100" spc="-1" strike="noStrike">
              <a:solidFill>
                <a:srgbClr val="ffffff"/>
              </a:solidFill>
              <a:latin typeface="Arial"/>
            </a:endParaRPr>
          </a:p>
        </p:txBody>
      </p:sp>
      <p:sp>
        <p:nvSpPr>
          <p:cNvPr id="29" name="Shape 20"/>
          <p:cNvSpPr/>
          <p:nvPr/>
        </p:nvSpPr>
        <p:spPr>
          <a:xfrm>
            <a:off x="7909560" y="841320"/>
            <a:ext cx="3702960" cy="5604840"/>
          </a:xfrm>
          <a:prstGeom prst="roundRect">
            <a:avLst>
              <a:gd name="adj" fmla="val 2222"/>
            </a:avLst>
          </a:prstGeom>
          <a:solidFill>
            <a:srgbClr val="1a1e4f"/>
          </a:solidFill>
          <a:ln w="12700">
            <a:solidFill>
              <a:srgbClr val="3a3f7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 name="Shape 21"/>
          <p:cNvSpPr/>
          <p:nvPr/>
        </p:nvSpPr>
        <p:spPr>
          <a:xfrm>
            <a:off x="8138160" y="97848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Text 22"/>
          <p:cNvSpPr/>
          <p:nvPr/>
        </p:nvSpPr>
        <p:spPr>
          <a:xfrm>
            <a:off x="8138160" y="97848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1</a:t>
            </a:r>
            <a:endParaRPr b="0" lang="en-US" sz="1100" spc="-1" strike="noStrike">
              <a:solidFill>
                <a:srgbClr val="ffffff"/>
              </a:solidFill>
              <a:latin typeface="Arial"/>
            </a:endParaRPr>
          </a:p>
        </p:txBody>
      </p:sp>
      <p:sp>
        <p:nvSpPr>
          <p:cNvPr id="32" name="Text 23"/>
          <p:cNvSpPr/>
          <p:nvPr/>
        </p:nvSpPr>
        <p:spPr>
          <a:xfrm>
            <a:off x="8595360" y="941760"/>
            <a:ext cx="278856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mbria"/>
                <a:ea typeface="Cambria"/>
              </a:rPr>
              <a:t>Licensing Foundations</a:t>
            </a:r>
            <a:endParaRPr b="0" lang="en-US" sz="1250" spc="-1" strike="noStrike">
              <a:solidFill>
                <a:srgbClr val="ffffff"/>
              </a:solidFill>
              <a:latin typeface="Arial"/>
            </a:endParaRPr>
          </a:p>
        </p:txBody>
      </p:sp>
      <p:sp>
        <p:nvSpPr>
          <p:cNvPr id="33" name="Text 24"/>
          <p:cNvSpPr/>
          <p:nvPr/>
        </p:nvSpPr>
        <p:spPr>
          <a:xfrm>
            <a:off x="8595360" y="1225440"/>
            <a:ext cx="2788560" cy="456840"/>
          </a:xfrm>
          <a:prstGeom prst="rect">
            <a:avLst/>
          </a:prstGeom>
          <a:noFill/>
          <a:ln w="0">
            <a:noFill/>
          </a:ln>
        </p:spPr>
        <p:style>
          <a:lnRef idx="0"/>
          <a:fillRef idx="0"/>
          <a:effectRef idx="0"/>
          <a:fontRef idx="minor"/>
        </p:style>
        <p:txBody>
          <a:bodyPr lIns="0" rIns="0" tIns="0" bIns="0" anchor="ctr">
            <a:noAutofit/>
          </a:bodyPr>
          <a:p>
            <a:pPr defTabSz="914400">
              <a:lnSpc>
                <a:spcPct val="108000"/>
              </a:lnSpc>
              <a:tabLst>
                <a:tab algn="l" pos="0"/>
              </a:tabLst>
            </a:pPr>
            <a:r>
              <a:rPr b="0" lang="en-US" sz="970" spc="-1" strike="noStrike">
                <a:solidFill>
                  <a:srgbClr val="c7cdeb"/>
                </a:solidFill>
                <a:latin typeface="Calibri"/>
                <a:ea typeface="Calibri"/>
              </a:rPr>
              <a:t>Copyright vs. license, software categories &amp; key terms</a:t>
            </a:r>
            <a:endParaRPr b="0" lang="en-US" sz="970" spc="-1" strike="noStrike">
              <a:solidFill>
                <a:srgbClr val="ffffff"/>
              </a:solidFill>
              <a:latin typeface="Arial"/>
            </a:endParaRPr>
          </a:p>
        </p:txBody>
      </p:sp>
      <p:sp>
        <p:nvSpPr>
          <p:cNvPr id="34" name="Shape 25"/>
          <p:cNvSpPr/>
          <p:nvPr/>
        </p:nvSpPr>
        <p:spPr>
          <a:xfrm>
            <a:off x="8138160" y="1916280"/>
            <a:ext cx="32461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5" name="Shape 26"/>
          <p:cNvSpPr/>
          <p:nvPr/>
        </p:nvSpPr>
        <p:spPr>
          <a:xfrm>
            <a:off x="8138160" y="204444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 name="Text 27"/>
          <p:cNvSpPr/>
          <p:nvPr/>
        </p:nvSpPr>
        <p:spPr>
          <a:xfrm>
            <a:off x="8138160" y="204444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2</a:t>
            </a:r>
            <a:endParaRPr b="0" lang="en-US" sz="1100" spc="-1" strike="noStrike">
              <a:solidFill>
                <a:srgbClr val="ffffff"/>
              </a:solidFill>
              <a:latin typeface="Arial"/>
            </a:endParaRPr>
          </a:p>
        </p:txBody>
      </p:sp>
      <p:sp>
        <p:nvSpPr>
          <p:cNvPr id="37" name="Text 28"/>
          <p:cNvSpPr/>
          <p:nvPr/>
        </p:nvSpPr>
        <p:spPr>
          <a:xfrm>
            <a:off x="8595360" y="2008080"/>
            <a:ext cx="278856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mbria"/>
                <a:ea typeface="Cambria"/>
              </a:rPr>
              <a:t>Permissive vs. Copyleft</a:t>
            </a:r>
            <a:endParaRPr b="0" lang="en-US" sz="1250" spc="-1" strike="noStrike">
              <a:solidFill>
                <a:srgbClr val="ffffff"/>
              </a:solidFill>
              <a:latin typeface="Arial"/>
            </a:endParaRPr>
          </a:p>
        </p:txBody>
      </p:sp>
      <p:sp>
        <p:nvSpPr>
          <p:cNvPr id="38" name="Text 29"/>
          <p:cNvSpPr/>
          <p:nvPr/>
        </p:nvSpPr>
        <p:spPr>
          <a:xfrm>
            <a:off x="8595360" y="2291400"/>
            <a:ext cx="2788560" cy="456840"/>
          </a:xfrm>
          <a:prstGeom prst="rect">
            <a:avLst/>
          </a:prstGeom>
          <a:noFill/>
          <a:ln w="0">
            <a:noFill/>
          </a:ln>
        </p:spPr>
        <p:style>
          <a:lnRef idx="0"/>
          <a:fillRef idx="0"/>
          <a:effectRef idx="0"/>
          <a:fontRef idx="minor"/>
        </p:style>
        <p:txBody>
          <a:bodyPr lIns="0" rIns="0" tIns="0" bIns="0" anchor="ctr">
            <a:noAutofit/>
          </a:bodyPr>
          <a:p>
            <a:pPr defTabSz="914400">
              <a:lnSpc>
                <a:spcPct val="108000"/>
              </a:lnSpc>
              <a:tabLst>
                <a:tab algn="l" pos="0"/>
              </a:tabLst>
            </a:pPr>
            <a:r>
              <a:rPr b="0" lang="en-US" sz="970" spc="-1" strike="noStrike">
                <a:solidFill>
                  <a:srgbClr val="c7cdeb"/>
                </a:solidFill>
                <a:latin typeface="Calibri"/>
                <a:ea typeface="Calibri"/>
              </a:rPr>
              <a:t>Two philosophies that shape every open-source license</a:t>
            </a:r>
            <a:endParaRPr b="0" lang="en-US" sz="970" spc="-1" strike="noStrike">
              <a:solidFill>
                <a:srgbClr val="ffffff"/>
              </a:solidFill>
              <a:latin typeface="Arial"/>
            </a:endParaRPr>
          </a:p>
        </p:txBody>
      </p:sp>
      <p:sp>
        <p:nvSpPr>
          <p:cNvPr id="39" name="Shape 30"/>
          <p:cNvSpPr/>
          <p:nvPr/>
        </p:nvSpPr>
        <p:spPr>
          <a:xfrm>
            <a:off x="8138160" y="2982600"/>
            <a:ext cx="32461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0" name="Shape 31"/>
          <p:cNvSpPr/>
          <p:nvPr/>
        </p:nvSpPr>
        <p:spPr>
          <a:xfrm>
            <a:off x="8138160" y="311076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Text 32"/>
          <p:cNvSpPr/>
          <p:nvPr/>
        </p:nvSpPr>
        <p:spPr>
          <a:xfrm>
            <a:off x="8138160" y="311076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3</a:t>
            </a:r>
            <a:endParaRPr b="0" lang="en-US" sz="1100" spc="-1" strike="noStrike">
              <a:solidFill>
                <a:srgbClr val="ffffff"/>
              </a:solidFill>
              <a:latin typeface="Arial"/>
            </a:endParaRPr>
          </a:p>
        </p:txBody>
      </p:sp>
      <p:sp>
        <p:nvSpPr>
          <p:cNvPr id="42" name="Text 33"/>
          <p:cNvSpPr/>
          <p:nvPr/>
        </p:nvSpPr>
        <p:spPr>
          <a:xfrm>
            <a:off x="8595360" y="3074040"/>
            <a:ext cx="278856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mbria"/>
                <a:ea typeface="Cambria"/>
              </a:rPr>
              <a:t>Permissive Licenses</a:t>
            </a:r>
            <a:endParaRPr b="0" lang="en-US" sz="1250" spc="-1" strike="noStrike">
              <a:solidFill>
                <a:srgbClr val="ffffff"/>
              </a:solidFill>
              <a:latin typeface="Arial"/>
            </a:endParaRPr>
          </a:p>
        </p:txBody>
      </p:sp>
      <p:sp>
        <p:nvSpPr>
          <p:cNvPr id="43" name="Text 34"/>
          <p:cNvSpPr/>
          <p:nvPr/>
        </p:nvSpPr>
        <p:spPr>
          <a:xfrm>
            <a:off x="8595360" y="3357720"/>
            <a:ext cx="2788560" cy="456840"/>
          </a:xfrm>
          <a:prstGeom prst="rect">
            <a:avLst/>
          </a:prstGeom>
          <a:noFill/>
          <a:ln w="0">
            <a:noFill/>
          </a:ln>
        </p:spPr>
        <p:style>
          <a:lnRef idx="0"/>
          <a:fillRef idx="0"/>
          <a:effectRef idx="0"/>
          <a:fontRef idx="minor"/>
        </p:style>
        <p:txBody>
          <a:bodyPr lIns="0" rIns="0" tIns="0" bIns="0" anchor="ctr">
            <a:noAutofit/>
          </a:bodyPr>
          <a:p>
            <a:pPr defTabSz="914400">
              <a:lnSpc>
                <a:spcPct val="108000"/>
              </a:lnSpc>
              <a:tabLst>
                <a:tab algn="l" pos="0"/>
              </a:tabLst>
            </a:pPr>
            <a:r>
              <a:rPr b="0" lang="en-US" sz="970" spc="-1" strike="noStrike">
                <a:solidFill>
                  <a:srgbClr val="c7cdeb"/>
                </a:solidFill>
                <a:latin typeface="Calibri"/>
                <a:ea typeface="Calibri"/>
              </a:rPr>
              <a:t>MIT, BSD &amp; Apache 2.0 compared in depth</a:t>
            </a:r>
            <a:endParaRPr b="0" lang="en-US" sz="970" spc="-1" strike="noStrike">
              <a:solidFill>
                <a:srgbClr val="ffffff"/>
              </a:solidFill>
              <a:latin typeface="Arial"/>
            </a:endParaRPr>
          </a:p>
        </p:txBody>
      </p:sp>
      <p:sp>
        <p:nvSpPr>
          <p:cNvPr id="44" name="Shape 35"/>
          <p:cNvSpPr/>
          <p:nvPr/>
        </p:nvSpPr>
        <p:spPr>
          <a:xfrm>
            <a:off x="8138160" y="4048920"/>
            <a:ext cx="32461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5" name="Shape 36"/>
          <p:cNvSpPr/>
          <p:nvPr/>
        </p:nvSpPr>
        <p:spPr>
          <a:xfrm>
            <a:off x="8138160" y="417708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 name="Text 37"/>
          <p:cNvSpPr/>
          <p:nvPr/>
        </p:nvSpPr>
        <p:spPr>
          <a:xfrm>
            <a:off x="8138160" y="417708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4</a:t>
            </a:r>
            <a:endParaRPr b="0" lang="en-US" sz="1100" spc="-1" strike="noStrike">
              <a:solidFill>
                <a:srgbClr val="ffffff"/>
              </a:solidFill>
              <a:latin typeface="Arial"/>
            </a:endParaRPr>
          </a:p>
        </p:txBody>
      </p:sp>
      <p:sp>
        <p:nvSpPr>
          <p:cNvPr id="47" name="Text 38"/>
          <p:cNvSpPr/>
          <p:nvPr/>
        </p:nvSpPr>
        <p:spPr>
          <a:xfrm>
            <a:off x="8595360" y="4140360"/>
            <a:ext cx="278856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mbria"/>
                <a:ea typeface="Cambria"/>
              </a:rPr>
              <a:t>Copyleft Licenses</a:t>
            </a:r>
            <a:endParaRPr b="0" lang="en-US" sz="1250" spc="-1" strike="noStrike">
              <a:solidFill>
                <a:srgbClr val="ffffff"/>
              </a:solidFill>
              <a:latin typeface="Arial"/>
            </a:endParaRPr>
          </a:p>
        </p:txBody>
      </p:sp>
      <p:sp>
        <p:nvSpPr>
          <p:cNvPr id="48" name="Text 39"/>
          <p:cNvSpPr/>
          <p:nvPr/>
        </p:nvSpPr>
        <p:spPr>
          <a:xfrm>
            <a:off x="8595360" y="4424040"/>
            <a:ext cx="2788560" cy="456840"/>
          </a:xfrm>
          <a:prstGeom prst="rect">
            <a:avLst/>
          </a:prstGeom>
          <a:noFill/>
          <a:ln w="0">
            <a:noFill/>
          </a:ln>
        </p:spPr>
        <p:style>
          <a:lnRef idx="0"/>
          <a:fillRef idx="0"/>
          <a:effectRef idx="0"/>
          <a:fontRef idx="minor"/>
        </p:style>
        <p:txBody>
          <a:bodyPr lIns="0" rIns="0" tIns="0" bIns="0" anchor="ctr">
            <a:noAutofit/>
          </a:bodyPr>
          <a:p>
            <a:pPr defTabSz="914400">
              <a:lnSpc>
                <a:spcPct val="108000"/>
              </a:lnSpc>
              <a:tabLst>
                <a:tab algn="l" pos="0"/>
              </a:tabLst>
            </a:pPr>
            <a:r>
              <a:rPr b="0" lang="en-US" sz="970" spc="-1" strike="noStrike">
                <a:solidFill>
                  <a:srgbClr val="c7cdeb"/>
                </a:solidFill>
                <a:latin typeface="Calibri"/>
                <a:ea typeface="Calibri"/>
              </a:rPr>
              <a:t>LGPL, MPL, GPL &amp; AGPL — weak to strong</a:t>
            </a:r>
            <a:endParaRPr b="0" lang="en-US" sz="970" spc="-1" strike="noStrike">
              <a:solidFill>
                <a:srgbClr val="ffffff"/>
              </a:solidFill>
              <a:latin typeface="Arial"/>
            </a:endParaRPr>
          </a:p>
        </p:txBody>
      </p:sp>
      <p:sp>
        <p:nvSpPr>
          <p:cNvPr id="49" name="Shape 40"/>
          <p:cNvSpPr/>
          <p:nvPr/>
        </p:nvSpPr>
        <p:spPr>
          <a:xfrm>
            <a:off x="8138160" y="5114880"/>
            <a:ext cx="32461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0" name="Shape 41"/>
          <p:cNvSpPr/>
          <p:nvPr/>
        </p:nvSpPr>
        <p:spPr>
          <a:xfrm>
            <a:off x="8138160" y="524304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 name="Text 42"/>
          <p:cNvSpPr/>
          <p:nvPr/>
        </p:nvSpPr>
        <p:spPr>
          <a:xfrm>
            <a:off x="8138160" y="524304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5</a:t>
            </a:r>
            <a:endParaRPr b="0" lang="en-US" sz="1100" spc="-1" strike="noStrike">
              <a:solidFill>
                <a:srgbClr val="ffffff"/>
              </a:solidFill>
              <a:latin typeface="Arial"/>
            </a:endParaRPr>
          </a:p>
        </p:txBody>
      </p:sp>
      <p:sp>
        <p:nvSpPr>
          <p:cNvPr id="52" name="Text 43"/>
          <p:cNvSpPr/>
          <p:nvPr/>
        </p:nvSpPr>
        <p:spPr>
          <a:xfrm>
            <a:off x="8595360" y="5206680"/>
            <a:ext cx="278856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mbria"/>
                <a:ea typeface="Cambria"/>
              </a:rPr>
              <a:t>Applying It</a:t>
            </a:r>
            <a:endParaRPr b="0" lang="en-US" sz="1250" spc="-1" strike="noStrike">
              <a:solidFill>
                <a:srgbClr val="ffffff"/>
              </a:solidFill>
              <a:latin typeface="Arial"/>
            </a:endParaRPr>
          </a:p>
        </p:txBody>
      </p:sp>
      <p:sp>
        <p:nvSpPr>
          <p:cNvPr id="53" name="Text 44"/>
          <p:cNvSpPr/>
          <p:nvPr/>
        </p:nvSpPr>
        <p:spPr>
          <a:xfrm>
            <a:off x="8595360" y="5490000"/>
            <a:ext cx="2788560" cy="456840"/>
          </a:xfrm>
          <a:prstGeom prst="rect">
            <a:avLst/>
          </a:prstGeom>
          <a:noFill/>
          <a:ln w="0">
            <a:noFill/>
          </a:ln>
        </p:spPr>
        <p:style>
          <a:lnRef idx="0"/>
          <a:fillRef idx="0"/>
          <a:effectRef idx="0"/>
          <a:fontRef idx="minor"/>
        </p:style>
        <p:txBody>
          <a:bodyPr lIns="0" rIns="0" tIns="0" bIns="0" anchor="ctr">
            <a:noAutofit/>
          </a:bodyPr>
          <a:p>
            <a:pPr defTabSz="914400">
              <a:lnSpc>
                <a:spcPct val="108000"/>
              </a:lnSpc>
              <a:tabLst>
                <a:tab algn="l" pos="0"/>
              </a:tabLst>
            </a:pPr>
            <a:r>
              <a:rPr b="0" lang="en-US" sz="970" spc="-1" strike="noStrike">
                <a:solidFill>
                  <a:srgbClr val="c7cdeb"/>
                </a:solidFill>
                <a:latin typeface="Calibri"/>
                <a:ea typeface="Calibri"/>
              </a:rPr>
              <a:t>Real projects, compatibility &amp; a decision guide</a:t>
            </a:r>
            <a:endParaRPr b="0" lang="en-US" sz="97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54"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1 · FOUNDATIONS</a:t>
            </a:r>
            <a:endParaRPr b="0" lang="en-US" sz="1150" spc="-1" strike="noStrike">
              <a:solidFill>
                <a:srgbClr val="ffffff"/>
              </a:solidFill>
              <a:latin typeface="Arial"/>
            </a:endParaRPr>
          </a:p>
        </p:txBody>
      </p:sp>
      <p:sp>
        <p:nvSpPr>
          <p:cNvPr id="55"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What Is a Software License?</a:t>
            </a:r>
            <a:endParaRPr b="0" lang="en-US" sz="2700" spc="-1" strike="noStrike">
              <a:solidFill>
                <a:srgbClr val="ffffff"/>
              </a:solidFill>
              <a:latin typeface="Arial"/>
            </a:endParaRPr>
          </a:p>
        </p:txBody>
      </p:sp>
      <p:sp>
        <p:nvSpPr>
          <p:cNvPr id="56"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The rulebook that governs how software may be used</a:t>
            </a:r>
            <a:endParaRPr b="0" lang="en-US" sz="1250" spc="-1" strike="noStrike">
              <a:solidFill>
                <a:srgbClr val="ffffff"/>
              </a:solidFill>
              <a:latin typeface="Arial"/>
            </a:endParaRPr>
          </a:p>
        </p:txBody>
      </p:sp>
      <p:sp>
        <p:nvSpPr>
          <p:cNvPr id="57" name="Shape 3"/>
          <p:cNvSpPr/>
          <p:nvPr/>
        </p:nvSpPr>
        <p:spPr>
          <a:xfrm>
            <a:off x="548640" y="1536120"/>
            <a:ext cx="6309000" cy="4590000"/>
          </a:xfrm>
          <a:prstGeom prst="roundRect">
            <a:avLst>
              <a:gd name="adj" fmla="val 1793"/>
            </a:avLst>
          </a:prstGeom>
          <a:solidFill>
            <a:srgbClr val="1a1e4f"/>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 name="Shape 4"/>
          <p:cNvSpPr/>
          <p:nvPr/>
        </p:nvSpPr>
        <p:spPr>
          <a:xfrm>
            <a:off x="868680" y="1719360"/>
            <a:ext cx="566640" cy="56664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9" name="Image 0" descr="/home/claude/work/icons/contract_0F1035.png"/>
          <p:cNvPicPr/>
          <p:nvPr/>
        </p:nvPicPr>
        <p:blipFill>
          <a:blip r:embed="rId1"/>
          <a:stretch/>
        </p:blipFill>
        <p:spPr>
          <a:xfrm>
            <a:off x="996120" y="1828800"/>
            <a:ext cx="311400" cy="311400"/>
          </a:xfrm>
          <a:prstGeom prst="rect">
            <a:avLst/>
          </a:prstGeom>
          <a:ln w="0">
            <a:noFill/>
          </a:ln>
        </p:spPr>
      </p:pic>
      <p:sp>
        <p:nvSpPr>
          <p:cNvPr id="60" name="Text 5"/>
          <p:cNvSpPr/>
          <p:nvPr/>
        </p:nvSpPr>
        <p:spPr>
          <a:xfrm>
            <a:off x="1600200" y="1737360"/>
            <a:ext cx="51202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mbria"/>
                <a:ea typeface="Cambria"/>
              </a:rPr>
              <a:t>A Legal Agreement, Set by the Copyright Owner</a:t>
            </a:r>
            <a:endParaRPr b="0" lang="en-US" sz="1500" spc="-1" strike="noStrike">
              <a:solidFill>
                <a:srgbClr val="ffffff"/>
              </a:solidFill>
              <a:latin typeface="Arial"/>
            </a:endParaRPr>
          </a:p>
        </p:txBody>
      </p:sp>
      <p:sp>
        <p:nvSpPr>
          <p:cNvPr id="61" name="Text 6"/>
          <p:cNvSpPr/>
          <p:nvPr/>
        </p:nvSpPr>
        <p:spPr>
          <a:xfrm>
            <a:off x="868680" y="2560320"/>
            <a:ext cx="5668920" cy="959760"/>
          </a:xfrm>
          <a:prstGeom prst="rect">
            <a:avLst/>
          </a:prstGeom>
          <a:noFill/>
          <a:ln w="0">
            <a:noFill/>
          </a:ln>
        </p:spPr>
        <p:style>
          <a:lnRef idx="0"/>
          <a:fillRef idx="0"/>
          <a:effectRef idx="0"/>
          <a:fontRef idx="minor"/>
        </p:style>
        <p:txBody>
          <a:bodyPr lIns="0" rIns="0" tIns="0" bIns="0" anchor="ctr">
            <a:noAutofit/>
          </a:bodyPr>
          <a:p>
            <a:pPr algn="just" defTabSz="914400">
              <a:lnSpc>
                <a:spcPct val="115000"/>
              </a:lnSpc>
              <a:tabLst>
                <a:tab algn="l" pos="0"/>
              </a:tabLst>
            </a:pPr>
            <a:r>
              <a:rPr b="0" lang="en-US" sz="1250" spc="-1" strike="noStrike">
                <a:solidFill>
                  <a:srgbClr val="c7cdeb"/>
                </a:solidFill>
                <a:latin typeface="Calibri"/>
                <a:ea typeface="Calibri"/>
              </a:rPr>
              <a:t>Copyright is automatic the moment code is written — but it grants no one else permission to use it. A software license is what the copyright owner issues to define how others may legally use, modify, and distribute that code.</a:t>
            </a:r>
            <a:endParaRPr b="0" lang="en-US" sz="1250" spc="-1" strike="noStrike">
              <a:solidFill>
                <a:srgbClr val="ffffff"/>
              </a:solidFill>
              <a:latin typeface="Arial"/>
            </a:endParaRPr>
          </a:p>
          <a:p>
            <a:pPr algn="just" defTabSz="914400">
              <a:lnSpc>
                <a:spcPct val="115000"/>
              </a:lnSpc>
              <a:spcBef>
                <a:spcPts val="1191"/>
              </a:spcBef>
              <a:spcAft>
                <a:spcPts val="992"/>
              </a:spcAft>
              <a:tabLst>
                <a:tab algn="l" pos="0"/>
              </a:tabLst>
            </a:pPr>
            <a:r>
              <a:rPr b="0" lang="en-US" sz="1250" spc="-1" strike="noStrike">
                <a:solidFill>
                  <a:srgbClr val="c7cdeb"/>
                </a:solidFill>
                <a:latin typeface="Calibri"/>
                <a:ea typeface="Calibri"/>
              </a:rPr>
              <a:t>A software license is a legal agreement that defines how software may be used. Think of the license as a rulebook created by the copyright owner.</a:t>
            </a:r>
            <a:endParaRPr b="0" lang="en-US" sz="1250" spc="-1" strike="noStrike">
              <a:solidFill>
                <a:srgbClr val="ffffff"/>
              </a:solidFill>
              <a:latin typeface="Arial"/>
            </a:endParaRPr>
          </a:p>
        </p:txBody>
      </p:sp>
      <p:sp>
        <p:nvSpPr>
          <p:cNvPr id="62" name="Text 7"/>
          <p:cNvSpPr/>
          <p:nvPr/>
        </p:nvSpPr>
        <p:spPr>
          <a:xfrm>
            <a:off x="858600" y="3840480"/>
            <a:ext cx="4571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5a623"/>
                </a:solidFill>
                <a:latin typeface="Calibri"/>
                <a:ea typeface="Calibri"/>
              </a:rPr>
              <a:t>A license answers:</a:t>
            </a:r>
            <a:endParaRPr b="0" lang="en-US" sz="1250" spc="-1" strike="noStrike">
              <a:solidFill>
                <a:srgbClr val="ffffff"/>
              </a:solidFill>
              <a:latin typeface="Arial"/>
            </a:endParaRPr>
          </a:p>
        </p:txBody>
      </p:sp>
      <p:sp>
        <p:nvSpPr>
          <p:cNvPr id="63" name="Text 8"/>
          <p:cNvSpPr/>
          <p:nvPr/>
        </p:nvSpPr>
        <p:spPr>
          <a:xfrm>
            <a:off x="868680" y="3877200"/>
            <a:ext cx="5668920" cy="21942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901"/>
              </a:spcAft>
              <a:buClr>
                <a:srgbClr val="c7cdeb"/>
              </a:buClr>
              <a:buFont typeface="Symbol" charset="2"/>
              <a:buChar char=""/>
            </a:pPr>
            <a:r>
              <a:rPr b="0" lang="en-US" sz="1250" spc="-1" strike="noStrike">
                <a:solidFill>
                  <a:srgbClr val="c7cdeb"/>
                </a:solidFill>
                <a:latin typeface="Calibri"/>
                <a:ea typeface="Calibri"/>
              </a:rPr>
              <a:t>Who may use the software, and how</a:t>
            </a:r>
            <a:endParaRPr b="0" lang="en-US" sz="1250" spc="-1" strike="noStrike">
              <a:solidFill>
                <a:srgbClr val="ffffff"/>
              </a:solidFill>
              <a:latin typeface="Arial"/>
            </a:endParaRPr>
          </a:p>
          <a:p>
            <a:pPr marL="177840" indent="-177840" defTabSz="914400">
              <a:lnSpc>
                <a:spcPct val="100000"/>
              </a:lnSpc>
              <a:spcAft>
                <a:spcPts val="901"/>
              </a:spcAft>
              <a:buClr>
                <a:srgbClr val="c7cdeb"/>
              </a:buClr>
              <a:buFont typeface="Symbol" charset="2"/>
              <a:buChar char=""/>
            </a:pPr>
            <a:r>
              <a:rPr b="0" lang="en-US" sz="1250" spc="-1" strike="noStrike">
                <a:solidFill>
                  <a:srgbClr val="c7cdeb"/>
                </a:solidFill>
                <a:latin typeface="Calibri"/>
                <a:ea typeface="Calibri"/>
              </a:rPr>
              <a:t>What modifications are allowed</a:t>
            </a:r>
            <a:endParaRPr b="0" lang="en-US" sz="1250" spc="-1" strike="noStrike">
              <a:solidFill>
                <a:srgbClr val="ffffff"/>
              </a:solidFill>
              <a:latin typeface="Arial"/>
            </a:endParaRPr>
          </a:p>
          <a:p>
            <a:pPr marL="177840" indent="-177840" defTabSz="914400">
              <a:lnSpc>
                <a:spcPct val="100000"/>
              </a:lnSpc>
              <a:spcAft>
                <a:spcPts val="901"/>
              </a:spcAft>
              <a:buClr>
                <a:srgbClr val="c7cdeb"/>
              </a:buClr>
              <a:buFont typeface="Symbol" charset="2"/>
              <a:buChar char=""/>
            </a:pPr>
            <a:r>
              <a:rPr b="0" lang="en-US" sz="1250" spc="-1" strike="noStrike">
                <a:solidFill>
                  <a:srgbClr val="c7cdeb"/>
                </a:solidFill>
                <a:latin typeface="Calibri"/>
                <a:ea typeface="Calibri"/>
              </a:rPr>
              <a:t>Whether redistribution is permitted</a:t>
            </a:r>
            <a:endParaRPr b="0" lang="en-US" sz="1250" spc="-1" strike="noStrike">
              <a:solidFill>
                <a:srgbClr val="ffffff"/>
              </a:solidFill>
              <a:latin typeface="Arial"/>
            </a:endParaRPr>
          </a:p>
          <a:p>
            <a:pPr marL="177840" indent="-177840" defTabSz="914400">
              <a:lnSpc>
                <a:spcPct val="100000"/>
              </a:lnSpc>
              <a:spcAft>
                <a:spcPts val="901"/>
              </a:spcAft>
              <a:buClr>
                <a:srgbClr val="c7cdeb"/>
              </a:buClr>
              <a:buFont typeface="Symbol" charset="2"/>
              <a:buChar char=""/>
            </a:pPr>
            <a:r>
              <a:rPr b="0" lang="en-US" sz="1250" spc="-1" strike="noStrike">
                <a:solidFill>
                  <a:srgbClr val="c7cdeb"/>
                </a:solidFill>
                <a:latin typeface="Calibri"/>
                <a:ea typeface="Calibri"/>
              </a:rPr>
              <a:t>Whether commercial use is permitted</a:t>
            </a:r>
            <a:endParaRPr b="0" lang="en-US" sz="1250" spc="-1" strike="noStrike">
              <a:solidFill>
                <a:srgbClr val="ffffff"/>
              </a:solidFill>
              <a:latin typeface="Arial"/>
            </a:endParaRPr>
          </a:p>
          <a:p>
            <a:pPr marL="177840" indent="-177840" defTabSz="914400">
              <a:lnSpc>
                <a:spcPct val="100000"/>
              </a:lnSpc>
              <a:spcAft>
                <a:spcPts val="901"/>
              </a:spcAft>
              <a:buClr>
                <a:srgbClr val="c7cdeb"/>
              </a:buClr>
              <a:buFont typeface="Symbol" charset="2"/>
              <a:buChar char=""/>
            </a:pPr>
            <a:r>
              <a:rPr b="0" lang="en-US" sz="1250" spc="-1" strike="noStrike">
                <a:solidFill>
                  <a:srgbClr val="c7cdeb"/>
                </a:solidFill>
                <a:latin typeface="Calibri"/>
                <a:ea typeface="Calibri"/>
              </a:rPr>
              <a:t>What obligations users must follow (e.g. attribution, source-sharing)</a:t>
            </a:r>
            <a:endParaRPr b="0" lang="en-US" sz="1250" spc="-1" strike="noStrike">
              <a:solidFill>
                <a:srgbClr val="ffffff"/>
              </a:solidFill>
              <a:latin typeface="Arial"/>
            </a:endParaRPr>
          </a:p>
        </p:txBody>
      </p:sp>
      <p:sp>
        <p:nvSpPr>
          <p:cNvPr id="64" name="Text 9"/>
          <p:cNvSpPr/>
          <p:nvPr/>
        </p:nvSpPr>
        <p:spPr>
          <a:xfrm>
            <a:off x="7086600" y="1078920"/>
            <a:ext cx="45716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mbria"/>
                <a:ea typeface="Cambria"/>
              </a:rPr>
              <a:t>Why It Matters</a:t>
            </a:r>
            <a:endParaRPr b="0" lang="en-US" sz="1600" spc="-1" strike="noStrike">
              <a:solidFill>
                <a:srgbClr val="ffffff"/>
              </a:solidFill>
              <a:latin typeface="Arial"/>
            </a:endParaRPr>
          </a:p>
        </p:txBody>
      </p:sp>
      <p:sp>
        <p:nvSpPr>
          <p:cNvPr id="65" name="Shape 10"/>
          <p:cNvSpPr/>
          <p:nvPr/>
        </p:nvSpPr>
        <p:spPr>
          <a:xfrm>
            <a:off x="7086960" y="1536120"/>
            <a:ext cx="4571640" cy="1371240"/>
          </a:xfrm>
          <a:prstGeom prst="roundRect">
            <a:avLst>
              <a:gd name="adj" fmla="val 6000"/>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 name="Shape 11"/>
          <p:cNvSpPr/>
          <p:nvPr/>
        </p:nvSpPr>
        <p:spPr>
          <a:xfrm>
            <a:off x="7315200" y="1719360"/>
            <a:ext cx="566640" cy="56664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7" name="Image 1" descr="/home/claude/work/icons/usercheck_0F1035.png"/>
          <p:cNvPicPr/>
          <p:nvPr/>
        </p:nvPicPr>
        <p:blipFill>
          <a:blip r:embed="rId2"/>
          <a:stretch/>
        </p:blipFill>
        <p:spPr>
          <a:xfrm>
            <a:off x="7463520" y="1857960"/>
            <a:ext cx="311400" cy="311400"/>
          </a:xfrm>
          <a:prstGeom prst="rect">
            <a:avLst/>
          </a:prstGeom>
          <a:ln w="0">
            <a:noFill/>
          </a:ln>
        </p:spPr>
      </p:pic>
      <p:sp>
        <p:nvSpPr>
          <p:cNvPr id="68" name="Shape 12"/>
          <p:cNvSpPr/>
          <p:nvPr/>
        </p:nvSpPr>
        <p:spPr>
          <a:xfrm>
            <a:off x="11174040" y="169164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 name="Text 13"/>
          <p:cNvSpPr/>
          <p:nvPr/>
        </p:nvSpPr>
        <p:spPr>
          <a:xfrm>
            <a:off x="11174040" y="169164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1</a:t>
            </a:r>
            <a:endParaRPr b="0" lang="en-US" sz="1100" spc="-1" strike="noStrike">
              <a:solidFill>
                <a:srgbClr val="ffffff"/>
              </a:solidFill>
              <a:latin typeface="Arial"/>
            </a:endParaRPr>
          </a:p>
        </p:txBody>
      </p:sp>
      <p:sp>
        <p:nvSpPr>
          <p:cNvPr id="70" name="Text 14"/>
          <p:cNvSpPr/>
          <p:nvPr/>
        </p:nvSpPr>
        <p:spPr>
          <a:xfrm>
            <a:off x="8046720" y="1691640"/>
            <a:ext cx="30171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mbria"/>
                <a:ea typeface="Cambria"/>
              </a:rPr>
              <a:t>For Authors</a:t>
            </a:r>
            <a:endParaRPr b="0" lang="en-US" sz="1350" spc="-1" strike="noStrike">
              <a:solidFill>
                <a:srgbClr val="ffffff"/>
              </a:solidFill>
              <a:latin typeface="Arial"/>
            </a:endParaRPr>
          </a:p>
        </p:txBody>
      </p:sp>
      <p:sp>
        <p:nvSpPr>
          <p:cNvPr id="71" name="Text 15"/>
          <p:cNvSpPr/>
          <p:nvPr/>
        </p:nvSpPr>
        <p:spPr>
          <a:xfrm>
            <a:off x="8046720" y="2011680"/>
            <a:ext cx="3154680" cy="776880"/>
          </a:xfrm>
          <a:prstGeom prst="rect">
            <a:avLst/>
          </a:prstGeom>
          <a:noFill/>
          <a:ln w="0">
            <a:noFill/>
          </a:ln>
        </p:spPr>
        <p:style>
          <a:lnRef idx="0"/>
          <a:fillRef idx="0"/>
          <a:effectRef idx="0"/>
          <a:fontRef idx="minor"/>
        </p:style>
        <p:txBody>
          <a:bodyPr lIns="0" rIns="0" tIns="0" bIns="0" anchor="ctr">
            <a:noAutofit/>
          </a:bodyPr>
          <a:p>
            <a:pPr algn="just" defTabSz="914400">
              <a:lnSpc>
                <a:spcPct val="110000"/>
              </a:lnSpc>
              <a:spcBef>
                <a:spcPts val="1191"/>
              </a:spcBef>
              <a:spcAft>
                <a:spcPts val="992"/>
              </a:spcAft>
              <a:tabLst>
                <a:tab algn="l" pos="0"/>
              </a:tabLst>
            </a:pPr>
            <a:r>
              <a:rPr b="0" lang="en-US" sz="1100" spc="-1" strike="noStrike">
                <a:solidFill>
                  <a:srgbClr val="c7cdeb"/>
                </a:solidFill>
                <a:latin typeface="Calibri"/>
                <a:ea typeface="Calibri"/>
              </a:rPr>
              <a:t>Protects IP and intellectual property, defines acceptable use, and reflects how open or choose how open or restrictive the project should be.</a:t>
            </a:r>
            <a:endParaRPr b="0" lang="en-US" sz="1100" spc="-1" strike="noStrike">
              <a:solidFill>
                <a:srgbClr val="ffffff"/>
              </a:solidFill>
              <a:latin typeface="Arial"/>
            </a:endParaRPr>
          </a:p>
        </p:txBody>
      </p:sp>
      <p:sp>
        <p:nvSpPr>
          <p:cNvPr id="72" name="Shape 16"/>
          <p:cNvSpPr/>
          <p:nvPr/>
        </p:nvSpPr>
        <p:spPr>
          <a:xfrm>
            <a:off x="7086600" y="3200400"/>
            <a:ext cx="4571640" cy="1371240"/>
          </a:xfrm>
          <a:prstGeom prst="roundRect">
            <a:avLst>
              <a:gd name="adj" fmla="val 6000"/>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Shape 17"/>
          <p:cNvSpPr/>
          <p:nvPr/>
        </p:nvSpPr>
        <p:spPr>
          <a:xfrm>
            <a:off x="7315200" y="3429000"/>
            <a:ext cx="566640" cy="56664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4" name="Image 2" descr="/home/claude/work/icons/users_0F1035.png"/>
          <p:cNvPicPr/>
          <p:nvPr/>
        </p:nvPicPr>
        <p:blipFill>
          <a:blip r:embed="rId3"/>
          <a:stretch/>
        </p:blipFill>
        <p:spPr>
          <a:xfrm>
            <a:off x="7450560" y="3538800"/>
            <a:ext cx="311400" cy="311400"/>
          </a:xfrm>
          <a:prstGeom prst="rect">
            <a:avLst/>
          </a:prstGeom>
          <a:ln w="0">
            <a:noFill/>
          </a:ln>
        </p:spPr>
      </p:pic>
      <p:sp>
        <p:nvSpPr>
          <p:cNvPr id="75" name="Shape 18"/>
          <p:cNvSpPr/>
          <p:nvPr/>
        </p:nvSpPr>
        <p:spPr>
          <a:xfrm>
            <a:off x="11174040" y="342900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6" name="Text 19"/>
          <p:cNvSpPr/>
          <p:nvPr/>
        </p:nvSpPr>
        <p:spPr>
          <a:xfrm>
            <a:off x="11174040" y="342900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2</a:t>
            </a:r>
            <a:endParaRPr b="0" lang="en-US" sz="1100" spc="-1" strike="noStrike">
              <a:solidFill>
                <a:srgbClr val="ffffff"/>
              </a:solidFill>
              <a:latin typeface="Arial"/>
            </a:endParaRPr>
          </a:p>
        </p:txBody>
      </p:sp>
      <p:sp>
        <p:nvSpPr>
          <p:cNvPr id="77" name="Text 20"/>
          <p:cNvSpPr/>
          <p:nvPr/>
        </p:nvSpPr>
        <p:spPr>
          <a:xfrm>
            <a:off x="8046720" y="3429000"/>
            <a:ext cx="30171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mbria"/>
                <a:ea typeface="Cambria"/>
              </a:rPr>
              <a:t>For Users</a:t>
            </a:r>
            <a:endParaRPr b="0" lang="en-US" sz="1350" spc="-1" strike="noStrike">
              <a:solidFill>
                <a:srgbClr val="ffffff"/>
              </a:solidFill>
              <a:latin typeface="Arial"/>
            </a:endParaRPr>
          </a:p>
        </p:txBody>
      </p:sp>
      <p:sp>
        <p:nvSpPr>
          <p:cNvPr id="78" name="Text 21"/>
          <p:cNvSpPr/>
          <p:nvPr/>
        </p:nvSpPr>
        <p:spPr>
          <a:xfrm>
            <a:off x="8046720" y="3657600"/>
            <a:ext cx="3154680" cy="776880"/>
          </a:xfrm>
          <a:prstGeom prst="rect">
            <a:avLst/>
          </a:prstGeom>
          <a:noFill/>
          <a:ln w="0">
            <a:noFill/>
          </a:ln>
        </p:spPr>
        <p:style>
          <a:lnRef idx="0"/>
          <a:fillRef idx="0"/>
          <a:effectRef idx="0"/>
          <a:fontRef idx="minor"/>
        </p:style>
        <p:txBody>
          <a:bodyPr lIns="0" rIns="0" tIns="0" bIns="0" anchor="ctr">
            <a:noAutofit/>
          </a:bodyPr>
          <a:p>
            <a:pPr algn="just" defTabSz="914400">
              <a:lnSpc>
                <a:spcPct val="110000"/>
              </a:lnSpc>
              <a:spcBef>
                <a:spcPts val="1191"/>
              </a:spcBef>
              <a:spcAft>
                <a:spcPts val="992"/>
              </a:spcAft>
              <a:tabLst>
                <a:tab algn="l" pos="0"/>
              </a:tabLst>
            </a:pPr>
            <a:r>
              <a:rPr b="0" lang="en-US" sz="1100" spc="-1" strike="noStrike">
                <a:solidFill>
                  <a:srgbClr val="c7cdeb"/>
                </a:solidFill>
                <a:latin typeface="Calibri"/>
                <a:ea typeface="Calibri"/>
              </a:rPr>
              <a:t>Clarifies what's allowed — modification, redistribution, commercial use — before you build on it, Whether proprietary software may use the project</a:t>
            </a:r>
            <a:endParaRPr b="0" lang="en-US" sz="1100" spc="-1" strike="noStrike">
              <a:solidFill>
                <a:srgbClr val="ffffff"/>
              </a:solidFill>
              <a:latin typeface="Arial"/>
            </a:endParaRPr>
          </a:p>
        </p:txBody>
      </p:sp>
      <p:sp>
        <p:nvSpPr>
          <p:cNvPr id="79" name="Shape 22"/>
          <p:cNvSpPr/>
          <p:nvPr/>
        </p:nvSpPr>
        <p:spPr>
          <a:xfrm>
            <a:off x="7086960" y="4800600"/>
            <a:ext cx="4571640" cy="1371240"/>
          </a:xfrm>
          <a:prstGeom prst="roundRect">
            <a:avLst>
              <a:gd name="adj" fmla="val 6000"/>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Shape 23"/>
          <p:cNvSpPr/>
          <p:nvPr/>
        </p:nvSpPr>
        <p:spPr>
          <a:xfrm>
            <a:off x="7315200" y="5029200"/>
            <a:ext cx="566640" cy="56664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1" name="Image 3" descr="/home/claude/work/icons/building_0F1035.png"/>
          <p:cNvPicPr/>
          <p:nvPr/>
        </p:nvPicPr>
        <p:blipFill>
          <a:blip r:embed="rId4"/>
          <a:stretch/>
        </p:blipFill>
        <p:spPr>
          <a:xfrm>
            <a:off x="7442640" y="5175000"/>
            <a:ext cx="311400" cy="311400"/>
          </a:xfrm>
          <a:prstGeom prst="rect">
            <a:avLst/>
          </a:prstGeom>
          <a:ln w="0">
            <a:noFill/>
          </a:ln>
        </p:spPr>
      </p:pic>
      <p:sp>
        <p:nvSpPr>
          <p:cNvPr id="82" name="Shape 24"/>
          <p:cNvSpPr/>
          <p:nvPr/>
        </p:nvSpPr>
        <p:spPr>
          <a:xfrm>
            <a:off x="11174040" y="495756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Text 25"/>
          <p:cNvSpPr/>
          <p:nvPr/>
        </p:nvSpPr>
        <p:spPr>
          <a:xfrm>
            <a:off x="11174040" y="495612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3</a:t>
            </a:r>
            <a:endParaRPr b="0" lang="en-US" sz="1100" spc="-1" strike="noStrike">
              <a:solidFill>
                <a:srgbClr val="ffffff"/>
              </a:solidFill>
              <a:latin typeface="Arial"/>
            </a:endParaRPr>
          </a:p>
        </p:txBody>
      </p:sp>
      <p:sp>
        <p:nvSpPr>
          <p:cNvPr id="84" name="Text 26"/>
          <p:cNvSpPr/>
          <p:nvPr/>
        </p:nvSpPr>
        <p:spPr>
          <a:xfrm>
            <a:off x="8046720" y="4947120"/>
            <a:ext cx="30171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mbria"/>
                <a:ea typeface="Cambria"/>
              </a:rPr>
              <a:t>For Organizations</a:t>
            </a:r>
            <a:endParaRPr b="0" lang="en-US" sz="1350" spc="-1" strike="noStrike">
              <a:solidFill>
                <a:srgbClr val="ffffff"/>
              </a:solidFill>
              <a:latin typeface="Arial"/>
            </a:endParaRPr>
          </a:p>
        </p:txBody>
      </p:sp>
      <p:sp>
        <p:nvSpPr>
          <p:cNvPr id="85" name="Text 27"/>
          <p:cNvSpPr/>
          <p:nvPr/>
        </p:nvSpPr>
        <p:spPr>
          <a:xfrm>
            <a:off x="8046720" y="5257800"/>
            <a:ext cx="3154680" cy="776880"/>
          </a:xfrm>
          <a:prstGeom prst="rect">
            <a:avLst/>
          </a:prstGeom>
          <a:noFill/>
          <a:ln w="0">
            <a:noFill/>
          </a:ln>
        </p:spPr>
        <p:style>
          <a:lnRef idx="0"/>
          <a:fillRef idx="0"/>
          <a:effectRef idx="0"/>
          <a:fontRef idx="minor"/>
        </p:style>
        <p:txBody>
          <a:bodyPr lIns="0" rIns="0" tIns="0" bIns="0" anchor="ctr">
            <a:noAutofit/>
          </a:bodyPr>
          <a:p>
            <a:pPr algn="just" defTabSz="914400">
              <a:lnSpc>
                <a:spcPct val="110000"/>
              </a:lnSpc>
              <a:spcBef>
                <a:spcPts val="1191"/>
              </a:spcBef>
              <a:spcAft>
                <a:spcPts val="992"/>
              </a:spcAft>
              <a:tabLst>
                <a:tab algn="l" pos="0"/>
              </a:tabLst>
            </a:pPr>
            <a:r>
              <a:rPr b="0" lang="en-US" sz="1100" spc="-1" strike="noStrike">
                <a:solidFill>
                  <a:srgbClr val="c7cdeb"/>
                </a:solidFill>
                <a:latin typeface="Calibri"/>
                <a:ea typeface="Calibri"/>
              </a:rPr>
              <a:t>With hundreds of dependencies, license compliance is an engineering responsibility, not just legal: a</a:t>
            </a:r>
            <a:r>
              <a:rPr b="0" lang="en-US" sz="1100" spc="-1" strike="noStrike">
                <a:solidFill>
                  <a:srgbClr val="c7cdeb"/>
                </a:solidFill>
                <a:latin typeface="Calibri"/>
                <a:ea typeface="Calibri"/>
              </a:rPr>
              <a:t>re we violating any license terms? are there patent-related risks?</a:t>
            </a:r>
            <a:endParaRPr b="0" lang="en-US" sz="1100" spc="-1" strike="noStrike">
              <a:solidFill>
                <a:srgbClr val="ffffff"/>
              </a:solidFill>
              <a:latin typeface="Arial"/>
            </a:endParaRPr>
          </a:p>
        </p:txBody>
      </p:sp>
      <p:sp>
        <p:nvSpPr>
          <p:cNvPr id="86" name="Text 28"/>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Software Licensing Fundamentals</a:t>
            </a:r>
            <a:endParaRPr b="0" lang="en-US" sz="900" spc="-1" strike="noStrike">
              <a:solidFill>
                <a:srgbClr val="ffffff"/>
              </a:solidFill>
              <a:latin typeface="Arial"/>
            </a:endParaRPr>
          </a:p>
        </p:txBody>
      </p:sp>
      <p:sp>
        <p:nvSpPr>
          <p:cNvPr id="87" name="Text 29"/>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1</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88"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1 · FOUNDATIONS</a:t>
            </a:r>
            <a:endParaRPr b="0" lang="en-US" sz="1150" spc="-1" strike="noStrike">
              <a:solidFill>
                <a:srgbClr val="ffffff"/>
              </a:solidFill>
              <a:latin typeface="Arial"/>
            </a:endParaRPr>
          </a:p>
        </p:txBody>
      </p:sp>
      <p:sp>
        <p:nvSpPr>
          <p:cNvPr id="89"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Copyright vs. License</a:t>
            </a:r>
            <a:endParaRPr b="0" lang="en-US" sz="2700" spc="-1" strike="noStrike">
              <a:solidFill>
                <a:srgbClr val="ffffff"/>
              </a:solidFill>
              <a:latin typeface="Arial"/>
            </a:endParaRPr>
          </a:p>
        </p:txBody>
      </p:sp>
      <p:sp>
        <p:nvSpPr>
          <p:cNvPr id="90"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Two related but distinct legal concepts</a:t>
            </a:r>
            <a:endParaRPr b="0" lang="en-US" sz="1250" spc="-1" strike="noStrike">
              <a:solidFill>
                <a:srgbClr val="ffffff"/>
              </a:solidFill>
              <a:latin typeface="Arial"/>
            </a:endParaRPr>
          </a:p>
        </p:txBody>
      </p:sp>
      <p:sp>
        <p:nvSpPr>
          <p:cNvPr id="91" name="Shape 3"/>
          <p:cNvSpPr/>
          <p:nvPr/>
        </p:nvSpPr>
        <p:spPr>
          <a:xfrm>
            <a:off x="548640" y="1536120"/>
            <a:ext cx="11063880" cy="1188360"/>
          </a:xfrm>
          <a:prstGeom prst="roundRect">
            <a:avLst>
              <a:gd name="adj" fmla="val 6923"/>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Shape 4"/>
          <p:cNvSpPr/>
          <p:nvPr/>
        </p:nvSpPr>
        <p:spPr>
          <a:xfrm>
            <a:off x="868680" y="1737360"/>
            <a:ext cx="776880" cy="77688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3" name="Image 0" descr="/home/claude/work/icons/building_0F1035.png"/>
          <p:cNvPicPr/>
          <p:nvPr/>
        </p:nvPicPr>
        <p:blipFill>
          <a:blip r:embed="rId1"/>
          <a:stretch/>
        </p:blipFill>
        <p:spPr>
          <a:xfrm>
            <a:off x="1043640" y="1912320"/>
            <a:ext cx="426960" cy="426960"/>
          </a:xfrm>
          <a:prstGeom prst="rect">
            <a:avLst/>
          </a:prstGeom>
          <a:ln w="0">
            <a:noFill/>
          </a:ln>
        </p:spPr>
      </p:pic>
      <p:sp>
        <p:nvSpPr>
          <p:cNvPr id="94" name="Text 5"/>
          <p:cNvSpPr/>
          <p:nvPr/>
        </p:nvSpPr>
        <p:spPr>
          <a:xfrm>
            <a:off x="1828800" y="1673280"/>
            <a:ext cx="9509400" cy="91404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1" lang="en-US" sz="1500" spc="-1" strike="noStrike">
                <a:solidFill>
                  <a:srgbClr val="f5a623"/>
                </a:solidFill>
                <a:latin typeface="Calibri"/>
                <a:ea typeface="Calibri"/>
              </a:rPr>
              <a:t>Copyright </a:t>
            </a:r>
            <a:r>
              <a:rPr b="0" lang="en-US" sz="1500" spc="-1" strike="noStrike">
                <a:solidFill>
                  <a:srgbClr val="c7cdeb"/>
                </a:solidFill>
                <a:latin typeface="Calibri"/>
                <a:ea typeface="Calibri"/>
              </a:rPr>
              <a:t>is like owning a house.  </a:t>
            </a:r>
            <a:r>
              <a:rPr b="1" lang="en-US" sz="1500" spc="-1" strike="noStrike">
                <a:solidFill>
                  <a:srgbClr val="f5a623"/>
                </a:solidFill>
                <a:latin typeface="Calibri"/>
                <a:ea typeface="Calibri"/>
              </a:rPr>
              <a:t>License </a:t>
            </a:r>
            <a:r>
              <a:rPr b="0" lang="en-US" sz="1500" spc="-1" strike="noStrike">
                <a:solidFill>
                  <a:srgbClr val="c7cdeb"/>
                </a:solidFill>
                <a:latin typeface="Calibri"/>
                <a:ea typeface="Calibri"/>
              </a:rPr>
              <a:t>is like giving someone permission to live in, renovate, or rent that house — under specific rules.</a:t>
            </a:r>
            <a:endParaRPr b="0" lang="en-US" sz="1500" spc="-1" strike="noStrike">
              <a:solidFill>
                <a:srgbClr val="ffffff"/>
              </a:solidFill>
              <a:latin typeface="Arial"/>
            </a:endParaRPr>
          </a:p>
        </p:txBody>
      </p:sp>
      <p:sp>
        <p:nvSpPr>
          <p:cNvPr id="95" name="Shape 6"/>
          <p:cNvSpPr/>
          <p:nvPr/>
        </p:nvSpPr>
        <p:spPr>
          <a:xfrm>
            <a:off x="548640" y="2953440"/>
            <a:ext cx="5348880" cy="3172680"/>
          </a:xfrm>
          <a:prstGeom prst="roundRect">
            <a:avLst>
              <a:gd name="adj" fmla="val 2594"/>
            </a:avLst>
          </a:prstGeom>
          <a:solidFill>
            <a:srgbClr val="1a1e4f"/>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6" name="Shape 7"/>
          <p:cNvSpPr/>
          <p:nvPr/>
        </p:nvSpPr>
        <p:spPr>
          <a:xfrm>
            <a:off x="822960" y="3209400"/>
            <a:ext cx="566640" cy="56664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7" name="Image 1" descr="/home/claude/work/icons/copyright_0F1035.png"/>
          <p:cNvPicPr/>
          <p:nvPr/>
        </p:nvPicPr>
        <p:blipFill>
          <a:blip r:embed="rId2"/>
          <a:stretch/>
        </p:blipFill>
        <p:spPr>
          <a:xfrm>
            <a:off x="950400" y="3337200"/>
            <a:ext cx="311400" cy="311400"/>
          </a:xfrm>
          <a:prstGeom prst="rect">
            <a:avLst/>
          </a:prstGeom>
          <a:ln w="0">
            <a:noFill/>
          </a:ln>
        </p:spPr>
      </p:pic>
      <p:sp>
        <p:nvSpPr>
          <p:cNvPr id="98" name="Text 8"/>
          <p:cNvSpPr/>
          <p:nvPr/>
        </p:nvSpPr>
        <p:spPr>
          <a:xfrm>
            <a:off x="1508760" y="3209400"/>
            <a:ext cx="416016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fffff"/>
                </a:solidFill>
                <a:latin typeface="Cambria"/>
                <a:ea typeface="Cambria"/>
              </a:rPr>
              <a:t>Copyright</a:t>
            </a:r>
            <a:endParaRPr b="0" lang="en-US" sz="1700" spc="-1" strike="noStrike">
              <a:solidFill>
                <a:srgbClr val="ffffff"/>
              </a:solidFill>
              <a:latin typeface="Arial"/>
            </a:endParaRPr>
          </a:p>
        </p:txBody>
      </p:sp>
      <p:sp>
        <p:nvSpPr>
          <p:cNvPr id="99" name="Text 9"/>
          <p:cNvSpPr/>
          <p:nvPr/>
        </p:nvSpPr>
        <p:spPr>
          <a:xfrm>
            <a:off x="914400" y="3913560"/>
            <a:ext cx="4617360" cy="15084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Represents ownership</a:t>
            </a:r>
            <a:endParaRPr b="0" lang="en-US" sz="1250" spc="-1" strike="noStrike">
              <a:solidFill>
                <a:srgbClr val="ffffff"/>
              </a:solidFill>
              <a:latin typeface="Arial"/>
            </a:endParaRPr>
          </a:p>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Automatically belongs to the creator</a:t>
            </a:r>
            <a:endParaRPr b="0" lang="en-US" sz="1250" spc="-1" strike="noStrike">
              <a:solidFill>
                <a:srgbClr val="ffffff"/>
              </a:solidFill>
              <a:latin typeface="Arial"/>
            </a:endParaRPr>
          </a:p>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Protects intellectual property</a:t>
            </a:r>
            <a:endParaRPr b="0" lang="en-US" sz="1250" spc="-1" strike="noStrike">
              <a:solidFill>
                <a:srgbClr val="ffffff"/>
              </a:solidFill>
              <a:latin typeface="Arial"/>
            </a:endParaRPr>
          </a:p>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Exists whether or not software is open source</a:t>
            </a:r>
            <a:endParaRPr b="0" lang="en-US" sz="1250" spc="-1" strike="noStrike">
              <a:solidFill>
                <a:srgbClr val="ffffff"/>
              </a:solidFill>
              <a:latin typeface="Arial"/>
            </a:endParaRPr>
          </a:p>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Cannot be used by others without permission</a:t>
            </a:r>
            <a:endParaRPr b="0" lang="en-US" sz="1250" spc="-1" strike="noStrike">
              <a:solidFill>
                <a:srgbClr val="ffffff"/>
              </a:solidFill>
              <a:latin typeface="Arial"/>
            </a:endParaRPr>
          </a:p>
        </p:txBody>
      </p:sp>
      <p:sp>
        <p:nvSpPr>
          <p:cNvPr id="100" name="Shape 10"/>
          <p:cNvSpPr/>
          <p:nvPr/>
        </p:nvSpPr>
        <p:spPr>
          <a:xfrm>
            <a:off x="914400" y="5468040"/>
            <a:ext cx="46177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01" name="Shape 11"/>
          <p:cNvSpPr/>
          <p:nvPr/>
        </p:nvSpPr>
        <p:spPr>
          <a:xfrm>
            <a:off x="914400" y="5614560"/>
            <a:ext cx="365400" cy="365400"/>
          </a:xfrm>
          <a:prstGeom prst="ellipse">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02" name="Image 2" descr="/home/claude/work/icons/check_F5A623.png"/>
          <p:cNvPicPr/>
          <p:nvPr/>
        </p:nvPicPr>
        <p:blipFill>
          <a:blip r:embed="rId3"/>
          <a:stretch/>
        </p:blipFill>
        <p:spPr>
          <a:xfrm>
            <a:off x="996840" y="5696640"/>
            <a:ext cx="200880" cy="200880"/>
          </a:xfrm>
          <a:prstGeom prst="rect">
            <a:avLst/>
          </a:prstGeom>
          <a:ln w="0">
            <a:noFill/>
          </a:ln>
        </p:spPr>
      </p:pic>
      <p:sp>
        <p:nvSpPr>
          <p:cNvPr id="103" name="Text 12"/>
          <p:cNvSpPr/>
          <p:nvPr/>
        </p:nvSpPr>
        <p:spPr>
          <a:xfrm>
            <a:off x="1389960" y="5596200"/>
            <a:ext cx="4160160" cy="4568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030" spc="-1" strike="noStrike">
                <a:solidFill>
                  <a:srgbClr val="c7cdeb"/>
                </a:solidFill>
                <a:latin typeface="Calibri"/>
                <a:ea typeface="Calibri"/>
              </a:rPr>
              <a:t>Automatic the moment you write code — no registration required.</a:t>
            </a:r>
            <a:endParaRPr b="0" lang="en-US" sz="1030" spc="-1" strike="noStrike">
              <a:solidFill>
                <a:srgbClr val="ffffff"/>
              </a:solidFill>
              <a:latin typeface="Arial"/>
            </a:endParaRPr>
          </a:p>
        </p:txBody>
      </p:sp>
      <p:sp>
        <p:nvSpPr>
          <p:cNvPr id="104" name="Shape 13"/>
          <p:cNvSpPr/>
          <p:nvPr/>
        </p:nvSpPr>
        <p:spPr>
          <a:xfrm>
            <a:off x="6263640" y="2953440"/>
            <a:ext cx="5348880" cy="3172680"/>
          </a:xfrm>
          <a:prstGeom prst="roundRect">
            <a:avLst>
              <a:gd name="adj" fmla="val 2594"/>
            </a:avLst>
          </a:prstGeom>
          <a:solidFill>
            <a:srgbClr val="1a1e4f"/>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5" name="Shape 14"/>
          <p:cNvSpPr/>
          <p:nvPr/>
        </p:nvSpPr>
        <p:spPr>
          <a:xfrm>
            <a:off x="6537960" y="3209400"/>
            <a:ext cx="566640" cy="56664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6" name="Image 3" descr="/home/claude/work/icons/key_0F1035.png"/>
          <p:cNvPicPr/>
          <p:nvPr/>
        </p:nvPicPr>
        <p:blipFill>
          <a:blip r:embed="rId4"/>
          <a:stretch/>
        </p:blipFill>
        <p:spPr>
          <a:xfrm>
            <a:off x="6665400" y="3337200"/>
            <a:ext cx="311400" cy="311400"/>
          </a:xfrm>
          <a:prstGeom prst="rect">
            <a:avLst/>
          </a:prstGeom>
          <a:ln w="0">
            <a:noFill/>
          </a:ln>
        </p:spPr>
      </p:pic>
      <p:sp>
        <p:nvSpPr>
          <p:cNvPr id="107" name="Text 15"/>
          <p:cNvSpPr/>
          <p:nvPr/>
        </p:nvSpPr>
        <p:spPr>
          <a:xfrm>
            <a:off x="7223760" y="3209400"/>
            <a:ext cx="416016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fffff"/>
                </a:solidFill>
                <a:latin typeface="Cambria"/>
                <a:ea typeface="Cambria"/>
              </a:rPr>
              <a:t>License</a:t>
            </a:r>
            <a:endParaRPr b="0" lang="en-US" sz="1700" spc="-1" strike="noStrike">
              <a:solidFill>
                <a:srgbClr val="ffffff"/>
              </a:solidFill>
              <a:latin typeface="Arial"/>
            </a:endParaRPr>
          </a:p>
        </p:txBody>
      </p:sp>
      <p:sp>
        <p:nvSpPr>
          <p:cNvPr id="108" name="Text 16"/>
          <p:cNvSpPr/>
          <p:nvPr/>
        </p:nvSpPr>
        <p:spPr>
          <a:xfrm>
            <a:off x="6629400" y="3913560"/>
            <a:ext cx="4617360" cy="15084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Represents permission</a:t>
            </a:r>
            <a:endParaRPr b="0" lang="en-US" sz="1250" spc="-1" strike="noStrike">
              <a:solidFill>
                <a:srgbClr val="ffffff"/>
              </a:solidFill>
              <a:latin typeface="Arial"/>
            </a:endParaRPr>
          </a:p>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Created and granted by the copyright owner</a:t>
            </a:r>
            <a:endParaRPr b="0" lang="en-US" sz="1250" spc="-1" strike="noStrike">
              <a:solidFill>
                <a:srgbClr val="ffffff"/>
              </a:solidFill>
              <a:latin typeface="Arial"/>
            </a:endParaRPr>
          </a:p>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Defines legal usage rights</a:t>
            </a:r>
            <a:endParaRPr b="0" lang="en-US" sz="1250" spc="-1" strike="noStrike">
              <a:solidFill>
                <a:srgbClr val="ffffff"/>
              </a:solidFill>
              <a:latin typeface="Arial"/>
            </a:endParaRPr>
          </a:p>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Specifies obligations (attribution, sharing, etc.)</a:t>
            </a:r>
            <a:endParaRPr b="0" lang="en-US" sz="1250" spc="-1" strike="noStrike">
              <a:solidFill>
                <a:srgbClr val="ffffff"/>
              </a:solidFill>
              <a:latin typeface="Arial"/>
            </a:endParaRPr>
          </a:p>
          <a:p>
            <a:pPr marL="177840" indent="-177840" defTabSz="914400">
              <a:lnSpc>
                <a:spcPct val="100000"/>
              </a:lnSpc>
              <a:spcAft>
                <a:spcPts val="799"/>
              </a:spcAft>
              <a:buClr>
                <a:srgbClr val="c7cdeb"/>
              </a:buClr>
              <a:buFont typeface="Symbol" charset="2"/>
              <a:buChar char=""/>
            </a:pPr>
            <a:r>
              <a:rPr b="0" lang="en-US" sz="1250" spc="-1" strike="noStrike">
                <a:solidFill>
                  <a:srgbClr val="c7cdeb"/>
                </a:solidFill>
                <a:latin typeface="Calibri"/>
                <a:ea typeface="Calibri"/>
              </a:rPr>
              <a:t>Grants specific permissions under defined conditions</a:t>
            </a:r>
            <a:endParaRPr b="0" lang="en-US" sz="1250" spc="-1" strike="noStrike">
              <a:solidFill>
                <a:srgbClr val="ffffff"/>
              </a:solidFill>
              <a:latin typeface="Arial"/>
            </a:endParaRPr>
          </a:p>
        </p:txBody>
      </p:sp>
      <p:sp>
        <p:nvSpPr>
          <p:cNvPr id="109" name="Shape 17"/>
          <p:cNvSpPr/>
          <p:nvPr/>
        </p:nvSpPr>
        <p:spPr>
          <a:xfrm>
            <a:off x="6629400" y="5468040"/>
            <a:ext cx="46177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0" name="Shape 18"/>
          <p:cNvSpPr/>
          <p:nvPr/>
        </p:nvSpPr>
        <p:spPr>
          <a:xfrm>
            <a:off x="6629400" y="5614560"/>
            <a:ext cx="365400" cy="365400"/>
          </a:xfrm>
          <a:prstGeom prst="ellipse">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11" name="Image 4" descr="/home/claude/work/icons/check_F5A623.png"/>
          <p:cNvPicPr/>
          <p:nvPr/>
        </p:nvPicPr>
        <p:blipFill>
          <a:blip r:embed="rId5"/>
          <a:stretch/>
        </p:blipFill>
        <p:spPr>
          <a:xfrm>
            <a:off x="6711840" y="5696640"/>
            <a:ext cx="200880" cy="200880"/>
          </a:xfrm>
          <a:prstGeom prst="rect">
            <a:avLst/>
          </a:prstGeom>
          <a:ln w="0">
            <a:noFill/>
          </a:ln>
        </p:spPr>
      </p:pic>
      <p:sp>
        <p:nvSpPr>
          <p:cNvPr id="112" name="Text 19"/>
          <p:cNvSpPr/>
          <p:nvPr/>
        </p:nvSpPr>
        <p:spPr>
          <a:xfrm>
            <a:off x="7104960" y="5596200"/>
            <a:ext cx="4160160" cy="4568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030" spc="-1" strike="noStrike">
                <a:solidFill>
                  <a:srgbClr val="c7cdeb"/>
                </a:solidFill>
                <a:latin typeface="Calibri"/>
                <a:ea typeface="Calibri"/>
              </a:rPr>
              <a:t>Must be explicitly written and granted by the copyright holder.</a:t>
            </a:r>
            <a:endParaRPr b="0" lang="en-US" sz="1030" spc="-1" strike="noStrike">
              <a:solidFill>
                <a:srgbClr val="ffffff"/>
              </a:solidFill>
              <a:latin typeface="Arial"/>
            </a:endParaRPr>
          </a:p>
        </p:txBody>
      </p:sp>
      <p:sp>
        <p:nvSpPr>
          <p:cNvPr id="113" name="Text 20"/>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Software Licensing Fundamentals</a:t>
            </a:r>
            <a:endParaRPr b="0" lang="en-US" sz="900" spc="-1" strike="noStrike">
              <a:solidFill>
                <a:srgbClr val="ffffff"/>
              </a:solidFill>
              <a:latin typeface="Arial"/>
            </a:endParaRPr>
          </a:p>
        </p:txBody>
      </p:sp>
      <p:sp>
        <p:nvSpPr>
          <p:cNvPr id="114" name="Text 21"/>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2</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115"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1 · FOUNDATIONS</a:t>
            </a:r>
            <a:endParaRPr b="0" lang="en-US" sz="1150" spc="-1" strike="noStrike">
              <a:solidFill>
                <a:srgbClr val="ffffff"/>
              </a:solidFill>
              <a:latin typeface="Arial"/>
            </a:endParaRPr>
          </a:p>
        </p:txBody>
      </p:sp>
      <p:sp>
        <p:nvSpPr>
          <p:cNvPr id="116"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Software Categories &amp; Key Terms</a:t>
            </a:r>
            <a:endParaRPr b="0" lang="en-US" sz="2700" spc="-1" strike="noStrike">
              <a:solidFill>
                <a:srgbClr val="ffffff"/>
              </a:solidFill>
              <a:latin typeface="Arial"/>
            </a:endParaRPr>
          </a:p>
        </p:txBody>
      </p:sp>
      <p:sp>
        <p:nvSpPr>
          <p:cNvPr id="117"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Three ways software is licensed, and the vocabulary behind it</a:t>
            </a:r>
            <a:endParaRPr b="0" lang="en-US" sz="1250" spc="-1" strike="noStrike">
              <a:solidFill>
                <a:srgbClr val="ffffff"/>
              </a:solidFill>
              <a:latin typeface="Arial"/>
            </a:endParaRPr>
          </a:p>
        </p:txBody>
      </p:sp>
      <p:sp>
        <p:nvSpPr>
          <p:cNvPr id="118" name="Shape 3"/>
          <p:cNvSpPr/>
          <p:nvPr/>
        </p:nvSpPr>
        <p:spPr>
          <a:xfrm>
            <a:off x="548640" y="1536120"/>
            <a:ext cx="3565800" cy="2486880"/>
          </a:xfrm>
          <a:prstGeom prst="roundRect">
            <a:avLst>
              <a:gd name="adj" fmla="val 3309"/>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Shape 4"/>
          <p:cNvSpPr/>
          <p:nvPr/>
        </p:nvSpPr>
        <p:spPr>
          <a:xfrm>
            <a:off x="3611880" y="171900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Text 5"/>
          <p:cNvSpPr/>
          <p:nvPr/>
        </p:nvSpPr>
        <p:spPr>
          <a:xfrm>
            <a:off x="3611880" y="171900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1</a:t>
            </a:r>
            <a:endParaRPr b="0" lang="en-US" sz="1100" spc="-1" strike="noStrike">
              <a:solidFill>
                <a:srgbClr val="ffffff"/>
              </a:solidFill>
              <a:latin typeface="Arial"/>
            </a:endParaRPr>
          </a:p>
        </p:txBody>
      </p:sp>
      <p:sp>
        <p:nvSpPr>
          <p:cNvPr id="121" name="Shape 6"/>
          <p:cNvSpPr/>
          <p:nvPr/>
        </p:nvSpPr>
        <p:spPr>
          <a:xfrm>
            <a:off x="2011680" y="1755720"/>
            <a:ext cx="639720" cy="6397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22" name="Image 0" descr="/home/claude/work/icons/lock_0F1035.png"/>
          <p:cNvPicPr/>
          <p:nvPr/>
        </p:nvPicPr>
        <p:blipFill>
          <a:blip r:embed="rId1"/>
          <a:stretch/>
        </p:blipFill>
        <p:spPr>
          <a:xfrm>
            <a:off x="2155680" y="1899720"/>
            <a:ext cx="351720" cy="351720"/>
          </a:xfrm>
          <a:prstGeom prst="rect">
            <a:avLst/>
          </a:prstGeom>
          <a:ln w="0">
            <a:noFill/>
          </a:ln>
        </p:spPr>
      </p:pic>
      <p:sp>
        <p:nvSpPr>
          <p:cNvPr id="123" name="Text 7"/>
          <p:cNvSpPr/>
          <p:nvPr/>
        </p:nvSpPr>
        <p:spPr>
          <a:xfrm>
            <a:off x="548640" y="2395800"/>
            <a:ext cx="35658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Proprietary</a:t>
            </a:r>
            <a:endParaRPr b="0" lang="en-US" sz="1500" spc="-1" strike="noStrike">
              <a:solidFill>
                <a:srgbClr val="ffffff"/>
              </a:solidFill>
              <a:latin typeface="Arial"/>
            </a:endParaRPr>
          </a:p>
        </p:txBody>
      </p:sp>
      <p:sp>
        <p:nvSpPr>
          <p:cNvPr id="124" name="Text 8"/>
          <p:cNvSpPr/>
          <p:nvPr/>
        </p:nvSpPr>
        <p:spPr>
          <a:xfrm>
            <a:off x="868680" y="2606040"/>
            <a:ext cx="3017520" cy="8226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Bef>
                <a:spcPts val="1191"/>
              </a:spcBef>
              <a:spcAft>
                <a:spcPts val="992"/>
              </a:spcAft>
              <a:buClr>
                <a:srgbClr val="c7cdeb"/>
              </a:buClr>
              <a:buFont typeface="Symbol" charset="2"/>
              <a:buChar char=""/>
            </a:pPr>
            <a:endParaRPr b="0" lang="en-US" sz="11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Proprietary software is software whose source code is not publicly available.</a:t>
            </a:r>
            <a:endParaRPr b="0" lang="en-US" sz="11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Source closed</a:t>
            </a:r>
            <a:endParaRPr b="0" lang="en-US" sz="11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Vendor controls all rights</a:t>
            </a:r>
            <a:endParaRPr b="0" lang="en-US" sz="1100" spc="-1" strike="noStrike">
              <a:solidFill>
                <a:srgbClr val="ffffff"/>
              </a:solidFill>
              <a:latin typeface="Arial"/>
            </a:endParaRPr>
          </a:p>
        </p:txBody>
      </p:sp>
      <p:sp>
        <p:nvSpPr>
          <p:cNvPr id="125" name="Shape 9"/>
          <p:cNvSpPr/>
          <p:nvPr/>
        </p:nvSpPr>
        <p:spPr>
          <a:xfrm>
            <a:off x="822960" y="3657600"/>
            <a:ext cx="30175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26" name="Text 10"/>
          <p:cNvSpPr/>
          <p:nvPr/>
        </p:nvSpPr>
        <p:spPr>
          <a:xfrm>
            <a:off x="822960" y="3712320"/>
            <a:ext cx="30171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i="1" lang="en-US" sz="1000" spc="-1" strike="noStrike">
                <a:solidFill>
                  <a:srgbClr val="f5a623"/>
                </a:solidFill>
                <a:latin typeface="Calibri"/>
                <a:ea typeface="Calibri"/>
              </a:rPr>
              <a:t>e.g.  </a:t>
            </a:r>
            <a:r>
              <a:rPr b="0" i="1" lang="en-US" sz="1000" spc="-1" strike="noStrike">
                <a:solidFill>
                  <a:srgbClr val="c7cdeb"/>
                </a:solidFill>
                <a:latin typeface="Calibri"/>
                <a:ea typeface="Calibri"/>
              </a:rPr>
              <a:t>Windows, Photoshop</a:t>
            </a:r>
            <a:endParaRPr b="0" lang="en-US" sz="1000" spc="-1" strike="noStrike">
              <a:solidFill>
                <a:srgbClr val="ffffff"/>
              </a:solidFill>
              <a:latin typeface="Arial"/>
            </a:endParaRPr>
          </a:p>
        </p:txBody>
      </p:sp>
      <p:sp>
        <p:nvSpPr>
          <p:cNvPr id="127" name="Shape 11"/>
          <p:cNvSpPr/>
          <p:nvPr/>
        </p:nvSpPr>
        <p:spPr>
          <a:xfrm>
            <a:off x="4343400" y="1536120"/>
            <a:ext cx="3565800" cy="2486880"/>
          </a:xfrm>
          <a:prstGeom prst="roundRect">
            <a:avLst>
              <a:gd name="adj" fmla="val 3309"/>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Shape 12"/>
          <p:cNvSpPr/>
          <p:nvPr/>
        </p:nvSpPr>
        <p:spPr>
          <a:xfrm>
            <a:off x="7406640" y="171900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9" name="Text 13"/>
          <p:cNvSpPr/>
          <p:nvPr/>
        </p:nvSpPr>
        <p:spPr>
          <a:xfrm>
            <a:off x="7406640" y="171900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2</a:t>
            </a:r>
            <a:endParaRPr b="0" lang="en-US" sz="1100" spc="-1" strike="noStrike">
              <a:solidFill>
                <a:srgbClr val="ffffff"/>
              </a:solidFill>
              <a:latin typeface="Arial"/>
            </a:endParaRPr>
          </a:p>
        </p:txBody>
      </p:sp>
      <p:sp>
        <p:nvSpPr>
          <p:cNvPr id="130" name="Shape 14"/>
          <p:cNvSpPr/>
          <p:nvPr/>
        </p:nvSpPr>
        <p:spPr>
          <a:xfrm>
            <a:off x="5806440" y="1755720"/>
            <a:ext cx="639720" cy="6397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31" name="Image 1" descr="/home/claude/work/icons/unlock_0F1035.png"/>
          <p:cNvPicPr/>
          <p:nvPr/>
        </p:nvPicPr>
        <p:blipFill>
          <a:blip r:embed="rId2"/>
          <a:stretch/>
        </p:blipFill>
        <p:spPr>
          <a:xfrm>
            <a:off x="5950440" y="1899720"/>
            <a:ext cx="351720" cy="351720"/>
          </a:xfrm>
          <a:prstGeom prst="rect">
            <a:avLst/>
          </a:prstGeom>
          <a:ln w="0">
            <a:noFill/>
          </a:ln>
        </p:spPr>
      </p:pic>
      <p:sp>
        <p:nvSpPr>
          <p:cNvPr id="132" name="Text 15"/>
          <p:cNvSpPr/>
          <p:nvPr/>
        </p:nvSpPr>
        <p:spPr>
          <a:xfrm>
            <a:off x="4343400" y="2395800"/>
            <a:ext cx="35658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Open Source</a:t>
            </a:r>
            <a:endParaRPr b="0" lang="en-US" sz="1500" spc="-1" strike="noStrike">
              <a:solidFill>
                <a:srgbClr val="ffffff"/>
              </a:solidFill>
              <a:latin typeface="Arial"/>
            </a:endParaRPr>
          </a:p>
        </p:txBody>
      </p:sp>
      <p:sp>
        <p:nvSpPr>
          <p:cNvPr id="133" name="Text 16"/>
          <p:cNvSpPr/>
          <p:nvPr/>
        </p:nvSpPr>
        <p:spPr>
          <a:xfrm>
            <a:off x="4617720" y="2788560"/>
            <a:ext cx="3017160" cy="8226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Source available + licensed</a:t>
            </a:r>
            <a:endParaRPr b="0" lang="en-US" sz="11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Use, modify, redistribute &amp; sell</a:t>
            </a:r>
            <a:endParaRPr b="0" lang="en-US" sz="11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Community collaboration, Transparent Development</a:t>
            </a:r>
            <a:endParaRPr b="0" lang="en-US" sz="1100" spc="-1" strike="noStrike">
              <a:solidFill>
                <a:srgbClr val="ffffff"/>
              </a:solidFill>
              <a:latin typeface="Arial"/>
            </a:endParaRPr>
          </a:p>
        </p:txBody>
      </p:sp>
      <p:sp>
        <p:nvSpPr>
          <p:cNvPr id="134" name="Shape 17"/>
          <p:cNvSpPr/>
          <p:nvPr/>
        </p:nvSpPr>
        <p:spPr>
          <a:xfrm>
            <a:off x="4617720" y="3657600"/>
            <a:ext cx="30175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35" name="Text 18"/>
          <p:cNvSpPr/>
          <p:nvPr/>
        </p:nvSpPr>
        <p:spPr>
          <a:xfrm>
            <a:off x="4617720" y="3712320"/>
            <a:ext cx="30171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i="1" lang="en-US" sz="1000" spc="-1" strike="noStrike">
                <a:solidFill>
                  <a:srgbClr val="f5a623"/>
                </a:solidFill>
                <a:latin typeface="Calibri"/>
                <a:ea typeface="Calibri"/>
              </a:rPr>
              <a:t>e.g.  </a:t>
            </a:r>
            <a:r>
              <a:rPr b="0" i="1" lang="en-US" sz="1000" spc="-1" strike="noStrike">
                <a:solidFill>
                  <a:srgbClr val="c7cdeb"/>
                </a:solidFill>
                <a:latin typeface="Calibri"/>
                <a:ea typeface="Calibri"/>
              </a:rPr>
              <a:t>Linux, React, Kubernetes</a:t>
            </a:r>
            <a:endParaRPr b="0" lang="en-US" sz="1000" spc="-1" strike="noStrike">
              <a:solidFill>
                <a:srgbClr val="ffffff"/>
              </a:solidFill>
              <a:latin typeface="Arial"/>
            </a:endParaRPr>
          </a:p>
        </p:txBody>
      </p:sp>
      <p:sp>
        <p:nvSpPr>
          <p:cNvPr id="136" name="Shape 19"/>
          <p:cNvSpPr/>
          <p:nvPr/>
        </p:nvSpPr>
        <p:spPr>
          <a:xfrm>
            <a:off x="8138160" y="1536120"/>
            <a:ext cx="3565800" cy="2486880"/>
          </a:xfrm>
          <a:prstGeom prst="roundRect">
            <a:avLst>
              <a:gd name="adj" fmla="val 3309"/>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7" name="Shape 20"/>
          <p:cNvSpPr/>
          <p:nvPr/>
        </p:nvSpPr>
        <p:spPr>
          <a:xfrm>
            <a:off x="11201400" y="171900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8" name="Text 21"/>
          <p:cNvSpPr/>
          <p:nvPr/>
        </p:nvSpPr>
        <p:spPr>
          <a:xfrm>
            <a:off x="11201400" y="171900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3</a:t>
            </a:r>
            <a:endParaRPr b="0" lang="en-US" sz="1100" spc="-1" strike="noStrike">
              <a:solidFill>
                <a:srgbClr val="ffffff"/>
              </a:solidFill>
              <a:latin typeface="Arial"/>
            </a:endParaRPr>
          </a:p>
        </p:txBody>
      </p:sp>
      <p:sp>
        <p:nvSpPr>
          <p:cNvPr id="139" name="Shape 22"/>
          <p:cNvSpPr/>
          <p:nvPr/>
        </p:nvSpPr>
        <p:spPr>
          <a:xfrm>
            <a:off x="9601200" y="1755720"/>
            <a:ext cx="639720" cy="6397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40" name="Image 2" descr="/home/claude/work/icons/eye_0F1035.png"/>
          <p:cNvPicPr/>
          <p:nvPr/>
        </p:nvPicPr>
        <p:blipFill>
          <a:blip r:embed="rId3"/>
          <a:stretch/>
        </p:blipFill>
        <p:spPr>
          <a:xfrm>
            <a:off x="9745200" y="1899720"/>
            <a:ext cx="351720" cy="351720"/>
          </a:xfrm>
          <a:prstGeom prst="rect">
            <a:avLst/>
          </a:prstGeom>
          <a:ln w="0">
            <a:noFill/>
          </a:ln>
        </p:spPr>
      </p:pic>
      <p:sp>
        <p:nvSpPr>
          <p:cNvPr id="141" name="Text 23"/>
          <p:cNvSpPr/>
          <p:nvPr/>
        </p:nvSpPr>
        <p:spPr>
          <a:xfrm>
            <a:off x="8138160" y="2395800"/>
            <a:ext cx="35658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Source Available</a:t>
            </a:r>
            <a:endParaRPr b="0" lang="en-US" sz="1500" spc="-1" strike="noStrike">
              <a:solidFill>
                <a:srgbClr val="ffffff"/>
              </a:solidFill>
              <a:latin typeface="Arial"/>
            </a:endParaRPr>
          </a:p>
        </p:txBody>
      </p:sp>
      <p:sp>
        <p:nvSpPr>
          <p:cNvPr id="142" name="Text 24"/>
          <p:cNvSpPr/>
          <p:nvPr/>
        </p:nvSpPr>
        <p:spPr>
          <a:xfrm>
            <a:off x="8458200" y="2788920"/>
            <a:ext cx="2925720" cy="8226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Source visible to read</a:t>
            </a:r>
            <a:endParaRPr b="0" lang="en-US" sz="11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Usage often restricted</a:t>
            </a:r>
            <a:endParaRPr b="0" lang="en-US" sz="11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Middle ground category</a:t>
            </a:r>
            <a:endParaRPr b="0" lang="en-US" sz="11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100" spc="-1" strike="noStrike">
                <a:solidFill>
                  <a:srgbClr val="c7cdeb"/>
                </a:solidFill>
                <a:latin typeface="Calibri"/>
                <a:ea typeface="Calibri"/>
              </a:rPr>
              <a:t>Limits on commercial use</a:t>
            </a:r>
            <a:endParaRPr b="0" lang="en-US" sz="1100" spc="-1" strike="noStrike">
              <a:solidFill>
                <a:srgbClr val="ffffff"/>
              </a:solidFill>
              <a:latin typeface="Arial"/>
            </a:endParaRPr>
          </a:p>
        </p:txBody>
      </p:sp>
      <p:sp>
        <p:nvSpPr>
          <p:cNvPr id="143" name="Shape 25"/>
          <p:cNvSpPr/>
          <p:nvPr/>
        </p:nvSpPr>
        <p:spPr>
          <a:xfrm>
            <a:off x="8412480" y="3657600"/>
            <a:ext cx="30175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44" name="Text 26"/>
          <p:cNvSpPr/>
          <p:nvPr/>
        </p:nvSpPr>
        <p:spPr>
          <a:xfrm>
            <a:off x="8412480" y="3712320"/>
            <a:ext cx="30171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i="1" lang="en-US" sz="1000" spc="-1" strike="noStrike">
                <a:solidFill>
                  <a:srgbClr val="f5a623"/>
                </a:solidFill>
                <a:latin typeface="Calibri"/>
                <a:ea typeface="Calibri"/>
              </a:rPr>
              <a:t>e.g.  </a:t>
            </a:r>
            <a:r>
              <a:rPr b="0" i="1" lang="en-US" sz="1000" spc="-1" strike="noStrike">
                <a:solidFill>
                  <a:srgbClr val="c7cdeb"/>
                </a:solidFill>
                <a:latin typeface="Calibri"/>
                <a:ea typeface="Calibri"/>
              </a:rPr>
              <a:t>Unreal Engine, SSPL apps</a:t>
            </a:r>
            <a:endParaRPr b="0" lang="en-US" sz="1000" spc="-1" strike="noStrike">
              <a:solidFill>
                <a:srgbClr val="ffffff"/>
              </a:solidFill>
              <a:latin typeface="Arial"/>
            </a:endParaRPr>
          </a:p>
        </p:txBody>
      </p:sp>
      <p:sp>
        <p:nvSpPr>
          <p:cNvPr id="145" name="Text 27"/>
          <p:cNvSpPr/>
          <p:nvPr/>
        </p:nvSpPr>
        <p:spPr>
          <a:xfrm>
            <a:off x="548640" y="418788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ffffff"/>
                </a:solidFill>
                <a:latin typeface="Cambria"/>
                <a:ea typeface="Cambria"/>
              </a:rPr>
              <a:t>Key Terms to Know</a:t>
            </a:r>
            <a:endParaRPr b="0" lang="en-US" sz="1550" spc="-1" strike="noStrike">
              <a:solidFill>
                <a:srgbClr val="ffffff"/>
              </a:solidFill>
              <a:latin typeface="Arial"/>
            </a:endParaRPr>
          </a:p>
        </p:txBody>
      </p:sp>
      <p:sp>
        <p:nvSpPr>
          <p:cNvPr id="146" name="Shape 28"/>
          <p:cNvSpPr/>
          <p:nvPr/>
        </p:nvSpPr>
        <p:spPr>
          <a:xfrm>
            <a:off x="548640" y="4590360"/>
            <a:ext cx="3565800" cy="776880"/>
          </a:xfrm>
          <a:prstGeom prst="roundRect">
            <a:avLst>
              <a:gd name="adj" fmla="val 10588"/>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7" name="Shape 29"/>
          <p:cNvSpPr/>
          <p:nvPr/>
        </p:nvSpPr>
        <p:spPr>
          <a:xfrm>
            <a:off x="694800" y="4741200"/>
            <a:ext cx="475200" cy="4752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48" name="Image 3" descr="/home/claude/work/icons/code_0F1035.png"/>
          <p:cNvPicPr/>
          <p:nvPr/>
        </p:nvPicPr>
        <p:blipFill>
          <a:blip r:embed="rId4"/>
          <a:stretch/>
        </p:blipFill>
        <p:spPr>
          <a:xfrm>
            <a:off x="802080" y="4848120"/>
            <a:ext cx="261000" cy="261000"/>
          </a:xfrm>
          <a:prstGeom prst="rect">
            <a:avLst/>
          </a:prstGeom>
          <a:ln w="0">
            <a:noFill/>
          </a:ln>
        </p:spPr>
      </p:pic>
      <p:sp>
        <p:nvSpPr>
          <p:cNvPr id="149" name="Text 30"/>
          <p:cNvSpPr/>
          <p:nvPr/>
        </p:nvSpPr>
        <p:spPr>
          <a:xfrm>
            <a:off x="1298520" y="4663440"/>
            <a:ext cx="2669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fffff"/>
                </a:solidFill>
                <a:latin typeface="Cambria"/>
                <a:ea typeface="Cambria"/>
              </a:rPr>
              <a:t>Source Code</a:t>
            </a:r>
            <a:endParaRPr b="0" lang="en-US" sz="1200" spc="-1" strike="noStrike">
              <a:solidFill>
                <a:srgbClr val="ffffff"/>
              </a:solidFill>
              <a:latin typeface="Arial"/>
            </a:endParaRPr>
          </a:p>
        </p:txBody>
      </p:sp>
      <p:sp>
        <p:nvSpPr>
          <p:cNvPr id="150" name="Text 31"/>
          <p:cNvSpPr/>
          <p:nvPr/>
        </p:nvSpPr>
        <p:spPr>
          <a:xfrm>
            <a:off x="1298520" y="4919400"/>
            <a:ext cx="2669760" cy="402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00" spc="-1" strike="noStrike">
                <a:solidFill>
                  <a:srgbClr val="c7cdeb"/>
                </a:solidFill>
                <a:latin typeface="Calibri"/>
                <a:ea typeface="Calibri"/>
              </a:rPr>
              <a:t>Human-readable code developers write &amp; modify</a:t>
            </a:r>
            <a:endParaRPr b="0" lang="en-US" sz="1100" spc="-1" strike="noStrike">
              <a:solidFill>
                <a:srgbClr val="ffffff"/>
              </a:solidFill>
              <a:latin typeface="Arial"/>
            </a:endParaRPr>
          </a:p>
        </p:txBody>
      </p:sp>
      <p:sp>
        <p:nvSpPr>
          <p:cNvPr id="151" name="Shape 32"/>
          <p:cNvSpPr/>
          <p:nvPr/>
        </p:nvSpPr>
        <p:spPr>
          <a:xfrm>
            <a:off x="4251960" y="4590360"/>
            <a:ext cx="3565800" cy="776880"/>
          </a:xfrm>
          <a:prstGeom prst="roundRect">
            <a:avLst>
              <a:gd name="adj" fmla="val 10588"/>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2" name="Shape 33"/>
          <p:cNvSpPr/>
          <p:nvPr/>
        </p:nvSpPr>
        <p:spPr>
          <a:xfrm>
            <a:off x="4398120" y="4741200"/>
            <a:ext cx="475200" cy="4752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53" name="Image 4" descr="/home/claude/work/icons/share_0F1035.png"/>
          <p:cNvPicPr/>
          <p:nvPr/>
        </p:nvPicPr>
        <p:blipFill>
          <a:blip r:embed="rId5"/>
          <a:stretch/>
        </p:blipFill>
        <p:spPr>
          <a:xfrm>
            <a:off x="4505400" y="4848120"/>
            <a:ext cx="261000" cy="261000"/>
          </a:xfrm>
          <a:prstGeom prst="rect">
            <a:avLst/>
          </a:prstGeom>
          <a:ln w="0">
            <a:noFill/>
          </a:ln>
        </p:spPr>
      </p:pic>
      <p:sp>
        <p:nvSpPr>
          <p:cNvPr id="154" name="Text 34"/>
          <p:cNvSpPr/>
          <p:nvPr/>
        </p:nvSpPr>
        <p:spPr>
          <a:xfrm>
            <a:off x="5001840" y="4663440"/>
            <a:ext cx="2669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fffff"/>
                </a:solidFill>
                <a:latin typeface="Cambria"/>
                <a:ea typeface="Cambria"/>
              </a:rPr>
              <a:t>Redistribution</a:t>
            </a:r>
            <a:endParaRPr b="0" lang="en-US" sz="1200" spc="-1" strike="noStrike">
              <a:solidFill>
                <a:srgbClr val="ffffff"/>
              </a:solidFill>
              <a:latin typeface="Arial"/>
            </a:endParaRPr>
          </a:p>
        </p:txBody>
      </p:sp>
      <p:sp>
        <p:nvSpPr>
          <p:cNvPr id="155" name="Text 35"/>
          <p:cNvSpPr/>
          <p:nvPr/>
        </p:nvSpPr>
        <p:spPr>
          <a:xfrm>
            <a:off x="5001840" y="4919400"/>
            <a:ext cx="2669760" cy="402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00" spc="-1" strike="noStrike">
                <a:solidFill>
                  <a:srgbClr val="c7cdeb"/>
                </a:solidFill>
                <a:latin typeface="Calibri"/>
                <a:ea typeface="Calibri"/>
              </a:rPr>
              <a:t>Making software available to others</a:t>
            </a:r>
            <a:endParaRPr b="0" lang="en-US" sz="1100" spc="-1" strike="noStrike">
              <a:solidFill>
                <a:srgbClr val="ffffff"/>
              </a:solidFill>
              <a:latin typeface="Arial"/>
            </a:endParaRPr>
          </a:p>
        </p:txBody>
      </p:sp>
      <p:sp>
        <p:nvSpPr>
          <p:cNvPr id="156" name="Shape 36"/>
          <p:cNvSpPr/>
          <p:nvPr/>
        </p:nvSpPr>
        <p:spPr>
          <a:xfrm>
            <a:off x="7955280" y="4590360"/>
            <a:ext cx="3565800" cy="776880"/>
          </a:xfrm>
          <a:prstGeom prst="roundRect">
            <a:avLst>
              <a:gd name="adj" fmla="val 10588"/>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7" name="Shape 37"/>
          <p:cNvSpPr/>
          <p:nvPr/>
        </p:nvSpPr>
        <p:spPr>
          <a:xfrm>
            <a:off x="8101440" y="4741200"/>
            <a:ext cx="475200" cy="4752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58" name="Image 5" descr="/home/claude/work/icons/branch_0F1035.png"/>
          <p:cNvPicPr/>
          <p:nvPr/>
        </p:nvPicPr>
        <p:blipFill>
          <a:blip r:embed="rId6"/>
          <a:stretch/>
        </p:blipFill>
        <p:spPr>
          <a:xfrm>
            <a:off x="8208720" y="4848120"/>
            <a:ext cx="261000" cy="261000"/>
          </a:xfrm>
          <a:prstGeom prst="rect">
            <a:avLst/>
          </a:prstGeom>
          <a:ln w="0">
            <a:noFill/>
          </a:ln>
        </p:spPr>
      </p:pic>
      <p:sp>
        <p:nvSpPr>
          <p:cNvPr id="159" name="Text 38"/>
          <p:cNvSpPr/>
          <p:nvPr/>
        </p:nvSpPr>
        <p:spPr>
          <a:xfrm>
            <a:off x="8705160" y="4663440"/>
            <a:ext cx="2669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fffff"/>
                </a:solidFill>
                <a:latin typeface="Cambria"/>
                <a:ea typeface="Cambria"/>
              </a:rPr>
              <a:t>Derivative Work</a:t>
            </a:r>
            <a:endParaRPr b="0" lang="en-US" sz="1200" spc="-1" strike="noStrike">
              <a:solidFill>
                <a:srgbClr val="ffffff"/>
              </a:solidFill>
              <a:latin typeface="Arial"/>
            </a:endParaRPr>
          </a:p>
        </p:txBody>
      </p:sp>
      <p:sp>
        <p:nvSpPr>
          <p:cNvPr id="160" name="Text 39"/>
          <p:cNvSpPr/>
          <p:nvPr/>
        </p:nvSpPr>
        <p:spPr>
          <a:xfrm>
            <a:off x="8705160" y="4919400"/>
            <a:ext cx="2669760" cy="402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00" spc="-1" strike="noStrike">
                <a:solidFill>
                  <a:srgbClr val="c7cdeb"/>
                </a:solidFill>
                <a:latin typeface="Calibri"/>
                <a:ea typeface="Calibri"/>
              </a:rPr>
              <a:t>Software built upon an existing project</a:t>
            </a:r>
            <a:endParaRPr b="0" lang="en-US" sz="1100" spc="-1" strike="noStrike">
              <a:solidFill>
                <a:srgbClr val="ffffff"/>
              </a:solidFill>
              <a:latin typeface="Arial"/>
            </a:endParaRPr>
          </a:p>
        </p:txBody>
      </p:sp>
      <p:sp>
        <p:nvSpPr>
          <p:cNvPr id="161" name="Shape 40"/>
          <p:cNvSpPr/>
          <p:nvPr/>
        </p:nvSpPr>
        <p:spPr>
          <a:xfrm>
            <a:off x="548640" y="5504760"/>
            <a:ext cx="3565800" cy="776880"/>
          </a:xfrm>
          <a:prstGeom prst="roundRect">
            <a:avLst>
              <a:gd name="adj" fmla="val 10588"/>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Shape 41"/>
          <p:cNvSpPr/>
          <p:nvPr/>
        </p:nvSpPr>
        <p:spPr>
          <a:xfrm>
            <a:off x="694800" y="5655600"/>
            <a:ext cx="475200" cy="4752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63" name="Image 6" descr="/home/claude/work/icons/dollar_0F1035.png"/>
          <p:cNvPicPr/>
          <p:nvPr/>
        </p:nvPicPr>
        <p:blipFill>
          <a:blip r:embed="rId7"/>
          <a:stretch/>
        </p:blipFill>
        <p:spPr>
          <a:xfrm>
            <a:off x="802080" y="5762520"/>
            <a:ext cx="261000" cy="261000"/>
          </a:xfrm>
          <a:prstGeom prst="rect">
            <a:avLst/>
          </a:prstGeom>
          <a:ln w="0">
            <a:noFill/>
          </a:ln>
        </p:spPr>
      </p:pic>
      <p:sp>
        <p:nvSpPr>
          <p:cNvPr id="164" name="Text 42"/>
          <p:cNvSpPr/>
          <p:nvPr/>
        </p:nvSpPr>
        <p:spPr>
          <a:xfrm>
            <a:off x="1298520" y="5577840"/>
            <a:ext cx="2669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fffff"/>
                </a:solidFill>
                <a:latin typeface="Cambria"/>
                <a:ea typeface="Cambria"/>
              </a:rPr>
              <a:t>Commercial Use</a:t>
            </a:r>
            <a:endParaRPr b="0" lang="en-US" sz="1200" spc="-1" strike="noStrike">
              <a:solidFill>
                <a:srgbClr val="ffffff"/>
              </a:solidFill>
              <a:latin typeface="Arial"/>
            </a:endParaRPr>
          </a:p>
        </p:txBody>
      </p:sp>
      <p:sp>
        <p:nvSpPr>
          <p:cNvPr id="165" name="Text 43"/>
          <p:cNvSpPr/>
          <p:nvPr/>
        </p:nvSpPr>
        <p:spPr>
          <a:xfrm>
            <a:off x="1298520" y="5833800"/>
            <a:ext cx="2669760" cy="402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00" spc="-1" strike="noStrike">
                <a:solidFill>
                  <a:srgbClr val="c7cdeb"/>
                </a:solidFill>
                <a:latin typeface="Calibri"/>
                <a:ea typeface="Calibri"/>
              </a:rPr>
              <a:t>Using software to generate revenue</a:t>
            </a:r>
            <a:endParaRPr b="0" lang="en-US" sz="1100" spc="-1" strike="noStrike">
              <a:solidFill>
                <a:srgbClr val="ffffff"/>
              </a:solidFill>
              <a:latin typeface="Arial"/>
            </a:endParaRPr>
          </a:p>
        </p:txBody>
      </p:sp>
      <p:sp>
        <p:nvSpPr>
          <p:cNvPr id="166" name="Shape 44"/>
          <p:cNvSpPr/>
          <p:nvPr/>
        </p:nvSpPr>
        <p:spPr>
          <a:xfrm>
            <a:off x="4251960" y="5504760"/>
            <a:ext cx="3565800" cy="776880"/>
          </a:xfrm>
          <a:prstGeom prst="roundRect">
            <a:avLst>
              <a:gd name="adj" fmla="val 10588"/>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7" name="Shape 45"/>
          <p:cNvSpPr/>
          <p:nvPr/>
        </p:nvSpPr>
        <p:spPr>
          <a:xfrm>
            <a:off x="4398120" y="5655600"/>
            <a:ext cx="475200" cy="4752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68" name="Image 7" descr="/home/claude/work/icons/bulb_0F1035.png"/>
          <p:cNvPicPr/>
          <p:nvPr/>
        </p:nvPicPr>
        <p:blipFill>
          <a:blip r:embed="rId8"/>
          <a:stretch/>
        </p:blipFill>
        <p:spPr>
          <a:xfrm>
            <a:off x="4505400" y="5762520"/>
            <a:ext cx="261000" cy="261000"/>
          </a:xfrm>
          <a:prstGeom prst="rect">
            <a:avLst/>
          </a:prstGeom>
          <a:ln w="0">
            <a:noFill/>
          </a:ln>
        </p:spPr>
      </p:pic>
      <p:sp>
        <p:nvSpPr>
          <p:cNvPr id="169" name="Text 46"/>
          <p:cNvSpPr/>
          <p:nvPr/>
        </p:nvSpPr>
        <p:spPr>
          <a:xfrm>
            <a:off x="5001840" y="5577840"/>
            <a:ext cx="2669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fffff"/>
                </a:solidFill>
                <a:latin typeface="Cambria"/>
                <a:ea typeface="Cambria"/>
              </a:rPr>
              <a:t>Patent</a:t>
            </a:r>
            <a:endParaRPr b="0" lang="en-US" sz="1200" spc="-1" strike="noStrike">
              <a:solidFill>
                <a:srgbClr val="ffffff"/>
              </a:solidFill>
              <a:latin typeface="Arial"/>
            </a:endParaRPr>
          </a:p>
        </p:txBody>
      </p:sp>
      <p:sp>
        <p:nvSpPr>
          <p:cNvPr id="170" name="Text 47"/>
          <p:cNvSpPr/>
          <p:nvPr/>
        </p:nvSpPr>
        <p:spPr>
          <a:xfrm>
            <a:off x="5001840" y="5833800"/>
            <a:ext cx="2669760" cy="402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00" spc="-1" strike="noStrike">
                <a:solidFill>
                  <a:srgbClr val="c7cdeb"/>
                </a:solidFill>
                <a:latin typeface="Calibri"/>
                <a:ea typeface="Calibri"/>
              </a:rPr>
              <a:t>Protects an invention or technical method</a:t>
            </a:r>
            <a:endParaRPr b="0" lang="en-US" sz="1100" spc="-1" strike="noStrike">
              <a:solidFill>
                <a:srgbClr val="ffffff"/>
              </a:solidFill>
              <a:latin typeface="Arial"/>
            </a:endParaRPr>
          </a:p>
        </p:txBody>
      </p:sp>
      <p:sp>
        <p:nvSpPr>
          <p:cNvPr id="171" name="Shape 48"/>
          <p:cNvSpPr/>
          <p:nvPr/>
        </p:nvSpPr>
        <p:spPr>
          <a:xfrm>
            <a:off x="7955280" y="5504760"/>
            <a:ext cx="3565800" cy="776880"/>
          </a:xfrm>
          <a:prstGeom prst="roundRect">
            <a:avLst>
              <a:gd name="adj" fmla="val 10588"/>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2" name="Shape 49"/>
          <p:cNvSpPr/>
          <p:nvPr/>
        </p:nvSpPr>
        <p:spPr>
          <a:xfrm>
            <a:off x="8101440" y="5655600"/>
            <a:ext cx="475200" cy="4752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73" name="Image 8" descr="/home/claude/work/icons/usercheck_0F1035.png"/>
          <p:cNvPicPr/>
          <p:nvPr/>
        </p:nvPicPr>
        <p:blipFill>
          <a:blip r:embed="rId9"/>
          <a:stretch/>
        </p:blipFill>
        <p:spPr>
          <a:xfrm>
            <a:off x="8208720" y="5762520"/>
            <a:ext cx="261000" cy="261000"/>
          </a:xfrm>
          <a:prstGeom prst="rect">
            <a:avLst/>
          </a:prstGeom>
          <a:ln w="0">
            <a:noFill/>
          </a:ln>
        </p:spPr>
      </p:pic>
      <p:sp>
        <p:nvSpPr>
          <p:cNvPr id="174" name="Text 50"/>
          <p:cNvSpPr/>
          <p:nvPr/>
        </p:nvSpPr>
        <p:spPr>
          <a:xfrm>
            <a:off x="8705160" y="5577840"/>
            <a:ext cx="2669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ffffff"/>
                </a:solidFill>
                <a:latin typeface="Cambria"/>
                <a:ea typeface="Cambria"/>
              </a:rPr>
              <a:t>Attribution</a:t>
            </a:r>
            <a:endParaRPr b="0" lang="en-US" sz="1150" spc="-1" strike="noStrike">
              <a:solidFill>
                <a:srgbClr val="ffffff"/>
              </a:solidFill>
              <a:latin typeface="Arial"/>
            </a:endParaRPr>
          </a:p>
        </p:txBody>
      </p:sp>
      <p:sp>
        <p:nvSpPr>
          <p:cNvPr id="175" name="Text 51"/>
          <p:cNvSpPr/>
          <p:nvPr/>
        </p:nvSpPr>
        <p:spPr>
          <a:xfrm>
            <a:off x="8705160" y="5833800"/>
            <a:ext cx="2669760" cy="402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00" spc="-1" strike="noStrike">
                <a:solidFill>
                  <a:srgbClr val="c7cdeb"/>
                </a:solidFill>
                <a:latin typeface="Calibri"/>
                <a:ea typeface="Calibri"/>
              </a:rPr>
              <a:t>Giving proper credit to the original author</a:t>
            </a:r>
            <a:endParaRPr b="0" lang="en-US" sz="1100" spc="-1" strike="noStrike">
              <a:solidFill>
                <a:srgbClr val="ffffff"/>
              </a:solidFill>
              <a:latin typeface="Arial"/>
            </a:endParaRPr>
          </a:p>
        </p:txBody>
      </p:sp>
      <p:sp>
        <p:nvSpPr>
          <p:cNvPr id="176" name="Text 52"/>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Software Licensing Fundamentals</a:t>
            </a:r>
            <a:endParaRPr b="0" lang="en-US" sz="900" spc="-1" strike="noStrike">
              <a:solidFill>
                <a:srgbClr val="ffffff"/>
              </a:solidFill>
              <a:latin typeface="Arial"/>
            </a:endParaRPr>
          </a:p>
        </p:txBody>
      </p:sp>
      <p:sp>
        <p:nvSpPr>
          <p:cNvPr id="177" name="Text 53"/>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3</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178"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2 · LICENSE PHILOSOPHIES</a:t>
            </a:r>
            <a:endParaRPr b="0" lang="en-US" sz="1150" spc="-1" strike="noStrike">
              <a:solidFill>
                <a:srgbClr val="ffffff"/>
              </a:solidFill>
              <a:latin typeface="Arial"/>
            </a:endParaRPr>
          </a:p>
        </p:txBody>
      </p:sp>
      <p:sp>
        <p:nvSpPr>
          <p:cNvPr id="179"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Permissive vs. Copyleft</a:t>
            </a:r>
            <a:endParaRPr b="0" lang="en-US" sz="2700" spc="-1" strike="noStrike">
              <a:solidFill>
                <a:srgbClr val="ffffff"/>
              </a:solidFill>
              <a:latin typeface="Arial"/>
            </a:endParaRPr>
          </a:p>
        </p:txBody>
      </p:sp>
      <p:sp>
        <p:nvSpPr>
          <p:cNvPr id="180"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Two philosophies for open-source licensing</a:t>
            </a:r>
            <a:endParaRPr b="0" lang="en-US" sz="1250" spc="-1" strike="noStrike">
              <a:solidFill>
                <a:srgbClr val="ffffff"/>
              </a:solidFill>
              <a:latin typeface="Arial"/>
            </a:endParaRPr>
          </a:p>
        </p:txBody>
      </p:sp>
      <p:sp>
        <p:nvSpPr>
          <p:cNvPr id="181" name="Shape 3"/>
          <p:cNvSpPr/>
          <p:nvPr/>
        </p:nvSpPr>
        <p:spPr>
          <a:xfrm>
            <a:off x="548640" y="1554480"/>
            <a:ext cx="11063880" cy="868320"/>
          </a:xfrm>
          <a:prstGeom prst="roundRect">
            <a:avLst>
              <a:gd name="adj" fmla="val 9474"/>
            </a:avLst>
          </a:prstGeom>
          <a:solidFill>
            <a:srgbClr val="252a6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Text 4"/>
          <p:cNvSpPr/>
          <p:nvPr/>
        </p:nvSpPr>
        <p:spPr>
          <a:xfrm>
            <a:off x="822960" y="1554480"/>
            <a:ext cx="329148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mbria"/>
                <a:ea typeface="Cambria"/>
              </a:rPr>
              <a:t>Author Releases Open-Source Code</a:t>
            </a:r>
            <a:endParaRPr b="0" lang="en-US" sz="1350" spc="-1" strike="noStrike">
              <a:solidFill>
                <a:srgbClr val="ffffff"/>
              </a:solidFill>
              <a:latin typeface="Arial"/>
            </a:endParaRPr>
          </a:p>
        </p:txBody>
      </p:sp>
      <p:pic>
        <p:nvPicPr>
          <p:cNvPr id="183" name="Image 0" descr="/home/claude/work/icons/arrow_F5A623.png"/>
          <p:cNvPicPr/>
          <p:nvPr/>
        </p:nvPicPr>
        <p:blipFill>
          <a:blip r:embed="rId1"/>
          <a:stretch/>
        </p:blipFill>
        <p:spPr>
          <a:xfrm>
            <a:off x="3886200" y="1828800"/>
            <a:ext cx="328680" cy="328680"/>
          </a:xfrm>
          <a:prstGeom prst="rect">
            <a:avLst/>
          </a:prstGeom>
          <a:ln w="0">
            <a:noFill/>
          </a:ln>
        </p:spPr>
      </p:pic>
      <p:sp>
        <p:nvSpPr>
          <p:cNvPr id="184" name="Shape 5"/>
          <p:cNvSpPr/>
          <p:nvPr/>
        </p:nvSpPr>
        <p:spPr>
          <a:xfrm>
            <a:off x="4480920" y="1701000"/>
            <a:ext cx="2834280" cy="585000"/>
          </a:xfrm>
          <a:prstGeom prst="roundRect">
            <a:avLst>
              <a:gd name="adj" fmla="val 50000"/>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5" name="Text 6"/>
          <p:cNvSpPr/>
          <p:nvPr/>
        </p:nvSpPr>
        <p:spPr>
          <a:xfrm>
            <a:off x="4480920" y="1691640"/>
            <a:ext cx="2834280" cy="585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0f1035"/>
                </a:solidFill>
                <a:latin typeface="Calibri"/>
                <a:ea typeface="Calibri"/>
              </a:rPr>
              <a:t>Permissive -&gt; Max Adoption</a:t>
            </a:r>
            <a:endParaRPr b="0" lang="en-US" sz="1200" spc="-1" strike="noStrike">
              <a:solidFill>
                <a:srgbClr val="ffffff"/>
              </a:solidFill>
              <a:latin typeface="Arial"/>
            </a:endParaRPr>
          </a:p>
        </p:txBody>
      </p:sp>
      <p:pic>
        <p:nvPicPr>
          <p:cNvPr id="186" name="Image 1" descr="/home/claude/work/icons/arrow_F5A623.png"/>
          <p:cNvPicPr/>
          <p:nvPr/>
        </p:nvPicPr>
        <p:blipFill>
          <a:blip r:embed="rId2"/>
          <a:stretch/>
        </p:blipFill>
        <p:spPr>
          <a:xfrm>
            <a:off x="7543800" y="1828800"/>
            <a:ext cx="328680" cy="328680"/>
          </a:xfrm>
          <a:prstGeom prst="rect">
            <a:avLst/>
          </a:prstGeom>
          <a:ln w="0">
            <a:noFill/>
          </a:ln>
        </p:spPr>
      </p:pic>
      <p:sp>
        <p:nvSpPr>
          <p:cNvPr id="187" name="Shape 7"/>
          <p:cNvSpPr/>
          <p:nvPr/>
        </p:nvSpPr>
        <p:spPr>
          <a:xfrm>
            <a:off x="8092800" y="1691640"/>
            <a:ext cx="2880000" cy="58500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Text 8"/>
          <p:cNvSpPr/>
          <p:nvPr/>
        </p:nvSpPr>
        <p:spPr>
          <a:xfrm>
            <a:off x="8092800" y="1691640"/>
            <a:ext cx="2880000" cy="585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Calibri"/>
                <a:ea typeface="Calibri"/>
              </a:rPr>
              <a:t>Copyleft -&gt; Preserve Freedom</a:t>
            </a:r>
            <a:endParaRPr b="0" lang="en-US" sz="1200" spc="-1" strike="noStrike">
              <a:solidFill>
                <a:srgbClr val="ffffff"/>
              </a:solidFill>
              <a:latin typeface="Arial"/>
            </a:endParaRPr>
          </a:p>
        </p:txBody>
      </p:sp>
      <p:graphicFrame>
        <p:nvGraphicFramePr>
          <p:cNvPr id="189" name="Table 0"/>
          <p:cNvGraphicFramePr/>
          <p:nvPr/>
        </p:nvGraphicFramePr>
        <p:xfrm>
          <a:off x="548640" y="2615040"/>
          <a:ext cx="11063880" cy="3245760"/>
        </p:xfrm>
        <a:graphic>
          <a:graphicData uri="http://schemas.openxmlformats.org/drawingml/2006/table">
            <a:tbl>
              <a:tblPr/>
              <a:tblGrid>
                <a:gridCol w="2286000"/>
                <a:gridCol w="4389120"/>
                <a:gridCol w="4389120"/>
              </a:tblGrid>
              <a:tr h="411480">
                <a:tc>
                  <a:txBody>
                    <a:bodyPr anchor="ctr">
                      <a:noAutofit/>
                    </a:bodyPr>
                    <a:p>
                      <a:endParaRPr b="0" lang="en-US" sz="1300" spc="-1" strike="noStrike">
                        <a:solidFill>
                          <a:schemeClr val="dk1"/>
                        </a:solidFill>
                        <a:latin typeface="Calibri"/>
                        <a:ea typeface="Calibri"/>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3a3f7a"/>
                    </a:solidFill>
                  </a:tcPr>
                </a:tc>
                <a:tc>
                  <a:txBody>
                    <a:bodyPr anchor="ctr">
                      <a:noAutofit/>
                    </a:bodyPr>
                    <a:p>
                      <a:pPr algn="ctr" defTabSz="914400">
                        <a:lnSpc>
                          <a:spcPct val="100000"/>
                        </a:lnSpc>
                        <a:tabLst>
                          <a:tab algn="l" pos="0"/>
                        </a:tabLst>
                      </a:pPr>
                      <a:r>
                        <a:rPr b="1" lang="en-US" sz="1500" spc="-1" strike="noStrike">
                          <a:solidFill>
                            <a:srgbClr val="ffffff"/>
                          </a:solidFill>
                          <a:latin typeface="Calibri"/>
                          <a:ea typeface="Calibri"/>
                        </a:rPr>
                        <a:t>Permissive</a:t>
                      </a:r>
                      <a:endParaRPr b="0" lang="en-US" sz="15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3a3f7a"/>
                    </a:solidFill>
                  </a:tcPr>
                </a:tc>
                <a:tc>
                  <a:txBody>
                    <a:bodyPr anchor="ctr">
                      <a:noAutofit/>
                    </a:bodyPr>
                    <a:p>
                      <a:pPr algn="ctr" defTabSz="914400">
                        <a:lnSpc>
                          <a:spcPct val="100000"/>
                        </a:lnSpc>
                        <a:tabLst>
                          <a:tab algn="l" pos="0"/>
                        </a:tabLst>
                      </a:pPr>
                      <a:r>
                        <a:rPr b="1" lang="en-US" sz="1500" spc="-1" strike="noStrike">
                          <a:solidFill>
                            <a:srgbClr val="ffffff"/>
                          </a:solidFill>
                          <a:latin typeface="Calibri"/>
                          <a:ea typeface="Calibri"/>
                        </a:rPr>
                        <a:t>Copyleft</a:t>
                      </a:r>
                      <a:endParaRPr b="0" lang="en-US" sz="15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3a3f7a"/>
                    </a:solidFill>
                  </a:tcPr>
                </a:tc>
              </a:tr>
              <a:tr h="713160">
                <a:tc>
                  <a:txBody>
                    <a:bodyPr anchor="ctr">
                      <a:noAutofit/>
                    </a:bodyPr>
                    <a:p>
                      <a:pPr algn="ctr" defTabSz="914400">
                        <a:lnSpc>
                          <a:spcPct val="100000"/>
                        </a:lnSpc>
                        <a:tabLst>
                          <a:tab algn="l" pos="0"/>
                        </a:tabLst>
                      </a:pPr>
                      <a:r>
                        <a:rPr b="1" lang="en-US" sz="1300" spc="-1" strike="noStrike">
                          <a:solidFill>
                            <a:srgbClr val="f5a623"/>
                          </a:solidFill>
                          <a:latin typeface="Calibri"/>
                          <a:ea typeface="Calibri"/>
                        </a:rPr>
                        <a:t>Philosophy</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0f1035"/>
                    </a:solidFill>
                  </a:tcPr>
                </a:tc>
                <a:tc>
                  <a:txBody>
                    <a:bodyPr anchor="ctr">
                      <a:noAutofit/>
                    </a:bodyPr>
                    <a:p>
                      <a:pPr algn="ctr" defTabSz="914400">
                        <a:lnSpc>
                          <a:spcPct val="100000"/>
                        </a:lnSpc>
                        <a:tabLst>
                          <a:tab algn="l" pos="0"/>
                        </a:tabLst>
                      </a:pPr>
                      <a:r>
                        <a:rPr b="0" lang="en-US" sz="1300" spc="-1" strike="noStrike">
                          <a:solidFill>
                            <a:srgbClr val="c7cdeb"/>
                          </a:solidFill>
                          <a:latin typeface="Calibri"/>
                          <a:ea typeface="Calibri"/>
                        </a:rPr>
                        <a:t>Maximum adoption, minimal restriction</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0f1035"/>
                    </a:solidFill>
                  </a:tcPr>
                </a:tc>
                <a:tc>
                  <a:txBody>
                    <a:bodyPr anchor="ctr">
                      <a:noAutofit/>
                    </a:bodyPr>
                    <a:p>
                      <a:pPr algn="ctr" defTabSz="914400">
                        <a:lnSpc>
                          <a:spcPct val="100000"/>
                        </a:lnSpc>
                        <a:tabLst>
                          <a:tab algn="l" pos="0"/>
                        </a:tabLst>
                      </a:pPr>
                      <a:r>
                        <a:rPr b="0" lang="en-US" sz="1300" spc="-1" strike="noStrike">
                          <a:solidFill>
                            <a:srgbClr val="c7cdeb"/>
                          </a:solidFill>
                          <a:latin typeface="Calibri"/>
                          <a:ea typeface="Calibri"/>
                        </a:rPr>
                        <a:t>Preserve software freedoms for future users</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0f1035"/>
                    </a:solidFill>
                  </a:tcPr>
                </a:tc>
              </a:tr>
              <a:tr h="713160">
                <a:tc>
                  <a:txBody>
                    <a:bodyPr anchor="ctr">
                      <a:noAutofit/>
                    </a:bodyPr>
                    <a:p>
                      <a:pPr algn="ctr" defTabSz="914400">
                        <a:lnSpc>
                          <a:spcPct val="100000"/>
                        </a:lnSpc>
                        <a:tabLst>
                          <a:tab algn="l" pos="0"/>
                        </a:tabLst>
                      </a:pPr>
                      <a:r>
                        <a:rPr b="1" lang="en-US" sz="1300" spc="-1" strike="noStrike">
                          <a:solidFill>
                            <a:srgbClr val="f5a623"/>
                          </a:solidFill>
                          <a:latin typeface="Calibri"/>
                          <a:ea typeface="Calibri"/>
                        </a:rPr>
                        <a:t>Permissions</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1a1e4f"/>
                    </a:solidFill>
                  </a:tcPr>
                </a:tc>
                <a:tc>
                  <a:txBody>
                    <a:bodyPr anchor="ctr">
                      <a:noAutofit/>
                    </a:bodyPr>
                    <a:p>
                      <a:pPr algn="ctr" defTabSz="914400">
                        <a:lnSpc>
                          <a:spcPct val="100000"/>
                        </a:lnSpc>
                        <a:tabLst>
                          <a:tab algn="l" pos="0"/>
                        </a:tabLst>
                      </a:pPr>
                      <a:r>
                        <a:rPr b="0" lang="en-US" sz="1300" spc="-1" strike="noStrike">
                          <a:solidFill>
                            <a:srgbClr val="c7cdeb"/>
                          </a:solidFill>
                          <a:latin typeface="Calibri"/>
                          <a:ea typeface="Calibri"/>
                        </a:rPr>
                        <a:t>Use, modify, redistribute freely</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1a1e4f"/>
                    </a:solidFill>
                  </a:tcPr>
                </a:tc>
                <a:tc>
                  <a:txBody>
                    <a:bodyPr anchor="ctr">
                      <a:noAutofit/>
                    </a:bodyPr>
                    <a:p>
                      <a:pPr algn="ctr" defTabSz="914400">
                        <a:lnSpc>
                          <a:spcPct val="100000"/>
                        </a:lnSpc>
                        <a:tabLst>
                          <a:tab algn="l" pos="0"/>
                        </a:tabLst>
                      </a:pPr>
                      <a:r>
                        <a:rPr b="0" lang="en-US" sz="1300" spc="-1" strike="noStrike">
                          <a:solidFill>
                            <a:srgbClr val="c7cdeb"/>
                          </a:solidFill>
                          <a:latin typeface="Calibri"/>
                          <a:ea typeface="Calibri"/>
                        </a:rPr>
                        <a:t>Same core permissions granted</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1a1e4f"/>
                    </a:solidFill>
                  </a:tcPr>
                </a:tc>
              </a:tr>
              <a:tr h="703800">
                <a:tc>
                  <a:txBody>
                    <a:bodyPr anchor="ctr">
                      <a:noAutofit/>
                    </a:bodyPr>
                    <a:p>
                      <a:pPr algn="ctr" defTabSz="914400">
                        <a:lnSpc>
                          <a:spcPct val="100000"/>
                        </a:lnSpc>
                        <a:tabLst>
                          <a:tab algn="l" pos="0"/>
                        </a:tabLst>
                      </a:pPr>
                      <a:r>
                        <a:rPr b="1" lang="en-US" sz="1300" spc="-1" strike="noStrike">
                          <a:solidFill>
                            <a:srgbClr val="f5a623"/>
                          </a:solidFill>
                          <a:latin typeface="Calibri"/>
                          <a:ea typeface="Calibri"/>
                        </a:rPr>
                        <a:t>Obligations</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0f1035"/>
                    </a:solidFill>
                  </a:tcPr>
                </a:tc>
                <a:tc>
                  <a:txBody>
                    <a:bodyPr anchor="ctr">
                      <a:noAutofit/>
                    </a:bodyPr>
                    <a:p>
                      <a:pPr algn="ctr" defTabSz="914400">
                        <a:lnSpc>
                          <a:spcPct val="100000"/>
                        </a:lnSpc>
                        <a:tabLst>
                          <a:tab algn="l" pos="0"/>
                        </a:tabLst>
                      </a:pPr>
                      <a:r>
                        <a:rPr b="0" lang="en-US" sz="1300" spc="-1" strike="noStrike">
                          <a:solidFill>
                            <a:srgbClr val="c7cdeb"/>
                          </a:solidFill>
                          <a:latin typeface="Calibri"/>
                          <a:ea typeface="Calibri"/>
                        </a:rPr>
                        <a:t>Preserve copyright &amp; license notice</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0f1035"/>
                    </a:solidFill>
                  </a:tcPr>
                </a:tc>
                <a:tc>
                  <a:txBody>
                    <a:bodyPr anchor="ctr">
                      <a:noAutofit/>
                    </a:bodyPr>
                    <a:p>
                      <a:pPr algn="ctr" defTabSz="914400">
                        <a:lnSpc>
                          <a:spcPct val="100000"/>
                        </a:lnSpc>
                        <a:tabLst>
                          <a:tab algn="l" pos="0"/>
                        </a:tabLst>
                      </a:pPr>
                      <a:r>
                        <a:rPr b="0" lang="en-US" sz="1300" spc="-1" strike="noStrike">
                          <a:solidFill>
                            <a:srgbClr val="c7cdeb"/>
                          </a:solidFill>
                          <a:latin typeface="Calibri"/>
                          <a:ea typeface="Calibri"/>
                        </a:rPr>
                        <a:t>Share modifications when redistribution occurs</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0f1035"/>
                    </a:solidFill>
                  </a:tcPr>
                </a:tc>
              </a:tr>
              <a:tr h="703800">
                <a:tc>
                  <a:txBody>
                    <a:bodyPr anchor="ctr">
                      <a:noAutofit/>
                    </a:bodyPr>
                    <a:p>
                      <a:pPr algn="ctr" defTabSz="914400">
                        <a:lnSpc>
                          <a:spcPct val="100000"/>
                        </a:lnSpc>
                        <a:tabLst>
                          <a:tab algn="l" pos="0"/>
                        </a:tabLst>
                      </a:pPr>
                      <a:r>
                        <a:rPr b="1" lang="en-US" sz="1300" spc="-1" strike="noStrike">
                          <a:solidFill>
                            <a:srgbClr val="f5a623"/>
                          </a:solidFill>
                          <a:latin typeface="Calibri"/>
                          <a:ea typeface="Calibri"/>
                        </a:rPr>
                        <a:t>Commercial Use</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1a1e4f"/>
                    </a:solidFill>
                  </a:tcPr>
                </a:tc>
                <a:tc>
                  <a:txBody>
                    <a:bodyPr anchor="ctr">
                      <a:noAutofit/>
                    </a:bodyPr>
                    <a:p>
                      <a:pPr algn="ctr" defTabSz="914400">
                        <a:lnSpc>
                          <a:spcPct val="100000"/>
                        </a:lnSpc>
                        <a:tabLst>
                          <a:tab algn="l" pos="0"/>
                        </a:tabLst>
                      </a:pPr>
                      <a:r>
                        <a:rPr b="0" lang="en-US" sz="1300" spc="-1" strike="noStrike">
                          <a:solidFill>
                            <a:srgbClr val="c7cdeb"/>
                          </a:solidFill>
                          <a:latin typeface="Calibri"/>
                          <a:ea typeface="Calibri"/>
                        </a:rPr>
                        <a:t>Freely allowed, incl. proprietary apps</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1a1e4f"/>
                    </a:solidFill>
                  </a:tcPr>
                </a:tc>
                <a:tc>
                  <a:txBody>
                    <a:bodyPr anchor="ctr">
                      <a:noAutofit/>
                    </a:bodyPr>
                    <a:p>
                      <a:pPr algn="ctr" defTabSz="914400">
                        <a:lnSpc>
                          <a:spcPct val="100000"/>
                        </a:lnSpc>
                        <a:tabLst>
                          <a:tab algn="l" pos="0"/>
                        </a:tabLst>
                      </a:pPr>
                      <a:r>
                        <a:rPr b="0" lang="en-US" sz="1300" spc="-1" strike="noStrike">
                          <a:solidFill>
                            <a:srgbClr val="c7cdeb"/>
                          </a:solidFill>
                          <a:latin typeface="Calibri"/>
                          <a:ea typeface="Calibri"/>
                        </a:rPr>
                        <a:t>Allowed, but distribution triggers sharing rules</a:t>
                      </a:r>
                      <a:endParaRPr b="0" lang="en-US" sz="1300" spc="-1" strike="noStrike">
                        <a:solidFill>
                          <a:srgbClr val="ffffff"/>
                        </a:solidFill>
                        <a:latin typeface="Arial"/>
                      </a:endParaRPr>
                    </a:p>
                  </a:txBody>
                  <a:tcPr anchor="ctr" marL="91440" marR="91440">
                    <a:lnL w="18720">
                      <a:solidFill>
                        <a:srgbClr val="0f1035"/>
                      </a:solidFill>
                      <a:prstDash val="solid"/>
                    </a:lnL>
                    <a:lnR w="18720">
                      <a:solidFill>
                        <a:srgbClr val="0f1035"/>
                      </a:solidFill>
                      <a:prstDash val="solid"/>
                    </a:lnR>
                    <a:lnT w="18720">
                      <a:solidFill>
                        <a:srgbClr val="0f1035"/>
                      </a:solidFill>
                      <a:prstDash val="solid"/>
                    </a:lnT>
                    <a:lnB w="18720">
                      <a:solidFill>
                        <a:srgbClr val="0f1035"/>
                      </a:solidFill>
                      <a:prstDash val="solid"/>
                    </a:lnB>
                    <a:solidFill>
                      <a:srgbClr val="1a1e4f"/>
                    </a:solidFill>
                  </a:tcPr>
                </a:tc>
              </a:tr>
            </a:tbl>
          </a:graphicData>
        </a:graphic>
      </p:graphicFrame>
      <p:sp>
        <p:nvSpPr>
          <p:cNvPr id="190" name="Shape 9"/>
          <p:cNvSpPr/>
          <p:nvPr/>
        </p:nvSpPr>
        <p:spPr>
          <a:xfrm>
            <a:off x="548640" y="5943600"/>
            <a:ext cx="11063880" cy="456840"/>
          </a:xfrm>
          <a:prstGeom prst="roundRect">
            <a:avLst>
              <a:gd name="adj" fmla="val 18000"/>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Text 10"/>
          <p:cNvSpPr/>
          <p:nvPr/>
        </p:nvSpPr>
        <p:spPr>
          <a:xfrm>
            <a:off x="822960" y="5943600"/>
            <a:ext cx="105152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200" spc="-1" strike="noStrike">
                <a:solidFill>
                  <a:srgbClr val="f5a623"/>
                </a:solidFill>
                <a:latin typeface="Calibri"/>
                <a:ea typeface="Calibri"/>
              </a:rPr>
              <a:t>Key insight:  </a:t>
            </a:r>
            <a:r>
              <a:rPr b="0" i="1" lang="en-US" sz="1200" spc="-1" strike="noStrike">
                <a:solidFill>
                  <a:srgbClr val="c7cdeb"/>
                </a:solidFill>
                <a:latin typeface="Calibri"/>
                <a:ea typeface="Calibri"/>
              </a:rPr>
              <a:t>Neither philosophy is “better” — the right choice depends on whether your priority is adoption or shared freedom.</a:t>
            </a:r>
            <a:endParaRPr b="0" lang="en-US" sz="1200" spc="-1" strike="noStrike">
              <a:solidFill>
                <a:srgbClr val="ffffff"/>
              </a:solidFill>
              <a:latin typeface="Arial"/>
            </a:endParaRPr>
          </a:p>
        </p:txBody>
      </p:sp>
      <p:sp>
        <p:nvSpPr>
          <p:cNvPr id="192" name="Text 11"/>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License Philosophies</a:t>
            </a:r>
            <a:endParaRPr b="0" lang="en-US" sz="900" spc="-1" strike="noStrike">
              <a:solidFill>
                <a:srgbClr val="ffffff"/>
              </a:solidFill>
              <a:latin typeface="Arial"/>
            </a:endParaRPr>
          </a:p>
        </p:txBody>
      </p:sp>
      <p:sp>
        <p:nvSpPr>
          <p:cNvPr id="193" name="Text 12"/>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194"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3 · PERMISSIVE LICENSES</a:t>
            </a:r>
            <a:endParaRPr b="0" lang="en-US" sz="1150" spc="-1" strike="noStrike">
              <a:solidFill>
                <a:srgbClr val="ffffff"/>
              </a:solidFill>
              <a:latin typeface="Arial"/>
            </a:endParaRPr>
          </a:p>
        </p:txBody>
      </p:sp>
      <p:sp>
        <p:nvSpPr>
          <p:cNvPr id="195"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MIT License</a:t>
            </a:r>
            <a:endParaRPr b="0" lang="en-US" sz="2700" spc="-1" strike="noStrike">
              <a:solidFill>
                <a:srgbClr val="ffffff"/>
              </a:solidFill>
              <a:latin typeface="Arial"/>
            </a:endParaRPr>
          </a:p>
        </p:txBody>
      </p:sp>
      <p:sp>
        <p:nvSpPr>
          <p:cNvPr id="196"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The simplest, most widely used open-source license</a:t>
            </a:r>
            <a:endParaRPr b="0" lang="en-US" sz="1250" spc="-1" strike="noStrike">
              <a:solidFill>
                <a:srgbClr val="ffffff"/>
              </a:solidFill>
              <a:latin typeface="Arial"/>
            </a:endParaRPr>
          </a:p>
        </p:txBody>
      </p:sp>
      <p:sp>
        <p:nvSpPr>
          <p:cNvPr id="197" name="Shape 3"/>
          <p:cNvSpPr/>
          <p:nvPr/>
        </p:nvSpPr>
        <p:spPr>
          <a:xfrm>
            <a:off x="11292840" y="34740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Text 4"/>
          <p:cNvSpPr/>
          <p:nvPr/>
        </p:nvSpPr>
        <p:spPr>
          <a:xfrm>
            <a:off x="11292840" y="34740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1/3</a:t>
            </a:r>
            <a:endParaRPr b="0" lang="en-US" sz="1100" spc="-1" strike="noStrike">
              <a:solidFill>
                <a:srgbClr val="ffffff"/>
              </a:solidFill>
              <a:latin typeface="Arial"/>
            </a:endParaRPr>
          </a:p>
        </p:txBody>
      </p:sp>
      <p:sp>
        <p:nvSpPr>
          <p:cNvPr id="199" name="Shape 5"/>
          <p:cNvSpPr/>
          <p:nvPr/>
        </p:nvSpPr>
        <p:spPr>
          <a:xfrm>
            <a:off x="548640" y="1536120"/>
            <a:ext cx="5943240" cy="4590000"/>
          </a:xfrm>
          <a:prstGeom prst="roundRect">
            <a:avLst>
              <a:gd name="adj" fmla="val 1793"/>
            </a:avLst>
          </a:prstGeom>
          <a:solidFill>
            <a:srgbClr val="1a1e4f"/>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Shape 6"/>
          <p:cNvSpPr/>
          <p:nvPr/>
        </p:nvSpPr>
        <p:spPr>
          <a:xfrm>
            <a:off x="868680" y="1828800"/>
            <a:ext cx="594000" cy="5940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01" name="Image 0" descr="/home/claude/work/icons/check_0F1035.png"/>
          <p:cNvPicPr/>
          <p:nvPr/>
        </p:nvPicPr>
        <p:blipFill>
          <a:blip r:embed="rId1"/>
          <a:stretch/>
        </p:blipFill>
        <p:spPr>
          <a:xfrm>
            <a:off x="1002240" y="1962360"/>
            <a:ext cx="326520" cy="326520"/>
          </a:xfrm>
          <a:prstGeom prst="rect">
            <a:avLst/>
          </a:prstGeom>
          <a:ln w="0">
            <a:noFill/>
          </a:ln>
        </p:spPr>
      </p:pic>
      <p:sp>
        <p:nvSpPr>
          <p:cNvPr id="202" name="Text 7"/>
          <p:cNvSpPr/>
          <p:nvPr/>
        </p:nvSpPr>
        <p:spPr>
          <a:xfrm>
            <a:off x="1600200" y="1828800"/>
            <a:ext cx="466308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fffff"/>
                </a:solidFill>
                <a:latin typeface="Cambria"/>
                <a:ea typeface="Cambria"/>
              </a:rPr>
              <a:t>MIT License</a:t>
            </a:r>
            <a:endParaRPr b="0" lang="en-US" sz="1700" spc="-1" strike="noStrike">
              <a:solidFill>
                <a:srgbClr val="ffffff"/>
              </a:solidFill>
              <a:latin typeface="Arial"/>
            </a:endParaRPr>
          </a:p>
        </p:txBody>
      </p:sp>
      <p:sp>
        <p:nvSpPr>
          <p:cNvPr id="203" name="Text 8"/>
          <p:cNvSpPr/>
          <p:nvPr/>
        </p:nvSpPr>
        <p:spPr>
          <a:xfrm>
            <a:off x="868680" y="2468880"/>
            <a:ext cx="5303160" cy="776880"/>
          </a:xfrm>
          <a:prstGeom prst="rect">
            <a:avLst/>
          </a:prstGeom>
          <a:noFill/>
          <a:ln w="0">
            <a:noFill/>
          </a:ln>
        </p:spPr>
        <p:style>
          <a:lnRef idx="0"/>
          <a:fillRef idx="0"/>
          <a:effectRef idx="0"/>
          <a:fontRef idx="minor"/>
        </p:style>
        <p:txBody>
          <a:bodyPr lIns="0" rIns="0" tIns="0" bIns="0" anchor="ctr">
            <a:noAutofit/>
          </a:bodyPr>
          <a:p>
            <a:pPr defTabSz="914400">
              <a:lnSpc>
                <a:spcPct val="115000"/>
              </a:lnSpc>
              <a:spcBef>
                <a:spcPts val="1191"/>
              </a:spcBef>
              <a:spcAft>
                <a:spcPts val="992"/>
              </a:spcAft>
              <a:tabLst>
                <a:tab algn="l" pos="0"/>
              </a:tabLst>
            </a:pPr>
            <a:r>
              <a:rPr b="0" i="1" lang="en-US" sz="1150" spc="-1" strike="noStrike">
                <a:solidFill>
                  <a:srgbClr val="f5a623"/>
                </a:solidFill>
                <a:latin typeface="Calibri"/>
                <a:ea typeface="Calibri"/>
              </a:rPr>
              <a:t>“</a:t>
            </a:r>
            <a:r>
              <a:rPr b="0" i="1" lang="en-US" sz="1150" spc="-1" strike="noStrike">
                <a:solidFill>
                  <a:srgbClr val="f5a623"/>
                </a:solidFill>
                <a:latin typeface="Calibri"/>
                <a:ea typeface="Calibri"/>
              </a:rPr>
              <a:t>Take my software, do almost anything you want with it - just don't remove my copyright and license.” Software becomes more valuable when as many people as possible are free to use it.</a:t>
            </a:r>
            <a:endParaRPr b="0" lang="en-US" sz="1150" spc="-1" strike="noStrike">
              <a:solidFill>
                <a:srgbClr val="ffffff"/>
              </a:solidFill>
              <a:latin typeface="Arial"/>
            </a:endParaRPr>
          </a:p>
        </p:txBody>
      </p:sp>
      <p:sp>
        <p:nvSpPr>
          <p:cNvPr id="204" name="Shape 9"/>
          <p:cNvSpPr/>
          <p:nvPr/>
        </p:nvSpPr>
        <p:spPr>
          <a:xfrm>
            <a:off x="868680" y="3364920"/>
            <a:ext cx="53035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05" name="Text 10"/>
          <p:cNvSpPr/>
          <p:nvPr/>
        </p:nvSpPr>
        <p:spPr>
          <a:xfrm>
            <a:off x="868680" y="3456360"/>
            <a:ext cx="2742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libri"/>
                <a:ea typeface="Calibri"/>
              </a:rPr>
              <a:t>Key Permissions</a:t>
            </a:r>
            <a:endParaRPr b="0" lang="en-US" sz="1350" spc="-1" strike="noStrike">
              <a:solidFill>
                <a:srgbClr val="ffffff"/>
              </a:solidFill>
              <a:latin typeface="Arial"/>
            </a:endParaRPr>
          </a:p>
        </p:txBody>
      </p:sp>
      <p:sp>
        <p:nvSpPr>
          <p:cNvPr id="206" name="Text 11"/>
          <p:cNvSpPr/>
          <p:nvPr/>
        </p:nvSpPr>
        <p:spPr>
          <a:xfrm>
            <a:off x="868680" y="3776400"/>
            <a:ext cx="5303160" cy="10512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Use, copy &amp; modify freely</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Merge, publish &amp; redistribute</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Sell commercial products</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Include in proprietary applications</a:t>
            </a:r>
            <a:endParaRPr b="0" lang="en-US" sz="1200" spc="-1" strike="noStrike">
              <a:solidFill>
                <a:srgbClr val="ffffff"/>
              </a:solidFill>
              <a:latin typeface="Arial"/>
            </a:endParaRPr>
          </a:p>
        </p:txBody>
      </p:sp>
      <p:sp>
        <p:nvSpPr>
          <p:cNvPr id="207" name="Shape 12"/>
          <p:cNvSpPr/>
          <p:nvPr/>
        </p:nvSpPr>
        <p:spPr>
          <a:xfrm>
            <a:off x="868680" y="4873680"/>
            <a:ext cx="53035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08" name="Text 13"/>
          <p:cNvSpPr/>
          <p:nvPr/>
        </p:nvSpPr>
        <p:spPr>
          <a:xfrm>
            <a:off x="868680" y="4965120"/>
            <a:ext cx="2742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libri"/>
                <a:ea typeface="Calibri"/>
              </a:rPr>
              <a:t>Obligations</a:t>
            </a:r>
            <a:endParaRPr b="0" lang="en-US" sz="1350" spc="-1" strike="noStrike">
              <a:solidFill>
                <a:srgbClr val="ffffff"/>
              </a:solidFill>
              <a:latin typeface="Arial"/>
            </a:endParaRPr>
          </a:p>
        </p:txBody>
      </p:sp>
      <p:sp>
        <p:nvSpPr>
          <p:cNvPr id="209" name="Text 14"/>
          <p:cNvSpPr/>
          <p:nvPr/>
        </p:nvSpPr>
        <p:spPr>
          <a:xfrm>
            <a:off x="868680" y="5257800"/>
            <a:ext cx="5303160" cy="8226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Preserve the original copyright notice</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Include the MIT License text when redistributing</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No source code disclosure required</a:t>
            </a:r>
            <a:endParaRPr b="0" lang="en-US" sz="1200" spc="-1" strike="noStrike">
              <a:solidFill>
                <a:srgbClr val="ffffff"/>
              </a:solidFill>
              <a:latin typeface="Arial"/>
            </a:endParaRPr>
          </a:p>
        </p:txBody>
      </p:sp>
      <p:sp>
        <p:nvSpPr>
          <p:cNvPr id="210" name="Shape 15"/>
          <p:cNvSpPr/>
          <p:nvPr/>
        </p:nvSpPr>
        <p:spPr>
          <a:xfrm>
            <a:off x="6766560" y="1536120"/>
            <a:ext cx="4845960" cy="4590000"/>
          </a:xfrm>
          <a:prstGeom prst="roundRect">
            <a:avLst>
              <a:gd name="adj" fmla="val 1793"/>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1" name="Shape 16"/>
          <p:cNvSpPr/>
          <p:nvPr/>
        </p:nvSpPr>
        <p:spPr>
          <a:xfrm>
            <a:off x="7040880" y="1792080"/>
            <a:ext cx="502560" cy="50256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12" name="Image 1" descr="/home/claude/work/icons/dollar_0F1035.png"/>
          <p:cNvPicPr/>
          <p:nvPr/>
        </p:nvPicPr>
        <p:blipFill>
          <a:blip r:embed="rId2"/>
          <a:stretch/>
        </p:blipFill>
        <p:spPr>
          <a:xfrm>
            <a:off x="7153920" y="1905480"/>
            <a:ext cx="276120" cy="276120"/>
          </a:xfrm>
          <a:prstGeom prst="rect">
            <a:avLst/>
          </a:prstGeom>
          <a:ln w="0">
            <a:noFill/>
          </a:ln>
        </p:spPr>
      </p:pic>
      <p:sp>
        <p:nvSpPr>
          <p:cNvPr id="213" name="Text 17"/>
          <p:cNvSpPr/>
          <p:nvPr/>
        </p:nvSpPr>
        <p:spPr>
          <a:xfrm>
            <a:off x="7680960" y="173736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libri"/>
                <a:ea typeface="Calibri"/>
              </a:rPr>
              <a:t>Commercial Use</a:t>
            </a:r>
            <a:endParaRPr b="0" lang="en-US" sz="1250" spc="-1" strike="noStrike">
              <a:solidFill>
                <a:srgbClr val="ffffff"/>
              </a:solidFill>
              <a:latin typeface="Arial"/>
            </a:endParaRPr>
          </a:p>
        </p:txBody>
      </p:sp>
      <p:sp>
        <p:nvSpPr>
          <p:cNvPr id="214" name="Text 18"/>
          <p:cNvSpPr/>
          <p:nvPr/>
        </p:nvSpPr>
        <p:spPr>
          <a:xfrm>
            <a:off x="7680960" y="2066400"/>
            <a:ext cx="3657240" cy="712800"/>
          </a:xfrm>
          <a:prstGeom prst="rect">
            <a:avLst/>
          </a:prstGeom>
          <a:noFill/>
          <a:ln w="0">
            <a:noFill/>
          </a:ln>
        </p:spPr>
        <p:style>
          <a:lnRef idx="0"/>
          <a:fillRef idx="0"/>
          <a:effectRef idx="0"/>
          <a:fontRef idx="minor"/>
        </p:style>
        <p:txBody>
          <a:bodyPr lIns="0" rIns="0" tIns="0" bIns="0" anchor="ctr">
            <a:noAutofit/>
          </a:bodyPr>
          <a:p>
            <a:pPr algn="just" defTabSz="914400">
              <a:lnSpc>
                <a:spcPct val="112000"/>
              </a:lnSpc>
              <a:spcBef>
                <a:spcPts val="1191"/>
              </a:spcBef>
              <a:spcAft>
                <a:spcPts val="992"/>
              </a:spcAft>
              <a:tabLst>
                <a:tab algn="l" pos="0"/>
              </a:tabLst>
            </a:pPr>
            <a:r>
              <a:rPr b="0" lang="en-US" sz="1100" spc="-1" strike="noStrike">
                <a:solidFill>
                  <a:srgbClr val="c7cdeb"/>
                </a:solidFill>
                <a:latin typeface="Calibri"/>
                <a:ea typeface="Calibri"/>
              </a:rPr>
              <a:t>One of the biggest strengths of MIT is that it fully supports commercial software. Fully commercial-friendly. Companies can combine MIT code with proprietary software and keep their own source private.</a:t>
            </a:r>
            <a:endParaRPr b="0" lang="en-US" sz="1100" spc="-1" strike="noStrike">
              <a:solidFill>
                <a:srgbClr val="ffffff"/>
              </a:solidFill>
              <a:latin typeface="Arial"/>
            </a:endParaRPr>
          </a:p>
        </p:txBody>
      </p:sp>
      <p:sp>
        <p:nvSpPr>
          <p:cNvPr id="215" name="Shape 19"/>
          <p:cNvSpPr/>
          <p:nvPr/>
        </p:nvSpPr>
        <p:spPr>
          <a:xfrm>
            <a:off x="7040880" y="2907720"/>
            <a:ext cx="429768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16" name="Shape 20"/>
          <p:cNvSpPr/>
          <p:nvPr/>
        </p:nvSpPr>
        <p:spPr>
          <a:xfrm>
            <a:off x="7040880" y="3035880"/>
            <a:ext cx="502560" cy="50256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17" name="Image 2" descr="/home/claude/work/icons/bulb_0F1035.png"/>
          <p:cNvPicPr/>
          <p:nvPr/>
        </p:nvPicPr>
        <p:blipFill>
          <a:blip r:embed="rId3"/>
          <a:stretch/>
        </p:blipFill>
        <p:spPr>
          <a:xfrm>
            <a:off x="7153920" y="3148920"/>
            <a:ext cx="276120" cy="276120"/>
          </a:xfrm>
          <a:prstGeom prst="rect">
            <a:avLst/>
          </a:prstGeom>
          <a:ln w="0">
            <a:noFill/>
          </a:ln>
        </p:spPr>
      </p:pic>
      <p:sp>
        <p:nvSpPr>
          <p:cNvPr id="218" name="Text 21"/>
          <p:cNvSpPr/>
          <p:nvPr/>
        </p:nvSpPr>
        <p:spPr>
          <a:xfrm>
            <a:off x="7680960" y="303588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libri"/>
                <a:ea typeface="Calibri"/>
              </a:rPr>
              <a:t>Unique Features</a:t>
            </a:r>
            <a:endParaRPr b="0" lang="en-US" sz="1250" spc="-1" strike="noStrike">
              <a:solidFill>
                <a:srgbClr val="ffffff"/>
              </a:solidFill>
              <a:latin typeface="Arial"/>
            </a:endParaRPr>
          </a:p>
        </p:txBody>
      </p:sp>
      <p:sp>
        <p:nvSpPr>
          <p:cNvPr id="219" name="Text 22"/>
          <p:cNvSpPr/>
          <p:nvPr/>
        </p:nvSpPr>
        <p:spPr>
          <a:xfrm>
            <a:off x="7680960" y="3383280"/>
            <a:ext cx="3657240" cy="91404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Extremely short &amp; simple</a:t>
            </a:r>
            <a:endParaRPr b="0" lang="en-US" sz="1100" spc="-1" strike="noStrike">
              <a:solidFill>
                <a:srgbClr val="ffffff"/>
              </a:solidFill>
              <a:latin typeface="Arial"/>
            </a:endParaRPr>
          </a:p>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MIT allows redistribution in almost any form</a:t>
            </a:r>
            <a:endParaRPr b="0" lang="en-US" sz="1100" spc="-1" strike="noStrike">
              <a:solidFill>
                <a:srgbClr val="ffffff"/>
              </a:solidFill>
              <a:latin typeface="Arial"/>
            </a:endParaRPr>
          </a:p>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Lowest possible barrier to adoption</a:t>
            </a:r>
            <a:endParaRPr b="0" lang="en-US" sz="1100" spc="-1" strike="noStrike">
              <a:solidFill>
                <a:srgbClr val="ffffff"/>
              </a:solidFill>
              <a:latin typeface="Arial"/>
            </a:endParaRPr>
          </a:p>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Does not include an explicit patent grant</a:t>
            </a:r>
            <a:endParaRPr b="0" lang="en-US" sz="1100" spc="-1" strike="noStrike">
              <a:solidFill>
                <a:srgbClr val="ffffff"/>
              </a:solidFill>
              <a:latin typeface="Arial"/>
            </a:endParaRPr>
          </a:p>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Easy to integrate with other software.</a:t>
            </a:r>
            <a:endParaRPr b="0" lang="en-US" sz="1100" spc="-1" strike="noStrike">
              <a:solidFill>
                <a:srgbClr val="ffffff"/>
              </a:solidFill>
              <a:latin typeface="Arial"/>
            </a:endParaRPr>
          </a:p>
        </p:txBody>
      </p:sp>
      <p:sp>
        <p:nvSpPr>
          <p:cNvPr id="220" name="Shape 23"/>
          <p:cNvSpPr/>
          <p:nvPr/>
        </p:nvSpPr>
        <p:spPr>
          <a:xfrm>
            <a:off x="7086600" y="4503240"/>
            <a:ext cx="429768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21" name="Text 24"/>
          <p:cNvSpPr/>
          <p:nvPr/>
        </p:nvSpPr>
        <p:spPr>
          <a:xfrm>
            <a:off x="7040880" y="4617720"/>
            <a:ext cx="429732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libri"/>
                <a:ea typeface="Calibri"/>
              </a:rPr>
              <a:t>Popular Projects Using This License</a:t>
            </a:r>
            <a:endParaRPr b="0" lang="en-US" sz="1250" spc="-1" strike="noStrike">
              <a:solidFill>
                <a:srgbClr val="ffffff"/>
              </a:solidFill>
              <a:latin typeface="Arial"/>
            </a:endParaRPr>
          </a:p>
        </p:txBody>
      </p:sp>
      <p:sp>
        <p:nvSpPr>
          <p:cNvPr id="222" name="Shape 25"/>
          <p:cNvSpPr/>
          <p:nvPr/>
        </p:nvSpPr>
        <p:spPr>
          <a:xfrm>
            <a:off x="7040880" y="5029200"/>
            <a:ext cx="10969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3" name="Text 26"/>
          <p:cNvSpPr/>
          <p:nvPr/>
        </p:nvSpPr>
        <p:spPr>
          <a:xfrm>
            <a:off x="7040880" y="5029200"/>
            <a:ext cx="10969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React</a:t>
            </a:r>
            <a:endParaRPr b="0" lang="en-US" sz="1050" spc="-1" strike="noStrike">
              <a:solidFill>
                <a:srgbClr val="ffffff"/>
              </a:solidFill>
              <a:latin typeface="Arial"/>
            </a:endParaRPr>
          </a:p>
        </p:txBody>
      </p:sp>
      <p:sp>
        <p:nvSpPr>
          <p:cNvPr id="224" name="Shape 27"/>
          <p:cNvSpPr/>
          <p:nvPr/>
        </p:nvSpPr>
        <p:spPr>
          <a:xfrm>
            <a:off x="8266680" y="5029200"/>
            <a:ext cx="13345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5" name="Text 28"/>
          <p:cNvSpPr/>
          <p:nvPr/>
        </p:nvSpPr>
        <p:spPr>
          <a:xfrm>
            <a:off x="8266320" y="5029200"/>
            <a:ext cx="13345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Next.js</a:t>
            </a:r>
            <a:endParaRPr b="0" lang="en-US" sz="1050" spc="-1" strike="noStrike">
              <a:solidFill>
                <a:srgbClr val="ffffff"/>
              </a:solidFill>
              <a:latin typeface="Arial"/>
            </a:endParaRPr>
          </a:p>
        </p:txBody>
      </p:sp>
      <p:sp>
        <p:nvSpPr>
          <p:cNvPr id="226" name="Shape 29"/>
          <p:cNvSpPr/>
          <p:nvPr/>
        </p:nvSpPr>
        <p:spPr>
          <a:xfrm>
            <a:off x="9729360" y="5029200"/>
            <a:ext cx="13345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7" name="Text 30"/>
          <p:cNvSpPr/>
          <p:nvPr/>
        </p:nvSpPr>
        <p:spPr>
          <a:xfrm>
            <a:off x="9729360" y="5029200"/>
            <a:ext cx="13345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Express</a:t>
            </a:r>
            <a:endParaRPr b="0" lang="en-US" sz="1050" spc="-1" strike="noStrike">
              <a:solidFill>
                <a:srgbClr val="ffffff"/>
              </a:solidFill>
              <a:latin typeface="Arial"/>
            </a:endParaRPr>
          </a:p>
        </p:txBody>
      </p:sp>
      <p:sp>
        <p:nvSpPr>
          <p:cNvPr id="228" name="Shape 31"/>
          <p:cNvSpPr/>
          <p:nvPr/>
        </p:nvSpPr>
        <p:spPr>
          <a:xfrm>
            <a:off x="7040880" y="5541480"/>
            <a:ext cx="9781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9" name="Text 32"/>
          <p:cNvSpPr/>
          <p:nvPr/>
        </p:nvSpPr>
        <p:spPr>
          <a:xfrm>
            <a:off x="7040880" y="5541120"/>
            <a:ext cx="9781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Vite</a:t>
            </a:r>
            <a:endParaRPr b="0" lang="en-US" sz="1050" spc="-1" strike="noStrike">
              <a:solidFill>
                <a:srgbClr val="ffffff"/>
              </a:solidFill>
              <a:latin typeface="Arial"/>
            </a:endParaRPr>
          </a:p>
        </p:txBody>
      </p:sp>
      <p:sp>
        <p:nvSpPr>
          <p:cNvPr id="230" name="Shape 33"/>
          <p:cNvSpPr/>
          <p:nvPr/>
        </p:nvSpPr>
        <p:spPr>
          <a:xfrm>
            <a:off x="8147160" y="5541480"/>
            <a:ext cx="168264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1" name="Text 34"/>
          <p:cNvSpPr/>
          <p:nvPr/>
        </p:nvSpPr>
        <p:spPr>
          <a:xfrm>
            <a:off x="8147160" y="5541120"/>
            <a:ext cx="168264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Tailwind CSS</a:t>
            </a:r>
            <a:endParaRPr b="0" lang="en-US" sz="1050" spc="-1" strike="noStrike">
              <a:solidFill>
                <a:srgbClr val="ffffff"/>
              </a:solidFill>
              <a:latin typeface="Arial"/>
            </a:endParaRPr>
          </a:p>
        </p:txBody>
      </p:sp>
      <p:sp>
        <p:nvSpPr>
          <p:cNvPr id="232" name="Shape 35"/>
          <p:cNvSpPr/>
          <p:nvPr/>
        </p:nvSpPr>
        <p:spPr>
          <a:xfrm>
            <a:off x="9976320" y="5541480"/>
            <a:ext cx="145368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3" name="Text 36"/>
          <p:cNvSpPr/>
          <p:nvPr/>
        </p:nvSpPr>
        <p:spPr>
          <a:xfrm>
            <a:off x="9976320" y="5541120"/>
            <a:ext cx="145368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Electron</a:t>
            </a:r>
            <a:endParaRPr b="0" lang="en-US" sz="1050" spc="-1" strike="noStrike">
              <a:solidFill>
                <a:srgbClr val="ffffff"/>
              </a:solidFill>
              <a:latin typeface="Arial"/>
            </a:endParaRPr>
          </a:p>
        </p:txBody>
      </p:sp>
      <p:sp>
        <p:nvSpPr>
          <p:cNvPr id="234" name="Text 37"/>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Permissive Licenses</a:t>
            </a:r>
            <a:endParaRPr b="0" lang="en-US" sz="900" spc="-1" strike="noStrike">
              <a:solidFill>
                <a:srgbClr val="ffffff"/>
              </a:solidFill>
              <a:latin typeface="Arial"/>
            </a:endParaRPr>
          </a:p>
        </p:txBody>
      </p:sp>
      <p:sp>
        <p:nvSpPr>
          <p:cNvPr id="235" name="Text 38"/>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5</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236"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3 · PERMISSIVE LICENSES</a:t>
            </a:r>
            <a:endParaRPr b="0" lang="en-US" sz="1150" spc="-1" strike="noStrike">
              <a:solidFill>
                <a:srgbClr val="ffffff"/>
              </a:solidFill>
              <a:latin typeface="Arial"/>
            </a:endParaRPr>
          </a:p>
        </p:txBody>
      </p:sp>
      <p:sp>
        <p:nvSpPr>
          <p:cNvPr id="237"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BSD License</a:t>
            </a:r>
            <a:endParaRPr b="0" lang="en-US" sz="2700" spc="-1" strike="noStrike">
              <a:solidFill>
                <a:srgbClr val="ffffff"/>
              </a:solidFill>
              <a:latin typeface="Arial"/>
            </a:endParaRPr>
          </a:p>
        </p:txBody>
      </p:sp>
      <p:sp>
        <p:nvSpPr>
          <p:cNvPr id="238"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One of the oldest permissive licenses, from UC Berkeley</a:t>
            </a:r>
            <a:endParaRPr b="0" lang="en-US" sz="1250" spc="-1" strike="noStrike">
              <a:solidFill>
                <a:srgbClr val="ffffff"/>
              </a:solidFill>
              <a:latin typeface="Arial"/>
            </a:endParaRPr>
          </a:p>
        </p:txBody>
      </p:sp>
      <p:sp>
        <p:nvSpPr>
          <p:cNvPr id="239" name="Shape 3"/>
          <p:cNvSpPr/>
          <p:nvPr/>
        </p:nvSpPr>
        <p:spPr>
          <a:xfrm>
            <a:off x="11292840" y="34740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0" name="Text 4"/>
          <p:cNvSpPr/>
          <p:nvPr/>
        </p:nvSpPr>
        <p:spPr>
          <a:xfrm>
            <a:off x="11292840" y="34740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2/3</a:t>
            </a:r>
            <a:endParaRPr b="0" lang="en-US" sz="1100" spc="-1" strike="noStrike">
              <a:solidFill>
                <a:srgbClr val="ffffff"/>
              </a:solidFill>
              <a:latin typeface="Arial"/>
            </a:endParaRPr>
          </a:p>
        </p:txBody>
      </p:sp>
      <p:sp>
        <p:nvSpPr>
          <p:cNvPr id="241" name="Shape 5"/>
          <p:cNvSpPr/>
          <p:nvPr/>
        </p:nvSpPr>
        <p:spPr>
          <a:xfrm>
            <a:off x="548640" y="1536120"/>
            <a:ext cx="5943240" cy="4590000"/>
          </a:xfrm>
          <a:prstGeom prst="roundRect">
            <a:avLst>
              <a:gd name="adj" fmla="val 1793"/>
            </a:avLst>
          </a:prstGeom>
          <a:solidFill>
            <a:srgbClr val="1a1e4f"/>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Shape 6"/>
          <p:cNvSpPr/>
          <p:nvPr/>
        </p:nvSpPr>
        <p:spPr>
          <a:xfrm>
            <a:off x="868680" y="1828800"/>
            <a:ext cx="594000" cy="5940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43" name="Image 0" descr="/home/claude/work/icons/shield_0F1035.png"/>
          <p:cNvPicPr/>
          <p:nvPr/>
        </p:nvPicPr>
        <p:blipFill>
          <a:blip r:embed="rId1"/>
          <a:stretch/>
        </p:blipFill>
        <p:spPr>
          <a:xfrm>
            <a:off x="1002240" y="1962360"/>
            <a:ext cx="326520" cy="326520"/>
          </a:xfrm>
          <a:prstGeom prst="rect">
            <a:avLst/>
          </a:prstGeom>
          <a:ln w="0">
            <a:noFill/>
          </a:ln>
        </p:spPr>
      </p:pic>
      <p:sp>
        <p:nvSpPr>
          <p:cNvPr id="244" name="Text 7"/>
          <p:cNvSpPr/>
          <p:nvPr/>
        </p:nvSpPr>
        <p:spPr>
          <a:xfrm>
            <a:off x="1600200" y="1828800"/>
            <a:ext cx="466308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fffff"/>
                </a:solidFill>
                <a:latin typeface="Cambria"/>
                <a:ea typeface="Cambria"/>
              </a:rPr>
              <a:t>BSD License</a:t>
            </a:r>
            <a:endParaRPr b="0" lang="en-US" sz="1700" spc="-1" strike="noStrike">
              <a:solidFill>
                <a:srgbClr val="ffffff"/>
              </a:solidFill>
              <a:latin typeface="Arial"/>
            </a:endParaRPr>
          </a:p>
        </p:txBody>
      </p:sp>
      <p:sp>
        <p:nvSpPr>
          <p:cNvPr id="245" name="Text 8"/>
          <p:cNvSpPr/>
          <p:nvPr/>
        </p:nvSpPr>
        <p:spPr>
          <a:xfrm>
            <a:off x="868680" y="2468880"/>
            <a:ext cx="5303160" cy="776880"/>
          </a:xfrm>
          <a:prstGeom prst="rect">
            <a:avLst/>
          </a:prstGeom>
          <a:noFill/>
          <a:ln w="0">
            <a:noFill/>
          </a:ln>
        </p:spPr>
        <p:style>
          <a:lnRef idx="0"/>
          <a:fillRef idx="0"/>
          <a:effectRef idx="0"/>
          <a:fontRef idx="minor"/>
        </p:style>
        <p:txBody>
          <a:bodyPr lIns="0" rIns="0" tIns="0" bIns="0" anchor="ctr">
            <a:noAutofit/>
          </a:bodyPr>
          <a:p>
            <a:pPr defTabSz="914400">
              <a:lnSpc>
                <a:spcPct val="115000"/>
              </a:lnSpc>
              <a:spcBef>
                <a:spcPts val="1191"/>
              </a:spcBef>
              <a:spcAft>
                <a:spcPts val="992"/>
              </a:spcAft>
              <a:tabLst>
                <a:tab algn="l" pos="0"/>
              </a:tabLst>
            </a:pPr>
            <a:r>
              <a:rPr b="0" i="1" lang="en-US" sz="1150" spc="-1" strike="noStrike">
                <a:solidFill>
                  <a:srgbClr val="f5a623"/>
                </a:solidFill>
                <a:latin typeface="Calibri"/>
                <a:ea typeface="Calibri"/>
              </a:rPr>
              <a:t>“</a:t>
            </a:r>
            <a:r>
              <a:rPr b="0" i="1" lang="en-US" sz="1150" spc="-1" strike="noStrike">
                <a:solidFill>
                  <a:srgbClr val="f5a623"/>
                </a:solidFill>
                <a:latin typeface="Calibri"/>
                <a:ea typeface="Calibri"/>
              </a:rPr>
              <a:t>Use my software however you like, but preserve the required notices and don't misrepresent who created it.” The main differences between BSD and MIT lie in the wording of the license and a few additional clauses.</a:t>
            </a:r>
            <a:endParaRPr b="0" lang="en-US" sz="1150" spc="-1" strike="noStrike">
              <a:solidFill>
                <a:srgbClr val="ffffff"/>
              </a:solidFill>
              <a:latin typeface="Arial"/>
            </a:endParaRPr>
          </a:p>
        </p:txBody>
      </p:sp>
      <p:sp>
        <p:nvSpPr>
          <p:cNvPr id="246" name="Shape 9"/>
          <p:cNvSpPr/>
          <p:nvPr/>
        </p:nvSpPr>
        <p:spPr>
          <a:xfrm>
            <a:off x="868680" y="3364920"/>
            <a:ext cx="53035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47" name="Text 10"/>
          <p:cNvSpPr/>
          <p:nvPr/>
        </p:nvSpPr>
        <p:spPr>
          <a:xfrm>
            <a:off x="868680" y="3456360"/>
            <a:ext cx="2742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libri"/>
                <a:ea typeface="Calibri"/>
              </a:rPr>
              <a:t>Key Permissions</a:t>
            </a:r>
            <a:endParaRPr b="0" lang="en-US" sz="1350" spc="-1" strike="noStrike">
              <a:solidFill>
                <a:srgbClr val="ffffff"/>
              </a:solidFill>
              <a:latin typeface="Arial"/>
            </a:endParaRPr>
          </a:p>
        </p:txBody>
      </p:sp>
      <p:sp>
        <p:nvSpPr>
          <p:cNvPr id="248" name="Text 11"/>
          <p:cNvSpPr/>
          <p:nvPr/>
        </p:nvSpPr>
        <p:spPr>
          <a:xfrm>
            <a:off x="868680" y="3776400"/>
            <a:ext cx="5303160" cy="10512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Use, modify &amp; redistribute freely</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Use it commercially</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Include in proprietary applications</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No copyleft obligations</a:t>
            </a:r>
            <a:endParaRPr b="0" lang="en-US" sz="1200" spc="-1" strike="noStrike">
              <a:solidFill>
                <a:srgbClr val="ffffff"/>
              </a:solidFill>
              <a:latin typeface="Arial"/>
            </a:endParaRPr>
          </a:p>
        </p:txBody>
      </p:sp>
      <p:sp>
        <p:nvSpPr>
          <p:cNvPr id="249" name="Shape 12"/>
          <p:cNvSpPr/>
          <p:nvPr/>
        </p:nvSpPr>
        <p:spPr>
          <a:xfrm>
            <a:off x="868680" y="4873680"/>
            <a:ext cx="53035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50" name="Text 13"/>
          <p:cNvSpPr/>
          <p:nvPr/>
        </p:nvSpPr>
        <p:spPr>
          <a:xfrm>
            <a:off x="868680" y="4965120"/>
            <a:ext cx="2742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libri"/>
                <a:ea typeface="Calibri"/>
              </a:rPr>
              <a:t>Obligations</a:t>
            </a:r>
            <a:endParaRPr b="0" lang="en-US" sz="1350" spc="-1" strike="noStrike">
              <a:solidFill>
                <a:srgbClr val="ffffff"/>
              </a:solidFill>
              <a:latin typeface="Arial"/>
            </a:endParaRPr>
          </a:p>
        </p:txBody>
      </p:sp>
      <p:sp>
        <p:nvSpPr>
          <p:cNvPr id="251" name="Text 14"/>
          <p:cNvSpPr/>
          <p:nvPr/>
        </p:nvSpPr>
        <p:spPr>
          <a:xfrm>
            <a:off x="868680" y="5257800"/>
            <a:ext cx="5303160" cy="8226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Preserve the copyright notice &amp; license text</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BSD 3-Clause: follow the non-endorsement clause</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No source code disclosure required</a:t>
            </a:r>
            <a:endParaRPr b="0" lang="en-US" sz="1200" spc="-1" strike="noStrike">
              <a:solidFill>
                <a:srgbClr val="ffffff"/>
              </a:solidFill>
              <a:latin typeface="Arial"/>
            </a:endParaRPr>
          </a:p>
        </p:txBody>
      </p:sp>
      <p:sp>
        <p:nvSpPr>
          <p:cNvPr id="252" name="Shape 15"/>
          <p:cNvSpPr/>
          <p:nvPr/>
        </p:nvSpPr>
        <p:spPr>
          <a:xfrm>
            <a:off x="6766560" y="1536120"/>
            <a:ext cx="4845960" cy="4590000"/>
          </a:xfrm>
          <a:prstGeom prst="roundRect">
            <a:avLst>
              <a:gd name="adj" fmla="val 1793"/>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3" name="Shape 16"/>
          <p:cNvSpPr/>
          <p:nvPr/>
        </p:nvSpPr>
        <p:spPr>
          <a:xfrm>
            <a:off x="7040880" y="1792080"/>
            <a:ext cx="502560" cy="50256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54" name="Image 1" descr="/home/claude/work/icons/dollar_0F1035.png"/>
          <p:cNvPicPr/>
          <p:nvPr/>
        </p:nvPicPr>
        <p:blipFill>
          <a:blip r:embed="rId2"/>
          <a:stretch/>
        </p:blipFill>
        <p:spPr>
          <a:xfrm>
            <a:off x="7153920" y="1905480"/>
            <a:ext cx="276120" cy="276120"/>
          </a:xfrm>
          <a:prstGeom prst="rect">
            <a:avLst/>
          </a:prstGeom>
          <a:ln w="0">
            <a:noFill/>
          </a:ln>
        </p:spPr>
      </p:pic>
      <p:sp>
        <p:nvSpPr>
          <p:cNvPr id="255" name="Text 17"/>
          <p:cNvSpPr/>
          <p:nvPr/>
        </p:nvSpPr>
        <p:spPr>
          <a:xfrm>
            <a:off x="7680960" y="173736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libri"/>
                <a:ea typeface="Calibri"/>
              </a:rPr>
              <a:t>Commercial Use</a:t>
            </a:r>
            <a:endParaRPr b="0" lang="en-US" sz="1250" spc="-1" strike="noStrike">
              <a:solidFill>
                <a:srgbClr val="ffffff"/>
              </a:solidFill>
              <a:latin typeface="Arial"/>
            </a:endParaRPr>
          </a:p>
        </p:txBody>
      </p:sp>
      <p:sp>
        <p:nvSpPr>
          <p:cNvPr id="256" name="Text 18"/>
          <p:cNvSpPr/>
          <p:nvPr/>
        </p:nvSpPr>
        <p:spPr>
          <a:xfrm>
            <a:off x="7680960" y="2066400"/>
            <a:ext cx="3657240" cy="712800"/>
          </a:xfrm>
          <a:prstGeom prst="rect">
            <a:avLst/>
          </a:prstGeom>
          <a:noFill/>
          <a:ln w="0">
            <a:noFill/>
          </a:ln>
        </p:spPr>
        <p:style>
          <a:lnRef idx="0"/>
          <a:fillRef idx="0"/>
          <a:effectRef idx="0"/>
          <a:fontRef idx="minor"/>
        </p:style>
        <p:txBody>
          <a:bodyPr lIns="0" rIns="0" tIns="0" bIns="0" anchor="ctr">
            <a:noAutofit/>
          </a:bodyPr>
          <a:p>
            <a:pPr algn="just" defTabSz="914400">
              <a:lnSpc>
                <a:spcPct val="112000"/>
              </a:lnSpc>
              <a:spcBef>
                <a:spcPts val="1191"/>
              </a:spcBef>
              <a:spcAft>
                <a:spcPts val="992"/>
              </a:spcAft>
              <a:tabLst>
                <a:tab algn="l" pos="0"/>
              </a:tabLst>
            </a:pPr>
            <a:r>
              <a:rPr b="0" lang="en-US" sz="1100" spc="-1" strike="noStrike">
                <a:solidFill>
                  <a:srgbClr val="c7cdeb"/>
                </a:solidFill>
                <a:latin typeface="Calibri"/>
                <a:ea typeface="Calibri"/>
              </a:rPr>
              <a:t>Fully compatible with commercial development - nearly identical in practice to MIT for most developers.  Highly compatible with other permissive licenses and </a:t>
            </a:r>
            <a:r>
              <a:rPr b="0" lang="en-US" sz="1100" spc="-1" strike="noStrike">
                <a:solidFill>
                  <a:srgbClr val="c7cdeb"/>
                </a:solidFill>
                <a:latin typeface="Calibri"/>
                <a:ea typeface="Calibri"/>
              </a:rPr>
              <a:t>proprietary software.</a:t>
            </a:r>
            <a:endParaRPr b="0" lang="en-US" sz="1100" spc="-1" strike="noStrike">
              <a:solidFill>
                <a:srgbClr val="ffffff"/>
              </a:solidFill>
              <a:latin typeface="Arial"/>
            </a:endParaRPr>
          </a:p>
        </p:txBody>
      </p:sp>
      <p:sp>
        <p:nvSpPr>
          <p:cNvPr id="257" name="Shape 19"/>
          <p:cNvSpPr/>
          <p:nvPr/>
        </p:nvSpPr>
        <p:spPr>
          <a:xfrm>
            <a:off x="7040880" y="2907720"/>
            <a:ext cx="429768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58" name="Shape 20"/>
          <p:cNvSpPr/>
          <p:nvPr/>
        </p:nvSpPr>
        <p:spPr>
          <a:xfrm>
            <a:off x="7040880" y="3035880"/>
            <a:ext cx="502560" cy="50256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59" name="Image 2" descr="/home/claude/work/icons/bulb_0F1035.png"/>
          <p:cNvPicPr/>
          <p:nvPr/>
        </p:nvPicPr>
        <p:blipFill>
          <a:blip r:embed="rId3"/>
          <a:stretch/>
        </p:blipFill>
        <p:spPr>
          <a:xfrm>
            <a:off x="7153920" y="3148920"/>
            <a:ext cx="276120" cy="276120"/>
          </a:xfrm>
          <a:prstGeom prst="rect">
            <a:avLst/>
          </a:prstGeom>
          <a:ln w="0">
            <a:noFill/>
          </a:ln>
        </p:spPr>
      </p:pic>
      <p:sp>
        <p:nvSpPr>
          <p:cNvPr id="260" name="Text 21"/>
          <p:cNvSpPr/>
          <p:nvPr/>
        </p:nvSpPr>
        <p:spPr>
          <a:xfrm>
            <a:off x="7680960" y="303588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libri"/>
                <a:ea typeface="Calibri"/>
              </a:rPr>
              <a:t>Unique Features</a:t>
            </a:r>
            <a:endParaRPr b="0" lang="en-US" sz="1250" spc="-1" strike="noStrike">
              <a:solidFill>
                <a:srgbClr val="ffffff"/>
              </a:solidFill>
              <a:latin typeface="Arial"/>
            </a:endParaRPr>
          </a:p>
        </p:txBody>
      </p:sp>
      <p:sp>
        <p:nvSpPr>
          <p:cNvPr id="261" name="Text 22"/>
          <p:cNvSpPr/>
          <p:nvPr/>
        </p:nvSpPr>
        <p:spPr>
          <a:xfrm>
            <a:off x="7680960" y="3328560"/>
            <a:ext cx="3657240" cy="91404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BSD 3-Clause adds a non-endorsement clause</a:t>
            </a:r>
            <a:endParaRPr b="0" lang="en-US" sz="1100" spc="-1" strike="noStrike">
              <a:solidFill>
                <a:srgbClr val="ffffff"/>
              </a:solidFill>
              <a:latin typeface="Arial"/>
            </a:endParaRPr>
          </a:p>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No explicit patent grant</a:t>
            </a:r>
            <a:endParaRPr b="0" lang="en-US" sz="1100" spc="-1" strike="noStrike">
              <a:solidFill>
                <a:srgbClr val="ffffff"/>
              </a:solidFill>
              <a:latin typeface="Arial"/>
            </a:endParaRPr>
          </a:p>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Deep roots in OS &amp; networking software</a:t>
            </a:r>
            <a:endParaRPr b="0" lang="en-US" sz="1100" spc="-1" strike="noStrike">
              <a:solidFill>
                <a:srgbClr val="ffffff"/>
              </a:solidFill>
              <a:latin typeface="Arial"/>
            </a:endParaRPr>
          </a:p>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Legally lightweight</a:t>
            </a:r>
            <a:endParaRPr b="0" lang="en-US" sz="1100" spc="-1" strike="noStrike">
              <a:solidFill>
                <a:srgbClr val="ffffff"/>
              </a:solidFill>
              <a:latin typeface="Arial"/>
            </a:endParaRPr>
          </a:p>
        </p:txBody>
      </p:sp>
      <p:sp>
        <p:nvSpPr>
          <p:cNvPr id="262" name="Shape 23"/>
          <p:cNvSpPr/>
          <p:nvPr/>
        </p:nvSpPr>
        <p:spPr>
          <a:xfrm>
            <a:off x="7040880" y="4416480"/>
            <a:ext cx="429768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63" name="Text 24"/>
          <p:cNvSpPr/>
          <p:nvPr/>
        </p:nvSpPr>
        <p:spPr>
          <a:xfrm>
            <a:off x="7040880" y="4535280"/>
            <a:ext cx="429732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libri"/>
                <a:ea typeface="Calibri"/>
              </a:rPr>
              <a:t>Popular Projects Using This License</a:t>
            </a:r>
            <a:endParaRPr b="0" lang="en-US" sz="1250" spc="-1" strike="noStrike">
              <a:solidFill>
                <a:srgbClr val="ffffff"/>
              </a:solidFill>
              <a:latin typeface="Arial"/>
            </a:endParaRPr>
          </a:p>
        </p:txBody>
      </p:sp>
      <p:sp>
        <p:nvSpPr>
          <p:cNvPr id="264" name="Shape 25"/>
          <p:cNvSpPr/>
          <p:nvPr/>
        </p:nvSpPr>
        <p:spPr>
          <a:xfrm>
            <a:off x="7040880" y="4883040"/>
            <a:ext cx="13345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5" name="Text 26"/>
          <p:cNvSpPr/>
          <p:nvPr/>
        </p:nvSpPr>
        <p:spPr>
          <a:xfrm>
            <a:off x="7040880" y="4883040"/>
            <a:ext cx="13345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FreeBSD</a:t>
            </a:r>
            <a:endParaRPr b="0" lang="en-US" sz="1050" spc="-1" strike="noStrike">
              <a:solidFill>
                <a:srgbClr val="ffffff"/>
              </a:solidFill>
              <a:latin typeface="Arial"/>
            </a:endParaRPr>
          </a:p>
        </p:txBody>
      </p:sp>
      <p:sp>
        <p:nvSpPr>
          <p:cNvPr id="266" name="Shape 27"/>
          <p:cNvSpPr/>
          <p:nvPr/>
        </p:nvSpPr>
        <p:spPr>
          <a:xfrm>
            <a:off x="8503920" y="4883040"/>
            <a:ext cx="13345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7" name="Text 28"/>
          <p:cNvSpPr/>
          <p:nvPr/>
        </p:nvSpPr>
        <p:spPr>
          <a:xfrm>
            <a:off x="8503920" y="4883040"/>
            <a:ext cx="13345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OpenBSD</a:t>
            </a:r>
            <a:endParaRPr b="0" lang="en-US" sz="1050" spc="-1" strike="noStrike">
              <a:solidFill>
                <a:srgbClr val="ffffff"/>
              </a:solidFill>
              <a:latin typeface="Arial"/>
            </a:endParaRPr>
          </a:p>
        </p:txBody>
      </p:sp>
      <p:sp>
        <p:nvSpPr>
          <p:cNvPr id="268" name="Shape 29"/>
          <p:cNvSpPr/>
          <p:nvPr/>
        </p:nvSpPr>
        <p:spPr>
          <a:xfrm>
            <a:off x="9966960" y="4883040"/>
            <a:ext cx="12157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9" name="Text 30"/>
          <p:cNvSpPr/>
          <p:nvPr/>
        </p:nvSpPr>
        <p:spPr>
          <a:xfrm>
            <a:off x="9966960" y="4883040"/>
            <a:ext cx="12157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NetBSD</a:t>
            </a:r>
            <a:endParaRPr b="0" lang="en-US" sz="1050" spc="-1" strike="noStrike">
              <a:solidFill>
                <a:srgbClr val="ffffff"/>
              </a:solidFill>
              <a:latin typeface="Arial"/>
            </a:endParaRPr>
          </a:p>
        </p:txBody>
      </p:sp>
      <p:sp>
        <p:nvSpPr>
          <p:cNvPr id="270" name="Shape 31"/>
          <p:cNvSpPr/>
          <p:nvPr/>
        </p:nvSpPr>
        <p:spPr>
          <a:xfrm>
            <a:off x="7040880" y="5413320"/>
            <a:ext cx="9781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1" name="Text 32"/>
          <p:cNvSpPr/>
          <p:nvPr/>
        </p:nvSpPr>
        <p:spPr>
          <a:xfrm>
            <a:off x="7040880" y="5413320"/>
            <a:ext cx="9781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LLVM</a:t>
            </a:r>
            <a:endParaRPr b="0" lang="en-US" sz="1050" spc="-1" strike="noStrike">
              <a:solidFill>
                <a:srgbClr val="ffffff"/>
              </a:solidFill>
              <a:latin typeface="Arial"/>
            </a:endParaRPr>
          </a:p>
        </p:txBody>
      </p:sp>
      <p:sp>
        <p:nvSpPr>
          <p:cNvPr id="272" name="Shape 33"/>
          <p:cNvSpPr/>
          <p:nvPr/>
        </p:nvSpPr>
        <p:spPr>
          <a:xfrm>
            <a:off x="8147160" y="5413320"/>
            <a:ext cx="13345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3" name="Text 34"/>
          <p:cNvSpPr/>
          <p:nvPr/>
        </p:nvSpPr>
        <p:spPr>
          <a:xfrm>
            <a:off x="8147160" y="5413320"/>
            <a:ext cx="13345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OpenSSH</a:t>
            </a:r>
            <a:endParaRPr b="0" lang="en-US" sz="1050" spc="-1" strike="noStrike">
              <a:solidFill>
                <a:srgbClr val="ffffff"/>
              </a:solidFill>
              <a:latin typeface="Arial"/>
            </a:endParaRPr>
          </a:p>
        </p:txBody>
      </p:sp>
      <p:sp>
        <p:nvSpPr>
          <p:cNvPr id="274" name="Text 35"/>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Permissive Licenses</a:t>
            </a:r>
            <a:endParaRPr b="0" lang="en-US" sz="900" spc="-1" strike="noStrike">
              <a:solidFill>
                <a:srgbClr val="ffffff"/>
              </a:solidFill>
              <a:latin typeface="Arial"/>
            </a:endParaRPr>
          </a:p>
        </p:txBody>
      </p:sp>
      <p:sp>
        <p:nvSpPr>
          <p:cNvPr id="275" name="Text 36"/>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6</a:t>
            </a:r>
            <a:endParaRPr b="0" lang="en-US" sz="900" spc="-1" strike="noStrike">
              <a:solidFill>
                <a:srgbClr val="ffffff"/>
              </a:solidFill>
              <a:latin typeface="Arial"/>
            </a:endParaRPr>
          </a:p>
        </p:txBody>
      </p:sp>
      <p:sp>
        <p:nvSpPr>
          <p:cNvPr id="276" name="Shape 34"/>
          <p:cNvSpPr/>
          <p:nvPr/>
        </p:nvSpPr>
        <p:spPr>
          <a:xfrm>
            <a:off x="9638280" y="5413320"/>
            <a:ext cx="13345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ctr">
            <a:noAutofit/>
          </a:bodyPr>
          <a:p>
            <a:pPr algn="ctr">
              <a:spcBef>
                <a:spcPts val="1191"/>
              </a:spcBef>
              <a:spcAft>
                <a:spcPts val="992"/>
              </a:spcAft>
            </a:pPr>
            <a:r>
              <a:rPr b="1" lang="en-US" sz="1050" spc="-1" strike="noStrike">
                <a:solidFill>
                  <a:srgbClr val="ffffff"/>
                </a:solidFill>
                <a:latin typeface="Calibri"/>
              </a:rPr>
              <a:t>libc++</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277"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3 · PERMISSIVE LICENSES</a:t>
            </a:r>
            <a:endParaRPr b="0" lang="en-US" sz="1150" spc="-1" strike="noStrike">
              <a:solidFill>
                <a:srgbClr val="ffffff"/>
              </a:solidFill>
              <a:latin typeface="Arial"/>
            </a:endParaRPr>
          </a:p>
        </p:txBody>
      </p:sp>
      <p:sp>
        <p:nvSpPr>
          <p:cNvPr id="278"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Apache License 2.0</a:t>
            </a:r>
            <a:endParaRPr b="0" lang="en-US" sz="2700" spc="-1" strike="noStrike">
              <a:solidFill>
                <a:srgbClr val="ffffff"/>
              </a:solidFill>
              <a:latin typeface="Arial"/>
            </a:endParaRPr>
          </a:p>
        </p:txBody>
      </p:sp>
      <p:sp>
        <p:nvSpPr>
          <p:cNvPr id="279"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Permissive licensing with enterprise-grade patent protection</a:t>
            </a:r>
            <a:endParaRPr b="0" lang="en-US" sz="1250" spc="-1" strike="noStrike">
              <a:solidFill>
                <a:srgbClr val="ffffff"/>
              </a:solidFill>
              <a:latin typeface="Arial"/>
            </a:endParaRPr>
          </a:p>
        </p:txBody>
      </p:sp>
      <p:sp>
        <p:nvSpPr>
          <p:cNvPr id="280" name="Shape 3"/>
          <p:cNvSpPr/>
          <p:nvPr/>
        </p:nvSpPr>
        <p:spPr>
          <a:xfrm>
            <a:off x="11292840" y="347400"/>
            <a:ext cx="328680" cy="328680"/>
          </a:xfrm>
          <a:prstGeom prst="ellipse">
            <a:avLst/>
          </a:prstGeom>
          <a:solidFill>
            <a:srgbClr val="0f1035"/>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1" name="Text 4"/>
          <p:cNvSpPr/>
          <p:nvPr/>
        </p:nvSpPr>
        <p:spPr>
          <a:xfrm>
            <a:off x="11292840" y="34740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5a623"/>
                </a:solidFill>
                <a:latin typeface="Calibri"/>
                <a:ea typeface="Calibri"/>
              </a:rPr>
              <a:t>3/3</a:t>
            </a:r>
            <a:endParaRPr b="0" lang="en-US" sz="1100" spc="-1" strike="noStrike">
              <a:solidFill>
                <a:srgbClr val="ffffff"/>
              </a:solidFill>
              <a:latin typeface="Arial"/>
            </a:endParaRPr>
          </a:p>
        </p:txBody>
      </p:sp>
      <p:sp>
        <p:nvSpPr>
          <p:cNvPr id="282" name="Shape 5"/>
          <p:cNvSpPr/>
          <p:nvPr/>
        </p:nvSpPr>
        <p:spPr>
          <a:xfrm>
            <a:off x="548640" y="1536120"/>
            <a:ext cx="5943240" cy="4590000"/>
          </a:xfrm>
          <a:prstGeom prst="roundRect">
            <a:avLst>
              <a:gd name="adj" fmla="val 1793"/>
            </a:avLst>
          </a:prstGeom>
          <a:solidFill>
            <a:srgbClr val="1a1e4f"/>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3" name="Shape 6"/>
          <p:cNvSpPr/>
          <p:nvPr/>
        </p:nvSpPr>
        <p:spPr>
          <a:xfrm>
            <a:off x="868680" y="1828800"/>
            <a:ext cx="594000" cy="5940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84" name="Image 0" descr="/home/claude/work/icons/scroll_0F1035.png"/>
          <p:cNvPicPr/>
          <p:nvPr/>
        </p:nvPicPr>
        <p:blipFill>
          <a:blip r:embed="rId1"/>
          <a:stretch/>
        </p:blipFill>
        <p:spPr>
          <a:xfrm>
            <a:off x="1002240" y="1962360"/>
            <a:ext cx="326520" cy="326520"/>
          </a:xfrm>
          <a:prstGeom prst="rect">
            <a:avLst/>
          </a:prstGeom>
          <a:ln w="0">
            <a:noFill/>
          </a:ln>
        </p:spPr>
      </p:pic>
      <p:sp>
        <p:nvSpPr>
          <p:cNvPr id="285" name="Text 7"/>
          <p:cNvSpPr/>
          <p:nvPr/>
        </p:nvSpPr>
        <p:spPr>
          <a:xfrm>
            <a:off x="1600200" y="1828800"/>
            <a:ext cx="466308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fffff"/>
                </a:solidFill>
                <a:latin typeface="Cambria"/>
                <a:ea typeface="Cambria"/>
              </a:rPr>
              <a:t>Apache License 2.0</a:t>
            </a:r>
            <a:endParaRPr b="0" lang="en-US" sz="1700" spc="-1" strike="noStrike">
              <a:solidFill>
                <a:srgbClr val="ffffff"/>
              </a:solidFill>
              <a:latin typeface="Arial"/>
            </a:endParaRPr>
          </a:p>
        </p:txBody>
      </p:sp>
      <p:sp>
        <p:nvSpPr>
          <p:cNvPr id="286" name="Text 8"/>
          <p:cNvSpPr/>
          <p:nvPr/>
        </p:nvSpPr>
        <p:spPr>
          <a:xfrm>
            <a:off x="868680" y="2423520"/>
            <a:ext cx="5303160" cy="776880"/>
          </a:xfrm>
          <a:prstGeom prst="rect">
            <a:avLst/>
          </a:prstGeom>
          <a:noFill/>
          <a:ln w="0">
            <a:noFill/>
          </a:ln>
        </p:spPr>
        <p:style>
          <a:lnRef idx="0"/>
          <a:fillRef idx="0"/>
          <a:effectRef idx="0"/>
          <a:fontRef idx="minor"/>
        </p:style>
        <p:txBody>
          <a:bodyPr lIns="0" rIns="0" tIns="0" bIns="0" anchor="ctr">
            <a:noAutofit/>
          </a:bodyPr>
          <a:p>
            <a:pPr defTabSz="914400">
              <a:lnSpc>
                <a:spcPct val="115000"/>
              </a:lnSpc>
              <a:spcBef>
                <a:spcPts val="1191"/>
              </a:spcBef>
              <a:spcAft>
                <a:spcPts val="992"/>
              </a:spcAft>
              <a:tabLst>
                <a:tab algn="l" pos="0"/>
              </a:tabLst>
            </a:pPr>
            <a:r>
              <a:rPr b="0" i="1" lang="en-US" sz="1150" spc="-1" strike="noStrike">
                <a:solidFill>
                  <a:srgbClr val="f5a623"/>
                </a:solidFill>
                <a:latin typeface="Calibri"/>
                <a:ea typeface="Calibri"/>
              </a:rPr>
              <a:t>“</a:t>
            </a:r>
            <a:r>
              <a:rPr b="0" i="1" lang="en-US" sz="1150" spc="-1" strike="noStrike">
                <a:solidFill>
                  <a:srgbClr val="f5a623"/>
                </a:solidFill>
                <a:latin typeface="Calibri"/>
                <a:ea typeface="Calibri"/>
              </a:rPr>
              <a:t>Make software easy for everyone to use - and protect contributors and users from unnecessary patent disputes.” Apache 2.0 adds several important legal protections that make it particularly attractive for enterprise software and large collaborative projects</a:t>
            </a:r>
            <a:endParaRPr b="0" lang="en-US" sz="1150" spc="-1" strike="noStrike">
              <a:solidFill>
                <a:srgbClr val="ffffff"/>
              </a:solidFill>
              <a:latin typeface="Arial"/>
            </a:endParaRPr>
          </a:p>
        </p:txBody>
      </p:sp>
      <p:sp>
        <p:nvSpPr>
          <p:cNvPr id="287" name="Shape 9"/>
          <p:cNvSpPr/>
          <p:nvPr/>
        </p:nvSpPr>
        <p:spPr>
          <a:xfrm>
            <a:off x="868680" y="3364920"/>
            <a:ext cx="53035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88" name="Text 10"/>
          <p:cNvSpPr/>
          <p:nvPr/>
        </p:nvSpPr>
        <p:spPr>
          <a:xfrm>
            <a:off x="868680" y="3456360"/>
            <a:ext cx="2742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libri"/>
                <a:ea typeface="Calibri"/>
              </a:rPr>
              <a:t>Key Permissions</a:t>
            </a:r>
            <a:endParaRPr b="0" lang="en-US" sz="1350" spc="-1" strike="noStrike">
              <a:solidFill>
                <a:srgbClr val="ffffff"/>
              </a:solidFill>
              <a:latin typeface="Arial"/>
            </a:endParaRPr>
          </a:p>
        </p:txBody>
      </p:sp>
      <p:sp>
        <p:nvSpPr>
          <p:cNvPr id="289" name="Text 11"/>
          <p:cNvSpPr/>
          <p:nvPr/>
        </p:nvSpPr>
        <p:spPr>
          <a:xfrm>
            <a:off x="868680" y="3776400"/>
            <a:ext cx="5303160" cy="10512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Use, modify &amp; redistribute freely</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Sell commercial products / SaaS</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Include in proprietary applications</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Same broad freedoms as MIT</a:t>
            </a:r>
            <a:endParaRPr b="0" lang="en-US" sz="1200" spc="-1" strike="noStrike">
              <a:solidFill>
                <a:srgbClr val="ffffff"/>
              </a:solidFill>
              <a:latin typeface="Arial"/>
            </a:endParaRPr>
          </a:p>
        </p:txBody>
      </p:sp>
      <p:sp>
        <p:nvSpPr>
          <p:cNvPr id="290" name="Shape 12"/>
          <p:cNvSpPr/>
          <p:nvPr/>
        </p:nvSpPr>
        <p:spPr>
          <a:xfrm>
            <a:off x="868680" y="4873680"/>
            <a:ext cx="530352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91" name="Text 13"/>
          <p:cNvSpPr/>
          <p:nvPr/>
        </p:nvSpPr>
        <p:spPr>
          <a:xfrm>
            <a:off x="868680" y="4965120"/>
            <a:ext cx="2742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libri"/>
                <a:ea typeface="Calibri"/>
              </a:rPr>
              <a:t>Obligations</a:t>
            </a:r>
            <a:endParaRPr b="0" lang="en-US" sz="1350" spc="-1" strike="noStrike">
              <a:solidFill>
                <a:srgbClr val="ffffff"/>
              </a:solidFill>
              <a:latin typeface="Arial"/>
            </a:endParaRPr>
          </a:p>
        </p:txBody>
      </p:sp>
      <p:sp>
        <p:nvSpPr>
          <p:cNvPr id="292" name="Text 14"/>
          <p:cNvSpPr/>
          <p:nvPr/>
        </p:nvSpPr>
        <p:spPr>
          <a:xfrm>
            <a:off x="868680" y="5285160"/>
            <a:ext cx="5303160" cy="82260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Preserve copyright notice &amp; license text</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Preserve the NOTICE file, when present</a:t>
            </a:r>
            <a:endParaRPr b="0" lang="en-US" sz="1200" spc="-1" strike="noStrike">
              <a:solidFill>
                <a:srgbClr val="ffffff"/>
              </a:solidFill>
              <a:latin typeface="Arial"/>
            </a:endParaRPr>
          </a:p>
          <a:p>
            <a:pPr marL="177840" indent="-177840" defTabSz="914400">
              <a:lnSpc>
                <a:spcPct val="100000"/>
              </a:lnSpc>
              <a:spcAft>
                <a:spcPts val="499"/>
              </a:spcAft>
              <a:buClr>
                <a:srgbClr val="c7cdeb"/>
              </a:buClr>
              <a:buFont typeface="Symbol" charset="2"/>
              <a:buChar char=""/>
            </a:pPr>
            <a:r>
              <a:rPr b="0" lang="en-US" sz="1200" spc="-1" strike="noStrike">
                <a:solidFill>
                  <a:srgbClr val="c7cdeb"/>
                </a:solidFill>
                <a:latin typeface="Calibri"/>
                <a:ea typeface="Calibri"/>
              </a:rPr>
              <a:t>Clearly indicate significant modifications</a:t>
            </a:r>
            <a:endParaRPr b="0" lang="en-US" sz="1200" spc="-1" strike="noStrike">
              <a:solidFill>
                <a:srgbClr val="ffffff"/>
              </a:solidFill>
              <a:latin typeface="Arial"/>
            </a:endParaRPr>
          </a:p>
        </p:txBody>
      </p:sp>
      <p:sp>
        <p:nvSpPr>
          <p:cNvPr id="293" name="Shape 15"/>
          <p:cNvSpPr/>
          <p:nvPr/>
        </p:nvSpPr>
        <p:spPr>
          <a:xfrm>
            <a:off x="6766560" y="1536120"/>
            <a:ext cx="4845960" cy="4590000"/>
          </a:xfrm>
          <a:prstGeom prst="roundRect">
            <a:avLst>
              <a:gd name="adj" fmla="val 1793"/>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4" name="Shape 16"/>
          <p:cNvSpPr/>
          <p:nvPr/>
        </p:nvSpPr>
        <p:spPr>
          <a:xfrm>
            <a:off x="7040880" y="1792080"/>
            <a:ext cx="502560" cy="50256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95" name="Image 1" descr="/home/claude/work/icons/dollar_0F1035.png"/>
          <p:cNvPicPr/>
          <p:nvPr/>
        </p:nvPicPr>
        <p:blipFill>
          <a:blip r:embed="rId2"/>
          <a:stretch/>
        </p:blipFill>
        <p:spPr>
          <a:xfrm>
            <a:off x="7153920" y="1905480"/>
            <a:ext cx="276120" cy="276120"/>
          </a:xfrm>
          <a:prstGeom prst="rect">
            <a:avLst/>
          </a:prstGeom>
          <a:ln w="0">
            <a:noFill/>
          </a:ln>
        </p:spPr>
      </p:pic>
      <p:sp>
        <p:nvSpPr>
          <p:cNvPr id="296" name="Text 17"/>
          <p:cNvSpPr/>
          <p:nvPr/>
        </p:nvSpPr>
        <p:spPr>
          <a:xfrm>
            <a:off x="7680960" y="179208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libri"/>
                <a:ea typeface="Calibri"/>
              </a:rPr>
              <a:t>Commercial Use</a:t>
            </a:r>
            <a:endParaRPr b="0" lang="en-US" sz="1250" spc="-1" strike="noStrike">
              <a:solidFill>
                <a:srgbClr val="ffffff"/>
              </a:solidFill>
              <a:latin typeface="Arial"/>
            </a:endParaRPr>
          </a:p>
        </p:txBody>
      </p:sp>
      <p:sp>
        <p:nvSpPr>
          <p:cNvPr id="297" name="Text 18"/>
          <p:cNvSpPr/>
          <p:nvPr/>
        </p:nvSpPr>
        <p:spPr>
          <a:xfrm>
            <a:off x="7680960" y="2066400"/>
            <a:ext cx="3657240" cy="712800"/>
          </a:xfrm>
          <a:prstGeom prst="rect">
            <a:avLst/>
          </a:prstGeom>
          <a:noFill/>
          <a:ln w="0">
            <a:noFill/>
          </a:ln>
        </p:spPr>
        <p:style>
          <a:lnRef idx="0"/>
          <a:fillRef idx="0"/>
          <a:effectRef idx="0"/>
          <a:fontRef idx="minor"/>
        </p:style>
        <p:txBody>
          <a:bodyPr lIns="0" rIns="0" tIns="0" bIns="0" anchor="ctr">
            <a:noAutofit/>
          </a:bodyPr>
          <a:p>
            <a:pPr defTabSz="914400">
              <a:lnSpc>
                <a:spcPct val="112000"/>
              </a:lnSpc>
              <a:spcBef>
                <a:spcPts val="1191"/>
              </a:spcBef>
              <a:spcAft>
                <a:spcPts val="992"/>
              </a:spcAft>
              <a:tabLst>
                <a:tab algn="l" pos="0"/>
              </a:tabLst>
            </a:pPr>
            <a:r>
              <a:rPr b="0" lang="en-US" sz="1100" spc="-1" strike="noStrike">
                <a:solidFill>
                  <a:srgbClr val="c7cdeb"/>
                </a:solidFill>
                <a:latin typeface="Calibri"/>
                <a:ea typeface="Calibri"/>
              </a:rPr>
              <a:t>Fully commercial-friendly, widely used by companies wanting patent-risk protection for collaborative projects. Compatibility with many software ecosystems. strong community trust</a:t>
            </a:r>
            <a:endParaRPr b="0" lang="en-US" sz="1100" spc="-1" strike="noStrike">
              <a:solidFill>
                <a:srgbClr val="ffffff"/>
              </a:solidFill>
              <a:latin typeface="Arial"/>
            </a:endParaRPr>
          </a:p>
        </p:txBody>
      </p:sp>
      <p:sp>
        <p:nvSpPr>
          <p:cNvPr id="298" name="Shape 19"/>
          <p:cNvSpPr/>
          <p:nvPr/>
        </p:nvSpPr>
        <p:spPr>
          <a:xfrm>
            <a:off x="7040880" y="2907720"/>
            <a:ext cx="429768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99" name="Shape 20"/>
          <p:cNvSpPr/>
          <p:nvPr/>
        </p:nvSpPr>
        <p:spPr>
          <a:xfrm>
            <a:off x="7040880" y="3035880"/>
            <a:ext cx="502560" cy="50256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00" name="Image 2" descr="/home/claude/work/icons/bulb_0F1035.png"/>
          <p:cNvPicPr/>
          <p:nvPr/>
        </p:nvPicPr>
        <p:blipFill>
          <a:blip r:embed="rId3"/>
          <a:stretch/>
        </p:blipFill>
        <p:spPr>
          <a:xfrm>
            <a:off x="7153920" y="3148920"/>
            <a:ext cx="276120" cy="276120"/>
          </a:xfrm>
          <a:prstGeom prst="rect">
            <a:avLst/>
          </a:prstGeom>
          <a:ln w="0">
            <a:noFill/>
          </a:ln>
        </p:spPr>
      </p:pic>
      <p:sp>
        <p:nvSpPr>
          <p:cNvPr id="301" name="Text 21"/>
          <p:cNvSpPr/>
          <p:nvPr/>
        </p:nvSpPr>
        <p:spPr>
          <a:xfrm>
            <a:off x="7680960" y="303588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libri"/>
                <a:ea typeface="Calibri"/>
              </a:rPr>
              <a:t>Unique Features</a:t>
            </a:r>
            <a:endParaRPr b="0" lang="en-US" sz="1250" spc="-1" strike="noStrike">
              <a:solidFill>
                <a:srgbClr val="ffffff"/>
              </a:solidFill>
              <a:latin typeface="Arial"/>
            </a:endParaRPr>
          </a:p>
        </p:txBody>
      </p:sp>
      <p:sp>
        <p:nvSpPr>
          <p:cNvPr id="302" name="Text 22"/>
          <p:cNvSpPr/>
          <p:nvPr/>
        </p:nvSpPr>
        <p:spPr>
          <a:xfrm>
            <a:off x="7680960" y="3328560"/>
            <a:ext cx="3657240" cy="91404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Explicit patent grant from contributors</a:t>
            </a:r>
            <a:endParaRPr b="0" lang="en-US" sz="1100" spc="-1" strike="noStrike">
              <a:solidFill>
                <a:srgbClr val="ffffff"/>
              </a:solidFill>
              <a:latin typeface="Arial"/>
            </a:endParaRPr>
          </a:p>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Patent termination clause which refers to loss of patent/license or permission.</a:t>
            </a:r>
            <a:endParaRPr b="0" lang="en-US" sz="1100" spc="-1" strike="noStrike">
              <a:solidFill>
                <a:srgbClr val="ffffff"/>
              </a:solidFill>
              <a:latin typeface="Arial"/>
            </a:endParaRPr>
          </a:p>
          <a:p>
            <a:pPr marL="177840" indent="-177840" defTabSz="914400">
              <a:lnSpc>
                <a:spcPct val="100000"/>
              </a:lnSpc>
              <a:spcAft>
                <a:spcPts val="400"/>
              </a:spcAft>
              <a:buClr>
                <a:srgbClr val="c7cdeb"/>
              </a:buClr>
              <a:buFont typeface="Symbol" charset="2"/>
              <a:buChar char=""/>
            </a:pPr>
            <a:r>
              <a:rPr b="0" lang="en-US" sz="1100" spc="-1" strike="noStrike">
                <a:solidFill>
                  <a:srgbClr val="c7cdeb"/>
                </a:solidFill>
                <a:latin typeface="Calibri"/>
                <a:ea typeface="Calibri"/>
              </a:rPr>
              <a:t>NOTICE file &amp; modification-notice requirements</a:t>
            </a:r>
            <a:endParaRPr b="0" lang="en-US" sz="1100" spc="-1" strike="noStrike">
              <a:solidFill>
                <a:srgbClr val="ffffff"/>
              </a:solidFill>
              <a:latin typeface="Arial"/>
            </a:endParaRPr>
          </a:p>
        </p:txBody>
      </p:sp>
      <p:sp>
        <p:nvSpPr>
          <p:cNvPr id="303" name="Shape 23"/>
          <p:cNvSpPr/>
          <p:nvPr/>
        </p:nvSpPr>
        <p:spPr>
          <a:xfrm>
            <a:off x="7040880" y="4416480"/>
            <a:ext cx="4297680" cy="360"/>
          </a:xfrm>
          <a:prstGeom prst="line">
            <a:avLst/>
          </a:prstGeom>
          <a:ln w="9525">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04" name="Text 24"/>
          <p:cNvSpPr/>
          <p:nvPr/>
        </p:nvSpPr>
        <p:spPr>
          <a:xfrm>
            <a:off x="7040880" y="4535280"/>
            <a:ext cx="429732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Calibri"/>
                <a:ea typeface="Calibri"/>
              </a:rPr>
              <a:t>Popular Projects Using This License</a:t>
            </a:r>
            <a:endParaRPr b="0" lang="en-US" sz="1250" spc="-1" strike="noStrike">
              <a:solidFill>
                <a:srgbClr val="ffffff"/>
              </a:solidFill>
              <a:latin typeface="Arial"/>
            </a:endParaRPr>
          </a:p>
        </p:txBody>
      </p:sp>
      <p:sp>
        <p:nvSpPr>
          <p:cNvPr id="305" name="Shape 25"/>
          <p:cNvSpPr/>
          <p:nvPr/>
        </p:nvSpPr>
        <p:spPr>
          <a:xfrm>
            <a:off x="7040880" y="4883040"/>
            <a:ext cx="128016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6" name="Text 26"/>
          <p:cNvSpPr/>
          <p:nvPr/>
        </p:nvSpPr>
        <p:spPr>
          <a:xfrm>
            <a:off x="7040880" y="4883040"/>
            <a:ext cx="128016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Kubernetes</a:t>
            </a:r>
            <a:endParaRPr b="0" lang="en-US" sz="1050" spc="-1" strike="noStrike">
              <a:solidFill>
                <a:srgbClr val="ffffff"/>
              </a:solidFill>
              <a:latin typeface="Arial"/>
            </a:endParaRPr>
          </a:p>
        </p:txBody>
      </p:sp>
      <p:sp>
        <p:nvSpPr>
          <p:cNvPr id="307" name="Shape 27"/>
          <p:cNvSpPr/>
          <p:nvPr/>
        </p:nvSpPr>
        <p:spPr>
          <a:xfrm>
            <a:off x="8458200" y="4883040"/>
            <a:ext cx="137160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8" name="Text 28"/>
          <p:cNvSpPr/>
          <p:nvPr/>
        </p:nvSpPr>
        <p:spPr>
          <a:xfrm>
            <a:off x="8458200" y="4883040"/>
            <a:ext cx="137160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Prometheus</a:t>
            </a:r>
            <a:endParaRPr b="0" lang="en-US" sz="1050" spc="-1" strike="noStrike">
              <a:solidFill>
                <a:srgbClr val="ffffff"/>
              </a:solidFill>
              <a:latin typeface="Arial"/>
            </a:endParaRPr>
          </a:p>
        </p:txBody>
      </p:sp>
      <p:sp>
        <p:nvSpPr>
          <p:cNvPr id="309" name="Shape 29"/>
          <p:cNvSpPr/>
          <p:nvPr/>
        </p:nvSpPr>
        <p:spPr>
          <a:xfrm>
            <a:off x="7040880" y="5413320"/>
            <a:ext cx="14173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0" name="Text 30"/>
          <p:cNvSpPr/>
          <p:nvPr/>
        </p:nvSpPr>
        <p:spPr>
          <a:xfrm>
            <a:off x="7040880" y="5413320"/>
            <a:ext cx="14173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Apache Kafka</a:t>
            </a:r>
            <a:endParaRPr b="0" lang="en-US" sz="1050" spc="-1" strike="noStrike">
              <a:solidFill>
                <a:srgbClr val="ffffff"/>
              </a:solidFill>
              <a:latin typeface="Arial"/>
            </a:endParaRPr>
          </a:p>
        </p:txBody>
      </p:sp>
      <p:sp>
        <p:nvSpPr>
          <p:cNvPr id="311" name="Shape 31"/>
          <p:cNvSpPr/>
          <p:nvPr/>
        </p:nvSpPr>
        <p:spPr>
          <a:xfrm>
            <a:off x="8686800" y="5413320"/>
            <a:ext cx="137160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2" name="Text 32"/>
          <p:cNvSpPr/>
          <p:nvPr/>
        </p:nvSpPr>
        <p:spPr>
          <a:xfrm>
            <a:off x="8686800" y="5413320"/>
            <a:ext cx="137160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TensorFlow</a:t>
            </a:r>
            <a:endParaRPr b="0" lang="en-US" sz="1050" spc="-1" strike="noStrike">
              <a:solidFill>
                <a:srgbClr val="ffffff"/>
              </a:solidFill>
              <a:latin typeface="Arial"/>
            </a:endParaRPr>
          </a:p>
        </p:txBody>
      </p:sp>
      <p:sp>
        <p:nvSpPr>
          <p:cNvPr id="313" name="Shape 33"/>
          <p:cNvSpPr/>
          <p:nvPr/>
        </p:nvSpPr>
        <p:spPr>
          <a:xfrm>
            <a:off x="10287000" y="5413320"/>
            <a:ext cx="97812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4" name="Text 34"/>
          <p:cNvSpPr/>
          <p:nvPr/>
        </p:nvSpPr>
        <p:spPr>
          <a:xfrm>
            <a:off x="10287000" y="5413320"/>
            <a:ext cx="9781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Helm</a:t>
            </a:r>
            <a:endParaRPr b="0" lang="en-US" sz="1050" spc="-1" strike="noStrike">
              <a:solidFill>
                <a:srgbClr val="ffffff"/>
              </a:solidFill>
              <a:latin typeface="Arial"/>
            </a:endParaRPr>
          </a:p>
        </p:txBody>
      </p:sp>
      <p:sp>
        <p:nvSpPr>
          <p:cNvPr id="315" name="Shape 35"/>
          <p:cNvSpPr/>
          <p:nvPr/>
        </p:nvSpPr>
        <p:spPr>
          <a:xfrm>
            <a:off x="9966960" y="4883040"/>
            <a:ext cx="1463040" cy="40212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6" name="Text 36"/>
          <p:cNvSpPr/>
          <p:nvPr/>
        </p:nvSpPr>
        <p:spPr>
          <a:xfrm>
            <a:off x="9966960" y="4883040"/>
            <a:ext cx="1463040" cy="374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ea typeface="Calibri"/>
              </a:rPr>
              <a:t>OpenTelemetry</a:t>
            </a:r>
            <a:endParaRPr b="0" lang="en-US" sz="1050" spc="-1" strike="noStrike">
              <a:solidFill>
                <a:srgbClr val="ffffff"/>
              </a:solidFill>
              <a:latin typeface="Arial"/>
            </a:endParaRPr>
          </a:p>
        </p:txBody>
      </p:sp>
      <p:sp>
        <p:nvSpPr>
          <p:cNvPr id="317" name="Text 37"/>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Permissive Licenses</a:t>
            </a:r>
            <a:endParaRPr b="0" lang="en-US" sz="900" spc="-1" strike="noStrike">
              <a:solidFill>
                <a:srgbClr val="ffffff"/>
              </a:solidFill>
              <a:latin typeface="Arial"/>
            </a:endParaRPr>
          </a:p>
        </p:txBody>
      </p:sp>
      <p:sp>
        <p:nvSpPr>
          <p:cNvPr id="318" name="Text 38"/>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7</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319"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4 · COPYLEFT LICENSES</a:t>
            </a:r>
            <a:endParaRPr b="0" lang="en-US" sz="1150" spc="-1" strike="noStrike">
              <a:solidFill>
                <a:srgbClr val="ffffff"/>
              </a:solidFill>
              <a:latin typeface="Arial"/>
            </a:endParaRPr>
          </a:p>
        </p:txBody>
      </p:sp>
      <p:sp>
        <p:nvSpPr>
          <p:cNvPr id="320"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Weak Copyleft: LGPL &amp; MPL 2.0</a:t>
            </a:r>
            <a:endParaRPr b="0" lang="en-US" sz="2700" spc="-1" strike="noStrike">
              <a:solidFill>
                <a:srgbClr val="ffffff"/>
              </a:solidFill>
              <a:latin typeface="Arial"/>
            </a:endParaRPr>
          </a:p>
        </p:txBody>
      </p:sp>
      <p:sp>
        <p:nvSpPr>
          <p:cNvPr id="321"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Protecting the component, not the whole application</a:t>
            </a:r>
            <a:endParaRPr b="0" lang="en-US" sz="1250" spc="-1" strike="noStrike">
              <a:solidFill>
                <a:srgbClr val="ffffff"/>
              </a:solidFill>
              <a:latin typeface="Arial"/>
            </a:endParaRPr>
          </a:p>
        </p:txBody>
      </p:sp>
      <p:sp>
        <p:nvSpPr>
          <p:cNvPr id="322" name="Shape 3"/>
          <p:cNvSpPr/>
          <p:nvPr/>
        </p:nvSpPr>
        <p:spPr>
          <a:xfrm>
            <a:off x="548640" y="1536120"/>
            <a:ext cx="5348880" cy="4590000"/>
          </a:xfrm>
          <a:prstGeom prst="roundRect">
            <a:avLst>
              <a:gd name="adj" fmla="val 1793"/>
            </a:avLst>
          </a:prstGeom>
          <a:solidFill>
            <a:srgbClr val="1a1e4f"/>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3" name="Shape 4"/>
          <p:cNvSpPr/>
          <p:nvPr/>
        </p:nvSpPr>
        <p:spPr>
          <a:xfrm>
            <a:off x="822960" y="1774080"/>
            <a:ext cx="548280" cy="54828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24" name="Image 0" descr="/home/claude/work/icons/key_0F1035.png"/>
          <p:cNvPicPr/>
          <p:nvPr/>
        </p:nvPicPr>
        <p:blipFill>
          <a:blip r:embed="rId1"/>
          <a:stretch/>
        </p:blipFill>
        <p:spPr>
          <a:xfrm>
            <a:off x="946440" y="1897560"/>
            <a:ext cx="301320" cy="301320"/>
          </a:xfrm>
          <a:prstGeom prst="rect">
            <a:avLst/>
          </a:prstGeom>
          <a:ln w="0">
            <a:noFill/>
          </a:ln>
        </p:spPr>
      </p:pic>
      <p:sp>
        <p:nvSpPr>
          <p:cNvPr id="325" name="Text 5"/>
          <p:cNvSpPr/>
          <p:nvPr/>
        </p:nvSpPr>
        <p:spPr>
          <a:xfrm>
            <a:off x="1481400" y="1755720"/>
            <a:ext cx="416016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spcBef>
                <a:spcPts val="1191"/>
              </a:spcBef>
              <a:spcAft>
                <a:spcPts val="992"/>
              </a:spcAft>
              <a:tabLst>
                <a:tab algn="l" pos="0"/>
              </a:tabLst>
            </a:pPr>
            <a:r>
              <a:rPr b="1" lang="en-US" sz="1600" spc="-1" strike="noStrike">
                <a:solidFill>
                  <a:srgbClr val="ffffff"/>
                </a:solidFill>
                <a:latin typeface="Cambria"/>
                <a:ea typeface="Cambria"/>
              </a:rPr>
              <a:t>LGPL: GNU Lesser General Public License</a:t>
            </a:r>
            <a:endParaRPr b="0" lang="en-US" sz="1600" spc="-1" strike="noStrike">
              <a:solidFill>
                <a:srgbClr val="ffffff"/>
              </a:solidFill>
              <a:latin typeface="Arial"/>
            </a:endParaRPr>
          </a:p>
        </p:txBody>
      </p:sp>
      <p:sp>
        <p:nvSpPr>
          <p:cNvPr id="326" name="Text 6"/>
          <p:cNvSpPr/>
          <p:nvPr/>
        </p:nvSpPr>
        <p:spPr>
          <a:xfrm>
            <a:off x="868680" y="245052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5a623"/>
                </a:solidFill>
                <a:latin typeface="Calibri"/>
                <a:ea typeface="Calibri"/>
              </a:rPr>
              <a:t>Philosophy</a:t>
            </a:r>
            <a:endParaRPr b="0" lang="en-US" sz="1200" spc="-1" strike="noStrike">
              <a:solidFill>
                <a:srgbClr val="ffffff"/>
              </a:solidFill>
              <a:latin typeface="Arial"/>
            </a:endParaRPr>
          </a:p>
        </p:txBody>
      </p:sp>
      <p:sp>
        <p:nvSpPr>
          <p:cNvPr id="327" name="Text 7"/>
          <p:cNvSpPr/>
          <p:nvPr/>
        </p:nvSpPr>
        <p:spPr>
          <a:xfrm>
            <a:off x="868680" y="2706480"/>
            <a:ext cx="4708800" cy="5299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Protect improvements to the library itself, without forcing every application that uses it to become open source.</a:t>
            </a:r>
            <a:endParaRPr b="0" lang="en-US" sz="1100" spc="-1" strike="noStrike">
              <a:solidFill>
                <a:srgbClr val="ffffff"/>
              </a:solidFill>
              <a:latin typeface="Arial"/>
            </a:endParaRPr>
          </a:p>
        </p:txBody>
      </p:sp>
      <p:sp>
        <p:nvSpPr>
          <p:cNvPr id="328" name="Shape 8"/>
          <p:cNvSpPr/>
          <p:nvPr/>
        </p:nvSpPr>
        <p:spPr>
          <a:xfrm>
            <a:off x="868680" y="330084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29" name="Text 9"/>
          <p:cNvSpPr/>
          <p:nvPr/>
        </p:nvSpPr>
        <p:spPr>
          <a:xfrm>
            <a:off x="868680" y="339228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5a623"/>
                </a:solidFill>
                <a:latin typeface="Calibri"/>
                <a:ea typeface="Calibri"/>
              </a:rPr>
              <a:t>What Must Be Shared</a:t>
            </a:r>
            <a:endParaRPr b="0" lang="en-US" sz="1200" spc="-1" strike="noStrike">
              <a:solidFill>
                <a:srgbClr val="ffffff"/>
              </a:solidFill>
              <a:latin typeface="Arial"/>
            </a:endParaRPr>
          </a:p>
        </p:txBody>
      </p:sp>
      <p:sp>
        <p:nvSpPr>
          <p:cNvPr id="330" name="Text 10"/>
          <p:cNvSpPr/>
          <p:nvPr/>
        </p:nvSpPr>
        <p:spPr>
          <a:xfrm>
            <a:off x="868680" y="3648600"/>
            <a:ext cx="4708800" cy="420120"/>
          </a:xfrm>
          <a:prstGeom prst="rect">
            <a:avLst/>
          </a:prstGeom>
          <a:noFill/>
          <a:ln w="0">
            <a:noFill/>
          </a:ln>
        </p:spPr>
        <p:style>
          <a:lnRef idx="0"/>
          <a:fillRef idx="0"/>
          <a:effectRef idx="0"/>
          <a:fontRef idx="minor"/>
        </p:style>
        <p:txBody>
          <a:bodyPr lIns="0" rIns="0" tIns="0" bIns="0" anchor="ctr">
            <a:noAutofit/>
          </a:bodyPr>
          <a:p>
            <a:pPr defTabSz="914400">
              <a:lnSpc>
                <a:spcPct val="110000"/>
              </a:lnSpc>
              <a:spcBef>
                <a:spcPts val="1191"/>
              </a:spcBef>
              <a:spcAft>
                <a:spcPts val="992"/>
              </a:spcAft>
              <a:tabLst>
                <a:tab algn="l" pos="0"/>
              </a:tabLst>
            </a:pPr>
            <a:r>
              <a:rPr b="0" lang="en-US" sz="1100" spc="-1" strike="noStrike">
                <a:solidFill>
                  <a:srgbClr val="c7cdeb"/>
                </a:solidFill>
                <a:latin typeface="Calibri"/>
                <a:ea typeface="Calibri"/>
              </a:rPr>
              <a:t>Modifications to the LGPL-covered library must be shared under LGPL when distributed. LGPL wants improvements to the library to remain open.</a:t>
            </a:r>
            <a:endParaRPr b="0" lang="en-US" sz="1100" spc="-1" strike="noStrike">
              <a:solidFill>
                <a:srgbClr val="ffffff"/>
              </a:solidFill>
              <a:latin typeface="Arial"/>
            </a:endParaRPr>
          </a:p>
        </p:txBody>
      </p:sp>
      <p:sp>
        <p:nvSpPr>
          <p:cNvPr id="331" name="Shape 11"/>
          <p:cNvSpPr/>
          <p:nvPr/>
        </p:nvSpPr>
        <p:spPr>
          <a:xfrm>
            <a:off x="868680" y="411480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32" name="Text 12"/>
          <p:cNvSpPr/>
          <p:nvPr/>
        </p:nvSpPr>
        <p:spPr>
          <a:xfrm>
            <a:off x="868680" y="425196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5a623"/>
                </a:solidFill>
                <a:latin typeface="Calibri"/>
                <a:ea typeface="Calibri"/>
              </a:rPr>
              <a:t>Commercial Use</a:t>
            </a:r>
            <a:endParaRPr b="0" lang="en-US" sz="1200" spc="-1" strike="noStrike">
              <a:solidFill>
                <a:srgbClr val="ffffff"/>
              </a:solidFill>
              <a:latin typeface="Arial"/>
            </a:endParaRPr>
          </a:p>
        </p:txBody>
      </p:sp>
      <p:sp>
        <p:nvSpPr>
          <p:cNvPr id="333" name="Text 13"/>
          <p:cNvSpPr/>
          <p:nvPr/>
        </p:nvSpPr>
        <p:spPr>
          <a:xfrm>
            <a:off x="868680" y="4434840"/>
            <a:ext cx="4708800" cy="420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Fully allowed — proprietary apps may link to LGPL libraries.</a:t>
            </a:r>
            <a:endParaRPr b="0" lang="en-US" sz="1100" spc="-1" strike="noStrike">
              <a:solidFill>
                <a:srgbClr val="ffffff"/>
              </a:solidFill>
              <a:latin typeface="Arial"/>
            </a:endParaRPr>
          </a:p>
        </p:txBody>
      </p:sp>
      <p:sp>
        <p:nvSpPr>
          <p:cNvPr id="334" name="Shape 14"/>
          <p:cNvSpPr/>
          <p:nvPr/>
        </p:nvSpPr>
        <p:spPr>
          <a:xfrm>
            <a:off x="868680" y="492840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35" name="Text 15"/>
          <p:cNvSpPr/>
          <p:nvPr/>
        </p:nvSpPr>
        <p:spPr>
          <a:xfrm>
            <a:off x="868680" y="502020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5a623"/>
                </a:solidFill>
                <a:latin typeface="Calibri"/>
                <a:ea typeface="Calibri"/>
              </a:rPr>
              <a:t>Unique Characteristics</a:t>
            </a:r>
            <a:endParaRPr b="0" lang="en-US" sz="1200" spc="-1" strike="noStrike">
              <a:solidFill>
                <a:srgbClr val="ffffff"/>
              </a:solidFill>
              <a:latin typeface="Arial"/>
            </a:endParaRPr>
          </a:p>
        </p:txBody>
      </p:sp>
      <p:sp>
        <p:nvSpPr>
          <p:cNvPr id="336" name="Text 16"/>
          <p:cNvSpPr/>
          <p:nvPr/>
        </p:nvSpPr>
        <p:spPr>
          <a:xfrm>
            <a:off x="868680" y="5276160"/>
            <a:ext cx="4708800" cy="62136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Designed mainly for libraries &amp; SDKs</a:t>
            </a:r>
            <a:endParaRPr b="0" lang="en-US" sz="1100" spc="-1" strike="noStrike">
              <a:solidFill>
                <a:srgbClr val="ffffff"/>
              </a:solidFill>
              <a:latin typeface="Arial"/>
            </a:endParaRPr>
          </a:p>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Application using the library can stay proprietary</a:t>
            </a:r>
            <a:endParaRPr b="0" lang="en-US" sz="1100" spc="-1" strike="noStrike">
              <a:solidFill>
                <a:srgbClr val="ffffff"/>
              </a:solidFill>
              <a:latin typeface="Arial"/>
            </a:endParaRPr>
          </a:p>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A compromise between MIT and GPL</a:t>
            </a:r>
            <a:endParaRPr b="0" lang="en-US" sz="1100" spc="-1" strike="noStrike">
              <a:solidFill>
                <a:srgbClr val="ffffff"/>
              </a:solidFill>
              <a:latin typeface="Arial"/>
            </a:endParaRPr>
          </a:p>
        </p:txBody>
      </p:sp>
      <p:sp>
        <p:nvSpPr>
          <p:cNvPr id="337" name="Text 17"/>
          <p:cNvSpPr/>
          <p:nvPr/>
        </p:nvSpPr>
        <p:spPr>
          <a:xfrm>
            <a:off x="868680" y="5934600"/>
            <a:ext cx="4708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ffffff"/>
              </a:solidFill>
              <a:latin typeface="Arial"/>
            </a:endParaRPr>
          </a:p>
        </p:txBody>
      </p:sp>
      <p:sp>
        <p:nvSpPr>
          <p:cNvPr id="338" name="Shape 18"/>
          <p:cNvSpPr/>
          <p:nvPr/>
        </p:nvSpPr>
        <p:spPr>
          <a:xfrm>
            <a:off x="868680" y="6209280"/>
            <a:ext cx="4708800" cy="32868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9" name="Text 19"/>
          <p:cNvSpPr/>
          <p:nvPr/>
        </p:nvSpPr>
        <p:spPr>
          <a:xfrm>
            <a:off x="868680" y="6172200"/>
            <a:ext cx="4708800" cy="365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80" spc="-1" strike="noStrike">
                <a:solidFill>
                  <a:srgbClr val="ffffff"/>
                </a:solidFill>
                <a:latin typeface="Calibri"/>
                <a:ea typeface="Calibri"/>
              </a:rPr>
              <a:t>Example Projects: FFmpeg (parts), GTK, glibc</a:t>
            </a:r>
            <a:endParaRPr b="0" lang="en-US" sz="980" spc="-1" strike="noStrike">
              <a:solidFill>
                <a:srgbClr val="ffffff"/>
              </a:solidFill>
              <a:latin typeface="Arial"/>
            </a:endParaRPr>
          </a:p>
        </p:txBody>
      </p:sp>
      <p:sp>
        <p:nvSpPr>
          <p:cNvPr id="340" name="Shape 20"/>
          <p:cNvSpPr/>
          <p:nvPr/>
        </p:nvSpPr>
        <p:spPr>
          <a:xfrm>
            <a:off x="6263640" y="1536120"/>
            <a:ext cx="5348880" cy="4590000"/>
          </a:xfrm>
          <a:prstGeom prst="roundRect">
            <a:avLst>
              <a:gd name="adj" fmla="val 1793"/>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1" name="Shape 21"/>
          <p:cNvSpPr/>
          <p:nvPr/>
        </p:nvSpPr>
        <p:spPr>
          <a:xfrm>
            <a:off x="6537960" y="1774080"/>
            <a:ext cx="548280" cy="54828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42" name="Image 1" descr="/home/claude/work/icons/fileexport_0F1035.png"/>
          <p:cNvPicPr/>
          <p:nvPr/>
        </p:nvPicPr>
        <p:blipFill>
          <a:blip r:embed="rId2"/>
          <a:stretch/>
        </p:blipFill>
        <p:spPr>
          <a:xfrm>
            <a:off x="6661440" y="1897560"/>
            <a:ext cx="301320" cy="301320"/>
          </a:xfrm>
          <a:prstGeom prst="rect">
            <a:avLst/>
          </a:prstGeom>
          <a:ln w="0">
            <a:noFill/>
          </a:ln>
        </p:spPr>
      </p:pic>
      <p:sp>
        <p:nvSpPr>
          <p:cNvPr id="343" name="Text 22"/>
          <p:cNvSpPr/>
          <p:nvPr/>
        </p:nvSpPr>
        <p:spPr>
          <a:xfrm>
            <a:off x="7196400" y="1755720"/>
            <a:ext cx="416016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spcBef>
                <a:spcPts val="1191"/>
              </a:spcBef>
              <a:spcAft>
                <a:spcPts val="992"/>
              </a:spcAft>
              <a:tabLst>
                <a:tab algn="l" pos="0"/>
              </a:tabLst>
            </a:pPr>
            <a:r>
              <a:rPr b="1" lang="en-US" sz="1600" spc="-1" strike="noStrike">
                <a:solidFill>
                  <a:srgbClr val="ffffff"/>
                </a:solidFill>
                <a:latin typeface="Cambria"/>
                <a:ea typeface="Cambria"/>
              </a:rPr>
              <a:t>MPL 2.0: Mozilla Public License</a:t>
            </a:r>
            <a:endParaRPr b="0" lang="en-US" sz="1600" spc="-1" strike="noStrike">
              <a:solidFill>
                <a:srgbClr val="ffffff"/>
              </a:solidFill>
              <a:latin typeface="Arial"/>
            </a:endParaRPr>
          </a:p>
        </p:txBody>
      </p:sp>
      <p:sp>
        <p:nvSpPr>
          <p:cNvPr id="344" name="Text 23"/>
          <p:cNvSpPr/>
          <p:nvPr/>
        </p:nvSpPr>
        <p:spPr>
          <a:xfrm>
            <a:off x="6583680" y="245052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5a623"/>
                </a:solidFill>
                <a:latin typeface="Calibri"/>
                <a:ea typeface="Calibri"/>
              </a:rPr>
              <a:t>Philosophy</a:t>
            </a:r>
            <a:endParaRPr b="0" lang="en-US" sz="1200" spc="-1" strike="noStrike">
              <a:solidFill>
                <a:srgbClr val="ffffff"/>
              </a:solidFill>
              <a:latin typeface="Arial"/>
            </a:endParaRPr>
          </a:p>
        </p:txBody>
      </p:sp>
      <p:sp>
        <p:nvSpPr>
          <p:cNvPr id="345" name="Text 24"/>
          <p:cNvSpPr/>
          <p:nvPr/>
        </p:nvSpPr>
        <p:spPr>
          <a:xfrm>
            <a:off x="6583680" y="2706480"/>
            <a:ext cx="4708800" cy="5299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File-level copyleft: if you modify an MPL file and distribute it, that file must stay open — new files can use another license.</a:t>
            </a:r>
            <a:endParaRPr b="0" lang="en-US" sz="1100" spc="-1" strike="noStrike">
              <a:solidFill>
                <a:srgbClr val="ffffff"/>
              </a:solidFill>
              <a:latin typeface="Arial"/>
            </a:endParaRPr>
          </a:p>
        </p:txBody>
      </p:sp>
      <p:sp>
        <p:nvSpPr>
          <p:cNvPr id="346" name="Shape 25"/>
          <p:cNvSpPr/>
          <p:nvPr/>
        </p:nvSpPr>
        <p:spPr>
          <a:xfrm>
            <a:off x="6583680" y="330084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47" name="Text 26"/>
          <p:cNvSpPr/>
          <p:nvPr/>
        </p:nvSpPr>
        <p:spPr>
          <a:xfrm>
            <a:off x="6583680" y="339228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5a623"/>
                </a:solidFill>
                <a:latin typeface="Calibri"/>
                <a:ea typeface="Calibri"/>
              </a:rPr>
              <a:t>What Must Be Shared</a:t>
            </a:r>
            <a:endParaRPr b="0" lang="en-US" sz="1200" spc="-1" strike="noStrike">
              <a:solidFill>
                <a:srgbClr val="ffffff"/>
              </a:solidFill>
              <a:latin typeface="Arial"/>
            </a:endParaRPr>
          </a:p>
        </p:txBody>
      </p:sp>
      <p:sp>
        <p:nvSpPr>
          <p:cNvPr id="348" name="Text 27"/>
          <p:cNvSpPr/>
          <p:nvPr/>
        </p:nvSpPr>
        <p:spPr>
          <a:xfrm>
            <a:off x="6583680" y="3648600"/>
            <a:ext cx="4708800" cy="420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Only the modified MPL-covered files must be shared, when distributed.</a:t>
            </a:r>
            <a:endParaRPr b="0" lang="en-US" sz="1100" spc="-1" strike="noStrike">
              <a:solidFill>
                <a:srgbClr val="ffffff"/>
              </a:solidFill>
              <a:latin typeface="Arial"/>
            </a:endParaRPr>
          </a:p>
        </p:txBody>
      </p:sp>
      <p:sp>
        <p:nvSpPr>
          <p:cNvPr id="349" name="Shape 28"/>
          <p:cNvSpPr/>
          <p:nvPr/>
        </p:nvSpPr>
        <p:spPr>
          <a:xfrm>
            <a:off x="6583680" y="411480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50" name="Text 29"/>
          <p:cNvSpPr/>
          <p:nvPr/>
        </p:nvSpPr>
        <p:spPr>
          <a:xfrm>
            <a:off x="6583680" y="425196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5a623"/>
                </a:solidFill>
                <a:latin typeface="Calibri"/>
                <a:ea typeface="Calibri"/>
              </a:rPr>
              <a:t>Commercial Use</a:t>
            </a:r>
            <a:endParaRPr b="0" lang="en-US" sz="1200" spc="-1" strike="noStrike">
              <a:solidFill>
                <a:srgbClr val="ffffff"/>
              </a:solidFill>
              <a:latin typeface="Arial"/>
            </a:endParaRPr>
          </a:p>
        </p:txBody>
      </p:sp>
      <p:sp>
        <p:nvSpPr>
          <p:cNvPr id="351" name="Text 30"/>
          <p:cNvSpPr/>
          <p:nvPr/>
        </p:nvSpPr>
        <p:spPr>
          <a:xfrm>
            <a:off x="6583680" y="4434840"/>
            <a:ext cx="4708800" cy="420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Fully allowed — proprietary files can sit alongside MPL files in the same project.</a:t>
            </a:r>
            <a:endParaRPr b="0" lang="en-US" sz="1100" spc="-1" strike="noStrike">
              <a:solidFill>
                <a:srgbClr val="ffffff"/>
              </a:solidFill>
              <a:latin typeface="Arial"/>
            </a:endParaRPr>
          </a:p>
        </p:txBody>
      </p:sp>
      <p:sp>
        <p:nvSpPr>
          <p:cNvPr id="352" name="Shape 31"/>
          <p:cNvSpPr/>
          <p:nvPr/>
        </p:nvSpPr>
        <p:spPr>
          <a:xfrm>
            <a:off x="6583680" y="492840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53" name="Text 32"/>
          <p:cNvSpPr/>
          <p:nvPr/>
        </p:nvSpPr>
        <p:spPr>
          <a:xfrm>
            <a:off x="6583680" y="502020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f5a623"/>
                </a:solidFill>
                <a:latin typeface="Calibri"/>
                <a:ea typeface="Calibri"/>
              </a:rPr>
              <a:t>Unique Characteristics</a:t>
            </a:r>
            <a:endParaRPr b="0" lang="en-US" sz="1200" spc="-1" strike="noStrike">
              <a:solidFill>
                <a:srgbClr val="ffffff"/>
              </a:solidFill>
              <a:latin typeface="Arial"/>
            </a:endParaRPr>
          </a:p>
        </p:txBody>
      </p:sp>
      <p:sp>
        <p:nvSpPr>
          <p:cNvPr id="354" name="Text 33"/>
          <p:cNvSpPr/>
          <p:nvPr/>
        </p:nvSpPr>
        <p:spPr>
          <a:xfrm>
            <a:off x="6583680" y="5276160"/>
            <a:ext cx="4708800" cy="62136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Protects individual source files, not the project</a:t>
            </a:r>
            <a:endParaRPr b="0" lang="en-US" sz="1100" spc="-1" strike="noStrike">
              <a:solidFill>
                <a:srgbClr val="ffffff"/>
              </a:solidFill>
              <a:latin typeface="Arial"/>
            </a:endParaRPr>
          </a:p>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More flexible than GPL</a:t>
            </a:r>
            <a:endParaRPr b="0" lang="en-US" sz="1100" spc="-1" strike="noStrike">
              <a:solidFill>
                <a:srgbClr val="ffffff"/>
              </a:solidFill>
              <a:latin typeface="Arial"/>
            </a:endParaRPr>
          </a:p>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Encourages contributions per file</a:t>
            </a:r>
            <a:endParaRPr b="0" lang="en-US" sz="1100" spc="-1" strike="noStrike">
              <a:solidFill>
                <a:srgbClr val="ffffff"/>
              </a:solidFill>
              <a:latin typeface="Arial"/>
            </a:endParaRPr>
          </a:p>
        </p:txBody>
      </p:sp>
      <p:sp>
        <p:nvSpPr>
          <p:cNvPr id="355" name="Text 34"/>
          <p:cNvSpPr/>
          <p:nvPr/>
        </p:nvSpPr>
        <p:spPr>
          <a:xfrm>
            <a:off x="6583680" y="5934600"/>
            <a:ext cx="4708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ffffff"/>
              </a:solidFill>
              <a:latin typeface="Arial"/>
            </a:endParaRPr>
          </a:p>
        </p:txBody>
      </p:sp>
      <p:sp>
        <p:nvSpPr>
          <p:cNvPr id="356" name="Shape 35"/>
          <p:cNvSpPr/>
          <p:nvPr/>
        </p:nvSpPr>
        <p:spPr>
          <a:xfrm>
            <a:off x="6583680" y="6209280"/>
            <a:ext cx="4708800" cy="32868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7" name="Text 36"/>
          <p:cNvSpPr/>
          <p:nvPr/>
        </p:nvSpPr>
        <p:spPr>
          <a:xfrm>
            <a:off x="6583680" y="6209280"/>
            <a:ext cx="47088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80" spc="-1" strike="noStrike">
                <a:solidFill>
                  <a:srgbClr val="ffffff"/>
                </a:solidFill>
                <a:latin typeface="Calibri"/>
                <a:ea typeface="Calibri"/>
              </a:rPr>
              <a:t>Example Projects: </a:t>
            </a:r>
            <a:r>
              <a:rPr b="1" lang="en-US" sz="980" spc="-1" strike="noStrike">
                <a:solidFill>
                  <a:srgbClr val="ffffff"/>
                </a:solidFill>
                <a:latin typeface="Calibri"/>
                <a:ea typeface="Calibri"/>
              </a:rPr>
              <a:t>Firefox, Thunderbird, OpenTofu</a:t>
            </a:r>
            <a:endParaRPr b="0" lang="en-US" sz="980" spc="-1" strike="noStrike">
              <a:solidFill>
                <a:srgbClr val="ffffff"/>
              </a:solidFill>
              <a:latin typeface="Arial"/>
            </a:endParaRPr>
          </a:p>
        </p:txBody>
      </p:sp>
      <p:sp>
        <p:nvSpPr>
          <p:cNvPr id="358" name="Text 37"/>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Copyleft Licenses</a:t>
            </a:r>
            <a:endParaRPr b="0" lang="en-US" sz="900" spc="-1" strike="noStrike">
              <a:solidFill>
                <a:srgbClr val="ffffff"/>
              </a:solidFill>
              <a:latin typeface="Arial"/>
            </a:endParaRPr>
          </a:p>
        </p:txBody>
      </p:sp>
      <p:sp>
        <p:nvSpPr>
          <p:cNvPr id="359" name="Text 38"/>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8</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360"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4 · COPYLEFT LICENSES</a:t>
            </a:r>
            <a:endParaRPr b="0" lang="en-US" sz="1150" spc="-1" strike="noStrike">
              <a:solidFill>
                <a:srgbClr val="ffffff"/>
              </a:solidFill>
              <a:latin typeface="Arial"/>
            </a:endParaRPr>
          </a:p>
        </p:txBody>
      </p:sp>
      <p:sp>
        <p:nvSpPr>
          <p:cNvPr id="361"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Strong Copyleft: GPL &amp; AGPL</a:t>
            </a:r>
            <a:endParaRPr b="0" lang="en-US" sz="2700" spc="-1" strike="noStrike">
              <a:solidFill>
                <a:srgbClr val="ffffff"/>
              </a:solidFill>
              <a:latin typeface="Arial"/>
            </a:endParaRPr>
          </a:p>
        </p:txBody>
      </p:sp>
      <p:sp>
        <p:nvSpPr>
          <p:cNvPr id="362"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Preserving software freedom for every distributed derivative</a:t>
            </a:r>
            <a:endParaRPr b="0" lang="en-US" sz="1250" spc="-1" strike="noStrike">
              <a:solidFill>
                <a:srgbClr val="ffffff"/>
              </a:solidFill>
              <a:latin typeface="Arial"/>
            </a:endParaRPr>
          </a:p>
        </p:txBody>
      </p:sp>
      <p:sp>
        <p:nvSpPr>
          <p:cNvPr id="363" name="Shape 3"/>
          <p:cNvSpPr/>
          <p:nvPr/>
        </p:nvSpPr>
        <p:spPr>
          <a:xfrm>
            <a:off x="548640" y="1536120"/>
            <a:ext cx="5348880" cy="4590000"/>
          </a:xfrm>
          <a:prstGeom prst="roundRect">
            <a:avLst>
              <a:gd name="adj" fmla="val 1793"/>
            </a:avLst>
          </a:prstGeom>
          <a:solidFill>
            <a:srgbClr val="1a1e4f"/>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4" name="Shape 4"/>
          <p:cNvSpPr/>
          <p:nvPr/>
        </p:nvSpPr>
        <p:spPr>
          <a:xfrm>
            <a:off x="822960" y="1774080"/>
            <a:ext cx="548280" cy="54828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65" name="Image 0" descr="/home/claude/work/icons/shield_0F1035.png"/>
          <p:cNvPicPr/>
          <p:nvPr/>
        </p:nvPicPr>
        <p:blipFill>
          <a:blip r:embed="rId1"/>
          <a:stretch/>
        </p:blipFill>
        <p:spPr>
          <a:xfrm>
            <a:off x="946440" y="1897560"/>
            <a:ext cx="301320" cy="301320"/>
          </a:xfrm>
          <a:prstGeom prst="rect">
            <a:avLst/>
          </a:prstGeom>
          <a:ln w="0">
            <a:noFill/>
          </a:ln>
        </p:spPr>
      </p:pic>
      <p:sp>
        <p:nvSpPr>
          <p:cNvPr id="366" name="Text 5"/>
          <p:cNvSpPr/>
          <p:nvPr/>
        </p:nvSpPr>
        <p:spPr>
          <a:xfrm>
            <a:off x="1481400" y="1755720"/>
            <a:ext cx="416016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spcBef>
                <a:spcPts val="1191"/>
              </a:spcBef>
              <a:spcAft>
                <a:spcPts val="992"/>
              </a:spcAft>
              <a:tabLst>
                <a:tab algn="l" pos="0"/>
              </a:tabLst>
            </a:pPr>
            <a:r>
              <a:rPr b="1" lang="en-US" sz="1600" spc="-1" strike="noStrike">
                <a:solidFill>
                  <a:srgbClr val="ffffff"/>
                </a:solidFill>
                <a:latin typeface="Cambria"/>
                <a:ea typeface="Cambria"/>
              </a:rPr>
              <a:t>GPL (v2 / v3): GNU General Public License</a:t>
            </a:r>
            <a:endParaRPr b="0" lang="en-US" sz="1600" spc="-1" strike="noStrike">
              <a:solidFill>
                <a:srgbClr val="ffffff"/>
              </a:solidFill>
              <a:latin typeface="Arial"/>
            </a:endParaRPr>
          </a:p>
        </p:txBody>
      </p:sp>
      <p:sp>
        <p:nvSpPr>
          <p:cNvPr id="367" name="Text 6"/>
          <p:cNvSpPr/>
          <p:nvPr/>
        </p:nvSpPr>
        <p:spPr>
          <a:xfrm>
            <a:off x="868680" y="245052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5a623"/>
                </a:solidFill>
                <a:latin typeface="Calibri"/>
                <a:ea typeface="Calibri"/>
              </a:rPr>
              <a:t>Philosophy</a:t>
            </a:r>
            <a:endParaRPr b="0" lang="en-US" sz="1250" spc="-1" strike="noStrike">
              <a:solidFill>
                <a:srgbClr val="ffffff"/>
              </a:solidFill>
              <a:latin typeface="Arial"/>
            </a:endParaRPr>
          </a:p>
        </p:txBody>
      </p:sp>
      <p:sp>
        <p:nvSpPr>
          <p:cNvPr id="368" name="Text 7"/>
          <p:cNvSpPr/>
          <p:nvPr/>
        </p:nvSpPr>
        <p:spPr>
          <a:xfrm>
            <a:off x="868680" y="2706480"/>
            <a:ext cx="4708800" cy="5299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If you distribute software built from GPL-covered code, recipients should receive the same freedoms you received.</a:t>
            </a:r>
            <a:endParaRPr b="0" lang="en-US" sz="1100" spc="-1" strike="noStrike">
              <a:solidFill>
                <a:srgbClr val="ffffff"/>
              </a:solidFill>
              <a:latin typeface="Arial"/>
            </a:endParaRPr>
          </a:p>
        </p:txBody>
      </p:sp>
      <p:sp>
        <p:nvSpPr>
          <p:cNvPr id="369" name="Shape 8"/>
          <p:cNvSpPr/>
          <p:nvPr/>
        </p:nvSpPr>
        <p:spPr>
          <a:xfrm>
            <a:off x="868680" y="330084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0" name="Text 9"/>
          <p:cNvSpPr/>
          <p:nvPr/>
        </p:nvSpPr>
        <p:spPr>
          <a:xfrm>
            <a:off x="868680" y="339228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5a623"/>
                </a:solidFill>
                <a:latin typeface="Calibri"/>
                <a:ea typeface="Calibri"/>
              </a:rPr>
              <a:t>What Must Be Shared</a:t>
            </a:r>
            <a:endParaRPr b="0" lang="en-US" sz="1250" spc="-1" strike="noStrike">
              <a:solidFill>
                <a:srgbClr val="ffffff"/>
              </a:solidFill>
              <a:latin typeface="Arial"/>
            </a:endParaRPr>
          </a:p>
        </p:txBody>
      </p:sp>
      <p:sp>
        <p:nvSpPr>
          <p:cNvPr id="371" name="Text 10"/>
          <p:cNvSpPr/>
          <p:nvPr/>
        </p:nvSpPr>
        <p:spPr>
          <a:xfrm>
            <a:off x="868680" y="3648600"/>
            <a:ext cx="4708800" cy="420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Corresponding source code for distributed GPL-covered derivative works must be made available.</a:t>
            </a:r>
            <a:endParaRPr b="0" lang="en-US" sz="1100" spc="-1" strike="noStrike">
              <a:solidFill>
                <a:srgbClr val="ffffff"/>
              </a:solidFill>
              <a:latin typeface="Arial"/>
            </a:endParaRPr>
          </a:p>
        </p:txBody>
      </p:sp>
      <p:sp>
        <p:nvSpPr>
          <p:cNvPr id="372" name="Shape 11"/>
          <p:cNvSpPr/>
          <p:nvPr/>
        </p:nvSpPr>
        <p:spPr>
          <a:xfrm>
            <a:off x="868680" y="411480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3" name="Text 12"/>
          <p:cNvSpPr/>
          <p:nvPr/>
        </p:nvSpPr>
        <p:spPr>
          <a:xfrm>
            <a:off x="868680" y="420624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5a623"/>
                </a:solidFill>
                <a:latin typeface="Calibri"/>
                <a:ea typeface="Calibri"/>
              </a:rPr>
              <a:t>Commercial Use</a:t>
            </a:r>
            <a:endParaRPr b="0" lang="en-US" sz="1250" spc="-1" strike="noStrike">
              <a:solidFill>
                <a:srgbClr val="ffffff"/>
              </a:solidFill>
              <a:latin typeface="Arial"/>
            </a:endParaRPr>
          </a:p>
        </p:txBody>
      </p:sp>
      <p:sp>
        <p:nvSpPr>
          <p:cNvPr id="374" name="Text 13"/>
          <p:cNvSpPr/>
          <p:nvPr/>
        </p:nvSpPr>
        <p:spPr>
          <a:xfrm>
            <a:off x="868680" y="4462200"/>
            <a:ext cx="4708800" cy="420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Allowed — but proprietary distribution of covered derivative works is limited by GPL obligations.</a:t>
            </a:r>
            <a:endParaRPr b="0" lang="en-US" sz="1100" spc="-1" strike="noStrike">
              <a:solidFill>
                <a:srgbClr val="ffffff"/>
              </a:solidFill>
              <a:latin typeface="Arial"/>
            </a:endParaRPr>
          </a:p>
        </p:txBody>
      </p:sp>
      <p:sp>
        <p:nvSpPr>
          <p:cNvPr id="375" name="Shape 14"/>
          <p:cNvSpPr/>
          <p:nvPr/>
        </p:nvSpPr>
        <p:spPr>
          <a:xfrm>
            <a:off x="868680" y="492840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6" name="Text 15"/>
          <p:cNvSpPr/>
          <p:nvPr/>
        </p:nvSpPr>
        <p:spPr>
          <a:xfrm>
            <a:off x="868680" y="502020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5a623"/>
                </a:solidFill>
                <a:latin typeface="Calibri"/>
                <a:ea typeface="Calibri"/>
              </a:rPr>
              <a:t>Unique Characteristics</a:t>
            </a:r>
            <a:endParaRPr b="0" lang="en-US" sz="1250" spc="-1" strike="noStrike">
              <a:solidFill>
                <a:srgbClr val="ffffff"/>
              </a:solidFill>
              <a:latin typeface="Arial"/>
            </a:endParaRPr>
          </a:p>
        </p:txBody>
      </p:sp>
      <p:sp>
        <p:nvSpPr>
          <p:cNvPr id="377" name="Text 16"/>
          <p:cNvSpPr/>
          <p:nvPr/>
        </p:nvSpPr>
        <p:spPr>
          <a:xfrm>
            <a:off x="868680" y="5276160"/>
            <a:ext cx="4708800" cy="62136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GPLv2: simpler, used by Linux Kernel</a:t>
            </a:r>
            <a:endParaRPr b="0" lang="en-US" sz="1100" spc="-1" strike="noStrike">
              <a:solidFill>
                <a:srgbClr val="ffffff"/>
              </a:solidFill>
              <a:latin typeface="Arial"/>
            </a:endParaRPr>
          </a:p>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GPLv3: adds patent terms &amp; anti-Tivoization</a:t>
            </a:r>
            <a:endParaRPr b="0" lang="en-US" sz="1100" spc="-1" strike="noStrike">
              <a:solidFill>
                <a:srgbClr val="ffffff"/>
              </a:solidFill>
              <a:latin typeface="Arial"/>
            </a:endParaRPr>
          </a:p>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The best-known strong copyleft license</a:t>
            </a:r>
            <a:endParaRPr b="0" lang="en-US" sz="1100" spc="-1" strike="noStrike">
              <a:solidFill>
                <a:srgbClr val="ffffff"/>
              </a:solidFill>
              <a:latin typeface="Arial"/>
            </a:endParaRPr>
          </a:p>
        </p:txBody>
      </p:sp>
      <p:sp>
        <p:nvSpPr>
          <p:cNvPr id="378" name="Text 17"/>
          <p:cNvSpPr/>
          <p:nvPr/>
        </p:nvSpPr>
        <p:spPr>
          <a:xfrm>
            <a:off x="868680" y="5934600"/>
            <a:ext cx="4708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ffffff"/>
              </a:solidFill>
              <a:latin typeface="Arial"/>
            </a:endParaRPr>
          </a:p>
        </p:txBody>
      </p:sp>
      <p:sp>
        <p:nvSpPr>
          <p:cNvPr id="379" name="Shape 18"/>
          <p:cNvSpPr/>
          <p:nvPr/>
        </p:nvSpPr>
        <p:spPr>
          <a:xfrm>
            <a:off x="868680" y="6253200"/>
            <a:ext cx="4708800" cy="32868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0" name="Text 19"/>
          <p:cNvSpPr/>
          <p:nvPr/>
        </p:nvSpPr>
        <p:spPr>
          <a:xfrm>
            <a:off x="868680" y="6253200"/>
            <a:ext cx="47088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80" spc="-1" strike="noStrike">
                <a:solidFill>
                  <a:srgbClr val="ffffff"/>
                </a:solidFill>
                <a:latin typeface="Calibri"/>
                <a:ea typeface="Calibri"/>
              </a:rPr>
              <a:t>Example Projects: Linux Kernel (v2), Git (v2), GCC</a:t>
            </a:r>
            <a:endParaRPr b="0" lang="en-US" sz="980" spc="-1" strike="noStrike">
              <a:solidFill>
                <a:srgbClr val="ffffff"/>
              </a:solidFill>
              <a:latin typeface="Arial"/>
            </a:endParaRPr>
          </a:p>
        </p:txBody>
      </p:sp>
      <p:sp>
        <p:nvSpPr>
          <p:cNvPr id="381" name="Shape 20"/>
          <p:cNvSpPr/>
          <p:nvPr/>
        </p:nvSpPr>
        <p:spPr>
          <a:xfrm>
            <a:off x="6263640" y="1536120"/>
            <a:ext cx="5348880" cy="4590000"/>
          </a:xfrm>
          <a:prstGeom prst="roundRect">
            <a:avLst>
              <a:gd name="adj" fmla="val 1793"/>
            </a:avLst>
          </a:prstGeom>
          <a:solidFill>
            <a:srgbClr val="252a6b"/>
          </a:solidFill>
          <a:ln w="0">
            <a:noFill/>
          </a:ln>
          <a:effectLst>
            <a:outerShdw algn="bl" blurRad="101520" dir="5400000" dist="38160" kx="0" ky="0" rotWithShape="0" sx="100000" sy="100000">
              <a:srgbClr val="000000">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2" name="Shape 21"/>
          <p:cNvSpPr/>
          <p:nvPr/>
        </p:nvSpPr>
        <p:spPr>
          <a:xfrm>
            <a:off x="6537960" y="1774080"/>
            <a:ext cx="548280" cy="54828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83" name="Image 1" descr="/home/claude/work/icons/cloud_0F1035.png"/>
          <p:cNvPicPr/>
          <p:nvPr/>
        </p:nvPicPr>
        <p:blipFill>
          <a:blip r:embed="rId2"/>
          <a:stretch/>
        </p:blipFill>
        <p:spPr>
          <a:xfrm>
            <a:off x="6661440" y="1897560"/>
            <a:ext cx="301320" cy="301320"/>
          </a:xfrm>
          <a:prstGeom prst="rect">
            <a:avLst/>
          </a:prstGeom>
          <a:ln w="0">
            <a:noFill/>
          </a:ln>
        </p:spPr>
      </p:pic>
      <p:sp>
        <p:nvSpPr>
          <p:cNvPr id="384" name="Text 22"/>
          <p:cNvSpPr/>
          <p:nvPr/>
        </p:nvSpPr>
        <p:spPr>
          <a:xfrm>
            <a:off x="7196400" y="1755720"/>
            <a:ext cx="416016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spcBef>
                <a:spcPts val="1191"/>
              </a:spcBef>
              <a:spcAft>
                <a:spcPts val="992"/>
              </a:spcAft>
              <a:tabLst>
                <a:tab algn="l" pos="0"/>
              </a:tabLst>
            </a:pPr>
            <a:r>
              <a:rPr b="1" lang="en-US" sz="1600" spc="-1" strike="noStrike">
                <a:solidFill>
                  <a:srgbClr val="ffffff"/>
                </a:solidFill>
                <a:latin typeface="Cambria"/>
                <a:ea typeface="Cambria"/>
              </a:rPr>
              <a:t>AGPL: GNU Affero General Public License</a:t>
            </a:r>
            <a:endParaRPr b="0" lang="en-US" sz="1600" spc="-1" strike="noStrike">
              <a:solidFill>
                <a:srgbClr val="ffffff"/>
              </a:solidFill>
              <a:latin typeface="Arial"/>
            </a:endParaRPr>
          </a:p>
        </p:txBody>
      </p:sp>
      <p:sp>
        <p:nvSpPr>
          <p:cNvPr id="385" name="Text 23"/>
          <p:cNvSpPr/>
          <p:nvPr/>
        </p:nvSpPr>
        <p:spPr>
          <a:xfrm>
            <a:off x="6583680" y="245052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5a623"/>
                </a:solidFill>
                <a:latin typeface="Calibri"/>
                <a:ea typeface="Calibri"/>
              </a:rPr>
              <a:t>Philosophy</a:t>
            </a:r>
            <a:endParaRPr b="0" lang="en-US" sz="1250" spc="-1" strike="noStrike">
              <a:solidFill>
                <a:srgbClr val="ffffff"/>
              </a:solidFill>
              <a:latin typeface="Arial"/>
            </a:endParaRPr>
          </a:p>
        </p:txBody>
      </p:sp>
      <p:sp>
        <p:nvSpPr>
          <p:cNvPr id="386" name="Text 24"/>
          <p:cNvSpPr/>
          <p:nvPr/>
        </p:nvSpPr>
        <p:spPr>
          <a:xfrm>
            <a:off x="6583680" y="2706480"/>
            <a:ext cx="4708800" cy="5299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Users interacting with modified software over a network should also receive access to the corresponding source code.</a:t>
            </a:r>
            <a:endParaRPr b="0" lang="en-US" sz="1100" spc="-1" strike="noStrike">
              <a:solidFill>
                <a:srgbClr val="ffffff"/>
              </a:solidFill>
              <a:latin typeface="Arial"/>
            </a:endParaRPr>
          </a:p>
        </p:txBody>
      </p:sp>
      <p:sp>
        <p:nvSpPr>
          <p:cNvPr id="387" name="Shape 25"/>
          <p:cNvSpPr/>
          <p:nvPr/>
        </p:nvSpPr>
        <p:spPr>
          <a:xfrm>
            <a:off x="6583680" y="330084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88" name="Text 26"/>
          <p:cNvSpPr/>
          <p:nvPr/>
        </p:nvSpPr>
        <p:spPr>
          <a:xfrm>
            <a:off x="6583680" y="339228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5a623"/>
                </a:solidFill>
                <a:latin typeface="Calibri"/>
                <a:ea typeface="Calibri"/>
              </a:rPr>
              <a:t>What Must Be Shared</a:t>
            </a:r>
            <a:endParaRPr b="0" lang="en-US" sz="1250" spc="-1" strike="noStrike">
              <a:solidFill>
                <a:srgbClr val="ffffff"/>
              </a:solidFill>
              <a:latin typeface="Arial"/>
            </a:endParaRPr>
          </a:p>
        </p:txBody>
      </p:sp>
      <p:sp>
        <p:nvSpPr>
          <p:cNvPr id="389" name="Text 27"/>
          <p:cNvSpPr/>
          <p:nvPr/>
        </p:nvSpPr>
        <p:spPr>
          <a:xfrm>
            <a:off x="6583680" y="3648600"/>
            <a:ext cx="4708800" cy="420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GPL obligations, plus source-sharing triggered by network / SaaS use — not just distribution.</a:t>
            </a:r>
            <a:endParaRPr b="0" lang="en-US" sz="1100" spc="-1" strike="noStrike">
              <a:solidFill>
                <a:srgbClr val="ffffff"/>
              </a:solidFill>
              <a:latin typeface="Arial"/>
            </a:endParaRPr>
          </a:p>
        </p:txBody>
      </p:sp>
      <p:sp>
        <p:nvSpPr>
          <p:cNvPr id="390" name="Shape 28"/>
          <p:cNvSpPr/>
          <p:nvPr/>
        </p:nvSpPr>
        <p:spPr>
          <a:xfrm>
            <a:off x="6583680" y="411480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91" name="Text 29"/>
          <p:cNvSpPr/>
          <p:nvPr/>
        </p:nvSpPr>
        <p:spPr>
          <a:xfrm>
            <a:off x="6583680" y="420624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5a623"/>
                </a:solidFill>
                <a:latin typeface="Calibri"/>
                <a:ea typeface="Calibri"/>
              </a:rPr>
              <a:t>Commercial Use</a:t>
            </a:r>
            <a:endParaRPr b="0" lang="en-US" sz="1250" spc="-1" strike="noStrike">
              <a:solidFill>
                <a:srgbClr val="ffffff"/>
              </a:solidFill>
              <a:latin typeface="Arial"/>
            </a:endParaRPr>
          </a:p>
        </p:txBody>
      </p:sp>
      <p:sp>
        <p:nvSpPr>
          <p:cNvPr id="392" name="Text 30"/>
          <p:cNvSpPr/>
          <p:nvPr/>
        </p:nvSpPr>
        <p:spPr>
          <a:xfrm>
            <a:off x="6583680" y="4462200"/>
            <a:ext cx="4708800" cy="4201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100" spc="-1" strike="noStrike">
                <a:solidFill>
                  <a:srgbClr val="c7cdeb"/>
                </a:solidFill>
                <a:latin typeface="Calibri"/>
                <a:ea typeface="Calibri"/>
              </a:rPr>
              <a:t>Allowed — but hosted/SaaS use of modified code is limited by AGPL's network-copyleft clause.</a:t>
            </a:r>
            <a:endParaRPr b="0" lang="en-US" sz="1100" spc="-1" strike="noStrike">
              <a:solidFill>
                <a:srgbClr val="ffffff"/>
              </a:solidFill>
              <a:latin typeface="Arial"/>
            </a:endParaRPr>
          </a:p>
        </p:txBody>
      </p:sp>
      <p:sp>
        <p:nvSpPr>
          <p:cNvPr id="393" name="Shape 31"/>
          <p:cNvSpPr/>
          <p:nvPr/>
        </p:nvSpPr>
        <p:spPr>
          <a:xfrm>
            <a:off x="6583680" y="4928400"/>
            <a:ext cx="4709160" cy="360"/>
          </a:xfrm>
          <a:prstGeom prst="line">
            <a:avLst/>
          </a:prstGeom>
          <a:ln w="7620">
            <a:solidFill>
              <a:srgbClr val="3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94" name="Text 32"/>
          <p:cNvSpPr/>
          <p:nvPr/>
        </p:nvSpPr>
        <p:spPr>
          <a:xfrm>
            <a:off x="6583680" y="5020200"/>
            <a:ext cx="47088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5a623"/>
                </a:solidFill>
                <a:latin typeface="Calibri"/>
                <a:ea typeface="Calibri"/>
              </a:rPr>
              <a:t>Unique Characteristics</a:t>
            </a:r>
            <a:endParaRPr b="0" lang="en-US" sz="1250" spc="-1" strike="noStrike">
              <a:solidFill>
                <a:srgbClr val="ffffff"/>
              </a:solidFill>
              <a:latin typeface="Arial"/>
            </a:endParaRPr>
          </a:p>
        </p:txBody>
      </p:sp>
      <p:sp>
        <p:nvSpPr>
          <p:cNvPr id="395" name="Text 33"/>
          <p:cNvSpPr/>
          <p:nvPr/>
        </p:nvSpPr>
        <p:spPr>
          <a:xfrm>
            <a:off x="6583680" y="5276160"/>
            <a:ext cx="4708800" cy="62136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Closes the “SaaS loophole” in GPL</a:t>
            </a:r>
            <a:endParaRPr b="0" lang="en-US" sz="1100" spc="-1" strike="noStrike">
              <a:solidFill>
                <a:srgbClr val="ffffff"/>
              </a:solidFill>
              <a:latin typeface="Arial"/>
            </a:endParaRPr>
          </a:p>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Often called “network copyleft”</a:t>
            </a:r>
            <a:endParaRPr b="0" lang="en-US" sz="1100" spc="-1" strike="noStrike">
              <a:solidFill>
                <a:srgbClr val="ffffff"/>
              </a:solidFill>
              <a:latin typeface="Arial"/>
            </a:endParaRPr>
          </a:p>
          <a:p>
            <a:pPr marL="177840" indent="-177840" defTabSz="914400">
              <a:lnSpc>
                <a:spcPct val="100000"/>
              </a:lnSpc>
              <a:spcAft>
                <a:spcPts val="201"/>
              </a:spcAft>
              <a:buClr>
                <a:srgbClr val="c7cdeb"/>
              </a:buClr>
              <a:buFont typeface="Symbol" charset="2"/>
              <a:buChar char=""/>
            </a:pPr>
            <a:r>
              <a:rPr b="0" lang="en-US" sz="1100" spc="-1" strike="noStrike">
                <a:solidFill>
                  <a:srgbClr val="c7cdeb"/>
                </a:solidFill>
                <a:latin typeface="Calibri"/>
                <a:ea typeface="Calibri"/>
              </a:rPr>
              <a:t>Strongest protection for hosted services</a:t>
            </a:r>
            <a:endParaRPr b="0" lang="en-US" sz="1100" spc="-1" strike="noStrike">
              <a:solidFill>
                <a:srgbClr val="ffffff"/>
              </a:solidFill>
              <a:latin typeface="Arial"/>
            </a:endParaRPr>
          </a:p>
        </p:txBody>
      </p:sp>
      <p:sp>
        <p:nvSpPr>
          <p:cNvPr id="396" name="Shape 35"/>
          <p:cNvSpPr/>
          <p:nvPr/>
        </p:nvSpPr>
        <p:spPr>
          <a:xfrm>
            <a:off x="6583680" y="6254640"/>
            <a:ext cx="4708800" cy="328680"/>
          </a:xfrm>
          <a:prstGeom prst="roundRect">
            <a:avLst>
              <a:gd name="adj" fmla="val 50000"/>
            </a:avLst>
          </a:prstGeom>
          <a:solidFill>
            <a:srgbClr val="3a3f7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7" name="Text 36"/>
          <p:cNvSpPr/>
          <p:nvPr/>
        </p:nvSpPr>
        <p:spPr>
          <a:xfrm>
            <a:off x="6583680" y="6254640"/>
            <a:ext cx="47088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80" spc="-1" strike="noStrike">
                <a:solidFill>
                  <a:srgbClr val="ffffff"/>
                </a:solidFill>
                <a:latin typeface="Calibri"/>
                <a:ea typeface="Calibri"/>
              </a:rPr>
              <a:t>Example Projects: </a:t>
            </a:r>
            <a:r>
              <a:rPr b="1" lang="en-US" sz="980" spc="-1" strike="noStrike">
                <a:solidFill>
                  <a:srgbClr val="ffffff"/>
                </a:solidFill>
                <a:latin typeface="Calibri"/>
                <a:ea typeface="Calibri"/>
              </a:rPr>
              <a:t>Grafana OSS, Mattermost (CE, historically)</a:t>
            </a:r>
            <a:endParaRPr b="0" lang="en-US" sz="980" spc="-1" strike="noStrike">
              <a:solidFill>
                <a:srgbClr val="ffffff"/>
              </a:solidFill>
              <a:latin typeface="Arial"/>
            </a:endParaRPr>
          </a:p>
        </p:txBody>
      </p:sp>
      <p:sp>
        <p:nvSpPr>
          <p:cNvPr id="398" name="Text 37"/>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Copyleft Licenses</a:t>
            </a:r>
            <a:endParaRPr b="0" lang="en-US" sz="900" spc="-1" strike="noStrike">
              <a:solidFill>
                <a:srgbClr val="ffffff"/>
              </a:solidFill>
              <a:latin typeface="Arial"/>
            </a:endParaRPr>
          </a:p>
        </p:txBody>
      </p:sp>
      <p:sp>
        <p:nvSpPr>
          <p:cNvPr id="399" name="Text 38"/>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9</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400"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5 · APPLYING IT</a:t>
            </a:r>
            <a:endParaRPr b="0" lang="en-US" sz="1150" spc="-1" strike="noStrike">
              <a:solidFill>
                <a:srgbClr val="ffffff"/>
              </a:solidFill>
              <a:latin typeface="Arial"/>
            </a:endParaRPr>
          </a:p>
        </p:txBody>
      </p:sp>
      <p:sp>
        <p:nvSpPr>
          <p:cNvPr id="401"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Real-World License Examples</a:t>
            </a:r>
            <a:endParaRPr b="0" lang="en-US" sz="2700" spc="-1" strike="noStrike">
              <a:solidFill>
                <a:srgbClr val="ffffff"/>
              </a:solidFill>
              <a:latin typeface="Arial"/>
            </a:endParaRPr>
          </a:p>
        </p:txBody>
      </p:sp>
      <p:sp>
        <p:nvSpPr>
          <p:cNvPr id="402"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How major open-source projects chose their license</a:t>
            </a:r>
            <a:endParaRPr b="0" lang="en-US" sz="1250" spc="-1" strike="noStrike">
              <a:solidFill>
                <a:srgbClr val="ffffff"/>
              </a:solidFill>
              <a:latin typeface="Arial"/>
            </a:endParaRPr>
          </a:p>
        </p:txBody>
      </p:sp>
      <p:graphicFrame>
        <p:nvGraphicFramePr>
          <p:cNvPr id="403" name="Table 0"/>
          <p:cNvGraphicFramePr/>
          <p:nvPr/>
        </p:nvGraphicFramePr>
        <p:xfrm>
          <a:off x="548640" y="1572840"/>
          <a:ext cx="11063880" cy="4708800"/>
        </p:xfrm>
        <a:graphic>
          <a:graphicData uri="http://schemas.openxmlformats.org/drawingml/2006/table">
            <a:tbl>
              <a:tblPr/>
              <a:tblGrid>
                <a:gridCol w="2560320"/>
                <a:gridCol w="2377440"/>
                <a:gridCol w="6126480"/>
              </a:tblGrid>
              <a:tr h="428040">
                <a:tc>
                  <a:txBody>
                    <a:bodyPr anchor="ctr">
                      <a:noAutofit/>
                    </a:bodyPr>
                    <a:p>
                      <a:pPr defTabSz="914400">
                        <a:lnSpc>
                          <a:spcPct val="100000"/>
                        </a:lnSpc>
                        <a:tabLst>
                          <a:tab algn="l" pos="0"/>
                        </a:tabLst>
                      </a:pPr>
                      <a:r>
                        <a:rPr b="1" lang="en-US" sz="1250" spc="-1" strike="noStrike">
                          <a:solidFill>
                            <a:srgbClr val="ffffff"/>
                          </a:solidFill>
                          <a:latin typeface="Calibri"/>
                          <a:ea typeface="Calibri"/>
                        </a:rPr>
                        <a:t>Project</a:t>
                      </a:r>
                      <a:endParaRPr b="0" lang="en-US" sz="12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c>
                  <a:txBody>
                    <a:bodyPr anchor="ctr">
                      <a:noAutofit/>
                    </a:bodyPr>
                    <a:p>
                      <a:pPr defTabSz="914400">
                        <a:lnSpc>
                          <a:spcPct val="100000"/>
                        </a:lnSpc>
                        <a:tabLst>
                          <a:tab algn="l" pos="0"/>
                        </a:tabLst>
                      </a:pPr>
                      <a:r>
                        <a:rPr b="1" lang="en-US" sz="1250" spc="-1" strike="noStrike">
                          <a:solidFill>
                            <a:srgbClr val="ffffff"/>
                          </a:solidFill>
                          <a:latin typeface="Calibri"/>
                          <a:ea typeface="Calibri"/>
                        </a:rPr>
                        <a:t>License</a:t>
                      </a:r>
                      <a:endParaRPr b="0" lang="en-US" sz="12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c>
                  <a:txBody>
                    <a:bodyPr anchor="ctr">
                      <a:noAutofit/>
                    </a:bodyPr>
                    <a:p>
                      <a:pPr defTabSz="914400">
                        <a:lnSpc>
                          <a:spcPct val="100000"/>
                        </a:lnSpc>
                        <a:tabLst>
                          <a:tab algn="l" pos="0"/>
                        </a:tabLst>
                      </a:pPr>
                      <a:r>
                        <a:rPr b="1" lang="en-US" sz="1250" spc="-1" strike="noStrike">
                          <a:solidFill>
                            <a:srgbClr val="ffffff"/>
                          </a:solidFill>
                          <a:latin typeface="Calibri"/>
                          <a:ea typeface="Calibri"/>
                        </a:rPr>
                        <a:t>Why This License?</a:t>
                      </a:r>
                      <a:endParaRPr b="0" lang="en-US" sz="12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React</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MIT</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Encourage maximum adoption</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Kubernetes</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Apache 2.0</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Enterprise use + patent protection</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Docker Engine</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Apache 2.0</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Commercial-friendly container ecosystem</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Prometheus</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Apache 2.0</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CNCF collaboration across vendors</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Linux Kernel</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GPL v2</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Preserve distributed kernel modifications</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Git</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GPL v2</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Strong copyleft philosophy</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OpenTofu</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MPL 2.0</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File-level copyleft, commercial flexibility</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Grafana OSS</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AGPL</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Encourage sharing of hosted modifications</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TensorFlow</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Apache 2.0</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Enterprise-friendly AI framework</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0f1035"/>
                    </a:solidFill>
                  </a:tcPr>
                </a:tc>
              </a:tr>
              <a:tr h="428040">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PostgreSQL</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1" lang="en-US" sz="1150" spc="-1" strike="noStrike">
                          <a:solidFill>
                            <a:srgbClr val="f5a623"/>
                          </a:solidFill>
                          <a:latin typeface="Calibri"/>
                          <a:ea typeface="Calibri"/>
                        </a:rPr>
                        <a:t>PostgreSQL License</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c>
                  <a:txBody>
                    <a:bodyPr anchor="ctr">
                      <a:noAutofit/>
                    </a:bodyPr>
                    <a:p>
                      <a:pPr defTabSz="914400">
                        <a:lnSpc>
                          <a:spcPct val="100000"/>
                        </a:lnSpc>
                        <a:tabLst>
                          <a:tab algn="l" pos="0"/>
                        </a:tabLst>
                      </a:pPr>
                      <a:r>
                        <a:rPr b="0" lang="en-US" sz="1150" spc="-1" strike="noStrike">
                          <a:solidFill>
                            <a:srgbClr val="c7cdeb"/>
                          </a:solidFill>
                          <a:latin typeface="Calibri"/>
                          <a:ea typeface="Calibri"/>
                        </a:rPr>
                        <a:t>Permissive, MIT/BSD-style database license</a:t>
                      </a:r>
                      <a:endParaRPr b="0" lang="en-US" sz="115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1a1e4f"/>
                    </a:solidFill>
                  </a:tcPr>
                </a:tc>
              </a:tr>
            </a:tbl>
          </a:graphicData>
        </a:graphic>
      </p:graphicFrame>
      <p:sp>
        <p:nvSpPr>
          <p:cNvPr id="404" name="Text 3"/>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Software Licensing in Practice</a:t>
            </a:r>
            <a:endParaRPr b="0" lang="en-US" sz="900" spc="-1" strike="noStrike">
              <a:solidFill>
                <a:srgbClr val="ffffff"/>
              </a:solidFill>
              <a:latin typeface="Arial"/>
            </a:endParaRPr>
          </a:p>
        </p:txBody>
      </p:sp>
      <p:sp>
        <p:nvSpPr>
          <p:cNvPr id="405" name="Text 4"/>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10</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406"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5 · APPLYING IT</a:t>
            </a:r>
            <a:endParaRPr b="0" lang="en-US" sz="1150" spc="-1" strike="noStrike">
              <a:solidFill>
                <a:srgbClr val="ffffff"/>
              </a:solidFill>
              <a:latin typeface="Arial"/>
            </a:endParaRPr>
          </a:p>
        </p:txBody>
      </p:sp>
      <p:sp>
        <p:nvSpPr>
          <p:cNvPr id="407"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Choosing the Right License</a:t>
            </a:r>
            <a:endParaRPr b="0" lang="en-US" sz="2700" spc="-1" strike="noStrike">
              <a:solidFill>
                <a:srgbClr val="ffffff"/>
              </a:solidFill>
              <a:latin typeface="Arial"/>
            </a:endParaRPr>
          </a:p>
        </p:txBody>
      </p:sp>
      <p:sp>
        <p:nvSpPr>
          <p:cNvPr id="408"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A practical decision path based on your project's goals</a:t>
            </a:r>
            <a:endParaRPr b="0" lang="en-US" sz="1250" spc="-1" strike="noStrike">
              <a:solidFill>
                <a:srgbClr val="ffffff"/>
              </a:solidFill>
              <a:latin typeface="Arial"/>
            </a:endParaRPr>
          </a:p>
        </p:txBody>
      </p:sp>
      <p:sp>
        <p:nvSpPr>
          <p:cNvPr id="409" name="Shape 3"/>
          <p:cNvSpPr/>
          <p:nvPr/>
        </p:nvSpPr>
        <p:spPr>
          <a:xfrm>
            <a:off x="548640" y="1572840"/>
            <a:ext cx="3291480" cy="566640"/>
          </a:xfrm>
          <a:prstGeom prst="roundRect">
            <a:avLst>
              <a:gd name="adj" fmla="val 12903"/>
            </a:avLst>
          </a:prstGeom>
          <a:solidFill>
            <a:srgbClr val="252a6b"/>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0" name="Text 4"/>
          <p:cNvSpPr/>
          <p:nvPr/>
        </p:nvSpPr>
        <p:spPr>
          <a:xfrm>
            <a:off x="640080" y="1572840"/>
            <a:ext cx="310860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Want maximum adoption?</a:t>
            </a:r>
            <a:endParaRPr b="0" lang="en-US" sz="1100" spc="-1" strike="noStrike">
              <a:solidFill>
                <a:srgbClr val="ffffff"/>
              </a:solidFill>
              <a:latin typeface="Arial"/>
            </a:endParaRPr>
          </a:p>
        </p:txBody>
      </p:sp>
      <p:sp>
        <p:nvSpPr>
          <p:cNvPr id="411" name="Text 5"/>
          <p:cNvSpPr/>
          <p:nvPr/>
        </p:nvSpPr>
        <p:spPr>
          <a:xfrm>
            <a:off x="548640" y="2157840"/>
            <a:ext cx="329148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8892b8"/>
                </a:solidFill>
                <a:latin typeface="Calibri"/>
                <a:ea typeface="Calibri"/>
              </a:rPr>
              <a:t>Yes</a:t>
            </a:r>
            <a:endParaRPr b="0" lang="en-US" sz="950" spc="-1" strike="noStrike">
              <a:solidFill>
                <a:srgbClr val="ffffff"/>
              </a:solidFill>
              <a:latin typeface="Arial"/>
            </a:endParaRPr>
          </a:p>
        </p:txBody>
      </p:sp>
      <p:sp>
        <p:nvSpPr>
          <p:cNvPr id="412" name="Shape 6"/>
          <p:cNvSpPr/>
          <p:nvPr/>
        </p:nvSpPr>
        <p:spPr>
          <a:xfrm>
            <a:off x="2194560" y="2139480"/>
            <a:ext cx="360" cy="255960"/>
          </a:xfrm>
          <a:prstGeom prst="line">
            <a:avLst/>
          </a:prstGeom>
          <a:ln w="19050">
            <a:solidFill>
              <a:srgbClr val="8892b8"/>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13" name="Shape 7"/>
          <p:cNvSpPr/>
          <p:nvPr/>
        </p:nvSpPr>
        <p:spPr>
          <a:xfrm>
            <a:off x="548640" y="2395800"/>
            <a:ext cx="3291480" cy="456840"/>
          </a:xfrm>
          <a:prstGeom prst="roundRect">
            <a:avLst>
              <a:gd name="adj" fmla="val 50000"/>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4" name="Text 8"/>
          <p:cNvSpPr/>
          <p:nvPr/>
        </p:nvSpPr>
        <p:spPr>
          <a:xfrm>
            <a:off x="548640" y="2395800"/>
            <a:ext cx="3291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0f1035"/>
                </a:solidFill>
                <a:latin typeface="Calibri"/>
                <a:ea typeface="Calibri"/>
              </a:rPr>
              <a:t>MIT / BSD / Apache 2.0</a:t>
            </a:r>
            <a:endParaRPr b="0" lang="en-US" sz="1200" spc="-1" strike="noStrike">
              <a:solidFill>
                <a:srgbClr val="ffffff"/>
              </a:solidFill>
              <a:latin typeface="Arial"/>
            </a:endParaRPr>
          </a:p>
        </p:txBody>
      </p:sp>
      <p:sp>
        <p:nvSpPr>
          <p:cNvPr id="415" name="Shape 9"/>
          <p:cNvSpPr/>
          <p:nvPr/>
        </p:nvSpPr>
        <p:spPr>
          <a:xfrm>
            <a:off x="4297680" y="1572840"/>
            <a:ext cx="3291480" cy="566640"/>
          </a:xfrm>
          <a:prstGeom prst="roundRect">
            <a:avLst>
              <a:gd name="adj" fmla="val 12903"/>
            </a:avLst>
          </a:prstGeom>
          <a:solidFill>
            <a:srgbClr val="252a6b"/>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6" name="Text 10"/>
          <p:cNvSpPr/>
          <p:nvPr/>
        </p:nvSpPr>
        <p:spPr>
          <a:xfrm>
            <a:off x="4389120" y="1572840"/>
            <a:ext cx="310860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Need explicit patent protection?</a:t>
            </a:r>
            <a:endParaRPr b="0" lang="en-US" sz="1100" spc="-1" strike="noStrike">
              <a:solidFill>
                <a:srgbClr val="ffffff"/>
              </a:solidFill>
              <a:latin typeface="Arial"/>
            </a:endParaRPr>
          </a:p>
        </p:txBody>
      </p:sp>
      <p:sp>
        <p:nvSpPr>
          <p:cNvPr id="417" name="Text 11"/>
          <p:cNvSpPr/>
          <p:nvPr/>
        </p:nvSpPr>
        <p:spPr>
          <a:xfrm>
            <a:off x="4297680" y="2157840"/>
            <a:ext cx="329148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8892b8"/>
                </a:solidFill>
                <a:latin typeface="Calibri"/>
                <a:ea typeface="Calibri"/>
              </a:rPr>
              <a:t>Yes</a:t>
            </a:r>
            <a:endParaRPr b="0" lang="en-US" sz="950" spc="-1" strike="noStrike">
              <a:solidFill>
                <a:srgbClr val="ffffff"/>
              </a:solidFill>
              <a:latin typeface="Arial"/>
            </a:endParaRPr>
          </a:p>
        </p:txBody>
      </p:sp>
      <p:sp>
        <p:nvSpPr>
          <p:cNvPr id="418" name="Shape 12"/>
          <p:cNvSpPr/>
          <p:nvPr/>
        </p:nvSpPr>
        <p:spPr>
          <a:xfrm>
            <a:off x="5943600" y="2139480"/>
            <a:ext cx="360" cy="255960"/>
          </a:xfrm>
          <a:prstGeom prst="line">
            <a:avLst/>
          </a:prstGeom>
          <a:ln w="19050">
            <a:solidFill>
              <a:srgbClr val="8892b8"/>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19" name="Shape 13"/>
          <p:cNvSpPr/>
          <p:nvPr/>
        </p:nvSpPr>
        <p:spPr>
          <a:xfrm>
            <a:off x="4297680" y="2395800"/>
            <a:ext cx="3291480" cy="456840"/>
          </a:xfrm>
          <a:prstGeom prst="roundRect">
            <a:avLst>
              <a:gd name="adj" fmla="val 50000"/>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0" name="Text 14"/>
          <p:cNvSpPr/>
          <p:nvPr/>
        </p:nvSpPr>
        <p:spPr>
          <a:xfrm>
            <a:off x="4297680" y="2395800"/>
            <a:ext cx="3291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0f1035"/>
                </a:solidFill>
                <a:latin typeface="Calibri"/>
                <a:ea typeface="Calibri"/>
              </a:rPr>
              <a:t>Apache 2.0</a:t>
            </a:r>
            <a:endParaRPr b="0" lang="en-US" sz="1200" spc="-1" strike="noStrike">
              <a:solidFill>
                <a:srgbClr val="ffffff"/>
              </a:solidFill>
              <a:latin typeface="Arial"/>
            </a:endParaRPr>
          </a:p>
        </p:txBody>
      </p:sp>
      <p:sp>
        <p:nvSpPr>
          <p:cNvPr id="421" name="Shape 15"/>
          <p:cNvSpPr/>
          <p:nvPr/>
        </p:nvSpPr>
        <p:spPr>
          <a:xfrm>
            <a:off x="8046720" y="1572840"/>
            <a:ext cx="3565800" cy="566640"/>
          </a:xfrm>
          <a:prstGeom prst="roundRect">
            <a:avLst>
              <a:gd name="adj" fmla="val 12903"/>
            </a:avLst>
          </a:prstGeom>
          <a:solidFill>
            <a:srgbClr val="252a6b"/>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2" name="Text 16"/>
          <p:cNvSpPr/>
          <p:nvPr/>
        </p:nvSpPr>
        <p:spPr>
          <a:xfrm>
            <a:off x="8138160" y="1572840"/>
            <a:ext cx="338292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Want improvements to stay open?</a:t>
            </a:r>
            <a:endParaRPr b="0" lang="en-US" sz="1100" spc="-1" strike="noStrike">
              <a:solidFill>
                <a:srgbClr val="ffffff"/>
              </a:solidFill>
              <a:latin typeface="Arial"/>
            </a:endParaRPr>
          </a:p>
        </p:txBody>
      </p:sp>
      <p:pic>
        <p:nvPicPr>
          <p:cNvPr id="423" name="Image 0" descr="/home/claude/work/icons/arrow_8892B8.png"/>
          <p:cNvPicPr/>
          <p:nvPr/>
        </p:nvPicPr>
        <p:blipFill>
          <a:blip r:embed="rId1"/>
          <a:stretch/>
        </p:blipFill>
        <p:spPr>
          <a:xfrm>
            <a:off x="3977640" y="1710000"/>
            <a:ext cx="273960" cy="273960"/>
          </a:xfrm>
          <a:prstGeom prst="rect">
            <a:avLst/>
          </a:prstGeom>
          <a:ln w="0">
            <a:noFill/>
          </a:ln>
        </p:spPr>
      </p:pic>
      <p:pic>
        <p:nvPicPr>
          <p:cNvPr id="424" name="Image 1" descr="/home/claude/work/icons/arrow_8892B8.png"/>
          <p:cNvPicPr/>
          <p:nvPr/>
        </p:nvPicPr>
        <p:blipFill>
          <a:blip r:embed="rId2"/>
          <a:stretch/>
        </p:blipFill>
        <p:spPr>
          <a:xfrm>
            <a:off x="7726680" y="1710000"/>
            <a:ext cx="273960" cy="273960"/>
          </a:xfrm>
          <a:prstGeom prst="rect">
            <a:avLst/>
          </a:prstGeom>
          <a:ln w="0">
            <a:noFill/>
          </a:ln>
        </p:spPr>
      </p:pic>
      <p:sp>
        <p:nvSpPr>
          <p:cNvPr id="425" name="Shape 17"/>
          <p:cNvSpPr/>
          <p:nvPr/>
        </p:nvSpPr>
        <p:spPr>
          <a:xfrm>
            <a:off x="9829800" y="2139480"/>
            <a:ext cx="360" cy="1124640"/>
          </a:xfrm>
          <a:prstGeom prst="line">
            <a:avLst/>
          </a:prstGeom>
          <a:ln w="19050">
            <a:solidFill>
              <a:srgbClr val="8892b8"/>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26" name="Shape 18"/>
          <p:cNvSpPr/>
          <p:nvPr/>
        </p:nvSpPr>
        <p:spPr>
          <a:xfrm>
            <a:off x="8229600" y="3264480"/>
            <a:ext cx="3200040" cy="566640"/>
          </a:xfrm>
          <a:prstGeom prst="roundRect">
            <a:avLst>
              <a:gd name="adj" fmla="val 12903"/>
            </a:avLst>
          </a:prstGeom>
          <a:solidFill>
            <a:srgbClr val="252a6b"/>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7" name="Text 19"/>
          <p:cNvSpPr/>
          <p:nvPr/>
        </p:nvSpPr>
        <p:spPr>
          <a:xfrm>
            <a:off x="8321040" y="3264480"/>
            <a:ext cx="301716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Is it mainly a library?</a:t>
            </a:r>
            <a:endParaRPr b="0" lang="en-US" sz="1100" spc="-1" strike="noStrike">
              <a:solidFill>
                <a:srgbClr val="ffffff"/>
              </a:solidFill>
              <a:latin typeface="Arial"/>
            </a:endParaRPr>
          </a:p>
        </p:txBody>
      </p:sp>
      <p:sp>
        <p:nvSpPr>
          <p:cNvPr id="428" name="Text 20"/>
          <p:cNvSpPr/>
          <p:nvPr/>
        </p:nvSpPr>
        <p:spPr>
          <a:xfrm>
            <a:off x="8229600" y="3858840"/>
            <a:ext cx="15541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8892b8"/>
                </a:solidFill>
                <a:latin typeface="Calibri"/>
                <a:ea typeface="Calibri"/>
              </a:rPr>
              <a:t>Yes</a:t>
            </a:r>
            <a:endParaRPr b="0" lang="en-US" sz="950" spc="-1" strike="noStrike">
              <a:solidFill>
                <a:srgbClr val="ffffff"/>
              </a:solidFill>
              <a:latin typeface="Arial"/>
            </a:endParaRPr>
          </a:p>
        </p:txBody>
      </p:sp>
      <p:sp>
        <p:nvSpPr>
          <p:cNvPr id="429" name="Text 21"/>
          <p:cNvSpPr/>
          <p:nvPr/>
        </p:nvSpPr>
        <p:spPr>
          <a:xfrm>
            <a:off x="9875520" y="3858840"/>
            <a:ext cx="15541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8892b8"/>
                </a:solidFill>
                <a:latin typeface="Calibri"/>
                <a:ea typeface="Calibri"/>
              </a:rPr>
              <a:t>No</a:t>
            </a:r>
            <a:endParaRPr b="0" lang="en-US" sz="950" spc="-1" strike="noStrike">
              <a:solidFill>
                <a:srgbClr val="ffffff"/>
              </a:solidFill>
              <a:latin typeface="Arial"/>
            </a:endParaRPr>
          </a:p>
        </p:txBody>
      </p:sp>
      <p:sp>
        <p:nvSpPr>
          <p:cNvPr id="430" name="Shape 22"/>
          <p:cNvSpPr/>
          <p:nvPr/>
        </p:nvSpPr>
        <p:spPr>
          <a:xfrm>
            <a:off x="9006840" y="3840480"/>
            <a:ext cx="360" cy="292320"/>
          </a:xfrm>
          <a:prstGeom prst="line">
            <a:avLst/>
          </a:prstGeom>
          <a:ln w="19050">
            <a:solidFill>
              <a:srgbClr val="8892b8"/>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31" name="Shape 23"/>
          <p:cNvSpPr/>
          <p:nvPr/>
        </p:nvSpPr>
        <p:spPr>
          <a:xfrm>
            <a:off x="10835640" y="3840480"/>
            <a:ext cx="360" cy="292320"/>
          </a:xfrm>
          <a:prstGeom prst="line">
            <a:avLst/>
          </a:prstGeom>
          <a:ln w="19050">
            <a:solidFill>
              <a:srgbClr val="8892b8"/>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32" name="Shape 24"/>
          <p:cNvSpPr/>
          <p:nvPr/>
        </p:nvSpPr>
        <p:spPr>
          <a:xfrm>
            <a:off x="8229600" y="4133160"/>
            <a:ext cx="1554120" cy="456840"/>
          </a:xfrm>
          <a:prstGeom prst="roundRect">
            <a:avLst>
              <a:gd name="adj" fmla="val 50000"/>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3" name="Text 25"/>
          <p:cNvSpPr/>
          <p:nvPr/>
        </p:nvSpPr>
        <p:spPr>
          <a:xfrm>
            <a:off x="8229600" y="4133160"/>
            <a:ext cx="15541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0f1035"/>
                </a:solidFill>
                <a:latin typeface="Calibri"/>
                <a:ea typeface="Calibri"/>
              </a:rPr>
              <a:t>LGPL</a:t>
            </a:r>
            <a:endParaRPr b="0" lang="en-US" sz="1200" spc="-1" strike="noStrike">
              <a:solidFill>
                <a:srgbClr val="ffffff"/>
              </a:solidFill>
              <a:latin typeface="Arial"/>
            </a:endParaRPr>
          </a:p>
        </p:txBody>
      </p:sp>
      <p:sp>
        <p:nvSpPr>
          <p:cNvPr id="434" name="Shape 26"/>
          <p:cNvSpPr/>
          <p:nvPr/>
        </p:nvSpPr>
        <p:spPr>
          <a:xfrm>
            <a:off x="9875520" y="4133160"/>
            <a:ext cx="1554120" cy="456840"/>
          </a:xfrm>
          <a:prstGeom prst="roundRect">
            <a:avLst>
              <a:gd name="adj" fmla="val 50000"/>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5" name="Text 27"/>
          <p:cNvSpPr/>
          <p:nvPr/>
        </p:nvSpPr>
        <p:spPr>
          <a:xfrm>
            <a:off x="9875520" y="4133160"/>
            <a:ext cx="15541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0f1035"/>
                </a:solidFill>
                <a:latin typeface="Calibri"/>
                <a:ea typeface="Calibri"/>
              </a:rPr>
              <a:t>GPL</a:t>
            </a:r>
            <a:endParaRPr b="0" lang="en-US" sz="1200" spc="-1" strike="noStrike">
              <a:solidFill>
                <a:srgbClr val="ffffff"/>
              </a:solidFill>
              <a:latin typeface="Arial"/>
            </a:endParaRPr>
          </a:p>
        </p:txBody>
      </p:sp>
      <p:sp>
        <p:nvSpPr>
          <p:cNvPr id="436" name="Shape 28"/>
          <p:cNvSpPr/>
          <p:nvPr/>
        </p:nvSpPr>
        <p:spPr>
          <a:xfrm>
            <a:off x="10835640" y="4590000"/>
            <a:ext cx="360" cy="228600"/>
          </a:xfrm>
          <a:prstGeom prst="line">
            <a:avLst/>
          </a:prstGeom>
          <a:ln w="19050">
            <a:solidFill>
              <a:srgbClr val="8892b8"/>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37" name="Shape 29"/>
          <p:cNvSpPr/>
          <p:nvPr/>
        </p:nvSpPr>
        <p:spPr>
          <a:xfrm>
            <a:off x="8823960" y="4818960"/>
            <a:ext cx="2788560" cy="566640"/>
          </a:xfrm>
          <a:prstGeom prst="roundRect">
            <a:avLst>
              <a:gd name="adj" fmla="val 12903"/>
            </a:avLst>
          </a:prstGeom>
          <a:solidFill>
            <a:srgbClr val="252a6b"/>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8" name="Text 30"/>
          <p:cNvSpPr/>
          <p:nvPr/>
        </p:nvSpPr>
        <p:spPr>
          <a:xfrm>
            <a:off x="8915400" y="4818960"/>
            <a:ext cx="260568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Offered mainly as a network service?</a:t>
            </a:r>
            <a:endParaRPr b="0" lang="en-US" sz="1100" spc="-1" strike="noStrike">
              <a:solidFill>
                <a:srgbClr val="ffffff"/>
              </a:solidFill>
              <a:latin typeface="Arial"/>
            </a:endParaRPr>
          </a:p>
        </p:txBody>
      </p:sp>
      <p:sp>
        <p:nvSpPr>
          <p:cNvPr id="439" name="Text 31"/>
          <p:cNvSpPr/>
          <p:nvPr/>
        </p:nvSpPr>
        <p:spPr>
          <a:xfrm>
            <a:off x="8823960" y="5459040"/>
            <a:ext cx="278856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8892b8"/>
                </a:solidFill>
                <a:latin typeface="Calibri"/>
                <a:ea typeface="Calibri"/>
              </a:rPr>
              <a:t>Yes</a:t>
            </a:r>
            <a:endParaRPr b="0" lang="en-US" sz="950" spc="-1" strike="noStrike">
              <a:solidFill>
                <a:srgbClr val="ffffff"/>
              </a:solidFill>
              <a:latin typeface="Arial"/>
            </a:endParaRPr>
          </a:p>
        </p:txBody>
      </p:sp>
      <p:sp>
        <p:nvSpPr>
          <p:cNvPr id="440" name="Shape 32"/>
          <p:cNvSpPr/>
          <p:nvPr/>
        </p:nvSpPr>
        <p:spPr>
          <a:xfrm>
            <a:off x="10195560" y="5440680"/>
            <a:ext cx="360" cy="274320"/>
          </a:xfrm>
          <a:prstGeom prst="line">
            <a:avLst/>
          </a:prstGeom>
          <a:ln w="19050">
            <a:solidFill>
              <a:srgbClr val="8892b8"/>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41" name="Shape 33"/>
          <p:cNvSpPr/>
          <p:nvPr/>
        </p:nvSpPr>
        <p:spPr>
          <a:xfrm>
            <a:off x="8823960" y="5715000"/>
            <a:ext cx="2788560" cy="456840"/>
          </a:xfrm>
          <a:prstGeom prst="roundRect">
            <a:avLst>
              <a:gd name="adj" fmla="val 50000"/>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2" name="Text 34"/>
          <p:cNvSpPr/>
          <p:nvPr/>
        </p:nvSpPr>
        <p:spPr>
          <a:xfrm>
            <a:off x="8823960" y="5715000"/>
            <a:ext cx="27885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0f1035"/>
                </a:solidFill>
                <a:latin typeface="Calibri"/>
                <a:ea typeface="Calibri"/>
              </a:rPr>
              <a:t>AGPL</a:t>
            </a:r>
            <a:endParaRPr b="0" lang="en-US" sz="1200" spc="-1" strike="noStrike">
              <a:solidFill>
                <a:srgbClr val="ffffff"/>
              </a:solidFill>
              <a:latin typeface="Arial"/>
            </a:endParaRPr>
          </a:p>
        </p:txBody>
      </p:sp>
      <p:sp>
        <p:nvSpPr>
          <p:cNvPr id="443" name="Shape 35"/>
          <p:cNvSpPr/>
          <p:nvPr/>
        </p:nvSpPr>
        <p:spPr>
          <a:xfrm>
            <a:off x="548640" y="3310200"/>
            <a:ext cx="7223400" cy="1005480"/>
          </a:xfrm>
          <a:prstGeom prst="roundRect">
            <a:avLst>
              <a:gd name="adj" fmla="val 8182"/>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4" name="Shape 36"/>
          <p:cNvSpPr/>
          <p:nvPr/>
        </p:nvSpPr>
        <p:spPr>
          <a:xfrm>
            <a:off x="777240" y="3447360"/>
            <a:ext cx="502560" cy="50256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45" name="Image 2" descr="/home/claude/work/icons/fileexport_0F1035.png"/>
          <p:cNvPicPr/>
          <p:nvPr/>
        </p:nvPicPr>
        <p:blipFill>
          <a:blip r:embed="rId3"/>
          <a:stretch/>
        </p:blipFill>
        <p:spPr>
          <a:xfrm>
            <a:off x="890280" y="3560400"/>
            <a:ext cx="276120" cy="276120"/>
          </a:xfrm>
          <a:prstGeom prst="rect">
            <a:avLst/>
          </a:prstGeom>
          <a:ln w="0">
            <a:noFill/>
          </a:ln>
        </p:spPr>
      </p:pic>
      <p:sp>
        <p:nvSpPr>
          <p:cNvPr id="446" name="Text 37"/>
          <p:cNvSpPr/>
          <p:nvPr/>
        </p:nvSpPr>
        <p:spPr>
          <a:xfrm>
            <a:off x="1417320" y="3401640"/>
            <a:ext cx="6171840" cy="77688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1" lang="en-US" sz="1200" spc="-1" strike="noStrike">
                <a:solidFill>
                  <a:srgbClr val="ffffff"/>
                </a:solidFill>
                <a:latin typeface="Calibri"/>
                <a:ea typeface="Calibri"/>
              </a:rPr>
              <a:t>Want only modified files to remain open? </a:t>
            </a:r>
            <a:endParaRPr b="0" lang="en-US" sz="1200" spc="-1" strike="noStrike">
              <a:solidFill>
                <a:srgbClr val="ffffff"/>
              </a:solidFill>
              <a:latin typeface="Arial"/>
            </a:endParaRPr>
          </a:p>
          <a:p>
            <a:pPr defTabSz="914400">
              <a:lnSpc>
                <a:spcPct val="115000"/>
              </a:lnSpc>
              <a:tabLst>
                <a:tab algn="l" pos="0"/>
              </a:tabLst>
            </a:pPr>
            <a:r>
              <a:rPr b="0" lang="en-US" sz="1200" spc="-1" strike="noStrike">
                <a:solidFill>
                  <a:srgbClr val="c7cdeb"/>
                </a:solidFill>
                <a:latin typeface="Calibri"/>
                <a:ea typeface="Calibri"/>
              </a:rPr>
              <a:t>Choose </a:t>
            </a:r>
            <a:r>
              <a:rPr b="1" lang="en-US" sz="1200" spc="-1" strike="noStrike">
                <a:solidFill>
                  <a:srgbClr val="f5a623"/>
                </a:solidFill>
                <a:latin typeface="Calibri"/>
                <a:ea typeface="Calibri"/>
              </a:rPr>
              <a:t>MPL 2.0</a:t>
            </a:r>
            <a:r>
              <a:rPr b="0" lang="en-US" sz="1200" spc="-1" strike="noStrike">
                <a:solidFill>
                  <a:srgbClr val="c7cdeb"/>
                </a:solidFill>
                <a:latin typeface="Calibri"/>
                <a:ea typeface="Calibri"/>
              </a:rPr>
              <a:t> for file-level copyleft with more flexibility than GPL.</a:t>
            </a:r>
            <a:endParaRPr b="0" lang="en-US" sz="1200" spc="-1" strike="noStrike">
              <a:solidFill>
                <a:srgbClr val="ffffff"/>
              </a:solidFill>
              <a:latin typeface="Arial"/>
            </a:endParaRPr>
          </a:p>
        </p:txBody>
      </p:sp>
      <p:sp>
        <p:nvSpPr>
          <p:cNvPr id="447" name="Shape 38"/>
          <p:cNvSpPr/>
          <p:nvPr/>
        </p:nvSpPr>
        <p:spPr>
          <a:xfrm>
            <a:off x="548640" y="4590360"/>
            <a:ext cx="7223400" cy="1599840"/>
          </a:xfrm>
          <a:prstGeom prst="roundRect">
            <a:avLst>
              <a:gd name="adj" fmla="val 5143"/>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8" name="Text 39"/>
          <p:cNvSpPr/>
          <p:nvPr/>
        </p:nvSpPr>
        <p:spPr>
          <a:xfrm>
            <a:off x="868680" y="4754880"/>
            <a:ext cx="6400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mbria"/>
                <a:ea typeface="Cambria"/>
              </a:rPr>
              <a:t>Rule of Thumb</a:t>
            </a:r>
            <a:endParaRPr b="0" lang="en-US" sz="1500" spc="-1" strike="noStrike">
              <a:solidFill>
                <a:srgbClr val="ffffff"/>
              </a:solidFill>
              <a:latin typeface="Arial"/>
            </a:endParaRPr>
          </a:p>
        </p:txBody>
      </p:sp>
      <p:sp>
        <p:nvSpPr>
          <p:cNvPr id="449" name="Text 40"/>
          <p:cNvSpPr/>
          <p:nvPr/>
        </p:nvSpPr>
        <p:spPr>
          <a:xfrm>
            <a:off x="868680" y="5102280"/>
            <a:ext cx="6583320" cy="1005480"/>
          </a:xfrm>
          <a:prstGeom prst="rect">
            <a:avLst/>
          </a:prstGeom>
          <a:noFill/>
          <a:ln w="0">
            <a:noFill/>
          </a:ln>
        </p:spPr>
        <p:style>
          <a:lnRef idx="0"/>
          <a:fillRef idx="0"/>
          <a:effectRef idx="0"/>
          <a:fontRef idx="minor"/>
        </p:style>
        <p:txBody>
          <a:bodyPr lIns="0" rIns="0" tIns="0" bIns="0" anchor="ctr">
            <a:noAutofit/>
          </a:bodyPr>
          <a:p>
            <a:pPr marL="177840" indent="-177840" defTabSz="914400">
              <a:lnSpc>
                <a:spcPct val="100000"/>
              </a:lnSpc>
              <a:spcAft>
                <a:spcPts val="601"/>
              </a:spcAft>
              <a:buClr>
                <a:srgbClr val="c7cdeb"/>
              </a:buClr>
              <a:buFont typeface="Symbol" charset="2"/>
              <a:buChar char=""/>
            </a:pPr>
            <a:r>
              <a:rPr b="0" lang="en-US" sz="1200" spc="-1" strike="noStrike">
                <a:solidFill>
                  <a:srgbClr val="c7cdeb"/>
                </a:solidFill>
                <a:latin typeface="Calibri"/>
                <a:ea typeface="Calibri"/>
              </a:rPr>
              <a:t>Neither philosophy is “better” — they reflect different author goals</a:t>
            </a:r>
            <a:endParaRPr b="0" lang="en-US" sz="1200" spc="-1" strike="noStrike">
              <a:solidFill>
                <a:srgbClr val="ffffff"/>
              </a:solidFill>
              <a:latin typeface="Arial"/>
            </a:endParaRPr>
          </a:p>
          <a:p>
            <a:pPr marL="177840" indent="-177840" defTabSz="914400">
              <a:lnSpc>
                <a:spcPct val="100000"/>
              </a:lnSpc>
              <a:spcAft>
                <a:spcPts val="601"/>
              </a:spcAft>
              <a:buClr>
                <a:srgbClr val="c7cdeb"/>
              </a:buClr>
              <a:buFont typeface="Symbol" charset="2"/>
              <a:buChar char=""/>
            </a:pPr>
            <a:r>
              <a:rPr b="0" lang="en-US" sz="1200" spc="-1" strike="noStrike">
                <a:solidFill>
                  <a:srgbClr val="c7cdeb"/>
                </a:solidFill>
                <a:latin typeface="Calibri"/>
                <a:ea typeface="Calibri"/>
              </a:rPr>
              <a:t>Permissive = adoption first. Copyleft = shared-freedom first</a:t>
            </a:r>
            <a:endParaRPr b="0" lang="en-US" sz="1200" spc="-1" strike="noStrike">
              <a:solidFill>
                <a:srgbClr val="ffffff"/>
              </a:solidFill>
              <a:latin typeface="Arial"/>
            </a:endParaRPr>
          </a:p>
          <a:p>
            <a:pPr marL="177840" indent="-177840" defTabSz="914400">
              <a:lnSpc>
                <a:spcPct val="100000"/>
              </a:lnSpc>
              <a:spcAft>
                <a:spcPts val="601"/>
              </a:spcAft>
              <a:buClr>
                <a:srgbClr val="c7cdeb"/>
              </a:buClr>
              <a:buFont typeface="Symbol" charset="2"/>
              <a:buChar char=""/>
            </a:pPr>
            <a:r>
              <a:rPr b="0" lang="en-US" sz="1200" spc="-1" strike="noStrike">
                <a:solidFill>
                  <a:srgbClr val="c7cdeb"/>
                </a:solidFill>
                <a:latin typeface="Calibri"/>
                <a:ea typeface="Calibri"/>
              </a:rPr>
              <a:t>When unsure, check what similar projects in your ecosystem use</a:t>
            </a:r>
            <a:endParaRPr b="0" lang="en-US" sz="1200" spc="-1" strike="noStrike">
              <a:solidFill>
                <a:srgbClr val="ffffff"/>
              </a:solidFill>
              <a:latin typeface="Arial"/>
            </a:endParaRPr>
          </a:p>
        </p:txBody>
      </p:sp>
      <p:sp>
        <p:nvSpPr>
          <p:cNvPr id="450" name="Text 41"/>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Choosing a License</a:t>
            </a:r>
            <a:endParaRPr b="0" lang="en-US" sz="900" spc="-1" strike="noStrike">
              <a:solidFill>
                <a:srgbClr val="ffffff"/>
              </a:solidFill>
              <a:latin typeface="Arial"/>
            </a:endParaRPr>
          </a:p>
        </p:txBody>
      </p:sp>
      <p:sp>
        <p:nvSpPr>
          <p:cNvPr id="451" name="Text 42"/>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11</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452"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5 · APPLYING IT</a:t>
            </a:r>
            <a:endParaRPr b="0" lang="en-US" sz="1150" spc="-1" strike="noStrike">
              <a:solidFill>
                <a:srgbClr val="ffffff"/>
              </a:solidFill>
              <a:latin typeface="Arial"/>
            </a:endParaRPr>
          </a:p>
        </p:txBody>
      </p:sp>
      <p:sp>
        <p:nvSpPr>
          <p:cNvPr id="453"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License Compatibility</a:t>
            </a:r>
            <a:endParaRPr b="0" lang="en-US" sz="2700" spc="-1" strike="noStrike">
              <a:solidFill>
                <a:srgbClr val="ffffff"/>
              </a:solidFill>
              <a:latin typeface="Arial"/>
            </a:endParaRPr>
          </a:p>
        </p:txBody>
      </p:sp>
      <p:sp>
        <p:nvSpPr>
          <p:cNvPr id="454"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Can code under one license combine with code under another?</a:t>
            </a:r>
            <a:endParaRPr b="0" lang="en-US" sz="1250" spc="-1" strike="noStrike">
              <a:solidFill>
                <a:srgbClr val="ffffff"/>
              </a:solidFill>
              <a:latin typeface="Arial"/>
            </a:endParaRPr>
          </a:p>
        </p:txBody>
      </p:sp>
      <p:graphicFrame>
        <p:nvGraphicFramePr>
          <p:cNvPr id="455" name="Table 0"/>
          <p:cNvGraphicFramePr/>
          <p:nvPr/>
        </p:nvGraphicFramePr>
        <p:xfrm>
          <a:off x="548640" y="1572840"/>
          <a:ext cx="11063880" cy="3840120"/>
        </p:xfrm>
        <a:graphic>
          <a:graphicData uri="http://schemas.openxmlformats.org/drawingml/2006/table">
            <a:tbl>
              <a:tblPr/>
              <a:tblGrid>
                <a:gridCol w="1828800"/>
                <a:gridCol w="1325880"/>
                <a:gridCol w="1325880"/>
                <a:gridCol w="1554480"/>
                <a:gridCol w="1280160"/>
                <a:gridCol w="1280160"/>
                <a:gridCol w="1234440"/>
                <a:gridCol w="1234440"/>
              </a:tblGrid>
              <a:tr h="479880">
                <a:tc>
                  <a:txBody>
                    <a:bodyPr anchor="ctr">
                      <a:noAutofit/>
                    </a:bodyPr>
                    <a:p>
                      <a:endParaRPr b="0" lang="en-US" sz="1100" spc="-1" strike="noStrike">
                        <a:solidFill>
                          <a:schemeClr val="dk1"/>
                        </a:solidFill>
                        <a:latin typeface="Calibri"/>
                        <a:ea typeface="Calibri"/>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c>
                  <a:txBody>
                    <a:bodyPr anchor="ctr">
                      <a:noAutofit/>
                    </a:bodyPr>
                    <a:p>
                      <a:pPr algn="ctr" defTabSz="914400">
                        <a:lnSpc>
                          <a:spcPct val="100000"/>
                        </a:lnSpc>
                        <a:tabLst>
                          <a:tab algn="l" pos="0"/>
                        </a:tabLst>
                      </a:pPr>
                      <a:r>
                        <a:rPr b="1" lang="en-US" sz="1100" spc="-1" strike="noStrike">
                          <a:solidFill>
                            <a:srgbClr val="ffffff"/>
                          </a:solidFill>
                          <a:latin typeface="Calibri"/>
                          <a:ea typeface="Calibri"/>
                        </a:rPr>
                        <a:t>MIT</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c>
                  <a:txBody>
                    <a:bodyPr anchor="ctr">
                      <a:noAutofit/>
                    </a:bodyPr>
                    <a:p>
                      <a:pPr algn="ctr" defTabSz="914400">
                        <a:lnSpc>
                          <a:spcPct val="100000"/>
                        </a:lnSpc>
                        <a:tabLst>
                          <a:tab algn="l" pos="0"/>
                        </a:tabLst>
                      </a:pPr>
                      <a:r>
                        <a:rPr b="1" lang="en-US" sz="1100" spc="-1" strike="noStrike">
                          <a:solidFill>
                            <a:srgbClr val="ffffff"/>
                          </a:solidFill>
                          <a:latin typeface="Calibri"/>
                          <a:ea typeface="Calibri"/>
                        </a:rPr>
                        <a:t>BSD</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c>
                  <a:txBody>
                    <a:bodyPr anchor="ctr">
                      <a:noAutofit/>
                    </a:bodyPr>
                    <a:p>
                      <a:pPr algn="ctr" defTabSz="914400">
                        <a:lnSpc>
                          <a:spcPct val="100000"/>
                        </a:lnSpc>
                        <a:tabLst>
                          <a:tab algn="l" pos="0"/>
                        </a:tabLst>
                      </a:pPr>
                      <a:r>
                        <a:rPr b="1" lang="en-US" sz="1100" spc="-1" strike="noStrike">
                          <a:solidFill>
                            <a:srgbClr val="ffffff"/>
                          </a:solidFill>
                          <a:latin typeface="Calibri"/>
                          <a:ea typeface="Calibri"/>
                        </a:rPr>
                        <a:t>Apache 2.0</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c>
                  <a:txBody>
                    <a:bodyPr anchor="ctr">
                      <a:noAutofit/>
                    </a:bodyPr>
                    <a:p>
                      <a:pPr algn="ctr" defTabSz="914400">
                        <a:lnSpc>
                          <a:spcPct val="100000"/>
                        </a:lnSpc>
                        <a:tabLst>
                          <a:tab algn="l" pos="0"/>
                        </a:tabLst>
                      </a:pPr>
                      <a:r>
                        <a:rPr b="1" lang="en-US" sz="1100" spc="-1" strike="noStrike">
                          <a:solidFill>
                            <a:srgbClr val="ffffff"/>
                          </a:solidFill>
                          <a:latin typeface="Calibri"/>
                          <a:ea typeface="Calibri"/>
                        </a:rPr>
                        <a:t>LGPL</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c>
                  <a:txBody>
                    <a:bodyPr anchor="ctr">
                      <a:noAutofit/>
                    </a:bodyPr>
                    <a:p>
                      <a:pPr algn="ctr" defTabSz="914400">
                        <a:lnSpc>
                          <a:spcPct val="100000"/>
                        </a:lnSpc>
                        <a:tabLst>
                          <a:tab algn="l" pos="0"/>
                        </a:tabLst>
                      </a:pPr>
                      <a:r>
                        <a:rPr b="1" lang="en-US" sz="1100" spc="-1" strike="noStrike">
                          <a:solidFill>
                            <a:srgbClr val="ffffff"/>
                          </a:solidFill>
                          <a:latin typeface="Calibri"/>
                          <a:ea typeface="Calibri"/>
                        </a:rPr>
                        <a:t>MPL</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c>
                  <a:txBody>
                    <a:bodyPr anchor="ctr">
                      <a:noAutofit/>
                    </a:bodyPr>
                    <a:p>
                      <a:pPr algn="ctr" defTabSz="914400">
                        <a:lnSpc>
                          <a:spcPct val="100000"/>
                        </a:lnSpc>
                        <a:tabLst>
                          <a:tab algn="l" pos="0"/>
                        </a:tabLst>
                      </a:pPr>
                      <a:r>
                        <a:rPr b="1" lang="en-US" sz="1100" spc="-1" strike="noStrike">
                          <a:solidFill>
                            <a:srgbClr val="ffffff"/>
                          </a:solidFill>
                          <a:latin typeface="Calibri"/>
                          <a:ea typeface="Calibri"/>
                        </a:rPr>
                        <a:t>GPL</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c>
                  <a:txBody>
                    <a:bodyPr anchor="ctr">
                      <a:noAutofit/>
                    </a:bodyPr>
                    <a:p>
                      <a:pPr algn="ctr" defTabSz="914400">
                        <a:lnSpc>
                          <a:spcPct val="100000"/>
                        </a:lnSpc>
                        <a:tabLst>
                          <a:tab algn="l" pos="0"/>
                        </a:tabLst>
                      </a:pPr>
                      <a:r>
                        <a:rPr b="1" lang="en-US" sz="1100" spc="-1" strike="noStrike">
                          <a:solidFill>
                            <a:srgbClr val="ffffff"/>
                          </a:solidFill>
                          <a:latin typeface="Calibri"/>
                          <a:ea typeface="Calibri"/>
                        </a:rPr>
                        <a:t>AGPL</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3a3f7a"/>
                    </a:solidFill>
                  </a:tcPr>
                </a:tc>
              </a:tr>
              <a:tr h="479880">
                <a:tc>
                  <a:txBody>
                    <a:bodyPr anchor="ctr">
                      <a:noAutofit/>
                    </a:bodyPr>
                    <a:p>
                      <a:pPr defTabSz="914400">
                        <a:lnSpc>
                          <a:spcPct val="100000"/>
                        </a:lnSpc>
                        <a:tabLst>
                          <a:tab algn="l" pos="0"/>
                        </a:tabLst>
                      </a:pPr>
                      <a:r>
                        <a:rPr b="1" lang="en-US" sz="1100" spc="-1" strike="noStrike">
                          <a:solidFill>
                            <a:srgbClr val="f5a623"/>
                          </a:solidFill>
                          <a:latin typeface="Calibri"/>
                          <a:ea typeface="Calibri"/>
                        </a:rPr>
                        <a:t>MIT</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252a6b"/>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r>
              <a:tr h="479880">
                <a:tc>
                  <a:txBody>
                    <a:bodyPr anchor="ctr">
                      <a:noAutofit/>
                    </a:bodyPr>
                    <a:p>
                      <a:pPr defTabSz="914400">
                        <a:lnSpc>
                          <a:spcPct val="100000"/>
                        </a:lnSpc>
                        <a:tabLst>
                          <a:tab algn="l" pos="0"/>
                        </a:tabLst>
                      </a:pPr>
                      <a:r>
                        <a:rPr b="1" lang="en-US" sz="1100" spc="-1" strike="noStrike">
                          <a:solidFill>
                            <a:srgbClr val="f5a623"/>
                          </a:solidFill>
                          <a:latin typeface="Calibri"/>
                          <a:ea typeface="Calibri"/>
                        </a:rPr>
                        <a:t>BSD</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252a6b"/>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r>
              <a:tr h="479880">
                <a:tc>
                  <a:txBody>
                    <a:bodyPr anchor="ctr">
                      <a:noAutofit/>
                    </a:bodyPr>
                    <a:p>
                      <a:pPr defTabSz="914400">
                        <a:lnSpc>
                          <a:spcPct val="100000"/>
                        </a:lnSpc>
                        <a:tabLst>
                          <a:tab algn="l" pos="0"/>
                        </a:tabLst>
                      </a:pPr>
                      <a:r>
                        <a:rPr b="1" lang="en-US" sz="1100" spc="-1" strike="noStrike">
                          <a:solidFill>
                            <a:srgbClr val="f5a623"/>
                          </a:solidFill>
                          <a:latin typeface="Calibri"/>
                          <a:ea typeface="Calibri"/>
                        </a:rPr>
                        <a:t>Apache 2.0</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252a6b"/>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r>
              <a:tr h="479880">
                <a:tc>
                  <a:txBody>
                    <a:bodyPr anchor="ctr">
                      <a:noAutofit/>
                    </a:bodyPr>
                    <a:p>
                      <a:pPr defTabSz="914400">
                        <a:lnSpc>
                          <a:spcPct val="100000"/>
                        </a:lnSpc>
                        <a:tabLst>
                          <a:tab algn="l" pos="0"/>
                        </a:tabLst>
                      </a:pPr>
                      <a:r>
                        <a:rPr b="1" lang="en-US" sz="1100" spc="-1" strike="noStrike">
                          <a:solidFill>
                            <a:srgbClr val="f5a623"/>
                          </a:solidFill>
                          <a:latin typeface="Calibri"/>
                          <a:ea typeface="Calibri"/>
                        </a:rPr>
                        <a:t>LGPL</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252a6b"/>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r>
              <a:tr h="479880">
                <a:tc>
                  <a:txBody>
                    <a:bodyPr anchor="ctr">
                      <a:noAutofit/>
                    </a:bodyPr>
                    <a:p>
                      <a:pPr defTabSz="914400">
                        <a:lnSpc>
                          <a:spcPct val="100000"/>
                        </a:lnSpc>
                        <a:tabLst>
                          <a:tab algn="l" pos="0"/>
                        </a:tabLst>
                      </a:pPr>
                      <a:r>
                        <a:rPr b="1" lang="en-US" sz="1100" spc="-1" strike="noStrike">
                          <a:solidFill>
                            <a:srgbClr val="f5a623"/>
                          </a:solidFill>
                          <a:latin typeface="Calibri"/>
                          <a:ea typeface="Calibri"/>
                        </a:rPr>
                        <a:t>MPL</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252a6b"/>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r>
              <a:tr h="479880">
                <a:tc>
                  <a:txBody>
                    <a:bodyPr anchor="ctr">
                      <a:noAutofit/>
                    </a:bodyPr>
                    <a:p>
                      <a:pPr defTabSz="914400">
                        <a:lnSpc>
                          <a:spcPct val="100000"/>
                        </a:lnSpc>
                        <a:tabLst>
                          <a:tab algn="l" pos="0"/>
                        </a:tabLst>
                      </a:pPr>
                      <a:r>
                        <a:rPr b="1" lang="en-US" sz="1100" spc="-1" strike="noStrike">
                          <a:solidFill>
                            <a:srgbClr val="f5a623"/>
                          </a:solidFill>
                          <a:latin typeface="Calibri"/>
                          <a:ea typeface="Calibri"/>
                        </a:rPr>
                        <a:t>GPL</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252a6b"/>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r>
              <a:tr h="479880">
                <a:tc>
                  <a:txBody>
                    <a:bodyPr anchor="ctr">
                      <a:noAutofit/>
                    </a:bodyPr>
                    <a:p>
                      <a:pPr defTabSz="914400">
                        <a:lnSpc>
                          <a:spcPct val="100000"/>
                        </a:lnSpc>
                        <a:tabLst>
                          <a:tab algn="l" pos="0"/>
                        </a:tabLst>
                      </a:pPr>
                      <a:r>
                        <a:rPr b="1" lang="en-US" sz="1100" spc="-1" strike="noStrike">
                          <a:solidFill>
                            <a:srgbClr val="f5a623"/>
                          </a:solidFill>
                          <a:latin typeface="Calibri"/>
                          <a:ea typeface="Calibri"/>
                        </a:rPr>
                        <a:t>AGPL</a:t>
                      </a:r>
                      <a:endParaRPr b="0" lang="en-US" sz="11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252a6b"/>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P</a:t>
                      </a:r>
                      <a:endParaRPr b="0" lang="en-US" sz="1200" spc="-1" strike="noStrike">
                        <a:solidFill>
                          <a:srgbClr val="000000"/>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f5a623"/>
                    </a:solidFill>
                  </a:tcPr>
                </a:tc>
                <a:tc>
                  <a:txBody>
                    <a:bodyPr anchor="ctr">
                      <a:noAutofit/>
                    </a:bodyPr>
                    <a:p>
                      <a:pPr algn="ctr" defTabSz="914400">
                        <a:lnSpc>
                          <a:spcPct val="100000"/>
                        </a:lnSpc>
                        <a:tabLst>
                          <a:tab algn="l" pos="0"/>
                        </a:tabLst>
                      </a:pPr>
                      <a:r>
                        <a:rPr b="1" lang="en-US" sz="1200" spc="-1" strike="noStrike">
                          <a:solidFill>
                            <a:srgbClr val="0f1035"/>
                          </a:solidFill>
                          <a:latin typeface="Calibri"/>
                          <a:ea typeface="Calibri"/>
                        </a:rPr>
                        <a:t>Y</a:t>
                      </a:r>
                      <a:endParaRPr b="0" lang="en-US" sz="1200" spc="-1" strike="noStrike">
                        <a:solidFill>
                          <a:srgbClr val="ffffff"/>
                        </a:solidFill>
                        <a:latin typeface="Arial"/>
                      </a:endParaRPr>
                    </a:p>
                  </a:txBody>
                  <a:tcPr anchor="ctr" marL="91440" marR="91440">
                    <a:lnL w="12240">
                      <a:solidFill>
                        <a:srgbClr val="0f1035"/>
                      </a:solidFill>
                      <a:prstDash val="solid"/>
                    </a:lnL>
                    <a:lnR w="12240">
                      <a:solidFill>
                        <a:srgbClr val="0f1035"/>
                      </a:solidFill>
                      <a:prstDash val="solid"/>
                    </a:lnR>
                    <a:lnT w="12240">
                      <a:solidFill>
                        <a:srgbClr val="0f1035"/>
                      </a:solidFill>
                      <a:prstDash val="solid"/>
                    </a:lnT>
                    <a:lnB w="12240">
                      <a:solidFill>
                        <a:srgbClr val="0f1035"/>
                      </a:solidFill>
                      <a:prstDash val="solid"/>
                    </a:lnB>
                    <a:solidFill>
                      <a:srgbClr val="5fbf77"/>
                    </a:solidFill>
                  </a:tcPr>
                </a:tc>
              </a:tr>
            </a:tbl>
          </a:graphicData>
        </a:graphic>
      </p:graphicFrame>
      <p:sp>
        <p:nvSpPr>
          <p:cNvPr id="456" name="Shape 3"/>
          <p:cNvSpPr/>
          <p:nvPr/>
        </p:nvSpPr>
        <p:spPr>
          <a:xfrm>
            <a:off x="548640" y="5449680"/>
            <a:ext cx="11063880" cy="868320"/>
          </a:xfrm>
          <a:prstGeom prst="roundRect">
            <a:avLst>
              <a:gd name="adj" fmla="val 9474"/>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7" name="Shape 4"/>
          <p:cNvSpPr/>
          <p:nvPr/>
        </p:nvSpPr>
        <p:spPr>
          <a:xfrm>
            <a:off x="822960" y="5577840"/>
            <a:ext cx="292320" cy="292320"/>
          </a:xfrm>
          <a:prstGeom prst="roundRect">
            <a:avLst>
              <a:gd name="adj" fmla="val 18750"/>
            </a:avLst>
          </a:prstGeom>
          <a:solidFill>
            <a:srgbClr val="5fbf77"/>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8" name="Text 5"/>
          <p:cNvSpPr/>
          <p:nvPr/>
        </p:nvSpPr>
        <p:spPr>
          <a:xfrm>
            <a:off x="1207080" y="5559480"/>
            <a:ext cx="22856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c7cdeb"/>
                </a:solidFill>
                <a:latin typeface="Calibri"/>
                <a:ea typeface="Calibri"/>
              </a:rPr>
              <a:t>Compatible</a:t>
            </a:r>
            <a:endParaRPr b="0" lang="en-US" sz="1150" spc="-1" strike="noStrike">
              <a:solidFill>
                <a:srgbClr val="ffffff"/>
              </a:solidFill>
              <a:latin typeface="Arial"/>
            </a:endParaRPr>
          </a:p>
        </p:txBody>
      </p:sp>
      <p:sp>
        <p:nvSpPr>
          <p:cNvPr id="459" name="Shape 6"/>
          <p:cNvSpPr/>
          <p:nvPr/>
        </p:nvSpPr>
        <p:spPr>
          <a:xfrm>
            <a:off x="3657600" y="5577840"/>
            <a:ext cx="292320" cy="292320"/>
          </a:xfrm>
          <a:prstGeom prst="roundRect">
            <a:avLst>
              <a:gd name="adj" fmla="val 18750"/>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0" name="Text 7"/>
          <p:cNvSpPr/>
          <p:nvPr/>
        </p:nvSpPr>
        <p:spPr>
          <a:xfrm>
            <a:off x="4041720" y="5559480"/>
            <a:ext cx="22856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c7cdeb"/>
                </a:solidFill>
                <a:latin typeface="Calibri"/>
                <a:ea typeface="Calibri"/>
              </a:rPr>
              <a:t>Conditional</a:t>
            </a:r>
            <a:endParaRPr b="0" lang="en-US" sz="1150" spc="-1" strike="noStrike">
              <a:solidFill>
                <a:srgbClr val="ffffff"/>
              </a:solidFill>
              <a:latin typeface="Arial"/>
            </a:endParaRPr>
          </a:p>
        </p:txBody>
      </p:sp>
      <p:sp>
        <p:nvSpPr>
          <p:cNvPr id="461" name="Shape 8"/>
          <p:cNvSpPr/>
          <p:nvPr/>
        </p:nvSpPr>
        <p:spPr>
          <a:xfrm>
            <a:off x="6492240" y="5577840"/>
            <a:ext cx="292320" cy="292320"/>
          </a:xfrm>
          <a:prstGeom prst="roundRect">
            <a:avLst>
              <a:gd name="adj" fmla="val 18750"/>
            </a:avLst>
          </a:prstGeom>
          <a:solidFill>
            <a:srgbClr val="d65a5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2" name="Text 9"/>
          <p:cNvSpPr/>
          <p:nvPr/>
        </p:nvSpPr>
        <p:spPr>
          <a:xfrm>
            <a:off x="6876360" y="5559480"/>
            <a:ext cx="22856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c7cdeb"/>
                </a:solidFill>
                <a:latin typeface="Calibri"/>
                <a:ea typeface="Calibri"/>
              </a:rPr>
              <a:t>Not Compatible</a:t>
            </a:r>
            <a:endParaRPr b="0" lang="en-US" sz="1150" spc="-1" strike="noStrike">
              <a:solidFill>
                <a:srgbClr val="ffffff"/>
              </a:solidFill>
              <a:latin typeface="Arial"/>
            </a:endParaRPr>
          </a:p>
        </p:txBody>
      </p:sp>
      <p:sp>
        <p:nvSpPr>
          <p:cNvPr id="463" name="Text 10"/>
          <p:cNvSpPr/>
          <p:nvPr/>
        </p:nvSpPr>
        <p:spPr>
          <a:xfrm>
            <a:off x="822960" y="5961960"/>
            <a:ext cx="105152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80" spc="-1" strike="noStrike">
                <a:solidFill>
                  <a:srgbClr val="8892b8"/>
                </a:solidFill>
                <a:latin typeface="Calibri"/>
                <a:ea typeface="Calibri"/>
              </a:rPr>
              <a:t>High-level overview only — real-world compatibility depends on how code is combined (copy, static/dynamic linking, plugins).</a:t>
            </a:r>
            <a:endParaRPr b="0" lang="en-US" sz="980" spc="-1" strike="noStrike">
              <a:solidFill>
                <a:srgbClr val="ffffff"/>
              </a:solidFill>
              <a:latin typeface="Arial"/>
            </a:endParaRPr>
          </a:p>
        </p:txBody>
      </p:sp>
      <p:sp>
        <p:nvSpPr>
          <p:cNvPr id="464" name="Text 11"/>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License Compatibility</a:t>
            </a:r>
            <a:endParaRPr b="0" lang="en-US" sz="900" spc="-1" strike="noStrike">
              <a:solidFill>
                <a:srgbClr val="ffffff"/>
              </a:solidFill>
              <a:latin typeface="Arial"/>
            </a:endParaRPr>
          </a:p>
        </p:txBody>
      </p:sp>
      <p:sp>
        <p:nvSpPr>
          <p:cNvPr id="465" name="Text 12"/>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12</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466" name="Text 0"/>
          <p:cNvSpPr/>
          <p:nvPr/>
        </p:nvSpPr>
        <p:spPr>
          <a:xfrm>
            <a:off x="548640" y="292680"/>
            <a:ext cx="11063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219" strike="noStrike">
                <a:solidFill>
                  <a:srgbClr val="f5a623"/>
                </a:solidFill>
                <a:latin typeface="Calibri"/>
                <a:ea typeface="Calibri"/>
              </a:rPr>
              <a:t>PART 5 · APPLYING IT</a:t>
            </a:r>
            <a:endParaRPr b="0" lang="en-US" sz="1150" spc="-1" strike="noStrike">
              <a:solidFill>
                <a:srgbClr val="ffffff"/>
              </a:solidFill>
              <a:latin typeface="Arial"/>
            </a:endParaRPr>
          </a:p>
        </p:txBody>
      </p:sp>
      <p:sp>
        <p:nvSpPr>
          <p:cNvPr id="467" name="Text 1"/>
          <p:cNvSpPr/>
          <p:nvPr/>
        </p:nvSpPr>
        <p:spPr>
          <a:xfrm>
            <a:off x="548640" y="603360"/>
            <a:ext cx="110638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700" spc="-1" strike="noStrike">
                <a:solidFill>
                  <a:srgbClr val="ffffff"/>
                </a:solidFill>
                <a:latin typeface="Cambria"/>
                <a:ea typeface="Cambria"/>
              </a:rPr>
              <a:t>Key Takeaways</a:t>
            </a:r>
            <a:endParaRPr b="0" lang="en-US" sz="2700" spc="-1" strike="noStrike">
              <a:solidFill>
                <a:srgbClr val="ffffff"/>
              </a:solidFill>
              <a:latin typeface="Arial"/>
            </a:endParaRPr>
          </a:p>
        </p:txBody>
      </p:sp>
      <p:sp>
        <p:nvSpPr>
          <p:cNvPr id="468" name="Text 2"/>
          <p:cNvSpPr/>
          <p:nvPr/>
        </p:nvSpPr>
        <p:spPr>
          <a:xfrm>
            <a:off x="548640" y="1152000"/>
            <a:ext cx="11063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50" spc="-1" strike="noStrike">
                <a:solidFill>
                  <a:srgbClr val="8892b8"/>
                </a:solidFill>
                <a:latin typeface="Calibri"/>
                <a:ea typeface="Calibri"/>
              </a:rPr>
              <a:t>One memorable line for every major license</a:t>
            </a:r>
            <a:endParaRPr b="0" lang="en-US" sz="1250" spc="-1" strike="noStrike">
              <a:solidFill>
                <a:srgbClr val="ffffff"/>
              </a:solidFill>
              <a:latin typeface="Arial"/>
            </a:endParaRPr>
          </a:p>
        </p:txBody>
      </p:sp>
      <p:sp>
        <p:nvSpPr>
          <p:cNvPr id="469" name="Shape 3"/>
          <p:cNvSpPr/>
          <p:nvPr/>
        </p:nvSpPr>
        <p:spPr>
          <a:xfrm>
            <a:off x="548640" y="1572840"/>
            <a:ext cx="5440320" cy="1096920"/>
          </a:xfrm>
          <a:prstGeom prst="roundRect">
            <a:avLst>
              <a:gd name="adj" fmla="val 7500"/>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0" name="Shape 4"/>
          <p:cNvSpPr/>
          <p:nvPr/>
        </p:nvSpPr>
        <p:spPr>
          <a:xfrm>
            <a:off x="731520" y="1856160"/>
            <a:ext cx="529920" cy="5299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71" name="Image 0" descr="/home/claude/work/icons/check_0F1035.png"/>
          <p:cNvPicPr/>
          <p:nvPr/>
        </p:nvPicPr>
        <p:blipFill>
          <a:blip r:embed="rId1"/>
          <a:stretch/>
        </p:blipFill>
        <p:spPr>
          <a:xfrm>
            <a:off x="850680" y="1975680"/>
            <a:ext cx="291240" cy="291240"/>
          </a:xfrm>
          <a:prstGeom prst="rect">
            <a:avLst/>
          </a:prstGeom>
          <a:ln w="0">
            <a:noFill/>
          </a:ln>
        </p:spPr>
      </p:pic>
      <p:sp>
        <p:nvSpPr>
          <p:cNvPr id="472" name="Text 5"/>
          <p:cNvSpPr/>
          <p:nvPr/>
        </p:nvSpPr>
        <p:spPr>
          <a:xfrm>
            <a:off x="1417320" y="1682640"/>
            <a:ext cx="43887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mbria"/>
                <a:ea typeface="Cambria"/>
              </a:rPr>
              <a:t>MIT</a:t>
            </a:r>
            <a:endParaRPr b="0" lang="en-US" sz="1300" spc="-1" strike="noStrike">
              <a:solidFill>
                <a:srgbClr val="ffffff"/>
              </a:solidFill>
              <a:latin typeface="Arial"/>
            </a:endParaRPr>
          </a:p>
        </p:txBody>
      </p:sp>
      <p:sp>
        <p:nvSpPr>
          <p:cNvPr id="473" name="Text 6"/>
          <p:cNvSpPr/>
          <p:nvPr/>
        </p:nvSpPr>
        <p:spPr>
          <a:xfrm>
            <a:off x="1417320" y="1965960"/>
            <a:ext cx="4388760" cy="6397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00" spc="-1" strike="noStrike">
                <a:solidFill>
                  <a:srgbClr val="c7cdeb"/>
                </a:solidFill>
                <a:latin typeface="Calibri"/>
                <a:ea typeface="Calibri"/>
              </a:rPr>
              <a:t>Use it however you want; just keep my copyright and license.</a:t>
            </a:r>
            <a:endParaRPr b="0" lang="en-US" sz="1200" spc="-1" strike="noStrike">
              <a:solidFill>
                <a:srgbClr val="ffffff"/>
              </a:solidFill>
              <a:latin typeface="Arial"/>
            </a:endParaRPr>
          </a:p>
        </p:txBody>
      </p:sp>
      <p:sp>
        <p:nvSpPr>
          <p:cNvPr id="474" name="Shape 7"/>
          <p:cNvSpPr/>
          <p:nvPr/>
        </p:nvSpPr>
        <p:spPr>
          <a:xfrm>
            <a:off x="6217920" y="1572840"/>
            <a:ext cx="5440320" cy="1096920"/>
          </a:xfrm>
          <a:prstGeom prst="roundRect">
            <a:avLst>
              <a:gd name="adj" fmla="val 7500"/>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5" name="Shape 8"/>
          <p:cNvSpPr/>
          <p:nvPr/>
        </p:nvSpPr>
        <p:spPr>
          <a:xfrm>
            <a:off x="6400800" y="1856160"/>
            <a:ext cx="529920" cy="5299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76" name="Image 1" descr="/home/claude/work/icons/shield_0F1035.png"/>
          <p:cNvPicPr/>
          <p:nvPr/>
        </p:nvPicPr>
        <p:blipFill>
          <a:blip r:embed="rId2"/>
          <a:stretch/>
        </p:blipFill>
        <p:spPr>
          <a:xfrm>
            <a:off x="6519960" y="1975680"/>
            <a:ext cx="291240" cy="291240"/>
          </a:xfrm>
          <a:prstGeom prst="rect">
            <a:avLst/>
          </a:prstGeom>
          <a:ln w="0">
            <a:noFill/>
          </a:ln>
        </p:spPr>
      </p:pic>
      <p:sp>
        <p:nvSpPr>
          <p:cNvPr id="477" name="Text 9"/>
          <p:cNvSpPr/>
          <p:nvPr/>
        </p:nvSpPr>
        <p:spPr>
          <a:xfrm>
            <a:off x="7086600" y="1682640"/>
            <a:ext cx="43887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mbria"/>
                <a:ea typeface="Cambria"/>
              </a:rPr>
              <a:t>BSD</a:t>
            </a:r>
            <a:endParaRPr b="0" lang="en-US" sz="1300" spc="-1" strike="noStrike">
              <a:solidFill>
                <a:srgbClr val="ffffff"/>
              </a:solidFill>
              <a:latin typeface="Arial"/>
            </a:endParaRPr>
          </a:p>
        </p:txBody>
      </p:sp>
      <p:sp>
        <p:nvSpPr>
          <p:cNvPr id="478" name="Text 10"/>
          <p:cNvSpPr/>
          <p:nvPr/>
        </p:nvSpPr>
        <p:spPr>
          <a:xfrm>
            <a:off x="7086600" y="1965960"/>
            <a:ext cx="4388760" cy="6397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00" spc="-1" strike="noStrike">
                <a:solidFill>
                  <a:srgbClr val="c7cdeb"/>
                </a:solidFill>
                <a:latin typeface="Calibri"/>
                <a:ea typeface="Calibri"/>
              </a:rPr>
              <a:t>Like MIT, plus an optional non-endorsement clause.</a:t>
            </a:r>
            <a:endParaRPr b="0" lang="en-US" sz="1200" spc="-1" strike="noStrike">
              <a:solidFill>
                <a:srgbClr val="ffffff"/>
              </a:solidFill>
              <a:latin typeface="Arial"/>
            </a:endParaRPr>
          </a:p>
        </p:txBody>
      </p:sp>
      <p:sp>
        <p:nvSpPr>
          <p:cNvPr id="479" name="Shape 11"/>
          <p:cNvSpPr/>
          <p:nvPr/>
        </p:nvSpPr>
        <p:spPr>
          <a:xfrm>
            <a:off x="548640" y="2807280"/>
            <a:ext cx="5440320" cy="1096920"/>
          </a:xfrm>
          <a:prstGeom prst="roundRect">
            <a:avLst>
              <a:gd name="adj" fmla="val 7500"/>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0" name="Shape 12"/>
          <p:cNvSpPr/>
          <p:nvPr/>
        </p:nvSpPr>
        <p:spPr>
          <a:xfrm>
            <a:off x="731520" y="3090600"/>
            <a:ext cx="529920" cy="5299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81" name="Image 2" descr="/home/claude/work/icons/scroll_0F1035.png"/>
          <p:cNvPicPr/>
          <p:nvPr/>
        </p:nvPicPr>
        <p:blipFill>
          <a:blip r:embed="rId3"/>
          <a:stretch/>
        </p:blipFill>
        <p:spPr>
          <a:xfrm>
            <a:off x="850680" y="3210120"/>
            <a:ext cx="291240" cy="291240"/>
          </a:xfrm>
          <a:prstGeom prst="rect">
            <a:avLst/>
          </a:prstGeom>
          <a:ln w="0">
            <a:noFill/>
          </a:ln>
        </p:spPr>
      </p:pic>
      <p:sp>
        <p:nvSpPr>
          <p:cNvPr id="482" name="Text 13"/>
          <p:cNvSpPr/>
          <p:nvPr/>
        </p:nvSpPr>
        <p:spPr>
          <a:xfrm>
            <a:off x="1417320" y="2917080"/>
            <a:ext cx="43887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mbria"/>
                <a:ea typeface="Cambria"/>
              </a:rPr>
              <a:t>Apache 2.0</a:t>
            </a:r>
            <a:endParaRPr b="0" lang="en-US" sz="1300" spc="-1" strike="noStrike">
              <a:solidFill>
                <a:srgbClr val="ffffff"/>
              </a:solidFill>
              <a:latin typeface="Arial"/>
            </a:endParaRPr>
          </a:p>
        </p:txBody>
      </p:sp>
      <p:sp>
        <p:nvSpPr>
          <p:cNvPr id="483" name="Text 14"/>
          <p:cNvSpPr/>
          <p:nvPr/>
        </p:nvSpPr>
        <p:spPr>
          <a:xfrm>
            <a:off x="1417320" y="3200400"/>
            <a:ext cx="4388760" cy="6397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00" spc="-1" strike="noStrike">
                <a:solidFill>
                  <a:srgbClr val="c7cdeb"/>
                </a:solidFill>
                <a:latin typeface="Calibri"/>
                <a:ea typeface="Calibri"/>
              </a:rPr>
              <a:t>Like MIT, plus explicit patent protection and NOTICE requirements.</a:t>
            </a:r>
            <a:endParaRPr b="0" lang="en-US" sz="1200" spc="-1" strike="noStrike">
              <a:solidFill>
                <a:srgbClr val="ffffff"/>
              </a:solidFill>
              <a:latin typeface="Arial"/>
            </a:endParaRPr>
          </a:p>
        </p:txBody>
      </p:sp>
      <p:sp>
        <p:nvSpPr>
          <p:cNvPr id="484" name="Shape 15"/>
          <p:cNvSpPr/>
          <p:nvPr/>
        </p:nvSpPr>
        <p:spPr>
          <a:xfrm>
            <a:off x="6217920" y="2807280"/>
            <a:ext cx="5440320" cy="1096920"/>
          </a:xfrm>
          <a:prstGeom prst="roundRect">
            <a:avLst>
              <a:gd name="adj" fmla="val 7500"/>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5" name="Shape 16"/>
          <p:cNvSpPr/>
          <p:nvPr/>
        </p:nvSpPr>
        <p:spPr>
          <a:xfrm>
            <a:off x="6400800" y="3090600"/>
            <a:ext cx="529920" cy="5299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86" name="Image 3" descr="/home/claude/work/icons/key_0F1035.png"/>
          <p:cNvPicPr/>
          <p:nvPr/>
        </p:nvPicPr>
        <p:blipFill>
          <a:blip r:embed="rId4"/>
          <a:stretch/>
        </p:blipFill>
        <p:spPr>
          <a:xfrm>
            <a:off x="6519960" y="3210120"/>
            <a:ext cx="291240" cy="291240"/>
          </a:xfrm>
          <a:prstGeom prst="rect">
            <a:avLst/>
          </a:prstGeom>
          <a:ln w="0">
            <a:noFill/>
          </a:ln>
        </p:spPr>
      </p:pic>
      <p:sp>
        <p:nvSpPr>
          <p:cNvPr id="487" name="Text 17"/>
          <p:cNvSpPr/>
          <p:nvPr/>
        </p:nvSpPr>
        <p:spPr>
          <a:xfrm>
            <a:off x="7086600" y="2917080"/>
            <a:ext cx="43887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mbria"/>
                <a:ea typeface="Cambria"/>
              </a:rPr>
              <a:t>LGPL</a:t>
            </a:r>
            <a:endParaRPr b="0" lang="en-US" sz="1300" spc="-1" strike="noStrike">
              <a:solidFill>
                <a:srgbClr val="ffffff"/>
              </a:solidFill>
              <a:latin typeface="Arial"/>
            </a:endParaRPr>
          </a:p>
        </p:txBody>
      </p:sp>
      <p:sp>
        <p:nvSpPr>
          <p:cNvPr id="488" name="Text 18"/>
          <p:cNvSpPr/>
          <p:nvPr/>
        </p:nvSpPr>
        <p:spPr>
          <a:xfrm>
            <a:off x="7086600" y="3200400"/>
            <a:ext cx="4388760" cy="6397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00" spc="-1" strike="noStrike">
                <a:solidFill>
                  <a:srgbClr val="c7cdeb"/>
                </a:solidFill>
                <a:latin typeface="Calibri"/>
                <a:ea typeface="Calibri"/>
              </a:rPr>
              <a:t>Protects the library, not necessarily the whole application.</a:t>
            </a:r>
            <a:endParaRPr b="0" lang="en-US" sz="1200" spc="-1" strike="noStrike">
              <a:solidFill>
                <a:srgbClr val="ffffff"/>
              </a:solidFill>
              <a:latin typeface="Arial"/>
            </a:endParaRPr>
          </a:p>
        </p:txBody>
      </p:sp>
      <p:sp>
        <p:nvSpPr>
          <p:cNvPr id="489" name="Shape 19"/>
          <p:cNvSpPr/>
          <p:nvPr/>
        </p:nvSpPr>
        <p:spPr>
          <a:xfrm>
            <a:off x="548640" y="4041720"/>
            <a:ext cx="5440320" cy="1096920"/>
          </a:xfrm>
          <a:prstGeom prst="roundRect">
            <a:avLst>
              <a:gd name="adj" fmla="val 7500"/>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0" name="Shape 20"/>
          <p:cNvSpPr/>
          <p:nvPr/>
        </p:nvSpPr>
        <p:spPr>
          <a:xfrm>
            <a:off x="731520" y="4325040"/>
            <a:ext cx="529920" cy="5299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91" name="Image 4" descr="/home/claude/work/icons/fileexport_0F1035.png"/>
          <p:cNvPicPr/>
          <p:nvPr/>
        </p:nvPicPr>
        <p:blipFill>
          <a:blip r:embed="rId5"/>
          <a:stretch/>
        </p:blipFill>
        <p:spPr>
          <a:xfrm>
            <a:off x="850680" y="4444560"/>
            <a:ext cx="291240" cy="291240"/>
          </a:xfrm>
          <a:prstGeom prst="rect">
            <a:avLst/>
          </a:prstGeom>
          <a:ln w="0">
            <a:noFill/>
          </a:ln>
        </p:spPr>
      </p:pic>
      <p:sp>
        <p:nvSpPr>
          <p:cNvPr id="492" name="Text 21"/>
          <p:cNvSpPr/>
          <p:nvPr/>
        </p:nvSpPr>
        <p:spPr>
          <a:xfrm>
            <a:off x="1417320" y="4151520"/>
            <a:ext cx="43887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mbria"/>
                <a:ea typeface="Cambria"/>
              </a:rPr>
              <a:t>MPL 2.0</a:t>
            </a:r>
            <a:endParaRPr b="0" lang="en-US" sz="1300" spc="-1" strike="noStrike">
              <a:solidFill>
                <a:srgbClr val="ffffff"/>
              </a:solidFill>
              <a:latin typeface="Arial"/>
            </a:endParaRPr>
          </a:p>
        </p:txBody>
      </p:sp>
      <p:sp>
        <p:nvSpPr>
          <p:cNvPr id="493" name="Text 22"/>
          <p:cNvSpPr/>
          <p:nvPr/>
        </p:nvSpPr>
        <p:spPr>
          <a:xfrm>
            <a:off x="1417320" y="4434840"/>
            <a:ext cx="4388760" cy="6397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00" spc="-1" strike="noStrike">
                <a:solidFill>
                  <a:srgbClr val="c7cdeb"/>
                </a:solidFill>
                <a:latin typeface="Calibri"/>
                <a:ea typeface="Calibri"/>
              </a:rPr>
              <a:t>Protects modified files, not the entire project.</a:t>
            </a:r>
            <a:endParaRPr b="0" lang="en-US" sz="1200" spc="-1" strike="noStrike">
              <a:solidFill>
                <a:srgbClr val="ffffff"/>
              </a:solidFill>
              <a:latin typeface="Arial"/>
            </a:endParaRPr>
          </a:p>
        </p:txBody>
      </p:sp>
      <p:sp>
        <p:nvSpPr>
          <p:cNvPr id="494" name="Shape 23"/>
          <p:cNvSpPr/>
          <p:nvPr/>
        </p:nvSpPr>
        <p:spPr>
          <a:xfrm>
            <a:off x="6217920" y="4041720"/>
            <a:ext cx="5440320" cy="1096920"/>
          </a:xfrm>
          <a:prstGeom prst="roundRect">
            <a:avLst>
              <a:gd name="adj" fmla="val 7500"/>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5" name="Shape 24"/>
          <p:cNvSpPr/>
          <p:nvPr/>
        </p:nvSpPr>
        <p:spPr>
          <a:xfrm>
            <a:off x="6400800" y="4325040"/>
            <a:ext cx="529920" cy="5299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96" name="Image 5" descr="/home/claude/work/icons/branch_0F1035.png"/>
          <p:cNvPicPr/>
          <p:nvPr/>
        </p:nvPicPr>
        <p:blipFill>
          <a:blip r:embed="rId6"/>
          <a:stretch/>
        </p:blipFill>
        <p:spPr>
          <a:xfrm>
            <a:off x="6519960" y="4444560"/>
            <a:ext cx="291240" cy="291240"/>
          </a:xfrm>
          <a:prstGeom prst="rect">
            <a:avLst/>
          </a:prstGeom>
          <a:ln w="0">
            <a:noFill/>
          </a:ln>
        </p:spPr>
      </p:pic>
      <p:sp>
        <p:nvSpPr>
          <p:cNvPr id="497" name="Text 25"/>
          <p:cNvSpPr/>
          <p:nvPr/>
        </p:nvSpPr>
        <p:spPr>
          <a:xfrm>
            <a:off x="7086600" y="4151520"/>
            <a:ext cx="43887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mbria"/>
                <a:ea typeface="Cambria"/>
              </a:rPr>
              <a:t>GPL</a:t>
            </a:r>
            <a:endParaRPr b="0" lang="en-US" sz="1300" spc="-1" strike="noStrike">
              <a:solidFill>
                <a:srgbClr val="ffffff"/>
              </a:solidFill>
              <a:latin typeface="Arial"/>
            </a:endParaRPr>
          </a:p>
        </p:txBody>
      </p:sp>
      <p:sp>
        <p:nvSpPr>
          <p:cNvPr id="498" name="Text 26"/>
          <p:cNvSpPr/>
          <p:nvPr/>
        </p:nvSpPr>
        <p:spPr>
          <a:xfrm>
            <a:off x="7086600" y="4434840"/>
            <a:ext cx="4388760" cy="6397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00" spc="-1" strike="noStrike">
                <a:solidFill>
                  <a:srgbClr val="c7cdeb"/>
                </a:solidFill>
                <a:latin typeface="Calibri"/>
                <a:ea typeface="Calibri"/>
              </a:rPr>
              <a:t>Keep freedoms available for distributed derivative works.</a:t>
            </a:r>
            <a:endParaRPr b="0" lang="en-US" sz="1200" spc="-1" strike="noStrike">
              <a:solidFill>
                <a:srgbClr val="ffffff"/>
              </a:solidFill>
              <a:latin typeface="Arial"/>
            </a:endParaRPr>
          </a:p>
        </p:txBody>
      </p:sp>
      <p:sp>
        <p:nvSpPr>
          <p:cNvPr id="499" name="Shape 27"/>
          <p:cNvSpPr/>
          <p:nvPr/>
        </p:nvSpPr>
        <p:spPr>
          <a:xfrm>
            <a:off x="548640" y="5276160"/>
            <a:ext cx="11109600" cy="1096920"/>
          </a:xfrm>
          <a:prstGeom prst="roundRect">
            <a:avLst>
              <a:gd name="adj" fmla="val 7500"/>
            </a:avLst>
          </a:prstGeom>
          <a:solidFill>
            <a:srgbClr val="252a6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0" name="Shape 28"/>
          <p:cNvSpPr/>
          <p:nvPr/>
        </p:nvSpPr>
        <p:spPr>
          <a:xfrm>
            <a:off x="731520" y="5559480"/>
            <a:ext cx="529920" cy="52992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01" name="Image 6" descr="/home/claude/work/icons/cloud_0F1035.png"/>
          <p:cNvPicPr/>
          <p:nvPr/>
        </p:nvPicPr>
        <p:blipFill>
          <a:blip r:embed="rId7"/>
          <a:stretch/>
        </p:blipFill>
        <p:spPr>
          <a:xfrm>
            <a:off x="850680" y="5679000"/>
            <a:ext cx="291240" cy="291240"/>
          </a:xfrm>
          <a:prstGeom prst="rect">
            <a:avLst/>
          </a:prstGeom>
          <a:ln w="0">
            <a:noFill/>
          </a:ln>
        </p:spPr>
      </p:pic>
      <p:sp>
        <p:nvSpPr>
          <p:cNvPr id="502" name="Text 29"/>
          <p:cNvSpPr/>
          <p:nvPr/>
        </p:nvSpPr>
        <p:spPr>
          <a:xfrm>
            <a:off x="1417320" y="5385960"/>
            <a:ext cx="2742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mbria"/>
                <a:ea typeface="Cambria"/>
              </a:rPr>
              <a:t>AGPL</a:t>
            </a:r>
            <a:endParaRPr b="0" lang="en-US" sz="1300" spc="-1" strike="noStrike">
              <a:solidFill>
                <a:srgbClr val="ffffff"/>
              </a:solidFill>
              <a:latin typeface="Arial"/>
            </a:endParaRPr>
          </a:p>
        </p:txBody>
      </p:sp>
      <p:sp>
        <p:nvSpPr>
          <p:cNvPr id="503" name="Text 30"/>
          <p:cNvSpPr/>
          <p:nvPr/>
        </p:nvSpPr>
        <p:spPr>
          <a:xfrm>
            <a:off x="1417320" y="5669280"/>
            <a:ext cx="9326520" cy="6397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i="1" lang="en-US" sz="1200" spc="-1" strike="noStrike">
                <a:solidFill>
                  <a:srgbClr val="c7cdeb"/>
                </a:solidFill>
                <a:latin typeface="Calibri"/>
                <a:ea typeface="Calibri"/>
              </a:rPr>
              <a:t>GPL, extended so network / SaaS users get the source too — the strongest copyleft protection of them all.</a:t>
            </a:r>
            <a:endParaRPr b="0" lang="en-US" sz="1200" spc="-1" strike="noStrike">
              <a:solidFill>
                <a:srgbClr val="ffffff"/>
              </a:solidFill>
              <a:latin typeface="Arial"/>
            </a:endParaRPr>
          </a:p>
        </p:txBody>
      </p:sp>
      <p:sp>
        <p:nvSpPr>
          <p:cNvPr id="504" name="Text 31"/>
          <p:cNvSpPr/>
          <p:nvPr/>
        </p:nvSpPr>
        <p:spPr>
          <a:xfrm>
            <a:off x="457200" y="65379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8892b8"/>
                </a:solidFill>
                <a:latin typeface="Calibri"/>
                <a:ea typeface="Calibri"/>
              </a:rPr>
              <a:t>Key Takeaways</a:t>
            </a:r>
            <a:endParaRPr b="0" lang="en-US" sz="900" spc="-1" strike="noStrike">
              <a:solidFill>
                <a:srgbClr val="ffffff"/>
              </a:solidFill>
              <a:latin typeface="Arial"/>
            </a:endParaRPr>
          </a:p>
        </p:txBody>
      </p:sp>
      <p:sp>
        <p:nvSpPr>
          <p:cNvPr id="505" name="Text 32"/>
          <p:cNvSpPr/>
          <p:nvPr/>
        </p:nvSpPr>
        <p:spPr>
          <a:xfrm>
            <a:off x="11521440" y="6537960"/>
            <a:ext cx="45684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8892b8"/>
                </a:solidFill>
                <a:latin typeface="Calibri"/>
                <a:ea typeface="Calibri"/>
              </a:rPr>
              <a:t>13</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035"/>
        </a:solidFill>
      </p:bgPr>
    </p:bg>
    <p:spTree>
      <p:nvGrpSpPr>
        <p:cNvPr id="1" name=""/>
        <p:cNvGrpSpPr/>
        <p:nvPr/>
      </p:nvGrpSpPr>
      <p:grpSpPr>
        <a:xfrm>
          <a:off x="0" y="0"/>
          <a:ext cx="0" cy="0"/>
          <a:chOff x="0" y="0"/>
          <a:chExt cx="0" cy="0"/>
        </a:xfrm>
      </p:grpSpPr>
      <p:sp>
        <p:nvSpPr>
          <p:cNvPr id="506" name="Shape 0"/>
          <p:cNvSpPr/>
          <p:nvPr/>
        </p:nvSpPr>
        <p:spPr>
          <a:xfrm>
            <a:off x="-1463040" y="-1645920"/>
            <a:ext cx="5028840" cy="5028840"/>
          </a:xfrm>
          <a:prstGeom prst="ellipse">
            <a:avLst/>
          </a:prstGeom>
          <a:solidFill>
            <a:srgbClr val="252a6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7" name="Shape 1"/>
          <p:cNvSpPr/>
          <p:nvPr/>
        </p:nvSpPr>
        <p:spPr>
          <a:xfrm>
            <a:off x="-731520" y="4480560"/>
            <a:ext cx="3474360" cy="3474360"/>
          </a:xfrm>
          <a:prstGeom prst="ellipse">
            <a:avLst/>
          </a:prstGeom>
          <a:solidFill>
            <a:srgbClr val="1a1e4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8" name="Shape 2"/>
          <p:cNvSpPr/>
          <p:nvPr/>
        </p:nvSpPr>
        <p:spPr>
          <a:xfrm>
            <a:off x="5257800" y="1417320"/>
            <a:ext cx="1737000" cy="1737000"/>
          </a:xfrm>
          <a:prstGeom prst="ellipse">
            <a:avLst/>
          </a:prstGeom>
          <a:solidFill>
            <a:srgbClr val="f5a623"/>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09" name="Image 0" descr="/home/claude/work/icons/question_0F1035.png"/>
          <p:cNvPicPr/>
          <p:nvPr/>
        </p:nvPicPr>
        <p:blipFill>
          <a:blip r:embed="rId1"/>
          <a:stretch/>
        </p:blipFill>
        <p:spPr>
          <a:xfrm>
            <a:off x="5648760" y="1808280"/>
            <a:ext cx="955080" cy="955080"/>
          </a:xfrm>
          <a:prstGeom prst="rect">
            <a:avLst/>
          </a:prstGeom>
          <a:ln w="0">
            <a:noFill/>
          </a:ln>
        </p:spPr>
      </p:pic>
      <p:sp>
        <p:nvSpPr>
          <p:cNvPr id="510" name="Text 3"/>
          <p:cNvSpPr/>
          <p:nvPr/>
        </p:nvSpPr>
        <p:spPr>
          <a:xfrm>
            <a:off x="0" y="3383280"/>
            <a:ext cx="12161160" cy="914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4400" spc="-1" strike="noStrike">
                <a:solidFill>
                  <a:srgbClr val="ffffff"/>
                </a:solidFill>
                <a:latin typeface="Cambria"/>
                <a:ea typeface="Cambria"/>
              </a:rPr>
              <a:t>Thank You</a:t>
            </a:r>
            <a:endParaRPr b="0" lang="en-US" sz="4400" spc="-1" strike="noStrike">
              <a:solidFill>
                <a:srgbClr val="ffffff"/>
              </a:solidFill>
              <a:latin typeface="Arial"/>
            </a:endParaRPr>
          </a:p>
        </p:txBody>
      </p:sp>
      <p:sp>
        <p:nvSpPr>
          <p:cNvPr id="511" name="Text 4"/>
          <p:cNvSpPr/>
          <p:nvPr/>
        </p:nvSpPr>
        <p:spPr>
          <a:xfrm>
            <a:off x="0" y="4251960"/>
            <a:ext cx="121611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US" sz="1800" spc="-1" strike="noStrike">
              <a:solidFill>
                <a:srgbClr val="ffffff"/>
              </a:solidFill>
              <a:latin typeface="Arial"/>
            </a:endParaRPr>
          </a:p>
        </p:txBody>
      </p:sp>
      <p:sp>
        <p:nvSpPr>
          <p:cNvPr id="512" name="Text 5"/>
          <p:cNvSpPr/>
          <p:nvPr/>
        </p:nvSpPr>
        <p:spPr>
          <a:xfrm>
            <a:off x="0" y="6035040"/>
            <a:ext cx="121611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8892b8"/>
                </a:solidFill>
                <a:latin typeface="Calibri"/>
                <a:ea typeface="Calibri"/>
              </a:rPr>
              <a:t>Understanding Software Licensing  —  From Fundamentals to Open Source Licenses</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33</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2026-07-10T05:26:53Z</dcterms:created>
  <dc:creator>PptxGenJS</dc:creator>
  <dc:description/>
  <dc:language>en-US</dc:language>
  <cp:lastModifiedBy/>
  <dcterms:modified xsi:type="dcterms:W3CDTF">2026-07-10T19:48:30Z</dcterms:modified>
  <cp:revision>3</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