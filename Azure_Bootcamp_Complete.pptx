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3.png" ContentType="image/png"/>
  <Override PartName="/ppt/media/image4.png" ContentType="image/png"/>
  <Override PartName="/ppt/media/image9.png" ContentType="image/png"/>
  <Override PartName="/ppt/media/image18.png" ContentType="image/png"/>
  <Override PartName="/ppt/media/image20.png" ContentType="image/png"/>
  <Override PartName="/ppt/media/image12.png" ContentType="image/png"/>
  <Override PartName="/ppt/media/image3.png" ContentType="image/png"/>
  <Override PartName="/ppt/media/image21.png" ContentType="image/png"/>
  <Override PartName="/ppt/media/image19.png" ContentType="image/png"/>
  <Override PartName="/ppt/media/image5.png" ContentType="image/png"/>
  <Override PartName="/ppt/media/image14.png" ContentType="image/png"/>
  <Override PartName="/ppt/media/image15.png" ContentType="image/png"/>
  <Override PartName="/ppt/media/image6.png" ContentType="image/png"/>
  <Override PartName="/ppt/media/image10.png" ContentType="image/png"/>
  <Override PartName="/ppt/media/image1.png" ContentType="image/png"/>
  <Override PartName="/ppt/media/image16.png" ContentType="image/png"/>
  <Override PartName="/ppt/media/image7.png" ContentType="image/png"/>
  <Override PartName="/ppt/media/image2.png" ContentType="image/png"/>
  <Override PartName="/ppt/media/image11.png" ContentType="image/png"/>
  <Override PartName="/ppt/media/image8.png" ContentType="image/png"/>
  <Override PartName="/ppt/media/image17.png" ContentType="image/png"/>
  <Override PartName="/ppt/slides/_rels/slide5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6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17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.xml.rels" ContentType="application/vnd.openxmlformats-package.relationship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21F1928E-BE08-4CB3-9D74-790FACCC1C1F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8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3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D992C9B-8542-40B1-A696-E84CC2FACC4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8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4B3F75F-7FEB-4030-B66E-D14387E832A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8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9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B52D4D3-66FD-494D-9C4D-0A6E271F279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8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2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7FC4548-09AB-457A-9583-34AB6C49356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8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5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CF1F9DE-0D6E-4C69-B0C8-83CFE33A416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8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8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48D52CB-4105-48FE-87FD-26BE317DDF7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8.png"/><Relationship Id="rId3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png"/><Relationship Id="rId3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0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1"/>
          <p:cNvSpPr/>
          <p:nvPr/>
        </p:nvSpPr>
        <p:spPr>
          <a:xfrm>
            <a:off x="0" y="0"/>
            <a:ext cx="52920" cy="51422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" name="TextBox 2"/>
          <p:cNvSpPr/>
          <p:nvPr/>
        </p:nvSpPr>
        <p:spPr>
          <a:xfrm>
            <a:off x="274320" y="228600"/>
            <a:ext cx="4398480" cy="23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850" spc="335" strike="noStrike">
                <a:solidFill>
                  <a:srgbClr val="f5a623"/>
                </a:solidFill>
                <a:latin typeface="Calibri"/>
              </a:rPr>
              <a:t>AZURE LAUNCHPAD  ·  FRESHER TRACK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TextBox 3"/>
          <p:cNvSpPr/>
          <p:nvPr/>
        </p:nvSpPr>
        <p:spPr>
          <a:xfrm>
            <a:off x="274320" y="530280"/>
            <a:ext cx="4498920" cy="59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Cambria"/>
              </a:rPr>
              <a:t>Azure Bootcamp</a:t>
            </a:r>
            <a:endParaRPr b="0" lang="en-US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TextBox 4"/>
          <p:cNvSpPr/>
          <p:nvPr/>
        </p:nvSpPr>
        <p:spPr>
          <a:xfrm>
            <a:off x="274320" y="1090440"/>
            <a:ext cx="4498920" cy="65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4400" spc="-1" strike="noStrike">
                <a:solidFill>
                  <a:srgbClr val="f5a623"/>
                </a:solidFill>
                <a:latin typeface="Cambria"/>
              </a:rPr>
              <a:t>Weeks 1 – 2 – 3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TextBox 5"/>
          <p:cNvSpPr/>
          <p:nvPr/>
        </p:nvSpPr>
        <p:spPr>
          <a:xfrm>
            <a:off x="334800" y="1830600"/>
            <a:ext cx="4498920" cy="2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1350" spc="-1" strike="noStrike">
                <a:solidFill>
                  <a:srgbClr val="ffffff"/>
                </a:solidFill>
                <a:latin typeface="Calibri"/>
              </a:rPr>
              <a:t>Vibhav Khaneja</a:t>
            </a:r>
            <a:endParaRPr b="0" lang="en-US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TextBox 6"/>
          <p:cNvSpPr/>
          <p:nvPr/>
        </p:nvSpPr>
        <p:spPr>
          <a:xfrm>
            <a:off x="334800" y="2105640"/>
            <a:ext cx="4498920" cy="27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1080" spc="-1" strike="noStrike">
                <a:solidFill>
                  <a:srgbClr val="a8b2d8"/>
                </a:solidFill>
                <a:latin typeface="Calibri"/>
              </a:rPr>
              <a:t>Cloud Foundations · Containers · Kubernetes · CI/CD · Ops · AI/ML</a:t>
            </a:r>
            <a:endParaRPr b="0" lang="en-US" sz="10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Rounded Rectangle 7"/>
          <p:cNvSpPr/>
          <p:nvPr/>
        </p:nvSpPr>
        <p:spPr>
          <a:xfrm>
            <a:off x="334800" y="2559960"/>
            <a:ext cx="978480" cy="878400"/>
          </a:xfrm>
          <a:prstGeom prst="roundRect">
            <a:avLst>
              <a:gd name="adj" fmla="val 10000"/>
            </a:avLst>
          </a:prstGeom>
          <a:solidFill>
            <a:srgbClr val="25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" name="TextBox 8"/>
          <p:cNvSpPr/>
          <p:nvPr/>
        </p:nvSpPr>
        <p:spPr>
          <a:xfrm>
            <a:off x="334800" y="2649960"/>
            <a:ext cx="97848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>
              <a:lnSpc>
                <a:spcPct val="100000"/>
              </a:lnSpc>
            </a:pPr>
            <a:r>
              <a:rPr b="1" lang="en-US" sz="2300" spc="-1" strike="noStrike">
                <a:solidFill>
                  <a:srgbClr val="f5a623"/>
                </a:solidFill>
                <a:latin typeface="Cambria"/>
              </a:rPr>
              <a:t>18</a:t>
            </a:r>
            <a:endParaRPr b="0" lang="en-US" sz="2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TextBox 9"/>
          <p:cNvSpPr/>
          <p:nvPr/>
        </p:nvSpPr>
        <p:spPr>
          <a:xfrm>
            <a:off x="334800" y="3089880"/>
            <a:ext cx="978480" cy="23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a8b2d8"/>
                </a:solidFill>
                <a:latin typeface="Calibri"/>
              </a:rPr>
              <a:t>Days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Rounded Rectangle 10"/>
          <p:cNvSpPr/>
          <p:nvPr/>
        </p:nvSpPr>
        <p:spPr>
          <a:xfrm>
            <a:off x="1419840" y="2559960"/>
            <a:ext cx="978480" cy="878400"/>
          </a:xfrm>
          <a:prstGeom prst="roundRect">
            <a:avLst>
              <a:gd name="adj" fmla="val 10000"/>
            </a:avLst>
          </a:prstGeom>
          <a:solidFill>
            <a:srgbClr val="25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" name="TextBox 11"/>
          <p:cNvSpPr/>
          <p:nvPr/>
        </p:nvSpPr>
        <p:spPr>
          <a:xfrm>
            <a:off x="1419840" y="2649960"/>
            <a:ext cx="97848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>
              <a:lnSpc>
                <a:spcPct val="100000"/>
              </a:lnSpc>
            </a:pPr>
            <a:r>
              <a:rPr b="1" lang="en-US" sz="2300" spc="-1" strike="noStrike">
                <a:solidFill>
                  <a:srgbClr val="f5a623"/>
                </a:solidFill>
                <a:latin typeface="Cambria"/>
              </a:rPr>
              <a:t>15+</a:t>
            </a:r>
            <a:endParaRPr b="0" lang="en-US" sz="2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TextBox 12"/>
          <p:cNvSpPr/>
          <p:nvPr/>
        </p:nvSpPr>
        <p:spPr>
          <a:xfrm>
            <a:off x="1419840" y="3089880"/>
            <a:ext cx="978480" cy="23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a8b2d8"/>
                </a:solidFill>
                <a:latin typeface="Calibri"/>
              </a:rPr>
              <a:t>Bash Scripts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Rounded Rectangle 13"/>
          <p:cNvSpPr/>
          <p:nvPr/>
        </p:nvSpPr>
        <p:spPr>
          <a:xfrm>
            <a:off x="2504880" y="2559960"/>
            <a:ext cx="978480" cy="878400"/>
          </a:xfrm>
          <a:prstGeom prst="roundRect">
            <a:avLst>
              <a:gd name="adj" fmla="val 10000"/>
            </a:avLst>
          </a:prstGeom>
          <a:solidFill>
            <a:srgbClr val="25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" name="TextBox 14"/>
          <p:cNvSpPr/>
          <p:nvPr/>
        </p:nvSpPr>
        <p:spPr>
          <a:xfrm>
            <a:off x="2504880" y="2649960"/>
            <a:ext cx="97848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>
              <a:lnSpc>
                <a:spcPct val="100000"/>
              </a:lnSpc>
            </a:pPr>
            <a:r>
              <a:rPr b="1" lang="en-US" sz="2300" spc="-1" strike="noStrike">
                <a:solidFill>
                  <a:srgbClr val="f5a623"/>
                </a:solidFill>
                <a:latin typeface="Cambria"/>
              </a:rPr>
              <a:t>20+</a:t>
            </a:r>
            <a:endParaRPr b="0" lang="en-US" sz="2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TextBox 15"/>
          <p:cNvSpPr/>
          <p:nvPr/>
        </p:nvSpPr>
        <p:spPr>
          <a:xfrm>
            <a:off x="2504880" y="3089880"/>
            <a:ext cx="978480" cy="23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a8b2d8"/>
                </a:solidFill>
                <a:latin typeface="Calibri"/>
              </a:rPr>
              <a:t>Azure Services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Rounded Rectangle 16"/>
          <p:cNvSpPr/>
          <p:nvPr/>
        </p:nvSpPr>
        <p:spPr>
          <a:xfrm>
            <a:off x="3589920" y="2559960"/>
            <a:ext cx="978480" cy="878400"/>
          </a:xfrm>
          <a:prstGeom prst="roundRect">
            <a:avLst>
              <a:gd name="adj" fmla="val 10000"/>
            </a:avLst>
          </a:prstGeom>
          <a:solidFill>
            <a:srgbClr val="25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" name="TextBox 17"/>
          <p:cNvSpPr/>
          <p:nvPr/>
        </p:nvSpPr>
        <p:spPr>
          <a:xfrm>
            <a:off x="3589920" y="2649960"/>
            <a:ext cx="97848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>
              <a:lnSpc>
                <a:spcPct val="100000"/>
              </a:lnSpc>
            </a:pPr>
            <a:r>
              <a:rPr b="1" lang="en-US" sz="2300" spc="-1" strike="noStrike">
                <a:solidFill>
                  <a:srgbClr val="f5a623"/>
                </a:solidFill>
                <a:latin typeface="Cambria"/>
              </a:rPr>
              <a:t>3</a:t>
            </a:r>
            <a:endParaRPr b="0" lang="en-US" sz="2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TextBox 18"/>
          <p:cNvSpPr/>
          <p:nvPr/>
        </p:nvSpPr>
        <p:spPr>
          <a:xfrm>
            <a:off x="3589920" y="3089880"/>
            <a:ext cx="978480" cy="23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a8b2d8"/>
                </a:solidFill>
                <a:latin typeface="Calibri"/>
              </a:rPr>
              <a:t>Live Deploys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26" name="Connector 19"/>
          <p:cNvCxnSpPr/>
          <p:nvPr/>
        </p:nvCxnSpPr>
        <p:spPr>
          <a:xfrm>
            <a:off x="334800" y="3619800"/>
            <a:ext cx="4281480" cy="1440"/>
          </a:xfrm>
          <a:prstGeom prst="straightConnector1">
            <a:avLst/>
          </a:prstGeom>
          <a:ln w="9525">
            <a:solidFill>
              <a:srgbClr val="3a3f7a"/>
            </a:solidFill>
            <a:round/>
          </a:ln>
        </p:spPr>
      </p:cxnSp>
      <p:sp>
        <p:nvSpPr>
          <p:cNvPr id="27" name="TextBox 20"/>
          <p:cNvSpPr/>
          <p:nvPr/>
        </p:nvSpPr>
        <p:spPr>
          <a:xfrm>
            <a:off x="334800" y="3700080"/>
            <a:ext cx="4498920" cy="27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8892b8"/>
                </a:solidFill>
                <a:latin typeface="Calibri"/>
              </a:rPr>
              <a:t>3-Week Azure Bootcamp  ·  Ubuntu + Docker → Cloud-Native + AI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Rounded Rectangle 21"/>
          <p:cNvSpPr/>
          <p:nvPr/>
        </p:nvSpPr>
        <p:spPr>
          <a:xfrm>
            <a:off x="4983480" y="182880"/>
            <a:ext cx="4068720" cy="4891680"/>
          </a:xfrm>
          <a:prstGeom prst="roundRect">
            <a:avLst>
              <a:gd name="adj" fmla="val 7000"/>
            </a:avLst>
          </a:prstGeom>
          <a:solidFill>
            <a:srgbClr val="1c2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" name="TextBox 22"/>
          <p:cNvSpPr/>
          <p:nvPr/>
        </p:nvSpPr>
        <p:spPr>
          <a:xfrm>
            <a:off x="5243040" y="228600"/>
            <a:ext cx="3809160" cy="1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950" spc="290" strike="noStrike">
                <a:solidFill>
                  <a:srgbClr val="f5a623"/>
                </a:solidFill>
                <a:latin typeface="Calibri"/>
              </a:rPr>
              <a:t>3 WEEKS · 18 DAYS · FULL PROGRAMME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Week1Box"/>
          <p:cNvSpPr/>
          <p:nvPr/>
        </p:nvSpPr>
        <p:spPr>
          <a:xfrm>
            <a:off x="5119920" y="454320"/>
            <a:ext cx="3809160" cy="1439280"/>
          </a:xfrm>
          <a:prstGeom prst="roundRect">
            <a:avLst>
              <a:gd name="adj" fmla="val 16667"/>
            </a:avLst>
          </a:prstGeom>
          <a:solidFill>
            <a:srgbClr val="1e2a5e"/>
          </a:solidFill>
          <a:ln w="1905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80000" rIns="180000" tIns="159840" bIns="119880" anchor="t">
            <a:noAutofit/>
          </a:bodyPr>
          <a:p>
            <a:pPr>
              <a:lnSpc>
                <a:spcPct val="100000"/>
              </a:lnSpc>
            </a:pPr>
            <a:r>
              <a:rPr b="1" lang="en-US" sz="1100" spc="94" strike="noStrike">
                <a:solidFill>
                  <a:srgbClr val="f5a623"/>
                </a:solidFill>
                <a:latin typeface="Cambria"/>
              </a:rPr>
              <a:t>Week 1  </a:t>
            </a: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Azure Foundations + Containers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60000"/>
              </a:lnSpc>
            </a:pPr>
            <a:r>
              <a:rPr b="0" lang="en-US" sz="200" spc="-1" strike="noStrike">
                <a:solidFill>
                  <a:srgbClr val="f5a623"/>
                </a:solidFill>
                <a:latin typeface="Calibri"/>
              </a:rPr>
              <a:t> </a:t>
            </a:r>
            <a:endParaRPr b="0" lang="en-US" sz="200" spc="-1" strike="noStrike">
              <a:solidFill>
                <a:srgbClr val="ffffff"/>
              </a:solidFill>
              <a:latin typeface="Arial"/>
            </a:endParaRPr>
          </a:p>
          <a:p>
            <a:pPr marL="228600" indent="-228600">
              <a:lnSpc>
                <a:spcPct val="115000"/>
              </a:lnSpc>
              <a:tabLst>
                <a:tab algn="l" pos="0"/>
              </a:tabLst>
            </a:pPr>
            <a:r>
              <a:rPr b="1" lang="en-US" sz="920" spc="-1" strike="noStrike">
                <a:solidFill>
                  <a:srgbClr val="f5a623"/>
                </a:solidFill>
                <a:latin typeface="Calibri"/>
              </a:rPr>
              <a:t>Cloud &amp; CLI  </a:t>
            </a:r>
            <a:r>
              <a:rPr b="0" lang="en-US" sz="880" spc="-1" strike="noStrike">
                <a:solidFill>
                  <a:srgbClr val="a8b2d8"/>
                </a:solidFill>
                <a:latin typeface="Calibri"/>
              </a:rPr>
              <a:t>Azure portal, resource groups, regions, subscriptions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marL="228600" indent="-228600">
              <a:lnSpc>
                <a:spcPct val="115000"/>
              </a:lnSpc>
              <a:tabLst>
                <a:tab algn="l" pos="0"/>
              </a:tabLst>
            </a:pPr>
            <a:r>
              <a:rPr b="1" lang="en-US" sz="920" spc="-1" strike="noStrike">
                <a:solidFill>
                  <a:srgbClr val="f5a623"/>
                </a:solidFill>
                <a:latin typeface="Calibri"/>
              </a:rPr>
              <a:t>VMs &amp; Networking  </a:t>
            </a:r>
            <a:r>
              <a:rPr b="0" lang="en-US" sz="880" spc="-1" strike="noStrike">
                <a:solidFill>
                  <a:srgbClr val="a8b2d8"/>
                </a:solidFill>
                <a:latin typeface="Calibri"/>
              </a:rPr>
              <a:t>VNet · NSG · SSH · Nginx on Ubuntu VM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marL="228600" indent="-228600">
              <a:lnSpc>
                <a:spcPct val="115000"/>
              </a:lnSpc>
              <a:tabLst>
                <a:tab algn="l" pos="0"/>
              </a:tabLst>
            </a:pPr>
            <a:r>
              <a:rPr b="1" lang="en-US" sz="920" spc="-1" strike="noStrike">
                <a:solidFill>
                  <a:srgbClr val="f5a623"/>
                </a:solidFill>
                <a:latin typeface="Calibri"/>
              </a:rPr>
              <a:t>Storage  </a:t>
            </a:r>
            <a:r>
              <a:rPr b="0" lang="en-US" sz="880" spc="-1" strike="noStrike">
                <a:solidFill>
                  <a:srgbClr val="a8b2d8"/>
                </a:solidFill>
                <a:latin typeface="Calibri"/>
              </a:rPr>
              <a:t>Blob containers · SAS tokens · Azure Files mount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marL="228600" indent="-228600">
              <a:lnSpc>
                <a:spcPct val="115000"/>
              </a:lnSpc>
              <a:tabLst>
                <a:tab algn="l" pos="0"/>
              </a:tabLst>
            </a:pPr>
            <a:r>
              <a:rPr b="1" lang="en-US" sz="920" spc="-1" strike="noStrike">
                <a:solidFill>
                  <a:srgbClr val="f5a623"/>
                </a:solidFill>
                <a:latin typeface="Calibri"/>
              </a:rPr>
              <a:t>ACI  </a:t>
            </a:r>
            <a:r>
              <a:rPr b="0" lang="en-US" sz="880" spc="-1" strike="noStrike">
                <a:solidFill>
                  <a:srgbClr val="a8b2d8"/>
                </a:solidFill>
                <a:latin typeface="Calibri"/>
              </a:rPr>
              <a:t>Deploy container, logs, env vars — no VM management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marL="228600" indent="-228600">
              <a:lnSpc>
                <a:spcPct val="115000"/>
              </a:lnSpc>
              <a:tabLst>
                <a:tab algn="l" pos="0"/>
              </a:tabLst>
            </a:pPr>
            <a:r>
              <a:rPr b="1" lang="en-US" sz="920" spc="-1" strike="noStrike">
                <a:solidFill>
                  <a:srgbClr val="f5a623"/>
                </a:solidFill>
                <a:latin typeface="Calibri"/>
              </a:rPr>
              <a:t>ACR  </a:t>
            </a:r>
            <a:r>
              <a:rPr b="0" lang="en-US" sz="880" spc="-1" strike="noStrike">
                <a:solidFill>
                  <a:srgbClr val="a8b2d8"/>
                </a:solidFill>
                <a:latin typeface="Calibri"/>
              </a:rPr>
              <a:t>Private registry · build · tag · push · managed identity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marL="228600" indent="-228600">
              <a:lnSpc>
                <a:spcPct val="115000"/>
              </a:lnSpc>
              <a:tabLst>
                <a:tab algn="l" pos="0"/>
              </a:tabLst>
            </a:pPr>
            <a:r>
              <a:rPr b="1" lang="en-US" sz="920" spc="-1" strike="noStrike">
                <a:solidFill>
                  <a:srgbClr val="f5a623"/>
                </a:solidFill>
                <a:latin typeface="Calibri"/>
              </a:rPr>
              <a:t>Capstone  </a:t>
            </a:r>
            <a:r>
              <a:rPr b="0" lang="en-US" sz="880" spc="-1" strike="noStrike">
                <a:solidFill>
                  <a:srgbClr val="a8b2d8"/>
                </a:solidFill>
                <a:latin typeface="Calibri"/>
              </a:rPr>
              <a:t>End-to-end live deploy: ACR → ACI → public URL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Week2Box"/>
          <p:cNvSpPr/>
          <p:nvPr/>
        </p:nvSpPr>
        <p:spPr>
          <a:xfrm>
            <a:off x="5119920" y="1984320"/>
            <a:ext cx="3809160" cy="1439280"/>
          </a:xfrm>
          <a:prstGeom prst="roundRect">
            <a:avLst>
              <a:gd name="adj" fmla="val 16667"/>
            </a:avLst>
          </a:prstGeom>
          <a:solidFill>
            <a:srgbClr val="1e2a5e"/>
          </a:solidFill>
          <a:ln w="1905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80000" rIns="180000" tIns="159840" bIns="119880" anchor="t">
            <a:noAutofit/>
          </a:bodyPr>
          <a:p>
            <a:pPr>
              <a:lnSpc>
                <a:spcPct val="100000"/>
              </a:lnSpc>
            </a:pPr>
            <a:r>
              <a:rPr b="1" lang="en-US" sz="1100" spc="94" strike="noStrike">
                <a:solidFill>
                  <a:srgbClr val="f5a623"/>
                </a:solidFill>
                <a:latin typeface="Cambria"/>
              </a:rPr>
              <a:t>Week 2  </a:t>
            </a: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AKS + CI/CD + Monitoring + Security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60000"/>
              </a:lnSpc>
            </a:pPr>
            <a:r>
              <a:rPr b="0" lang="en-US" sz="200" spc="-1" strike="noStrike">
                <a:solidFill>
                  <a:srgbClr val="f5a623"/>
                </a:solidFill>
                <a:latin typeface="Calibri"/>
              </a:rPr>
              <a:t> </a:t>
            </a:r>
            <a:endParaRPr b="0" lang="en-US" sz="200" spc="-1" strike="noStrike">
              <a:solidFill>
                <a:srgbClr val="ffffff"/>
              </a:solidFill>
              <a:latin typeface="Arial"/>
            </a:endParaRPr>
          </a:p>
          <a:p>
            <a:pPr marL="228600" indent="-228600">
              <a:lnSpc>
                <a:spcPct val="115000"/>
              </a:lnSpc>
              <a:tabLst>
                <a:tab algn="l" pos="0"/>
              </a:tabLst>
            </a:pPr>
            <a:r>
              <a:rPr b="1" lang="en-US" sz="920" spc="-1" strike="noStrike">
                <a:solidFill>
                  <a:srgbClr val="f5a623"/>
                </a:solidFill>
                <a:latin typeface="Calibri"/>
              </a:rPr>
              <a:t>AKS  </a:t>
            </a:r>
            <a:r>
              <a:rPr b="0" lang="en-US" sz="880" spc="-1" strike="noStrike">
                <a:solidFill>
                  <a:srgbClr val="a8b2d8"/>
                </a:solidFill>
                <a:latin typeface="Calibri"/>
              </a:rPr>
              <a:t>Cluster provisioned · ACR attached · kubectl connected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marL="228600" indent="-228600">
              <a:lnSpc>
                <a:spcPct val="115000"/>
              </a:lnSpc>
              <a:tabLst>
                <a:tab algn="l" pos="0"/>
              </a:tabLst>
            </a:pPr>
            <a:r>
              <a:rPr b="1" lang="en-US" sz="920" spc="-1" strike="noStrike">
                <a:solidFill>
                  <a:srgbClr val="f5a623"/>
                </a:solidFill>
                <a:latin typeface="Calibri"/>
              </a:rPr>
              <a:t>Workloads  </a:t>
            </a:r>
            <a:r>
              <a:rPr b="0" lang="en-US" sz="880" spc="-1" strike="noStrike">
                <a:solidFill>
                  <a:srgbClr val="a8b2d8"/>
                </a:solidFill>
                <a:latin typeface="Calibri"/>
              </a:rPr>
              <a:t>Deployment · LoadBalancer · Ingress · HPA scaling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marL="228600" indent="-228600">
              <a:lnSpc>
                <a:spcPct val="115000"/>
              </a:lnSpc>
              <a:tabLst>
                <a:tab algn="l" pos="0"/>
              </a:tabLst>
            </a:pPr>
            <a:r>
              <a:rPr b="1" lang="en-US" sz="920" spc="-1" strike="noStrike">
                <a:solidFill>
                  <a:srgbClr val="f5a623"/>
                </a:solidFill>
                <a:latin typeface="Calibri"/>
              </a:rPr>
              <a:t>CI/CD  </a:t>
            </a:r>
            <a:r>
              <a:rPr b="0" lang="en-US" sz="880" spc="-1" strike="noStrike">
                <a:solidFill>
                  <a:srgbClr val="a8b2d8"/>
                </a:solidFill>
                <a:latin typeface="Calibri"/>
              </a:rPr>
              <a:t>Azure DevOps · YAML pipeline · build-ID tagging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marL="228600" indent="-228600">
              <a:lnSpc>
                <a:spcPct val="115000"/>
              </a:lnSpc>
              <a:tabLst>
                <a:tab algn="l" pos="0"/>
              </a:tabLst>
            </a:pPr>
            <a:r>
              <a:rPr b="1" lang="en-US" sz="920" spc="-1" strike="noStrike">
                <a:solidFill>
                  <a:srgbClr val="f5a623"/>
                </a:solidFill>
                <a:latin typeface="Calibri"/>
              </a:rPr>
              <a:t>Full Pipeline  </a:t>
            </a:r>
            <a:r>
              <a:rPr b="0" lang="en-US" sz="880" spc="-1" strike="noStrike">
                <a:solidFill>
                  <a:srgbClr val="a8b2d8"/>
                </a:solidFill>
                <a:latin typeface="Calibri"/>
              </a:rPr>
              <a:t>git push → Docker build → ACR → AKS auto-deploy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marL="228600" indent="-228600">
              <a:lnSpc>
                <a:spcPct val="115000"/>
              </a:lnSpc>
              <a:tabLst>
                <a:tab algn="l" pos="0"/>
              </a:tabLst>
            </a:pPr>
            <a:r>
              <a:rPr b="1" lang="en-US" sz="920" spc="-1" strike="noStrike">
                <a:solidFill>
                  <a:srgbClr val="f5a623"/>
                </a:solidFill>
                <a:latin typeface="Calibri"/>
              </a:rPr>
              <a:t>Monitoring  </a:t>
            </a:r>
            <a:r>
              <a:rPr b="0" lang="en-US" sz="880" spc="-1" strike="noStrike">
                <a:solidFill>
                  <a:srgbClr val="a8b2d8"/>
                </a:solidFill>
                <a:latin typeface="Calibri"/>
              </a:rPr>
              <a:t>Azure Monitor · Log Analytics · KQL · metric alerts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marL="228600" indent="-228600">
              <a:lnSpc>
                <a:spcPct val="115000"/>
              </a:lnSpc>
              <a:tabLst>
                <a:tab algn="l" pos="0"/>
              </a:tabLst>
            </a:pPr>
            <a:r>
              <a:rPr b="1" lang="en-US" sz="920" spc="-1" strike="noStrike">
                <a:solidFill>
                  <a:srgbClr val="f5a623"/>
                </a:solidFill>
                <a:latin typeface="Calibri"/>
              </a:rPr>
              <a:t>Security  </a:t>
            </a:r>
            <a:r>
              <a:rPr b="0" lang="en-US" sz="880" spc="-1" strike="noStrike">
                <a:solidFill>
                  <a:srgbClr val="a8b2d8"/>
                </a:solidFill>
                <a:latin typeface="Calibri"/>
              </a:rPr>
              <a:t>RBAC roles · Key Vault secrets · Microsoft Defender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Week3Box"/>
          <p:cNvSpPr/>
          <p:nvPr/>
        </p:nvSpPr>
        <p:spPr>
          <a:xfrm>
            <a:off x="5119920" y="3514320"/>
            <a:ext cx="3809160" cy="1439280"/>
          </a:xfrm>
          <a:prstGeom prst="roundRect">
            <a:avLst>
              <a:gd name="adj" fmla="val 16667"/>
            </a:avLst>
          </a:prstGeom>
          <a:solidFill>
            <a:srgbClr val="1e2a5e"/>
          </a:solidFill>
          <a:ln w="1905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80000" rIns="180000" tIns="159840" bIns="119880" anchor="t">
            <a:noAutofit/>
          </a:bodyPr>
          <a:p>
            <a:pPr>
              <a:lnSpc>
                <a:spcPct val="100000"/>
              </a:lnSpc>
            </a:pPr>
            <a:r>
              <a:rPr b="1" lang="en-US" sz="1100" spc="94" strike="noStrike">
                <a:solidFill>
                  <a:srgbClr val="f5a623"/>
                </a:solidFill>
                <a:latin typeface="Cambria"/>
              </a:rPr>
              <a:t>Week 3  </a:t>
            </a: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AI Services + ML + OpenAI + Capstone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60000"/>
              </a:lnSpc>
            </a:pPr>
            <a:r>
              <a:rPr b="0" lang="en-US" sz="200" spc="-1" strike="noStrike">
                <a:solidFill>
                  <a:srgbClr val="f5a623"/>
                </a:solidFill>
                <a:latin typeface="Calibri"/>
              </a:rPr>
              <a:t> </a:t>
            </a:r>
            <a:endParaRPr b="0" lang="en-US" sz="200" spc="-1" strike="noStrike">
              <a:solidFill>
                <a:srgbClr val="ffffff"/>
              </a:solidFill>
              <a:latin typeface="Arial"/>
            </a:endParaRPr>
          </a:p>
          <a:p>
            <a:pPr marL="228600" indent="-228600">
              <a:lnSpc>
                <a:spcPct val="115000"/>
              </a:lnSpc>
              <a:tabLst>
                <a:tab algn="l" pos="0"/>
              </a:tabLst>
            </a:pPr>
            <a:r>
              <a:rPr b="1" lang="en-US" sz="920" spc="-1" strike="noStrike">
                <a:solidFill>
                  <a:srgbClr val="f5a623"/>
                </a:solidFill>
                <a:latin typeface="Calibri"/>
              </a:rPr>
              <a:t>AI Services  </a:t>
            </a:r>
            <a:r>
              <a:rPr b="0" lang="en-US" sz="880" spc="-1" strike="noStrike">
                <a:solidFill>
                  <a:srgbClr val="a8b2d8"/>
                </a:solidFill>
                <a:latin typeface="Calibri"/>
              </a:rPr>
              <a:t>Text Analytics · Translator · Computer Vision APIs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marL="228600" indent="-228600">
              <a:lnSpc>
                <a:spcPct val="115000"/>
              </a:lnSpc>
              <a:tabLst>
                <a:tab algn="l" pos="0"/>
              </a:tabLst>
            </a:pPr>
            <a:r>
              <a:rPr b="1" lang="en-US" sz="920" spc="-1" strike="noStrike">
                <a:solidFill>
                  <a:srgbClr val="f5a623"/>
                </a:solidFill>
                <a:latin typeface="Calibri"/>
              </a:rPr>
              <a:t>Azure ML  </a:t>
            </a:r>
            <a:r>
              <a:rPr b="0" lang="en-US" sz="880" spc="-1" strike="noStrike">
                <a:solidFill>
                  <a:srgbClr val="a8b2d8"/>
                </a:solidFill>
                <a:latin typeface="Calibri"/>
              </a:rPr>
              <a:t>Workspace · compute instance · scikit-learn + MLflow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marL="228600" indent="-228600">
              <a:lnSpc>
                <a:spcPct val="115000"/>
              </a:lnSpc>
              <a:tabLst>
                <a:tab algn="l" pos="0"/>
              </a:tabLst>
            </a:pPr>
            <a:r>
              <a:rPr b="1" lang="en-US" sz="920" spc="-1" strike="noStrike">
                <a:solidFill>
                  <a:srgbClr val="f5a623"/>
                </a:solidFill>
                <a:latin typeface="Calibri"/>
              </a:rPr>
              <a:t>AutoML  </a:t>
            </a:r>
            <a:r>
              <a:rPr b="0" lang="en-US" sz="880" spc="-1" strike="noStrike">
                <a:solidFill>
                  <a:srgbClr val="a8b2d8"/>
                </a:solidFill>
                <a:latin typeface="Calibri"/>
              </a:rPr>
              <a:t>Binary classification · model registry · online endpoint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marL="228600" indent="-228600">
              <a:lnSpc>
                <a:spcPct val="115000"/>
              </a:lnSpc>
              <a:tabLst>
                <a:tab algn="l" pos="0"/>
              </a:tabLst>
            </a:pPr>
            <a:r>
              <a:rPr b="1" lang="en-US" sz="920" spc="-1" strike="noStrike">
                <a:solidFill>
                  <a:srgbClr val="f5a623"/>
                </a:solidFill>
                <a:latin typeface="Calibri"/>
              </a:rPr>
              <a:t>Vision/Language  </a:t>
            </a:r>
            <a:r>
              <a:rPr b="0" lang="en-US" sz="880" spc="-1" strike="noStrike">
                <a:solidFill>
                  <a:srgbClr val="a8b2d8"/>
                </a:solidFill>
                <a:latin typeface="Calibri"/>
              </a:rPr>
              <a:t>OCR · named entities · Document Intelligence PDF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marL="228600" indent="-228600">
              <a:lnSpc>
                <a:spcPct val="115000"/>
              </a:lnSpc>
              <a:tabLst>
                <a:tab algn="l" pos="0"/>
              </a:tabLst>
            </a:pPr>
            <a:r>
              <a:rPr b="1" lang="en-US" sz="920" spc="-1" strike="noStrike">
                <a:solidFill>
                  <a:srgbClr val="f5a623"/>
                </a:solidFill>
                <a:latin typeface="Calibri"/>
              </a:rPr>
              <a:t>Azure OpenAI  </a:t>
            </a:r>
            <a:r>
              <a:rPr b="0" lang="en-US" sz="880" spc="-1" strike="noStrike">
                <a:solidFill>
                  <a:srgbClr val="a8b2d8"/>
                </a:solidFill>
                <a:latin typeface="Calibri"/>
              </a:rPr>
              <a:t>gpt-5-mini · Chat Completions · embeddings · RAG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marL="228600" indent="-228600">
              <a:lnSpc>
                <a:spcPct val="115000"/>
              </a:lnSpc>
              <a:tabLst>
                <a:tab algn="l" pos="0"/>
              </a:tabLst>
            </a:pPr>
            <a:r>
              <a:rPr b="1" lang="en-US" sz="920" spc="-1" strike="noStrike">
                <a:solidFill>
                  <a:srgbClr val="f5a623"/>
                </a:solidFill>
                <a:latin typeface="Calibri"/>
              </a:rPr>
              <a:t>Capstone  </a:t>
            </a:r>
            <a:r>
              <a:rPr b="0" lang="en-US" sz="880" spc="-1" strike="noStrike">
                <a:solidFill>
                  <a:srgbClr val="a8b2d8"/>
                </a:solidFill>
                <a:latin typeface="Calibri"/>
              </a:rPr>
              <a:t>FastAPI AI log analyser live on AKS — HTTP 200 verified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0"/>
          <p:cNvSpPr/>
          <p:nvPr/>
        </p:nvSpPr>
        <p:spPr>
          <a:xfrm>
            <a:off x="0" y="0"/>
            <a:ext cx="52920" cy="51418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Text 1"/>
          <p:cNvSpPr/>
          <p:nvPr/>
        </p:nvSpPr>
        <p:spPr>
          <a:xfrm>
            <a:off x="274320" y="228600"/>
            <a:ext cx="859356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335" strike="noStrike">
                <a:solidFill>
                  <a:srgbClr val="f5a623"/>
                </a:solidFill>
                <a:latin typeface="Calibri"/>
                <a:ea typeface="Calibri"/>
              </a:rPr>
              <a:t>OVERVIEW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Text 2"/>
          <p:cNvSpPr/>
          <p:nvPr/>
        </p:nvSpPr>
        <p:spPr>
          <a:xfrm>
            <a:off x="274320" y="457200"/>
            <a:ext cx="63990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1a1e4f"/>
                </a:solidFill>
                <a:latin typeface="Cambria"/>
                <a:ea typeface="Cambria"/>
              </a:rPr>
              <a:t>The Week 1 Learning Arc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Shape 3"/>
          <p:cNvSpPr/>
          <p:nvPr/>
        </p:nvSpPr>
        <p:spPr>
          <a:xfrm>
            <a:off x="237600" y="1115640"/>
            <a:ext cx="2759760" cy="1698840"/>
          </a:xfrm>
          <a:prstGeom prst="roundRect">
            <a:avLst>
              <a:gd name="adj" fmla="val 5376"/>
            </a:avLst>
          </a:prstGeom>
          <a:solidFill>
            <a:srgbClr val="0f1035"/>
          </a:solidFill>
          <a:ln w="0">
            <a:noFill/>
          </a:ln>
          <a:effectLst>
            <a:outerShdw algn="bl" blurRad="50760" dir="2700000" dist="25455" kx="0" ky="0" rotWithShape="0" sx="100000" sy="10000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Shape 4"/>
          <p:cNvSpPr/>
          <p:nvPr/>
        </p:nvSpPr>
        <p:spPr>
          <a:xfrm>
            <a:off x="365760" y="1234440"/>
            <a:ext cx="309240" cy="309240"/>
          </a:xfrm>
          <a:prstGeom prst="roundRect">
            <a:avLst>
              <a:gd name="adj" fmla="val 14706"/>
            </a:avLst>
          </a:prstGeom>
          <a:solidFill>
            <a:srgbClr val="f5a62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Text 5"/>
          <p:cNvSpPr/>
          <p:nvPr/>
        </p:nvSpPr>
        <p:spPr>
          <a:xfrm>
            <a:off x="365760" y="1234440"/>
            <a:ext cx="309240" cy="30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0f1035"/>
                </a:solidFill>
                <a:latin typeface="Calibri"/>
                <a:ea typeface="Calibri"/>
              </a:rPr>
              <a:t>01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9" name="Image 0" descr="preencoded.png"/>
          <p:cNvPicPr/>
          <p:nvPr/>
        </p:nvPicPr>
        <p:blipFill>
          <a:blip r:embed="rId1"/>
          <a:stretch/>
        </p:blipFill>
        <p:spPr>
          <a:xfrm>
            <a:off x="2597040" y="1225440"/>
            <a:ext cx="254160" cy="254160"/>
          </a:xfrm>
          <a:prstGeom prst="rect">
            <a:avLst/>
          </a:prstGeom>
          <a:ln w="0">
            <a:noFill/>
          </a:ln>
        </p:spPr>
      </p:pic>
      <p:sp>
        <p:nvSpPr>
          <p:cNvPr id="40" name="Text 6"/>
          <p:cNvSpPr/>
          <p:nvPr/>
        </p:nvSpPr>
        <p:spPr>
          <a:xfrm>
            <a:off x="365760" y="1591200"/>
            <a:ext cx="250380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Calibri"/>
                <a:ea typeface="Calibri"/>
              </a:rPr>
              <a:t>Azure Orientation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Text 7"/>
          <p:cNvSpPr/>
          <p:nvPr/>
        </p:nvSpPr>
        <p:spPr>
          <a:xfrm>
            <a:off x="365760" y="1883520"/>
            <a:ext cx="2503800" cy="80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01520" indent="-101520" defTabSz="914400">
              <a:lnSpc>
                <a:spcPct val="100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8892b8"/>
                </a:solidFill>
                <a:latin typeface="Calibri"/>
                <a:ea typeface="Calibri"/>
              </a:rPr>
              <a:t>Free account + student credits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8892b8"/>
                </a:solidFill>
                <a:latin typeface="Calibri"/>
                <a:ea typeface="Calibri"/>
              </a:rPr>
              <a:t>az login + resource group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8892b8"/>
                </a:solidFill>
                <a:latin typeface="Calibri"/>
                <a:ea typeface="Calibri"/>
              </a:rPr>
              <a:t>Portal vs CLI parity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8892b8"/>
                </a:solidFill>
                <a:latin typeface="Calibri"/>
                <a:ea typeface="Calibri"/>
              </a:rPr>
              <a:t>Script: azure_setup.sh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Shape 8"/>
          <p:cNvSpPr/>
          <p:nvPr/>
        </p:nvSpPr>
        <p:spPr>
          <a:xfrm>
            <a:off x="3182040" y="1115640"/>
            <a:ext cx="2759760" cy="1698840"/>
          </a:xfrm>
          <a:prstGeom prst="roundRect">
            <a:avLst>
              <a:gd name="adj" fmla="val 5376"/>
            </a:avLst>
          </a:prstGeom>
          <a:solidFill>
            <a:srgbClr val="0f1035"/>
          </a:solidFill>
          <a:ln w="0">
            <a:noFill/>
          </a:ln>
          <a:effectLst>
            <a:outerShdw algn="bl" blurRad="50760" dir="2700000" dist="25455" kx="0" ky="0" rotWithShape="0" sx="100000" sy="10000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Shape 9"/>
          <p:cNvSpPr/>
          <p:nvPr/>
        </p:nvSpPr>
        <p:spPr>
          <a:xfrm>
            <a:off x="3310200" y="1234440"/>
            <a:ext cx="309240" cy="309240"/>
          </a:xfrm>
          <a:prstGeom prst="roundRect">
            <a:avLst>
              <a:gd name="adj" fmla="val 14706"/>
            </a:avLst>
          </a:prstGeom>
          <a:solidFill>
            <a:srgbClr val="f5a62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Text 10"/>
          <p:cNvSpPr/>
          <p:nvPr/>
        </p:nvSpPr>
        <p:spPr>
          <a:xfrm>
            <a:off x="3310200" y="1234440"/>
            <a:ext cx="309240" cy="30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0f1035"/>
                </a:solidFill>
                <a:latin typeface="Calibri"/>
                <a:ea typeface="Calibri"/>
              </a:rPr>
              <a:t>02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5" name="Image 1" descr="preencoded.png"/>
          <p:cNvPicPr/>
          <p:nvPr/>
        </p:nvPicPr>
        <p:blipFill>
          <a:blip r:embed="rId2"/>
          <a:stretch/>
        </p:blipFill>
        <p:spPr>
          <a:xfrm>
            <a:off x="5541120" y="1225440"/>
            <a:ext cx="254160" cy="254160"/>
          </a:xfrm>
          <a:prstGeom prst="rect">
            <a:avLst/>
          </a:prstGeom>
          <a:ln w="0">
            <a:noFill/>
          </a:ln>
        </p:spPr>
      </p:pic>
      <p:sp>
        <p:nvSpPr>
          <p:cNvPr id="46" name="Text 11"/>
          <p:cNvSpPr/>
          <p:nvPr/>
        </p:nvSpPr>
        <p:spPr>
          <a:xfrm>
            <a:off x="3310200" y="1591200"/>
            <a:ext cx="250380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Calibri"/>
                <a:ea typeface="Calibri"/>
              </a:rPr>
              <a:t>VMs &amp; Networking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Text 12"/>
          <p:cNvSpPr/>
          <p:nvPr/>
        </p:nvSpPr>
        <p:spPr>
          <a:xfrm>
            <a:off x="3310200" y="1883520"/>
            <a:ext cx="2503800" cy="80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01520" indent="-101520" defTabSz="914400">
              <a:lnSpc>
                <a:spcPct val="100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8892b8"/>
                </a:solidFill>
                <a:latin typeface="Calibri"/>
                <a:ea typeface="Calibri"/>
              </a:rPr>
              <a:t>VNet + Subnet via CLI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8892b8"/>
                </a:solidFill>
                <a:latin typeface="Calibri"/>
                <a:ea typeface="Calibri"/>
              </a:rPr>
              <a:t>Ubuntu VM + SSH key auth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8892b8"/>
                </a:solidFill>
                <a:latin typeface="Calibri"/>
                <a:ea typeface="Calibri"/>
              </a:rPr>
              <a:t>NSG rules · Nginx on port 80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8892b8"/>
                </a:solidFill>
                <a:latin typeface="Calibri"/>
                <a:ea typeface="Calibri"/>
              </a:rPr>
              <a:t>Script: vm_manager.sh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Shape 13"/>
          <p:cNvSpPr/>
          <p:nvPr/>
        </p:nvSpPr>
        <p:spPr>
          <a:xfrm>
            <a:off x="6126480" y="1115640"/>
            <a:ext cx="2759760" cy="1698840"/>
          </a:xfrm>
          <a:prstGeom prst="roundRect">
            <a:avLst>
              <a:gd name="adj" fmla="val 5376"/>
            </a:avLst>
          </a:prstGeom>
          <a:solidFill>
            <a:srgbClr val="0f1035"/>
          </a:solidFill>
          <a:ln w="0">
            <a:noFill/>
          </a:ln>
          <a:effectLst>
            <a:outerShdw algn="bl" blurRad="50760" dir="2700000" dist="25455" kx="0" ky="0" rotWithShape="0" sx="100000" sy="10000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Shape 14"/>
          <p:cNvSpPr/>
          <p:nvPr/>
        </p:nvSpPr>
        <p:spPr>
          <a:xfrm>
            <a:off x="6254640" y="1234440"/>
            <a:ext cx="309240" cy="309240"/>
          </a:xfrm>
          <a:prstGeom prst="roundRect">
            <a:avLst>
              <a:gd name="adj" fmla="val 14706"/>
            </a:avLst>
          </a:prstGeom>
          <a:solidFill>
            <a:srgbClr val="f5a62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Text 15"/>
          <p:cNvSpPr/>
          <p:nvPr/>
        </p:nvSpPr>
        <p:spPr>
          <a:xfrm>
            <a:off x="6254640" y="1234440"/>
            <a:ext cx="309240" cy="30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0f1035"/>
                </a:solidFill>
                <a:latin typeface="Calibri"/>
                <a:ea typeface="Calibri"/>
              </a:rPr>
              <a:t>03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1" name="Image 2" descr="preencoded.png"/>
          <p:cNvPicPr/>
          <p:nvPr/>
        </p:nvPicPr>
        <p:blipFill>
          <a:blip r:embed="rId3"/>
          <a:stretch/>
        </p:blipFill>
        <p:spPr>
          <a:xfrm>
            <a:off x="8485560" y="1225440"/>
            <a:ext cx="254160" cy="254160"/>
          </a:xfrm>
          <a:prstGeom prst="rect">
            <a:avLst/>
          </a:prstGeom>
          <a:ln w="0">
            <a:noFill/>
          </a:ln>
        </p:spPr>
      </p:pic>
      <p:sp>
        <p:nvSpPr>
          <p:cNvPr id="52" name="Text 16"/>
          <p:cNvSpPr/>
          <p:nvPr/>
        </p:nvSpPr>
        <p:spPr>
          <a:xfrm>
            <a:off x="6254640" y="1591200"/>
            <a:ext cx="250380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Calibri"/>
                <a:ea typeface="Calibri"/>
              </a:rPr>
              <a:t>Azure Storage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Text 17"/>
          <p:cNvSpPr/>
          <p:nvPr/>
        </p:nvSpPr>
        <p:spPr>
          <a:xfrm>
            <a:off x="6254640" y="1883520"/>
            <a:ext cx="2503800" cy="80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01520" indent="-101520" defTabSz="914400">
              <a:lnSpc>
                <a:spcPct val="100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8892b8"/>
                </a:solidFill>
                <a:latin typeface="Calibri"/>
                <a:ea typeface="Calibri"/>
              </a:rPr>
              <a:t>Blob container + file upload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8892b8"/>
                </a:solidFill>
                <a:latin typeface="Calibri"/>
                <a:ea typeface="Calibri"/>
              </a:rPr>
              <a:t>SAS URL generation + browser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8892b8"/>
                </a:solidFill>
                <a:latin typeface="Calibri"/>
                <a:ea typeface="Calibri"/>
              </a:rPr>
              <a:t>Azure File Share CIFS mount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8892b8"/>
                </a:solidFill>
                <a:latin typeface="Calibri"/>
                <a:ea typeface="Calibri"/>
              </a:rPr>
              <a:t>Script: storage_ops.sh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Shape 18"/>
          <p:cNvSpPr/>
          <p:nvPr/>
        </p:nvSpPr>
        <p:spPr>
          <a:xfrm>
            <a:off x="237600" y="2944440"/>
            <a:ext cx="2759760" cy="1698840"/>
          </a:xfrm>
          <a:prstGeom prst="roundRect">
            <a:avLst>
              <a:gd name="adj" fmla="val 5376"/>
            </a:avLst>
          </a:prstGeom>
          <a:solidFill>
            <a:srgbClr val="0f1035"/>
          </a:solidFill>
          <a:ln w="0">
            <a:noFill/>
          </a:ln>
          <a:effectLst>
            <a:outerShdw algn="bl" blurRad="50760" dir="2700000" dist="25455" kx="0" ky="0" rotWithShape="0" sx="100000" sy="10000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" name="Shape 19"/>
          <p:cNvSpPr/>
          <p:nvPr/>
        </p:nvSpPr>
        <p:spPr>
          <a:xfrm>
            <a:off x="365760" y="3063240"/>
            <a:ext cx="309240" cy="309240"/>
          </a:xfrm>
          <a:prstGeom prst="roundRect">
            <a:avLst>
              <a:gd name="adj" fmla="val 14706"/>
            </a:avLst>
          </a:prstGeom>
          <a:solidFill>
            <a:srgbClr val="f5a62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Text 20"/>
          <p:cNvSpPr/>
          <p:nvPr/>
        </p:nvSpPr>
        <p:spPr>
          <a:xfrm>
            <a:off x="365760" y="3063240"/>
            <a:ext cx="309240" cy="30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0f1035"/>
                </a:solidFill>
                <a:latin typeface="Calibri"/>
                <a:ea typeface="Calibri"/>
              </a:rPr>
              <a:t>04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7" name="Image 3" descr="preencoded.png"/>
          <p:cNvPicPr/>
          <p:nvPr/>
        </p:nvPicPr>
        <p:blipFill>
          <a:blip r:embed="rId4"/>
          <a:stretch/>
        </p:blipFill>
        <p:spPr>
          <a:xfrm>
            <a:off x="2597040" y="3054240"/>
            <a:ext cx="254160" cy="254160"/>
          </a:xfrm>
          <a:prstGeom prst="rect">
            <a:avLst/>
          </a:prstGeom>
          <a:ln w="0">
            <a:noFill/>
          </a:ln>
        </p:spPr>
      </p:pic>
      <p:sp>
        <p:nvSpPr>
          <p:cNvPr id="58" name="Text 21"/>
          <p:cNvSpPr/>
          <p:nvPr/>
        </p:nvSpPr>
        <p:spPr>
          <a:xfrm>
            <a:off x="365760" y="3420000"/>
            <a:ext cx="250380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Calibri"/>
                <a:ea typeface="Calibri"/>
              </a:rPr>
              <a:t>Container Instances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 22"/>
          <p:cNvSpPr/>
          <p:nvPr/>
        </p:nvSpPr>
        <p:spPr>
          <a:xfrm>
            <a:off x="365760" y="3712320"/>
            <a:ext cx="2503800" cy="80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01520" indent="-101520" defTabSz="914400">
              <a:lnSpc>
                <a:spcPct val="100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8892b8"/>
                </a:solidFill>
                <a:latin typeface="Calibri"/>
                <a:ea typeface="Calibri"/>
              </a:rPr>
              <a:t>Deploy Nginx via ACI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8892b8"/>
                </a:solidFill>
                <a:latin typeface="Calibri"/>
                <a:ea typeface="Calibri"/>
              </a:rPr>
              <a:t>Log streaming + env var injection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8892b8"/>
                </a:solidFill>
                <a:latin typeface="Calibri"/>
                <a:ea typeface="Calibri"/>
              </a:rPr>
              <a:t>Azure Files persistent volume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8892b8"/>
                </a:solidFill>
                <a:latin typeface="Calibri"/>
                <a:ea typeface="Calibri"/>
              </a:rPr>
              <a:t>Ephemeral vs persistent storage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Shape 23"/>
          <p:cNvSpPr/>
          <p:nvPr/>
        </p:nvSpPr>
        <p:spPr>
          <a:xfrm>
            <a:off x="3182040" y="2944440"/>
            <a:ext cx="2759760" cy="1698840"/>
          </a:xfrm>
          <a:prstGeom prst="roundRect">
            <a:avLst>
              <a:gd name="adj" fmla="val 5376"/>
            </a:avLst>
          </a:prstGeom>
          <a:solidFill>
            <a:srgbClr val="0f1035"/>
          </a:solidFill>
          <a:ln w="0">
            <a:noFill/>
          </a:ln>
          <a:effectLst>
            <a:outerShdw algn="bl" blurRad="50760" dir="2700000" dist="25455" kx="0" ky="0" rotWithShape="0" sx="100000" sy="10000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" name="Shape 24"/>
          <p:cNvSpPr/>
          <p:nvPr/>
        </p:nvSpPr>
        <p:spPr>
          <a:xfrm>
            <a:off x="3310200" y="3063240"/>
            <a:ext cx="309240" cy="309240"/>
          </a:xfrm>
          <a:prstGeom prst="roundRect">
            <a:avLst>
              <a:gd name="adj" fmla="val 14706"/>
            </a:avLst>
          </a:prstGeom>
          <a:solidFill>
            <a:srgbClr val="f5a62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Text 25"/>
          <p:cNvSpPr/>
          <p:nvPr/>
        </p:nvSpPr>
        <p:spPr>
          <a:xfrm>
            <a:off x="3310200" y="3063240"/>
            <a:ext cx="309240" cy="30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0f1035"/>
                </a:solidFill>
                <a:latin typeface="Calibri"/>
                <a:ea typeface="Calibri"/>
              </a:rPr>
              <a:t>05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3" name="Image 4" descr="preencoded.png"/>
          <p:cNvPicPr/>
          <p:nvPr/>
        </p:nvPicPr>
        <p:blipFill>
          <a:blip r:embed="rId5"/>
          <a:stretch/>
        </p:blipFill>
        <p:spPr>
          <a:xfrm>
            <a:off x="5541120" y="3054240"/>
            <a:ext cx="254160" cy="254160"/>
          </a:xfrm>
          <a:prstGeom prst="rect">
            <a:avLst/>
          </a:prstGeom>
          <a:ln w="0">
            <a:noFill/>
          </a:ln>
        </p:spPr>
      </p:pic>
      <p:sp>
        <p:nvSpPr>
          <p:cNvPr id="64" name="Text 26"/>
          <p:cNvSpPr/>
          <p:nvPr/>
        </p:nvSpPr>
        <p:spPr>
          <a:xfrm>
            <a:off x="3310200" y="3420000"/>
            <a:ext cx="250380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Calibri"/>
                <a:ea typeface="Calibri"/>
              </a:rPr>
              <a:t>Container Registry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Text 27"/>
          <p:cNvSpPr/>
          <p:nvPr/>
        </p:nvSpPr>
        <p:spPr>
          <a:xfrm>
            <a:off x="3310200" y="3712320"/>
            <a:ext cx="2503800" cy="80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01520" indent="-101520" defTabSz="914400">
              <a:lnSpc>
                <a:spcPct val="100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8892b8"/>
                </a:solidFill>
                <a:latin typeface="Calibri"/>
                <a:ea typeface="Calibri"/>
              </a:rPr>
              <a:t>Create ACR (Basic SKU)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8892b8"/>
                </a:solidFill>
                <a:latin typeface="Calibri"/>
                <a:ea typeface="Calibri"/>
              </a:rPr>
              <a:t>Custom Dockerfile + docker build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8892b8"/>
                </a:solidFill>
                <a:latin typeface="Calibri"/>
                <a:ea typeface="Calibri"/>
              </a:rPr>
              <a:t>Tag → login → push to ACR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8892b8"/>
                </a:solidFill>
                <a:latin typeface="Calibri"/>
                <a:ea typeface="Calibri"/>
              </a:rPr>
              <a:t>Script: acr_deploy.sh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Shape 28"/>
          <p:cNvSpPr/>
          <p:nvPr/>
        </p:nvSpPr>
        <p:spPr>
          <a:xfrm>
            <a:off x="6126480" y="2944440"/>
            <a:ext cx="2759760" cy="1698840"/>
          </a:xfrm>
          <a:prstGeom prst="roundRect">
            <a:avLst>
              <a:gd name="adj" fmla="val 5376"/>
            </a:avLst>
          </a:prstGeom>
          <a:solidFill>
            <a:srgbClr val="0f1035"/>
          </a:solidFill>
          <a:ln w="0">
            <a:noFill/>
          </a:ln>
          <a:effectLst>
            <a:outerShdw algn="bl" blurRad="50760" dir="2700000" dist="25455" kx="0" ky="0" rotWithShape="0" sx="100000" sy="10000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Shape 29"/>
          <p:cNvSpPr/>
          <p:nvPr/>
        </p:nvSpPr>
        <p:spPr>
          <a:xfrm>
            <a:off x="6254640" y="3063240"/>
            <a:ext cx="309240" cy="309240"/>
          </a:xfrm>
          <a:prstGeom prst="roundRect">
            <a:avLst>
              <a:gd name="adj" fmla="val 14706"/>
            </a:avLst>
          </a:prstGeom>
          <a:solidFill>
            <a:srgbClr val="f5a62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Text 30"/>
          <p:cNvSpPr/>
          <p:nvPr/>
        </p:nvSpPr>
        <p:spPr>
          <a:xfrm>
            <a:off x="6254640" y="3063240"/>
            <a:ext cx="309240" cy="30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0f1035"/>
                </a:solidFill>
                <a:latin typeface="Calibri"/>
                <a:ea typeface="Calibri"/>
              </a:rPr>
              <a:t>06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9" name="Image 5" descr="preencoded.png"/>
          <p:cNvPicPr/>
          <p:nvPr/>
        </p:nvPicPr>
        <p:blipFill>
          <a:blip r:embed="rId6"/>
          <a:stretch/>
        </p:blipFill>
        <p:spPr>
          <a:xfrm>
            <a:off x="8485560" y="3054240"/>
            <a:ext cx="254160" cy="254160"/>
          </a:xfrm>
          <a:prstGeom prst="rect">
            <a:avLst/>
          </a:prstGeom>
          <a:ln w="0">
            <a:noFill/>
          </a:ln>
        </p:spPr>
      </p:pic>
      <p:sp>
        <p:nvSpPr>
          <p:cNvPr id="70" name="Text 31"/>
          <p:cNvSpPr/>
          <p:nvPr/>
        </p:nvSpPr>
        <p:spPr>
          <a:xfrm>
            <a:off x="6254640" y="3420000"/>
            <a:ext cx="250380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Calibri"/>
                <a:ea typeface="Calibri"/>
              </a:rPr>
              <a:t>Week 1 Project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Text 32"/>
          <p:cNvSpPr/>
          <p:nvPr/>
        </p:nvSpPr>
        <p:spPr>
          <a:xfrm>
            <a:off x="6254640" y="3712320"/>
            <a:ext cx="2503800" cy="80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01520" indent="-101520" defTabSz="914400">
              <a:lnSpc>
                <a:spcPct val="100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8892b8"/>
                </a:solidFill>
                <a:latin typeface="Calibri"/>
                <a:ea typeface="Calibri"/>
              </a:rPr>
              <a:t>ACR → ACI full pipeline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8892b8"/>
                </a:solidFill>
                <a:latin typeface="Calibri"/>
                <a:ea typeface="Calibri"/>
              </a:rPr>
              <a:t>Azure Files storage mount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8892b8"/>
                </a:solidFill>
                <a:latin typeface="Calibri"/>
                <a:ea typeface="Calibri"/>
              </a:rPr>
              <a:t>Public URL verified live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8892b8"/>
                </a:solidFill>
                <a:latin typeface="Calibri"/>
                <a:ea typeface="Calibri"/>
              </a:rPr>
              <a:t>Script: week1_project.sh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0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hape 0"/>
          <p:cNvSpPr/>
          <p:nvPr/>
        </p:nvSpPr>
        <p:spPr>
          <a:xfrm>
            <a:off x="0" y="0"/>
            <a:ext cx="52920" cy="51418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 1"/>
          <p:cNvSpPr/>
          <p:nvPr/>
        </p:nvSpPr>
        <p:spPr>
          <a:xfrm>
            <a:off x="274320" y="228600"/>
            <a:ext cx="859356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335" strike="noStrike">
                <a:solidFill>
                  <a:srgbClr val="f5a623"/>
                </a:solidFill>
                <a:latin typeface="Calibri"/>
                <a:ea typeface="Calibri"/>
              </a:rPr>
              <a:t>WEEK 1  ·  DAYS 1–3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Text 2"/>
          <p:cNvSpPr/>
          <p:nvPr/>
        </p:nvSpPr>
        <p:spPr>
          <a:xfrm>
            <a:off x="274320" y="457200"/>
            <a:ext cx="566748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ambria"/>
                <a:ea typeface="Cambria"/>
              </a:rPr>
              <a:t>Azure Foundations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Text 3"/>
          <p:cNvSpPr/>
          <p:nvPr/>
        </p:nvSpPr>
        <p:spPr>
          <a:xfrm>
            <a:off x="274320" y="1005840"/>
            <a:ext cx="63990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50" spc="-1" strike="noStrike">
                <a:solidFill>
                  <a:srgbClr val="8892b8"/>
                </a:solidFill>
                <a:latin typeface="Calibri"/>
                <a:ea typeface="Calibri"/>
              </a:rPr>
              <a:t>"How production cloud environments are structured and accessed."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" name="Shape 4"/>
          <p:cNvSpPr/>
          <p:nvPr/>
        </p:nvSpPr>
        <p:spPr>
          <a:xfrm>
            <a:off x="7644240" y="274320"/>
            <a:ext cx="1113840" cy="802800"/>
          </a:xfrm>
          <a:prstGeom prst="roundRect">
            <a:avLst>
              <a:gd name="adj" fmla="val 9091"/>
            </a:avLst>
          </a:prstGeom>
          <a:solidFill>
            <a:srgbClr val="252a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Text 5"/>
          <p:cNvSpPr/>
          <p:nvPr/>
        </p:nvSpPr>
        <p:spPr>
          <a:xfrm>
            <a:off x="7644240" y="292680"/>
            <a:ext cx="11138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5a623"/>
                </a:solidFill>
                <a:latin typeface="Cambria"/>
                <a:ea typeface="Cambria"/>
              </a:rPr>
              <a:t>3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" name="Text 6"/>
          <p:cNvSpPr/>
          <p:nvPr/>
        </p:nvSpPr>
        <p:spPr>
          <a:xfrm>
            <a:off x="7644240" y="768240"/>
            <a:ext cx="1113840" cy="23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892b8"/>
                </a:solidFill>
                <a:latin typeface="Calibri"/>
                <a:ea typeface="Calibri"/>
              </a:rPr>
              <a:t>Scripts Built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" name="Text 8"/>
          <p:cNvSpPr/>
          <p:nvPr/>
        </p:nvSpPr>
        <p:spPr>
          <a:xfrm>
            <a:off x="7644240" y="1261800"/>
            <a:ext cx="11138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5a623"/>
                </a:solidFill>
                <a:latin typeface="Cambria"/>
                <a:ea typeface="Cambria"/>
              </a:rPr>
              <a:t>5+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Text 9"/>
          <p:cNvSpPr/>
          <p:nvPr/>
        </p:nvSpPr>
        <p:spPr>
          <a:xfrm>
            <a:off x="7644240" y="1737360"/>
            <a:ext cx="1113840" cy="23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892b8"/>
                </a:solidFill>
                <a:latin typeface="Calibri"/>
                <a:ea typeface="Calibri"/>
              </a:rPr>
              <a:t>Azure Services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" name="Shape 10"/>
          <p:cNvSpPr/>
          <p:nvPr/>
        </p:nvSpPr>
        <p:spPr>
          <a:xfrm>
            <a:off x="237600" y="1389960"/>
            <a:ext cx="2778120" cy="3509640"/>
          </a:xfrm>
          <a:prstGeom prst="roundRect">
            <a:avLst>
              <a:gd name="adj" fmla="val 3289"/>
            </a:avLst>
          </a:prstGeom>
          <a:solidFill>
            <a:srgbClr val="252a6b"/>
          </a:solidFill>
          <a:ln w="0">
            <a:noFill/>
          </a:ln>
          <a:effectLst>
            <a:outerShdw algn="bl" blurRad="50760" dir="2700000" dist="25455" kx="0" ky="0" rotWithShape="0" sx="100000" sy="10000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2" name="Image 0" descr="preencoded.png"/>
          <p:cNvPicPr/>
          <p:nvPr/>
        </p:nvPicPr>
        <p:blipFill>
          <a:blip r:embed="rId1"/>
          <a:stretch/>
        </p:blipFill>
        <p:spPr>
          <a:xfrm>
            <a:off x="402480" y="1536120"/>
            <a:ext cx="364320" cy="364320"/>
          </a:xfrm>
          <a:prstGeom prst="rect">
            <a:avLst/>
          </a:prstGeom>
          <a:ln w="0">
            <a:noFill/>
          </a:ln>
        </p:spPr>
      </p:pic>
      <p:sp>
        <p:nvSpPr>
          <p:cNvPr id="83" name="Text 11"/>
          <p:cNvSpPr/>
          <p:nvPr/>
        </p:nvSpPr>
        <p:spPr>
          <a:xfrm>
            <a:off x="402480" y="1901880"/>
            <a:ext cx="9126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5a623"/>
                </a:solidFill>
                <a:latin typeface="Calibri"/>
                <a:ea typeface="Calibri"/>
              </a:rPr>
              <a:t>Day 1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 12"/>
          <p:cNvSpPr/>
          <p:nvPr/>
        </p:nvSpPr>
        <p:spPr>
          <a:xfrm>
            <a:off x="402480" y="2103120"/>
            <a:ext cx="24487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Azure Orientation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" name="Shape 13"/>
          <p:cNvSpPr/>
          <p:nvPr/>
        </p:nvSpPr>
        <p:spPr>
          <a:xfrm>
            <a:off x="394920" y="2515320"/>
            <a:ext cx="2448720" cy="18360"/>
          </a:xfrm>
          <a:prstGeom prst="rect">
            <a:avLst/>
          </a:prstGeom>
          <a:solidFill>
            <a:srgbClr val="3a3f7a"/>
          </a:solidFill>
          <a:ln w="12700">
            <a:solidFill>
              <a:srgbClr val="3a3f7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4840" bIns="-2484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" name="Text 14"/>
          <p:cNvSpPr/>
          <p:nvPr/>
        </p:nvSpPr>
        <p:spPr>
          <a:xfrm>
            <a:off x="394920" y="2675880"/>
            <a:ext cx="2448720" cy="195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01520" indent="-101520" defTabSz="914400">
              <a:lnSpc>
                <a:spcPct val="100000"/>
              </a:lnSpc>
              <a:buClr>
                <a:srgbClr val="a8b2d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  <a:ea typeface="Calibri"/>
              </a:rPr>
              <a:t>Created free account + activated student credits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a8b2d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  <a:ea typeface="Calibri"/>
              </a:rPr>
              <a:t>Installed azure-cli, ran az login, az account show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a8b2d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  <a:ea typeface="Calibri"/>
              </a:rPr>
              <a:t>Created resource group: devops-lab-rg via portal AND CLI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a8b2d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  <a:ea typeface="Calibri"/>
              </a:rPr>
              <a:t>Listed all Azure regions: az account list-locations -o table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a8b2d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  <a:ea typeface="Calibri"/>
              </a:rPr>
              <a:t>Script creates RG in eastus automatically on run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" name="Shape 15"/>
          <p:cNvSpPr/>
          <p:nvPr/>
        </p:nvSpPr>
        <p:spPr>
          <a:xfrm>
            <a:off x="402480" y="4480560"/>
            <a:ext cx="2448720" cy="290880"/>
          </a:xfrm>
          <a:prstGeom prst="roundRect">
            <a:avLst>
              <a:gd name="adj" fmla="val 18750"/>
            </a:avLst>
          </a:prstGeom>
          <a:solidFill>
            <a:srgbClr val="1418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Text 16"/>
          <p:cNvSpPr/>
          <p:nvPr/>
        </p:nvSpPr>
        <p:spPr>
          <a:xfrm>
            <a:off x="402480" y="4480560"/>
            <a:ext cx="244872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5a623"/>
                </a:solidFill>
                <a:latin typeface="Courier New"/>
                <a:ea typeface="Courier New"/>
              </a:rPr>
              <a:t>$ azure_setup.sh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" name="Shape 17"/>
          <p:cNvSpPr/>
          <p:nvPr/>
        </p:nvSpPr>
        <p:spPr>
          <a:xfrm>
            <a:off x="3182040" y="1389960"/>
            <a:ext cx="2778120" cy="3509640"/>
          </a:xfrm>
          <a:prstGeom prst="roundRect">
            <a:avLst>
              <a:gd name="adj" fmla="val 3289"/>
            </a:avLst>
          </a:prstGeom>
          <a:solidFill>
            <a:srgbClr val="252a6b"/>
          </a:solidFill>
          <a:ln w="0">
            <a:noFill/>
          </a:ln>
          <a:effectLst>
            <a:outerShdw algn="bl" blurRad="50760" dir="2700000" dist="25455" kx="0" ky="0" rotWithShape="0" sx="100000" sy="10000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0" name="Image 1" descr="preencoded.png"/>
          <p:cNvPicPr/>
          <p:nvPr/>
        </p:nvPicPr>
        <p:blipFill>
          <a:blip r:embed="rId2"/>
          <a:stretch/>
        </p:blipFill>
        <p:spPr>
          <a:xfrm>
            <a:off x="3346560" y="1536120"/>
            <a:ext cx="364320" cy="364320"/>
          </a:xfrm>
          <a:prstGeom prst="rect">
            <a:avLst/>
          </a:prstGeom>
          <a:ln w="0">
            <a:noFill/>
          </a:ln>
        </p:spPr>
      </p:pic>
      <p:sp>
        <p:nvSpPr>
          <p:cNvPr id="91" name="Text 18"/>
          <p:cNvSpPr/>
          <p:nvPr/>
        </p:nvSpPr>
        <p:spPr>
          <a:xfrm>
            <a:off x="3346560" y="1902240"/>
            <a:ext cx="9126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5a623"/>
                </a:solidFill>
                <a:latin typeface="Calibri"/>
                <a:ea typeface="Calibri"/>
              </a:rPr>
              <a:t>Day 2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 19"/>
          <p:cNvSpPr/>
          <p:nvPr/>
        </p:nvSpPr>
        <p:spPr>
          <a:xfrm>
            <a:off x="3346560" y="2103120"/>
            <a:ext cx="24487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VMs &amp; Networking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Shape 20"/>
          <p:cNvSpPr/>
          <p:nvPr/>
        </p:nvSpPr>
        <p:spPr>
          <a:xfrm>
            <a:off x="3346560" y="2512440"/>
            <a:ext cx="2448720" cy="18360"/>
          </a:xfrm>
          <a:prstGeom prst="rect">
            <a:avLst/>
          </a:prstGeom>
          <a:solidFill>
            <a:srgbClr val="3a3f7a"/>
          </a:solidFill>
          <a:ln w="12700">
            <a:solidFill>
              <a:srgbClr val="3a3f7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4840" bIns="-2484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Text 21"/>
          <p:cNvSpPr/>
          <p:nvPr/>
        </p:nvSpPr>
        <p:spPr>
          <a:xfrm>
            <a:off x="3331440" y="2697840"/>
            <a:ext cx="2448720" cy="195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01520" indent="-101520" defTabSz="914400">
              <a:lnSpc>
                <a:spcPct val="100000"/>
              </a:lnSpc>
              <a:buClr>
                <a:srgbClr val="a8b2d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  <a:ea typeface="Calibri"/>
              </a:rPr>
              <a:t>Created VNet + subnet via CLI in Central India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a8b2d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  <a:ea typeface="Calibri"/>
              </a:rPr>
              <a:t>Provisioned Ubuntu 22.04 VM with SSH key authentication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a8b2d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  <a:ea typeface="Calibri"/>
              </a:rPr>
              <a:t>Created NSG rule to allow SSH on port 22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a8b2d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  <a:ea typeface="Calibri"/>
              </a:rPr>
              <a:t>Installed Nginx on VM, opened port 80 in NSG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a8b2d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  <a:ea typeface="Calibri"/>
              </a:rPr>
              <a:t>Verified Nginx welcome page at VM public IP:80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Shape 22"/>
          <p:cNvSpPr/>
          <p:nvPr/>
        </p:nvSpPr>
        <p:spPr>
          <a:xfrm>
            <a:off x="3346560" y="4480560"/>
            <a:ext cx="2448720" cy="290880"/>
          </a:xfrm>
          <a:prstGeom prst="roundRect">
            <a:avLst>
              <a:gd name="adj" fmla="val 18750"/>
            </a:avLst>
          </a:prstGeom>
          <a:solidFill>
            <a:srgbClr val="1418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Text 23"/>
          <p:cNvSpPr/>
          <p:nvPr/>
        </p:nvSpPr>
        <p:spPr>
          <a:xfrm>
            <a:off x="3346560" y="4480560"/>
            <a:ext cx="244872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5a623"/>
                </a:solidFill>
                <a:latin typeface="Courier New"/>
                <a:ea typeface="Courier New"/>
              </a:rPr>
              <a:t>$ vm_manager.sh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Shape 24"/>
          <p:cNvSpPr/>
          <p:nvPr/>
        </p:nvSpPr>
        <p:spPr>
          <a:xfrm>
            <a:off x="6126480" y="1389960"/>
            <a:ext cx="2778120" cy="3509640"/>
          </a:xfrm>
          <a:prstGeom prst="roundRect">
            <a:avLst>
              <a:gd name="adj" fmla="val 3289"/>
            </a:avLst>
          </a:prstGeom>
          <a:solidFill>
            <a:srgbClr val="252a6b"/>
          </a:solidFill>
          <a:ln w="0">
            <a:noFill/>
          </a:ln>
          <a:effectLst>
            <a:outerShdw algn="bl" blurRad="50760" dir="2700000" dist="25455" kx="0" ky="0" rotWithShape="0" sx="100000" sy="10000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8" name="Image 2" descr="preencoded.png"/>
          <p:cNvPicPr/>
          <p:nvPr/>
        </p:nvPicPr>
        <p:blipFill>
          <a:blip r:embed="rId3"/>
          <a:stretch/>
        </p:blipFill>
        <p:spPr>
          <a:xfrm>
            <a:off x="6291000" y="1536120"/>
            <a:ext cx="364320" cy="364320"/>
          </a:xfrm>
          <a:prstGeom prst="rect">
            <a:avLst/>
          </a:prstGeom>
          <a:ln w="0">
            <a:noFill/>
          </a:ln>
        </p:spPr>
      </p:pic>
      <p:sp>
        <p:nvSpPr>
          <p:cNvPr id="99" name="Text 25"/>
          <p:cNvSpPr/>
          <p:nvPr/>
        </p:nvSpPr>
        <p:spPr>
          <a:xfrm>
            <a:off x="6291000" y="1917000"/>
            <a:ext cx="9126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5a623"/>
                </a:solidFill>
                <a:latin typeface="Calibri"/>
                <a:ea typeface="Calibri"/>
              </a:rPr>
              <a:t>Day 3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Text 26"/>
          <p:cNvSpPr/>
          <p:nvPr/>
        </p:nvSpPr>
        <p:spPr>
          <a:xfrm>
            <a:off x="6291000" y="2103120"/>
            <a:ext cx="24487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Azure Storage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" name="Shape 27"/>
          <p:cNvSpPr/>
          <p:nvPr/>
        </p:nvSpPr>
        <p:spPr>
          <a:xfrm>
            <a:off x="6291000" y="2500200"/>
            <a:ext cx="2448720" cy="18360"/>
          </a:xfrm>
          <a:prstGeom prst="rect">
            <a:avLst/>
          </a:prstGeom>
          <a:solidFill>
            <a:srgbClr val="3a3f7a"/>
          </a:solidFill>
          <a:ln w="12700">
            <a:solidFill>
              <a:srgbClr val="3a3f7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4840" bIns="-2484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Text 28"/>
          <p:cNvSpPr/>
          <p:nvPr/>
        </p:nvSpPr>
        <p:spPr>
          <a:xfrm>
            <a:off x="6275880" y="2649960"/>
            <a:ext cx="2448720" cy="195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01520" indent="-101520" defTabSz="914400">
              <a:lnSpc>
                <a:spcPct val="100000"/>
              </a:lnSpc>
              <a:buClr>
                <a:srgbClr val="a8b2d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  <a:ea typeface="Calibri"/>
              </a:rPr>
              <a:t>Created storage account: vkstorage1781011715 (Standard_LRS)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a8b2d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  <a:ea typeface="Calibri"/>
              </a:rPr>
              <a:t>Created blob container, uploaded sample.txt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a8b2d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  <a:ea typeface="Calibri"/>
              </a:rPr>
              <a:t>Generated SAS token, opened URL in browser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a8b2d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  <a:ea typeface="Calibri"/>
              </a:rPr>
              <a:t>Mounted Azure File Share via CIFS on VM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a8b2d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  <a:ea typeface="Calibri"/>
              </a:rPr>
              <a:t>Explored Hot · Cool · Archive storage tier trade-offs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Shape 29"/>
          <p:cNvSpPr/>
          <p:nvPr/>
        </p:nvSpPr>
        <p:spPr>
          <a:xfrm>
            <a:off x="6291000" y="4480560"/>
            <a:ext cx="2448720" cy="290880"/>
          </a:xfrm>
          <a:prstGeom prst="roundRect">
            <a:avLst>
              <a:gd name="adj" fmla="val 18750"/>
            </a:avLst>
          </a:prstGeom>
          <a:solidFill>
            <a:srgbClr val="1418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Text 30"/>
          <p:cNvSpPr/>
          <p:nvPr/>
        </p:nvSpPr>
        <p:spPr>
          <a:xfrm>
            <a:off x="6291000" y="4480560"/>
            <a:ext cx="244872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5a623"/>
                </a:solidFill>
                <a:latin typeface="Courier New"/>
                <a:ea typeface="Courier New"/>
              </a:rPr>
              <a:t>$ storage_ops.sh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Shape 0"/>
          <p:cNvSpPr/>
          <p:nvPr/>
        </p:nvSpPr>
        <p:spPr>
          <a:xfrm>
            <a:off x="0" y="0"/>
            <a:ext cx="52920" cy="51418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 1"/>
          <p:cNvSpPr/>
          <p:nvPr/>
        </p:nvSpPr>
        <p:spPr>
          <a:xfrm>
            <a:off x="274320" y="228600"/>
            <a:ext cx="859356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335" strike="noStrike">
                <a:solidFill>
                  <a:srgbClr val="f5a623"/>
                </a:solidFill>
                <a:latin typeface="Calibri"/>
                <a:ea typeface="Calibri"/>
              </a:rPr>
              <a:t>WEEK 1  ·  DAYS 4–5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Text 2"/>
          <p:cNvSpPr/>
          <p:nvPr/>
        </p:nvSpPr>
        <p:spPr>
          <a:xfrm>
            <a:off x="274320" y="457200"/>
            <a:ext cx="63990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1a1e4f"/>
                </a:solidFill>
                <a:latin typeface="Cambria"/>
                <a:ea typeface="Cambria"/>
              </a:rPr>
              <a:t>Containers on Azure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Shape 3"/>
          <p:cNvSpPr/>
          <p:nvPr/>
        </p:nvSpPr>
        <p:spPr>
          <a:xfrm>
            <a:off x="237600" y="1115640"/>
            <a:ext cx="4222800" cy="3912120"/>
          </a:xfrm>
          <a:prstGeom prst="roundRect">
            <a:avLst>
              <a:gd name="adj" fmla="val 2913"/>
            </a:avLst>
          </a:prstGeom>
          <a:solidFill>
            <a:srgbClr val="0f1035"/>
          </a:solidFill>
          <a:ln w="0">
            <a:noFill/>
          </a:ln>
          <a:effectLst>
            <a:outerShdw algn="bl" blurRad="50760" dir="2700000" dist="25455" kx="0" ky="0" rotWithShape="0" sx="100000" sy="10000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9" name="Image 0" descr="preencoded.png"/>
          <p:cNvPicPr/>
          <p:nvPr/>
        </p:nvPicPr>
        <p:blipFill>
          <a:blip r:embed="rId1"/>
          <a:stretch/>
        </p:blipFill>
        <p:spPr>
          <a:xfrm>
            <a:off x="420480" y="1261800"/>
            <a:ext cx="327240" cy="327240"/>
          </a:xfrm>
          <a:prstGeom prst="rect">
            <a:avLst/>
          </a:prstGeom>
          <a:ln w="0">
            <a:noFill/>
          </a:ln>
        </p:spPr>
      </p:pic>
      <p:sp>
        <p:nvSpPr>
          <p:cNvPr id="110" name="Text 4"/>
          <p:cNvSpPr/>
          <p:nvPr/>
        </p:nvSpPr>
        <p:spPr>
          <a:xfrm>
            <a:off x="822960" y="1280160"/>
            <a:ext cx="91260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5a623"/>
                </a:solidFill>
                <a:latin typeface="Calibri"/>
                <a:ea typeface="Calibri"/>
              </a:rPr>
              <a:t>Day 4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 5"/>
          <p:cNvSpPr/>
          <p:nvPr/>
        </p:nvSpPr>
        <p:spPr>
          <a:xfrm>
            <a:off x="420480" y="1627560"/>
            <a:ext cx="385704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ffffff"/>
                </a:solidFill>
                <a:latin typeface="Calibri"/>
                <a:ea typeface="Calibri"/>
              </a:rPr>
              <a:t>Azure Container Instances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Text 6"/>
          <p:cNvSpPr/>
          <p:nvPr/>
        </p:nvSpPr>
        <p:spPr>
          <a:xfrm>
            <a:off x="420480" y="1938600"/>
            <a:ext cx="3857040" cy="23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8892b8"/>
                </a:solidFill>
                <a:latin typeface="Calibri"/>
                <a:ea typeface="Calibri"/>
              </a:rPr>
              <a:t>"Run containers without managing any infrastructure."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Shape 7"/>
          <p:cNvSpPr/>
          <p:nvPr/>
        </p:nvSpPr>
        <p:spPr>
          <a:xfrm>
            <a:off x="420480" y="2286000"/>
            <a:ext cx="3857040" cy="400680"/>
          </a:xfrm>
          <a:prstGeom prst="roundRect">
            <a:avLst>
              <a:gd name="adj" fmla="val 15909"/>
            </a:avLst>
          </a:prstGeom>
          <a:solidFill>
            <a:srgbClr val="252a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Shape 8"/>
          <p:cNvSpPr/>
          <p:nvPr/>
        </p:nvSpPr>
        <p:spPr>
          <a:xfrm>
            <a:off x="420480" y="2286000"/>
            <a:ext cx="52920" cy="400680"/>
          </a:xfrm>
          <a:prstGeom prst="roundRect">
            <a:avLst>
              <a:gd name="adj" fmla="val 16667"/>
            </a:avLst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 9"/>
          <p:cNvSpPr/>
          <p:nvPr/>
        </p:nvSpPr>
        <p:spPr>
          <a:xfrm>
            <a:off x="548640" y="2304360"/>
            <a:ext cx="365580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d580"/>
                </a:solidFill>
                <a:latin typeface="Calibri"/>
                <a:ea typeface="Calibri"/>
              </a:rPr>
              <a:t>Deploy Nginx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Text 10"/>
          <p:cNvSpPr/>
          <p:nvPr/>
        </p:nvSpPr>
        <p:spPr>
          <a:xfrm>
            <a:off x="548640" y="2487240"/>
            <a:ext cx="365580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892b8"/>
                </a:solidFill>
                <a:latin typeface="Calibri"/>
                <a:ea typeface="Calibri"/>
              </a:rPr>
              <a:t>az container create · --dns-name-label · --ports 80 · public IP + DNS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Shape 11"/>
          <p:cNvSpPr/>
          <p:nvPr/>
        </p:nvSpPr>
        <p:spPr>
          <a:xfrm>
            <a:off x="420480" y="2788920"/>
            <a:ext cx="3857040" cy="400680"/>
          </a:xfrm>
          <a:prstGeom prst="roundRect">
            <a:avLst>
              <a:gd name="adj" fmla="val 15909"/>
            </a:avLst>
          </a:prstGeom>
          <a:solidFill>
            <a:srgbClr val="252a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Shape 12"/>
          <p:cNvSpPr/>
          <p:nvPr/>
        </p:nvSpPr>
        <p:spPr>
          <a:xfrm>
            <a:off x="420480" y="2788920"/>
            <a:ext cx="52920" cy="400680"/>
          </a:xfrm>
          <a:prstGeom prst="roundRect">
            <a:avLst>
              <a:gd name="adj" fmla="val 16667"/>
            </a:avLst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 13"/>
          <p:cNvSpPr/>
          <p:nvPr/>
        </p:nvSpPr>
        <p:spPr>
          <a:xfrm>
            <a:off x="548640" y="2807280"/>
            <a:ext cx="365580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d580"/>
                </a:solidFill>
                <a:latin typeface="Calibri"/>
                <a:ea typeface="Calibri"/>
              </a:rPr>
              <a:t>Log Streaming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 14"/>
          <p:cNvSpPr/>
          <p:nvPr/>
        </p:nvSpPr>
        <p:spPr>
          <a:xfrm>
            <a:off x="548640" y="2990160"/>
            <a:ext cx="365580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892b8"/>
                </a:solidFill>
                <a:latin typeface="Calibri"/>
                <a:ea typeface="Calibri"/>
              </a:rPr>
              <a:t>az container logs · core cloud-native ops pattern replacing SSH log tailing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Shape 15"/>
          <p:cNvSpPr/>
          <p:nvPr/>
        </p:nvSpPr>
        <p:spPr>
          <a:xfrm>
            <a:off x="420480" y="3291840"/>
            <a:ext cx="3857040" cy="400680"/>
          </a:xfrm>
          <a:prstGeom prst="roundRect">
            <a:avLst>
              <a:gd name="adj" fmla="val 15909"/>
            </a:avLst>
          </a:prstGeom>
          <a:solidFill>
            <a:srgbClr val="252a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Shape 16"/>
          <p:cNvSpPr/>
          <p:nvPr/>
        </p:nvSpPr>
        <p:spPr>
          <a:xfrm>
            <a:off x="420480" y="3291840"/>
            <a:ext cx="52920" cy="400680"/>
          </a:xfrm>
          <a:prstGeom prst="roundRect">
            <a:avLst>
              <a:gd name="adj" fmla="val 16667"/>
            </a:avLst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 17"/>
          <p:cNvSpPr/>
          <p:nvPr/>
        </p:nvSpPr>
        <p:spPr>
          <a:xfrm>
            <a:off x="548640" y="3310200"/>
            <a:ext cx="365580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d580"/>
                </a:solidFill>
                <a:latin typeface="Calibri"/>
                <a:ea typeface="Calibri"/>
              </a:rPr>
              <a:t>Env Var Injection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Text 18"/>
          <p:cNvSpPr/>
          <p:nvPr/>
        </p:nvSpPr>
        <p:spPr>
          <a:xfrm>
            <a:off x="548640" y="3493080"/>
            <a:ext cx="365580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892b8"/>
                </a:solidFill>
                <a:latin typeface="Calibri"/>
                <a:ea typeface="Calibri"/>
              </a:rPr>
              <a:t>APP_ENV=training · STUDENT=Vibhav · immutable image, dynamic config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Shape 19"/>
          <p:cNvSpPr/>
          <p:nvPr/>
        </p:nvSpPr>
        <p:spPr>
          <a:xfrm>
            <a:off x="420480" y="3794760"/>
            <a:ext cx="3857040" cy="400680"/>
          </a:xfrm>
          <a:prstGeom prst="roundRect">
            <a:avLst>
              <a:gd name="adj" fmla="val 15909"/>
            </a:avLst>
          </a:prstGeom>
          <a:solidFill>
            <a:srgbClr val="252a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Shape 20"/>
          <p:cNvSpPr/>
          <p:nvPr/>
        </p:nvSpPr>
        <p:spPr>
          <a:xfrm>
            <a:off x="420480" y="3794760"/>
            <a:ext cx="52920" cy="400680"/>
          </a:xfrm>
          <a:prstGeom prst="roundRect">
            <a:avLst>
              <a:gd name="adj" fmla="val 16667"/>
            </a:avLst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Text 21"/>
          <p:cNvSpPr/>
          <p:nvPr/>
        </p:nvSpPr>
        <p:spPr>
          <a:xfrm>
            <a:off x="548640" y="3813120"/>
            <a:ext cx="365580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d580"/>
                </a:solidFill>
                <a:latin typeface="Calibri"/>
                <a:ea typeface="Calibri"/>
              </a:rPr>
              <a:t>Azure Files Mount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Text 22"/>
          <p:cNvSpPr/>
          <p:nvPr/>
        </p:nvSpPr>
        <p:spPr>
          <a:xfrm>
            <a:off x="548640" y="3996000"/>
            <a:ext cx="365580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892b8"/>
                </a:solidFill>
                <a:latin typeface="Calibri"/>
                <a:ea typeface="Calibri"/>
              </a:rPr>
              <a:t>training-share → /mnt/share · test.txt survived container deletion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Shape 23"/>
          <p:cNvSpPr/>
          <p:nvPr/>
        </p:nvSpPr>
        <p:spPr>
          <a:xfrm>
            <a:off x="420480" y="4297680"/>
            <a:ext cx="3857040" cy="400680"/>
          </a:xfrm>
          <a:prstGeom prst="roundRect">
            <a:avLst>
              <a:gd name="adj" fmla="val 15909"/>
            </a:avLst>
          </a:prstGeom>
          <a:solidFill>
            <a:srgbClr val="252a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Shape 24"/>
          <p:cNvSpPr/>
          <p:nvPr/>
        </p:nvSpPr>
        <p:spPr>
          <a:xfrm>
            <a:off x="420480" y="4297680"/>
            <a:ext cx="52920" cy="400680"/>
          </a:xfrm>
          <a:prstGeom prst="roundRect">
            <a:avLst>
              <a:gd name="adj" fmla="val 16667"/>
            </a:avLst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Text 25"/>
          <p:cNvSpPr/>
          <p:nvPr/>
        </p:nvSpPr>
        <p:spPr>
          <a:xfrm>
            <a:off x="548640" y="4316040"/>
            <a:ext cx="365580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d580"/>
                </a:solidFill>
                <a:latin typeface="Calibri"/>
                <a:ea typeface="Calibri"/>
              </a:rPr>
              <a:t>Container Groups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Text 26"/>
          <p:cNvSpPr/>
          <p:nvPr/>
        </p:nvSpPr>
        <p:spPr>
          <a:xfrm>
            <a:off x="548640" y="4498920"/>
            <a:ext cx="365580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892b8"/>
                </a:solidFill>
                <a:latin typeface="Calibri"/>
                <a:ea typeface="Calibri"/>
              </a:rPr>
              <a:t>Sidecar pattern · main + helper containers · equivalent to K8s Pods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Shape 27"/>
          <p:cNvSpPr/>
          <p:nvPr/>
        </p:nvSpPr>
        <p:spPr>
          <a:xfrm>
            <a:off x="4626720" y="1115640"/>
            <a:ext cx="4287240" cy="3912120"/>
          </a:xfrm>
          <a:prstGeom prst="roundRect">
            <a:avLst>
              <a:gd name="adj" fmla="val 2913"/>
            </a:avLst>
          </a:prstGeom>
          <a:solidFill>
            <a:srgbClr val="e8ecff"/>
          </a:solidFill>
          <a:ln w="0">
            <a:noFill/>
          </a:ln>
          <a:effectLst>
            <a:outerShdw algn="bl" blurRad="50760" dir="2700000" dist="25455" kx="0" ky="0" rotWithShape="0" sx="100000" sy="10000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4" name="Image 1" descr="preencoded.png"/>
          <p:cNvPicPr/>
          <p:nvPr/>
        </p:nvPicPr>
        <p:blipFill>
          <a:blip r:embed="rId2"/>
          <a:stretch/>
        </p:blipFill>
        <p:spPr>
          <a:xfrm>
            <a:off x="4809600" y="1261800"/>
            <a:ext cx="327240" cy="327240"/>
          </a:xfrm>
          <a:prstGeom prst="rect">
            <a:avLst/>
          </a:prstGeom>
          <a:ln w="0">
            <a:noFill/>
          </a:ln>
        </p:spPr>
      </p:pic>
      <p:sp>
        <p:nvSpPr>
          <p:cNvPr id="135" name="Text 28"/>
          <p:cNvSpPr/>
          <p:nvPr/>
        </p:nvSpPr>
        <p:spPr>
          <a:xfrm>
            <a:off x="5212080" y="1280160"/>
            <a:ext cx="91260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5a623"/>
                </a:solidFill>
                <a:latin typeface="Calibri"/>
                <a:ea typeface="Calibri"/>
              </a:rPr>
              <a:t>Day 5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Text 29"/>
          <p:cNvSpPr/>
          <p:nvPr/>
        </p:nvSpPr>
        <p:spPr>
          <a:xfrm>
            <a:off x="4809600" y="1627560"/>
            <a:ext cx="39117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1a1e4f"/>
                </a:solidFill>
                <a:latin typeface="Calibri"/>
                <a:ea typeface="Calibri"/>
              </a:rPr>
              <a:t>Azure Container Registry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 30"/>
          <p:cNvSpPr/>
          <p:nvPr/>
        </p:nvSpPr>
        <p:spPr>
          <a:xfrm>
            <a:off x="4809600" y="1938600"/>
            <a:ext cx="3911760" cy="23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64748b"/>
                </a:solidFill>
                <a:latin typeface="Calibri"/>
                <a:ea typeface="Calibri"/>
              </a:rPr>
              <a:t>"Build once. Store privately. Deploy anywhere."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ext 31"/>
          <p:cNvSpPr/>
          <p:nvPr/>
        </p:nvSpPr>
        <p:spPr>
          <a:xfrm>
            <a:off x="4809600" y="2249280"/>
            <a:ext cx="3911760" cy="23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5a623"/>
                </a:solidFill>
                <a:latin typeface="Calibri"/>
                <a:ea typeface="Calibri"/>
              </a:rPr>
              <a:t>Deployment Pipeline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Shape 32"/>
          <p:cNvSpPr/>
          <p:nvPr/>
        </p:nvSpPr>
        <p:spPr>
          <a:xfrm>
            <a:off x="4809600" y="2560320"/>
            <a:ext cx="867960" cy="437040"/>
          </a:xfrm>
          <a:prstGeom prst="roundRect">
            <a:avLst>
              <a:gd name="adj" fmla="val 14583"/>
            </a:avLst>
          </a:prstGeom>
          <a:solidFill>
            <a:srgbClr val="252a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Text 33"/>
          <p:cNvSpPr/>
          <p:nvPr/>
        </p:nvSpPr>
        <p:spPr>
          <a:xfrm>
            <a:off x="4809600" y="2560320"/>
            <a:ext cx="86796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Source Code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Text 34"/>
          <p:cNvSpPr/>
          <p:nvPr/>
        </p:nvSpPr>
        <p:spPr>
          <a:xfrm>
            <a:off x="5696640" y="2633400"/>
            <a:ext cx="896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5a623"/>
                </a:solidFill>
                <a:latin typeface="Calibri"/>
                <a:ea typeface="Calibri"/>
              </a:rPr>
              <a:t>→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Shape 35"/>
          <p:cNvSpPr/>
          <p:nvPr/>
        </p:nvSpPr>
        <p:spPr>
          <a:xfrm>
            <a:off x="5833800" y="2560320"/>
            <a:ext cx="867960" cy="437040"/>
          </a:xfrm>
          <a:prstGeom prst="roundRect">
            <a:avLst>
              <a:gd name="adj" fmla="val 14583"/>
            </a:avLst>
          </a:prstGeom>
          <a:solidFill>
            <a:srgbClr val="252a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Text 36"/>
          <p:cNvSpPr/>
          <p:nvPr/>
        </p:nvSpPr>
        <p:spPr>
          <a:xfrm>
            <a:off x="5833800" y="2560320"/>
            <a:ext cx="86796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Dockerfile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Text 37"/>
          <p:cNvSpPr/>
          <p:nvPr/>
        </p:nvSpPr>
        <p:spPr>
          <a:xfrm>
            <a:off x="6720840" y="2633400"/>
            <a:ext cx="896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5a623"/>
                </a:solidFill>
                <a:latin typeface="Calibri"/>
                <a:ea typeface="Calibri"/>
              </a:rPr>
              <a:t>→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Shape 38"/>
          <p:cNvSpPr/>
          <p:nvPr/>
        </p:nvSpPr>
        <p:spPr>
          <a:xfrm>
            <a:off x="6858000" y="2560320"/>
            <a:ext cx="867960" cy="437040"/>
          </a:xfrm>
          <a:prstGeom prst="roundRect">
            <a:avLst>
              <a:gd name="adj" fmla="val 14583"/>
            </a:avLst>
          </a:prstGeom>
          <a:solidFill>
            <a:srgbClr val="252a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" name="Text 39"/>
          <p:cNvSpPr/>
          <p:nvPr/>
        </p:nvSpPr>
        <p:spPr>
          <a:xfrm>
            <a:off x="6858000" y="2560320"/>
            <a:ext cx="86796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docker build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Text 40"/>
          <p:cNvSpPr/>
          <p:nvPr/>
        </p:nvSpPr>
        <p:spPr>
          <a:xfrm>
            <a:off x="7745040" y="2633400"/>
            <a:ext cx="896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5a623"/>
                </a:solidFill>
                <a:latin typeface="Calibri"/>
                <a:ea typeface="Calibri"/>
              </a:rPr>
              <a:t>→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Shape 41"/>
          <p:cNvSpPr/>
          <p:nvPr/>
        </p:nvSpPr>
        <p:spPr>
          <a:xfrm>
            <a:off x="7882200" y="2560320"/>
            <a:ext cx="867960" cy="437040"/>
          </a:xfrm>
          <a:prstGeom prst="roundRect">
            <a:avLst>
              <a:gd name="adj" fmla="val 14583"/>
            </a:avLst>
          </a:prstGeom>
          <a:solidFill>
            <a:srgbClr val="252a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Text 42"/>
          <p:cNvSpPr/>
          <p:nvPr/>
        </p:nvSpPr>
        <p:spPr>
          <a:xfrm>
            <a:off x="7882200" y="2560320"/>
            <a:ext cx="86796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docker tag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Shape 43"/>
          <p:cNvSpPr/>
          <p:nvPr/>
        </p:nvSpPr>
        <p:spPr>
          <a:xfrm>
            <a:off x="4809600" y="3163680"/>
            <a:ext cx="867960" cy="437040"/>
          </a:xfrm>
          <a:prstGeom prst="roundRect">
            <a:avLst>
              <a:gd name="adj" fmla="val 14583"/>
            </a:avLst>
          </a:prstGeom>
          <a:solidFill>
            <a:srgbClr val="252a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 44"/>
          <p:cNvSpPr/>
          <p:nvPr/>
        </p:nvSpPr>
        <p:spPr>
          <a:xfrm>
            <a:off x="4809600" y="3163680"/>
            <a:ext cx="86796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az acr login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Text 45"/>
          <p:cNvSpPr/>
          <p:nvPr/>
        </p:nvSpPr>
        <p:spPr>
          <a:xfrm>
            <a:off x="5696640" y="3237120"/>
            <a:ext cx="896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5a623"/>
                </a:solidFill>
                <a:latin typeface="Calibri"/>
                <a:ea typeface="Calibri"/>
              </a:rPr>
              <a:t>→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Shape 46"/>
          <p:cNvSpPr/>
          <p:nvPr/>
        </p:nvSpPr>
        <p:spPr>
          <a:xfrm>
            <a:off x="5833800" y="3163680"/>
            <a:ext cx="867960" cy="437040"/>
          </a:xfrm>
          <a:prstGeom prst="roundRect">
            <a:avLst>
              <a:gd name="adj" fmla="val 14583"/>
            </a:avLst>
          </a:prstGeom>
          <a:solidFill>
            <a:srgbClr val="252a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Text 47"/>
          <p:cNvSpPr/>
          <p:nvPr/>
        </p:nvSpPr>
        <p:spPr>
          <a:xfrm>
            <a:off x="5833800" y="3163680"/>
            <a:ext cx="86796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docker push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Text 48"/>
          <p:cNvSpPr/>
          <p:nvPr/>
        </p:nvSpPr>
        <p:spPr>
          <a:xfrm>
            <a:off x="6720840" y="3237120"/>
            <a:ext cx="896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5a623"/>
                </a:solidFill>
                <a:latin typeface="Calibri"/>
                <a:ea typeface="Calibri"/>
              </a:rPr>
              <a:t>→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Shape 49"/>
          <p:cNvSpPr/>
          <p:nvPr/>
        </p:nvSpPr>
        <p:spPr>
          <a:xfrm>
            <a:off x="6858000" y="3163680"/>
            <a:ext cx="867960" cy="437040"/>
          </a:xfrm>
          <a:prstGeom prst="roundRect">
            <a:avLst>
              <a:gd name="adj" fmla="val 14583"/>
            </a:avLst>
          </a:prstGeom>
          <a:solidFill>
            <a:srgbClr val="252a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Text 50"/>
          <p:cNvSpPr/>
          <p:nvPr/>
        </p:nvSpPr>
        <p:spPr>
          <a:xfrm>
            <a:off x="6858000" y="3163680"/>
            <a:ext cx="86796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az container create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 51"/>
          <p:cNvSpPr/>
          <p:nvPr/>
        </p:nvSpPr>
        <p:spPr>
          <a:xfrm>
            <a:off x="7745040" y="3237120"/>
            <a:ext cx="896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5a623"/>
                </a:solidFill>
                <a:latin typeface="Calibri"/>
                <a:ea typeface="Calibri"/>
              </a:rPr>
              <a:t>→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Shape 52"/>
          <p:cNvSpPr/>
          <p:nvPr/>
        </p:nvSpPr>
        <p:spPr>
          <a:xfrm>
            <a:off x="7882200" y="3163680"/>
            <a:ext cx="867960" cy="437040"/>
          </a:xfrm>
          <a:prstGeom prst="roundRect">
            <a:avLst>
              <a:gd name="adj" fmla="val 14583"/>
            </a:avLst>
          </a:prstGeom>
          <a:solidFill>
            <a:srgbClr val="f5a62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Text 53"/>
          <p:cNvSpPr/>
          <p:nvPr/>
        </p:nvSpPr>
        <p:spPr>
          <a:xfrm>
            <a:off x="7882200" y="3163680"/>
            <a:ext cx="86796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f1035"/>
                </a:solidFill>
                <a:latin typeface="Calibri"/>
                <a:ea typeface="Calibri"/>
              </a:rPr>
              <a:t>Public URL 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Text 54"/>
          <p:cNvSpPr/>
          <p:nvPr/>
        </p:nvSpPr>
        <p:spPr>
          <a:xfrm>
            <a:off x="4809600" y="3877200"/>
            <a:ext cx="391176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5a623"/>
                </a:solidFill>
                <a:latin typeface="Calibri"/>
                <a:ea typeface="Calibri"/>
              </a:rPr>
              <a:t>Registry Details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 55"/>
          <p:cNvSpPr/>
          <p:nvPr/>
        </p:nvSpPr>
        <p:spPr>
          <a:xfrm>
            <a:off x="4809600" y="4133160"/>
            <a:ext cx="8211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1a1e4f"/>
                </a:solidFill>
                <a:latin typeface="Calibri"/>
                <a:ea typeface="Calibri"/>
              </a:rPr>
              <a:t>Registry: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 56"/>
          <p:cNvSpPr/>
          <p:nvPr/>
        </p:nvSpPr>
        <p:spPr>
          <a:xfrm>
            <a:off x="5486400" y="4151880"/>
            <a:ext cx="305244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4748b"/>
                </a:solidFill>
                <a:latin typeface="Courier New"/>
                <a:ea typeface="Courier New"/>
              </a:rPr>
              <a:t>vibhavacr001 (Basic SKU)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Text 57"/>
          <p:cNvSpPr/>
          <p:nvPr/>
        </p:nvSpPr>
        <p:spPr>
          <a:xfrm>
            <a:off x="4809600" y="4334400"/>
            <a:ext cx="8211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1a1e4f"/>
                </a:solidFill>
                <a:latin typeface="Calibri"/>
                <a:ea typeface="Calibri"/>
              </a:rPr>
              <a:t>Image: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Text 58"/>
          <p:cNvSpPr/>
          <p:nvPr/>
        </p:nvSpPr>
        <p:spPr>
          <a:xfrm>
            <a:off x="5486400" y="4334400"/>
            <a:ext cx="305244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4748b"/>
                </a:solidFill>
                <a:latin typeface="Courier New"/>
                <a:ea typeface="Courier New"/>
              </a:rPr>
              <a:t>mywebapp:v1 → week1-project:v1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Text 59"/>
          <p:cNvSpPr/>
          <p:nvPr/>
        </p:nvSpPr>
        <p:spPr>
          <a:xfrm>
            <a:off x="4809600" y="4535280"/>
            <a:ext cx="8211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1a1e4f"/>
                </a:solidFill>
                <a:latin typeface="Calibri"/>
                <a:ea typeface="Calibri"/>
              </a:rPr>
              <a:t>Auth: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Text 60"/>
          <p:cNvSpPr/>
          <p:nvPr/>
        </p:nvSpPr>
        <p:spPr>
          <a:xfrm>
            <a:off x="5486400" y="4554000"/>
            <a:ext cx="305244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4748b"/>
                </a:solidFill>
                <a:latin typeface="Courier New"/>
                <a:ea typeface="Courier New"/>
              </a:rPr>
              <a:t>Managed Identity (no passwords)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Text 61"/>
          <p:cNvSpPr/>
          <p:nvPr/>
        </p:nvSpPr>
        <p:spPr>
          <a:xfrm>
            <a:off x="4809600" y="4736520"/>
            <a:ext cx="8211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1a1e4f"/>
                </a:solidFill>
                <a:latin typeface="Calibri"/>
                <a:ea typeface="Calibri"/>
              </a:rPr>
              <a:t>Endpoint: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Text 62"/>
          <p:cNvSpPr/>
          <p:nvPr/>
        </p:nvSpPr>
        <p:spPr>
          <a:xfrm>
            <a:off x="5486400" y="4791240"/>
            <a:ext cx="34275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64748b"/>
                </a:solidFill>
                <a:latin typeface="Courier New"/>
                <a:ea typeface="Courier New"/>
              </a:rPr>
              <a:t>http://mywebapp-vibhav-aci.centralindia.azurecontainer.io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Shape 63"/>
          <p:cNvSpPr/>
          <p:nvPr/>
        </p:nvSpPr>
        <p:spPr>
          <a:xfrm>
            <a:off x="4628160" y="530280"/>
            <a:ext cx="4286160" cy="473760"/>
          </a:xfrm>
          <a:prstGeom prst="roundRect">
            <a:avLst>
              <a:gd name="adj" fmla="val 13462"/>
            </a:avLst>
          </a:prstGeom>
          <a:solidFill>
            <a:srgbClr val="0f10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" name="Text 64"/>
          <p:cNvSpPr/>
          <p:nvPr/>
        </p:nvSpPr>
        <p:spPr>
          <a:xfrm>
            <a:off x="4800600" y="530280"/>
            <a:ext cx="411372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8892b8"/>
                </a:solidFill>
                <a:latin typeface="Calibri"/>
                <a:ea typeface="Calibri"/>
              </a:rPr>
              <a:t>Advanced: Vulnerability Scanning → Trivy scans image CVEs before push. Severe findings can auto-fail the pipeline.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0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Shape 0"/>
          <p:cNvSpPr/>
          <p:nvPr/>
        </p:nvSpPr>
        <p:spPr>
          <a:xfrm>
            <a:off x="0" y="0"/>
            <a:ext cx="52920" cy="51418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Text 1"/>
          <p:cNvSpPr/>
          <p:nvPr/>
        </p:nvSpPr>
        <p:spPr>
          <a:xfrm>
            <a:off x="274320" y="228600"/>
            <a:ext cx="859356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335" strike="noStrike">
                <a:solidFill>
                  <a:srgbClr val="f5a623"/>
                </a:solidFill>
                <a:latin typeface="Calibri"/>
                <a:ea typeface="Calibri"/>
              </a:rPr>
              <a:t>WEEK 1  ·  CAPSTONE PROJECT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Text 2"/>
          <p:cNvSpPr/>
          <p:nvPr/>
        </p:nvSpPr>
        <p:spPr>
          <a:xfrm>
            <a:off x="274320" y="457200"/>
            <a:ext cx="73134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ambria"/>
                <a:ea typeface="Cambria"/>
              </a:rPr>
              <a:t>End-to-End Cloud Deploy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" name="Text 3"/>
          <p:cNvSpPr/>
          <p:nvPr/>
        </p:nvSpPr>
        <p:spPr>
          <a:xfrm>
            <a:off x="274320" y="1005840"/>
            <a:ext cx="841068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8892b8"/>
                </a:solidFill>
                <a:latin typeface="Calibri"/>
                <a:ea typeface="Calibri"/>
              </a:rPr>
              <a:t>A single Bash script that provisions infrastructure, builds a custom image, deploys to ACI, mounts Azure Files, and verifies public access.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" name="Shape 4"/>
          <p:cNvSpPr/>
          <p:nvPr/>
        </p:nvSpPr>
        <p:spPr>
          <a:xfrm>
            <a:off x="255960" y="1444680"/>
            <a:ext cx="1516320" cy="1333080"/>
          </a:xfrm>
          <a:prstGeom prst="roundRect">
            <a:avLst>
              <a:gd name="adj" fmla="val 6410"/>
            </a:avLst>
          </a:prstGeom>
          <a:solidFill>
            <a:srgbClr val="252a6b"/>
          </a:solidFill>
          <a:ln w="0">
            <a:noFill/>
          </a:ln>
          <a:effectLst>
            <a:outerShdw algn="bl" blurRad="50760" dir="2700000" dist="25455" kx="0" ky="0" rotWithShape="0" sx="100000" sy="10000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77" name="Image 0" descr="preencoded.png"/>
          <p:cNvPicPr/>
          <p:nvPr/>
        </p:nvPicPr>
        <p:blipFill>
          <a:blip r:embed="rId1"/>
          <a:stretch/>
        </p:blipFill>
        <p:spPr>
          <a:xfrm>
            <a:off x="868680" y="1572840"/>
            <a:ext cx="345600" cy="345600"/>
          </a:xfrm>
          <a:prstGeom prst="rect">
            <a:avLst/>
          </a:prstGeom>
          <a:ln w="0">
            <a:noFill/>
          </a:ln>
        </p:spPr>
      </p:pic>
      <p:sp>
        <p:nvSpPr>
          <p:cNvPr id="178" name="Text 5"/>
          <p:cNvSpPr/>
          <p:nvPr/>
        </p:nvSpPr>
        <p:spPr>
          <a:xfrm>
            <a:off x="255960" y="1993320"/>
            <a:ext cx="1571400" cy="23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Local Build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" name="Text 6"/>
          <p:cNvSpPr/>
          <p:nvPr/>
        </p:nvSpPr>
        <p:spPr>
          <a:xfrm>
            <a:off x="255960" y="2249280"/>
            <a:ext cx="1516320" cy="5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8892b8"/>
                </a:solidFill>
                <a:latin typeface="Calibri"/>
                <a:ea typeface="Calibri"/>
              </a:rPr>
              <a:t>docker build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8892b8"/>
                </a:solidFill>
                <a:latin typeface="Calibri"/>
                <a:ea typeface="Calibri"/>
              </a:rPr>
              <a:t>docker tag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" name="Text 7"/>
          <p:cNvSpPr/>
          <p:nvPr/>
        </p:nvSpPr>
        <p:spPr>
          <a:xfrm>
            <a:off x="1828800" y="1993320"/>
            <a:ext cx="16308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5a623"/>
                </a:solidFill>
                <a:latin typeface="Calibri"/>
                <a:ea typeface="Calibri"/>
              </a:rPr>
              <a:t>→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Shape 8"/>
          <p:cNvSpPr/>
          <p:nvPr/>
        </p:nvSpPr>
        <p:spPr>
          <a:xfrm>
            <a:off x="2048400" y="1444680"/>
            <a:ext cx="1515960" cy="1333080"/>
          </a:xfrm>
          <a:prstGeom prst="roundRect">
            <a:avLst>
              <a:gd name="adj" fmla="val 6410"/>
            </a:avLst>
          </a:prstGeom>
          <a:solidFill>
            <a:srgbClr val="252a6b"/>
          </a:solidFill>
          <a:ln w="0">
            <a:noFill/>
          </a:ln>
          <a:effectLst>
            <a:outerShdw algn="bl" blurRad="50760" dir="2700000" dist="25455" kx="0" ky="0" rotWithShape="0" sx="100000" sy="10000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82" name="Image 1" descr="preencoded.png"/>
          <p:cNvPicPr/>
          <p:nvPr/>
        </p:nvPicPr>
        <p:blipFill>
          <a:blip r:embed="rId2"/>
          <a:stretch/>
        </p:blipFill>
        <p:spPr>
          <a:xfrm>
            <a:off x="2624760" y="1572840"/>
            <a:ext cx="345600" cy="345600"/>
          </a:xfrm>
          <a:prstGeom prst="rect">
            <a:avLst/>
          </a:prstGeom>
          <a:ln w="0">
            <a:noFill/>
          </a:ln>
        </p:spPr>
      </p:pic>
      <p:sp>
        <p:nvSpPr>
          <p:cNvPr id="183" name="Text 9"/>
          <p:cNvSpPr/>
          <p:nvPr/>
        </p:nvSpPr>
        <p:spPr>
          <a:xfrm>
            <a:off x="2030400" y="1993320"/>
            <a:ext cx="1533960" cy="23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ACR Push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" name="Text 10"/>
          <p:cNvSpPr/>
          <p:nvPr/>
        </p:nvSpPr>
        <p:spPr>
          <a:xfrm>
            <a:off x="2048400" y="2249280"/>
            <a:ext cx="1515960" cy="5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8892b8"/>
                </a:solidFill>
                <a:latin typeface="Calibri"/>
                <a:ea typeface="Calibri"/>
              </a:rPr>
              <a:t>vibhavacr001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8892b8"/>
                </a:solidFill>
                <a:latin typeface="Calibri"/>
                <a:ea typeface="Calibri"/>
              </a:rPr>
              <a:t>week1-project:v1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Text 11"/>
          <p:cNvSpPr/>
          <p:nvPr/>
        </p:nvSpPr>
        <p:spPr>
          <a:xfrm>
            <a:off x="3602880" y="1993320"/>
            <a:ext cx="18144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5a623"/>
                </a:solidFill>
                <a:latin typeface="Calibri"/>
                <a:ea typeface="Calibri"/>
              </a:rPr>
              <a:t>→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" name="Shape 12"/>
          <p:cNvSpPr/>
          <p:nvPr/>
        </p:nvSpPr>
        <p:spPr>
          <a:xfrm>
            <a:off x="3886200" y="1444680"/>
            <a:ext cx="1415520" cy="1333080"/>
          </a:xfrm>
          <a:prstGeom prst="roundRect">
            <a:avLst>
              <a:gd name="adj" fmla="val 6410"/>
            </a:avLst>
          </a:prstGeom>
          <a:solidFill>
            <a:srgbClr val="252a6b"/>
          </a:solidFill>
          <a:ln w="0">
            <a:noFill/>
          </a:ln>
          <a:effectLst>
            <a:outerShdw algn="bl" blurRad="50760" dir="2700000" dist="25455" kx="0" ky="0" rotWithShape="0" sx="100000" sy="10000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87" name="Image 2" descr="preencoded.png"/>
          <p:cNvPicPr/>
          <p:nvPr/>
        </p:nvPicPr>
        <p:blipFill>
          <a:blip r:embed="rId3"/>
          <a:stretch/>
        </p:blipFill>
        <p:spPr>
          <a:xfrm>
            <a:off x="4343400" y="1572840"/>
            <a:ext cx="345600" cy="345600"/>
          </a:xfrm>
          <a:prstGeom prst="rect">
            <a:avLst/>
          </a:prstGeom>
          <a:ln w="0">
            <a:noFill/>
          </a:ln>
        </p:spPr>
      </p:pic>
      <p:sp>
        <p:nvSpPr>
          <p:cNvPr id="188" name="Text 13"/>
          <p:cNvSpPr/>
          <p:nvPr/>
        </p:nvSpPr>
        <p:spPr>
          <a:xfrm>
            <a:off x="3785760" y="2012040"/>
            <a:ext cx="1571040" cy="23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ACI Deploy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" name="Text 14"/>
          <p:cNvSpPr/>
          <p:nvPr/>
        </p:nvSpPr>
        <p:spPr>
          <a:xfrm>
            <a:off x="3785760" y="2249280"/>
            <a:ext cx="1515960" cy="5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8892b8"/>
                </a:solidFill>
                <a:latin typeface="Calibri"/>
                <a:ea typeface="Calibri"/>
              </a:rPr>
              <a:t>week1-project-aci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8892b8"/>
                </a:solidFill>
                <a:latin typeface="Calibri"/>
                <a:ea typeface="Calibri"/>
              </a:rPr>
              <a:t>centralindia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" name="Text 15"/>
          <p:cNvSpPr/>
          <p:nvPr/>
        </p:nvSpPr>
        <p:spPr>
          <a:xfrm>
            <a:off x="5340240" y="1993320"/>
            <a:ext cx="1263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5a623"/>
                </a:solidFill>
                <a:latin typeface="Calibri"/>
                <a:ea typeface="Calibri"/>
              </a:rPr>
              <a:t>→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" name="Shape 16"/>
          <p:cNvSpPr/>
          <p:nvPr/>
        </p:nvSpPr>
        <p:spPr>
          <a:xfrm>
            <a:off x="5554080" y="1444680"/>
            <a:ext cx="1522080" cy="1333080"/>
          </a:xfrm>
          <a:prstGeom prst="roundRect">
            <a:avLst>
              <a:gd name="adj" fmla="val 6410"/>
            </a:avLst>
          </a:prstGeom>
          <a:solidFill>
            <a:srgbClr val="252a6b"/>
          </a:solidFill>
          <a:ln w="0">
            <a:noFill/>
          </a:ln>
          <a:effectLst>
            <a:outerShdw algn="bl" blurRad="50760" dir="2700000" dist="25455" kx="0" ky="0" rotWithShape="0" sx="100000" sy="10000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92" name="Image 3" descr="preencoded.png"/>
          <p:cNvPicPr/>
          <p:nvPr/>
        </p:nvPicPr>
        <p:blipFill>
          <a:blip r:embed="rId4"/>
          <a:stretch/>
        </p:blipFill>
        <p:spPr>
          <a:xfrm>
            <a:off x="6172200" y="1572840"/>
            <a:ext cx="345600" cy="345600"/>
          </a:xfrm>
          <a:prstGeom prst="rect">
            <a:avLst/>
          </a:prstGeom>
          <a:ln w="0">
            <a:noFill/>
          </a:ln>
        </p:spPr>
      </p:pic>
      <p:sp>
        <p:nvSpPr>
          <p:cNvPr id="193" name="Text 17"/>
          <p:cNvSpPr/>
          <p:nvPr/>
        </p:nvSpPr>
        <p:spPr>
          <a:xfrm>
            <a:off x="5554080" y="1993320"/>
            <a:ext cx="1552680" cy="23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Azure Files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Text 18"/>
          <p:cNvSpPr/>
          <p:nvPr/>
        </p:nvSpPr>
        <p:spPr>
          <a:xfrm>
            <a:off x="5614920" y="2249280"/>
            <a:ext cx="1461240" cy="5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8892b8"/>
                </a:solidFill>
                <a:latin typeface="Calibri"/>
                <a:ea typeface="Calibri"/>
              </a:rPr>
              <a:t>training-share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8892b8"/>
                </a:solidFill>
                <a:latin typeface="Calibri"/>
                <a:ea typeface="Calibri"/>
              </a:rPr>
              <a:t>/mnt/azurefiles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Text 19"/>
          <p:cNvSpPr/>
          <p:nvPr/>
        </p:nvSpPr>
        <p:spPr>
          <a:xfrm>
            <a:off x="7108200" y="1993320"/>
            <a:ext cx="2055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5a623"/>
                </a:solidFill>
                <a:latin typeface="Calibri"/>
                <a:ea typeface="Calibri"/>
              </a:rPr>
              <a:t>→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Shape 20"/>
          <p:cNvSpPr/>
          <p:nvPr/>
        </p:nvSpPr>
        <p:spPr>
          <a:xfrm>
            <a:off x="7315200" y="1444680"/>
            <a:ext cx="1461240" cy="1333080"/>
          </a:xfrm>
          <a:prstGeom prst="roundRect">
            <a:avLst>
              <a:gd name="adj" fmla="val 6410"/>
            </a:avLst>
          </a:prstGeom>
          <a:solidFill>
            <a:srgbClr val="f5a623"/>
          </a:solidFill>
          <a:ln w="0">
            <a:noFill/>
          </a:ln>
          <a:effectLst>
            <a:outerShdw algn="bl" blurRad="50760" dir="2700000" dist="25455" kx="0" ky="0" rotWithShape="0" sx="100000" sy="10000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7" name="Image 4" descr="preencoded.png"/>
          <p:cNvPicPr/>
          <p:nvPr/>
        </p:nvPicPr>
        <p:blipFill>
          <a:blip r:embed="rId5"/>
          <a:stretch/>
        </p:blipFill>
        <p:spPr>
          <a:xfrm>
            <a:off x="7818120" y="1572840"/>
            <a:ext cx="345600" cy="345600"/>
          </a:xfrm>
          <a:prstGeom prst="rect">
            <a:avLst/>
          </a:prstGeom>
          <a:ln w="0">
            <a:noFill/>
          </a:ln>
        </p:spPr>
      </p:pic>
      <p:sp>
        <p:nvSpPr>
          <p:cNvPr id="198" name="Text 21"/>
          <p:cNvSpPr/>
          <p:nvPr/>
        </p:nvSpPr>
        <p:spPr>
          <a:xfrm>
            <a:off x="7205400" y="1993320"/>
            <a:ext cx="1571040" cy="23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f1035"/>
                </a:solidFill>
                <a:latin typeface="Calibri"/>
                <a:ea typeface="Calibri"/>
              </a:rPr>
              <a:t>Public URL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" name="Text 22"/>
          <p:cNvSpPr/>
          <p:nvPr/>
        </p:nvSpPr>
        <p:spPr>
          <a:xfrm>
            <a:off x="7260480" y="2249280"/>
            <a:ext cx="1461240" cy="5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c2057"/>
                </a:solidFill>
                <a:latin typeface="Calibri"/>
                <a:ea typeface="Calibri"/>
              </a:rPr>
              <a:t>week1-vibhav-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c2057"/>
                </a:solidFill>
                <a:latin typeface="Calibri"/>
                <a:ea typeface="Calibri"/>
              </a:rPr>
              <a:t>project.azurecontainer.io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" name="Shape 23"/>
          <p:cNvSpPr/>
          <p:nvPr/>
        </p:nvSpPr>
        <p:spPr>
          <a:xfrm>
            <a:off x="237600" y="3054240"/>
            <a:ext cx="2796120" cy="1790280"/>
          </a:xfrm>
          <a:prstGeom prst="roundRect">
            <a:avLst>
              <a:gd name="adj" fmla="val 5102"/>
            </a:avLst>
          </a:prstGeom>
          <a:solidFill>
            <a:srgbClr val="252a6b"/>
          </a:solidFill>
          <a:ln w="0">
            <a:noFill/>
          </a:ln>
          <a:effectLst>
            <a:outerShdw algn="bl" blurRad="50760" dir="2700000" dist="25455" kx="0" ky="0" rotWithShape="0" sx="100000" sy="10000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" name="Shape 24"/>
          <p:cNvSpPr/>
          <p:nvPr/>
        </p:nvSpPr>
        <p:spPr>
          <a:xfrm>
            <a:off x="365760" y="3173040"/>
            <a:ext cx="309240" cy="309240"/>
          </a:xfrm>
          <a:prstGeom prst="roundRect">
            <a:avLst>
              <a:gd name="adj" fmla="val 14706"/>
            </a:avLst>
          </a:prstGeom>
          <a:solidFill>
            <a:srgbClr val="f5a62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Text 25"/>
          <p:cNvSpPr/>
          <p:nvPr/>
        </p:nvSpPr>
        <p:spPr>
          <a:xfrm>
            <a:off x="365760" y="3173040"/>
            <a:ext cx="309240" cy="30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f1035"/>
                </a:solidFill>
                <a:latin typeface="Calibri"/>
                <a:ea typeface="Calibri"/>
              </a:rPr>
              <a:t>01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" name="Text 26"/>
          <p:cNvSpPr/>
          <p:nvPr/>
        </p:nvSpPr>
        <p:spPr>
          <a:xfrm>
            <a:off x="768240" y="3182040"/>
            <a:ext cx="2138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Infrastructure Provisioned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" name="Shape 27"/>
          <p:cNvSpPr/>
          <p:nvPr/>
        </p:nvSpPr>
        <p:spPr>
          <a:xfrm>
            <a:off x="365760" y="3529440"/>
            <a:ext cx="2540160" cy="14760"/>
          </a:xfrm>
          <a:prstGeom prst="rect">
            <a:avLst/>
          </a:prstGeom>
          <a:solidFill>
            <a:srgbClr val="3a3f7a"/>
          </a:solidFill>
          <a:ln w="12700">
            <a:solidFill>
              <a:srgbClr val="3a3f7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8440" bIns="-2844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" name="Text 28"/>
          <p:cNvSpPr/>
          <p:nvPr/>
        </p:nvSpPr>
        <p:spPr>
          <a:xfrm>
            <a:off x="365760" y="3666960"/>
            <a:ext cx="2540160" cy="113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01520" indent="-101520" defTabSz="914400">
              <a:lnSpc>
                <a:spcPct val="100000"/>
              </a:lnSpc>
              <a:buClr>
                <a:srgbClr val="a8b2d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  <a:ea typeface="Calibri"/>
              </a:rPr>
              <a:t>devops-lab-rg resource group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a8b2d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  <a:ea typeface="Calibri"/>
              </a:rPr>
              <a:t>vkstorage1781011715 storage account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a8b2d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  <a:ea typeface="Calibri"/>
              </a:rPr>
              <a:t>vibhavacr001 container registry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a8b2d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  <a:ea typeface="Calibri"/>
              </a:rPr>
              <a:t>training-share Azure File Share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" name="Shape 29"/>
          <p:cNvSpPr/>
          <p:nvPr/>
        </p:nvSpPr>
        <p:spPr>
          <a:xfrm>
            <a:off x="3218760" y="3054240"/>
            <a:ext cx="2796120" cy="1790280"/>
          </a:xfrm>
          <a:prstGeom prst="roundRect">
            <a:avLst>
              <a:gd name="adj" fmla="val 5102"/>
            </a:avLst>
          </a:prstGeom>
          <a:solidFill>
            <a:srgbClr val="252a6b"/>
          </a:solidFill>
          <a:ln w="0">
            <a:noFill/>
          </a:ln>
          <a:effectLst>
            <a:outerShdw algn="bl" blurRad="50760" dir="2700000" dist="25455" kx="0" ky="0" rotWithShape="0" sx="100000" sy="10000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Shape 30"/>
          <p:cNvSpPr/>
          <p:nvPr/>
        </p:nvSpPr>
        <p:spPr>
          <a:xfrm>
            <a:off x="3346560" y="3173040"/>
            <a:ext cx="309240" cy="309240"/>
          </a:xfrm>
          <a:prstGeom prst="roundRect">
            <a:avLst>
              <a:gd name="adj" fmla="val 14706"/>
            </a:avLst>
          </a:prstGeom>
          <a:solidFill>
            <a:srgbClr val="f5a62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Text 31"/>
          <p:cNvSpPr/>
          <p:nvPr/>
        </p:nvSpPr>
        <p:spPr>
          <a:xfrm>
            <a:off x="3346560" y="3173040"/>
            <a:ext cx="309240" cy="30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f1035"/>
                </a:solidFill>
                <a:latin typeface="Calibri"/>
                <a:ea typeface="Calibri"/>
              </a:rPr>
              <a:t>02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Text 32"/>
          <p:cNvSpPr/>
          <p:nvPr/>
        </p:nvSpPr>
        <p:spPr>
          <a:xfrm>
            <a:off x="3749040" y="3182040"/>
            <a:ext cx="2138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Automation Script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Shape 33"/>
          <p:cNvSpPr/>
          <p:nvPr/>
        </p:nvSpPr>
        <p:spPr>
          <a:xfrm>
            <a:off x="3346560" y="3529440"/>
            <a:ext cx="2540160" cy="14760"/>
          </a:xfrm>
          <a:prstGeom prst="rect">
            <a:avLst/>
          </a:prstGeom>
          <a:solidFill>
            <a:srgbClr val="3a3f7a"/>
          </a:solidFill>
          <a:ln w="12700">
            <a:solidFill>
              <a:srgbClr val="3a3f7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8440" bIns="-2844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Text 34"/>
          <p:cNvSpPr/>
          <p:nvPr/>
        </p:nvSpPr>
        <p:spPr>
          <a:xfrm>
            <a:off x="3346560" y="3657600"/>
            <a:ext cx="2540160" cy="113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01520" indent="-101520" defTabSz="914400">
              <a:lnSpc>
                <a:spcPct val="100000"/>
              </a:lnSpc>
              <a:buClr>
                <a:srgbClr val="a8b2d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  <a:ea typeface="Calibri"/>
              </a:rPr>
              <a:t>docker build + tag + ACR push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a8b2d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  <a:ea typeface="Calibri"/>
              </a:rPr>
              <a:t>az storage account keys list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a8b2d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  <a:ea typeface="Calibri"/>
              </a:rPr>
              <a:t>az container create with file mount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a8b2d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  <a:ea typeface="Calibri"/>
              </a:rPr>
              <a:t>Verification: curl public URL in loop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" name="Shape 35"/>
          <p:cNvSpPr/>
          <p:nvPr/>
        </p:nvSpPr>
        <p:spPr>
          <a:xfrm>
            <a:off x="6199560" y="3054240"/>
            <a:ext cx="2796120" cy="1790280"/>
          </a:xfrm>
          <a:prstGeom prst="roundRect">
            <a:avLst>
              <a:gd name="adj" fmla="val 5102"/>
            </a:avLst>
          </a:prstGeom>
          <a:solidFill>
            <a:srgbClr val="252a6b"/>
          </a:solidFill>
          <a:ln w="0">
            <a:noFill/>
          </a:ln>
          <a:effectLst>
            <a:outerShdw algn="bl" blurRad="50760" dir="2700000" dist="25455" kx="0" ky="0" rotWithShape="0" sx="100000" sy="10000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" name="Shape 36"/>
          <p:cNvSpPr/>
          <p:nvPr/>
        </p:nvSpPr>
        <p:spPr>
          <a:xfrm>
            <a:off x="6327720" y="3173040"/>
            <a:ext cx="309240" cy="309240"/>
          </a:xfrm>
          <a:prstGeom prst="roundRect">
            <a:avLst>
              <a:gd name="adj" fmla="val 14706"/>
            </a:avLst>
          </a:prstGeom>
          <a:solidFill>
            <a:srgbClr val="f5a62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Text 37"/>
          <p:cNvSpPr/>
          <p:nvPr/>
        </p:nvSpPr>
        <p:spPr>
          <a:xfrm>
            <a:off x="6327720" y="3173040"/>
            <a:ext cx="309240" cy="30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f1035"/>
                </a:solidFill>
                <a:latin typeface="Calibri"/>
                <a:ea typeface="Calibri"/>
              </a:rPr>
              <a:t>03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" name="Text 38"/>
          <p:cNvSpPr/>
          <p:nvPr/>
        </p:nvSpPr>
        <p:spPr>
          <a:xfrm>
            <a:off x="6729840" y="3182040"/>
            <a:ext cx="2138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Live Verification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" name="Shape 39"/>
          <p:cNvSpPr/>
          <p:nvPr/>
        </p:nvSpPr>
        <p:spPr>
          <a:xfrm>
            <a:off x="6327720" y="3529440"/>
            <a:ext cx="2540160" cy="14760"/>
          </a:xfrm>
          <a:prstGeom prst="rect">
            <a:avLst/>
          </a:prstGeom>
          <a:solidFill>
            <a:srgbClr val="3a3f7a"/>
          </a:solidFill>
          <a:ln w="12700">
            <a:solidFill>
              <a:srgbClr val="3a3f7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8440" bIns="-2844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" name="Text 40"/>
          <p:cNvSpPr/>
          <p:nvPr/>
        </p:nvSpPr>
        <p:spPr>
          <a:xfrm>
            <a:off x="6327720" y="3657600"/>
            <a:ext cx="2540160" cy="10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01520" indent="-101520" defTabSz="914400">
              <a:lnSpc>
                <a:spcPct val="100000"/>
              </a:lnSpc>
              <a:buClr>
                <a:srgbClr val="a8b2d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  <a:ea typeface="Calibri"/>
              </a:rPr>
              <a:t>week1-project-aci container running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a8b2d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  <a:ea typeface="Calibri"/>
              </a:rPr>
              <a:t>/mnt/azurefiles mounted + writable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a8b2d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  <a:ea typeface="Calibri"/>
              </a:rPr>
              <a:t>HTML page served at public URL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a8b2d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  <a:ea typeface="Calibri"/>
              </a:rPr>
              <a:t>Zero manual steps after $ ./week1_project.sh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Shape 0"/>
          <p:cNvSpPr/>
          <p:nvPr/>
        </p:nvSpPr>
        <p:spPr>
          <a:xfrm>
            <a:off x="0" y="0"/>
            <a:ext cx="52920" cy="51418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Text 1"/>
          <p:cNvSpPr/>
          <p:nvPr/>
        </p:nvSpPr>
        <p:spPr>
          <a:xfrm>
            <a:off x="274320" y="228600"/>
            <a:ext cx="859356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335" strike="noStrike">
                <a:solidFill>
                  <a:srgbClr val="f5a623"/>
                </a:solidFill>
                <a:latin typeface="Calibri"/>
                <a:ea typeface="Calibri"/>
              </a:rPr>
              <a:t>KEY CONCEPTS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Text 2"/>
          <p:cNvSpPr/>
          <p:nvPr/>
        </p:nvSpPr>
        <p:spPr>
          <a:xfrm>
            <a:off x="274320" y="457200"/>
            <a:ext cx="6399000" cy="5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1a1e4f"/>
                </a:solidFill>
                <a:latin typeface="Cambria"/>
                <a:ea typeface="Cambria"/>
              </a:rPr>
              <a:t>Production Concepts Introduced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Text 3"/>
          <p:cNvSpPr/>
          <p:nvPr/>
        </p:nvSpPr>
        <p:spPr>
          <a:xfrm>
            <a:off x="237600" y="1078920"/>
            <a:ext cx="420444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1a1e4f"/>
                </a:solidFill>
                <a:latin typeface="Calibri"/>
                <a:ea typeface="Calibri"/>
              </a:rPr>
              <a:t>Docker  vs  Azure Container Instances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222" name="Table 0"/>
          <p:cNvGraphicFramePr/>
          <p:nvPr/>
        </p:nvGraphicFramePr>
        <p:xfrm>
          <a:off x="237600" y="1389960"/>
          <a:ext cx="4223880" cy="2366280"/>
        </p:xfrm>
        <a:graphic>
          <a:graphicData uri="http://schemas.openxmlformats.org/drawingml/2006/table">
            <a:tbl>
              <a:tblPr/>
              <a:tblGrid>
                <a:gridCol w="786240"/>
                <a:gridCol w="1719000"/>
                <a:gridCol w="1719000"/>
              </a:tblGrid>
              <a:tr h="338040">
                <a:tc>
                  <a:txBody>
                    <a:bodyPr anchor="t">
                      <a:noAutofit/>
                    </a:bodyPr>
                    <a:p>
                      <a:endParaRPr b="0" lang="en-US" sz="950" spc="-1" strike="noStrike">
                        <a:solidFill>
                          <a:schemeClr val="dk1"/>
                        </a:solidFill>
                        <a:latin typeface="Calibri"/>
                        <a:ea typeface="Calibri"/>
                      </a:endParaRPr>
                    </a:p>
                  </a:txBody>
                  <a:tcPr anchor="t" marL="91440" marR="91440">
                    <a:lnL w="6480">
                      <a:solidFill>
                        <a:srgbClr val="d0d5ee"/>
                      </a:solidFill>
                      <a:prstDash val="solid"/>
                    </a:lnL>
                    <a:lnR w="6480">
                      <a:solidFill>
                        <a:srgbClr val="d0d5ee"/>
                      </a:solidFill>
                      <a:prstDash val="solid"/>
                    </a:lnR>
                    <a:lnT w="6480">
                      <a:solidFill>
                        <a:srgbClr val="d0d5ee"/>
                      </a:solidFill>
                      <a:prstDash val="solid"/>
                    </a:lnT>
                    <a:lnB w="6480">
                      <a:solidFill>
                        <a:srgbClr val="d0d5ee"/>
                      </a:solidFill>
                      <a:prstDash val="solid"/>
                    </a:lnB>
                    <a:solidFill>
                      <a:srgbClr val="1c205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5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Docker</a:t>
                      </a:r>
                      <a:endParaRPr b="0" lang="en-US" sz="9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0d5ee"/>
                      </a:solidFill>
                      <a:prstDash val="solid"/>
                    </a:lnL>
                    <a:lnR w="6480">
                      <a:solidFill>
                        <a:srgbClr val="d0d5ee"/>
                      </a:solidFill>
                      <a:prstDash val="solid"/>
                    </a:lnR>
                    <a:lnT w="6480">
                      <a:solidFill>
                        <a:srgbClr val="d0d5ee"/>
                      </a:solidFill>
                      <a:prstDash val="solid"/>
                    </a:lnT>
                    <a:lnB w="6480">
                      <a:solidFill>
                        <a:srgbClr val="d0d5ee"/>
                      </a:solidFill>
                      <a:prstDash val="solid"/>
                    </a:lnB>
                    <a:solidFill>
                      <a:srgbClr val="1c205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50" spc="-1" strike="noStrike">
                          <a:solidFill>
                            <a:srgbClr val="0f1035"/>
                          </a:solidFill>
                          <a:latin typeface="Calibri"/>
                          <a:ea typeface="Calibri"/>
                        </a:rPr>
                        <a:t>ACI</a:t>
                      </a:r>
                      <a:endParaRPr b="0" lang="en-US" sz="9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0d5ee"/>
                      </a:solidFill>
                      <a:prstDash val="solid"/>
                    </a:lnL>
                    <a:lnR w="6480">
                      <a:solidFill>
                        <a:srgbClr val="d0d5ee"/>
                      </a:solidFill>
                      <a:prstDash val="solid"/>
                    </a:lnR>
                    <a:lnT w="6480">
                      <a:solidFill>
                        <a:srgbClr val="d0d5ee"/>
                      </a:solidFill>
                      <a:prstDash val="solid"/>
                    </a:lnT>
                    <a:lnB w="6480">
                      <a:solidFill>
                        <a:srgbClr val="d0d5ee"/>
                      </a:solidFill>
                      <a:prstDash val="solid"/>
                    </a:lnB>
                    <a:solidFill>
                      <a:srgbClr val="f5a623"/>
                    </a:solidFill>
                  </a:tcPr>
                </a:tc>
              </a:tr>
              <a:tr h="338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00" spc="-1" strike="noStrike">
                          <a:solidFill>
                            <a:srgbClr val="1c2057"/>
                          </a:solidFill>
                          <a:latin typeface="Calibri"/>
                          <a:ea typeface="Calibri"/>
                        </a:rPr>
                        <a:t>Command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0d5ee"/>
                      </a:solidFill>
                      <a:prstDash val="solid"/>
                    </a:lnL>
                    <a:lnR w="6480">
                      <a:solidFill>
                        <a:srgbClr val="d0d5ee"/>
                      </a:solidFill>
                      <a:prstDash val="solid"/>
                    </a:lnR>
                    <a:lnT w="6480">
                      <a:solidFill>
                        <a:srgbClr val="d0d5ee"/>
                      </a:solidFill>
                      <a:prstDash val="solid"/>
                    </a:lnT>
                    <a:lnB w="6480">
                      <a:solidFill>
                        <a:srgbClr val="d0d5ee"/>
                      </a:solidFill>
                      <a:prstDash val="solid"/>
                    </a:lnB>
                    <a:solidFill>
                      <a:srgbClr val="f2f4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850" spc="-1" strike="noStrike">
                          <a:solidFill>
                            <a:srgbClr val="1a1e4f"/>
                          </a:solidFill>
                          <a:latin typeface="Courier New"/>
                          <a:ea typeface="Courier New"/>
                        </a:rPr>
                        <a:t>docker run -d -p 80:80 nginx</a:t>
                      </a:r>
                      <a:endParaRPr b="0" lang="en-US" sz="8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0d5ee"/>
                      </a:solidFill>
                      <a:prstDash val="solid"/>
                    </a:lnL>
                    <a:lnR w="6480">
                      <a:solidFill>
                        <a:srgbClr val="d0d5ee"/>
                      </a:solidFill>
                      <a:prstDash val="solid"/>
                    </a:lnR>
                    <a:lnT w="6480">
                      <a:solidFill>
                        <a:srgbClr val="d0d5ee"/>
                      </a:solidFill>
                      <a:prstDash val="solid"/>
                    </a:lnT>
                    <a:lnB w="6480">
                      <a:solidFill>
                        <a:srgbClr val="d0d5ee"/>
                      </a:solidFill>
                      <a:prstDash val="solid"/>
                    </a:lnB>
                    <a:solidFill>
                      <a:srgbClr val="f2f4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850" spc="-1" strike="noStrike">
                          <a:solidFill>
                            <a:srgbClr val="1a1e4f"/>
                          </a:solidFill>
                          <a:latin typeface="Courier New"/>
                          <a:ea typeface="Courier New"/>
                        </a:rPr>
                        <a:t>az container create ...</a:t>
                      </a:r>
                      <a:endParaRPr b="0" lang="en-US" sz="8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0d5ee"/>
                      </a:solidFill>
                      <a:prstDash val="solid"/>
                    </a:lnL>
                    <a:lnR w="6480">
                      <a:solidFill>
                        <a:srgbClr val="d0d5ee"/>
                      </a:solidFill>
                      <a:prstDash val="solid"/>
                    </a:lnR>
                    <a:lnT w="6480">
                      <a:solidFill>
                        <a:srgbClr val="d0d5ee"/>
                      </a:solidFill>
                      <a:prstDash val="solid"/>
                    </a:lnT>
                    <a:lnB w="6480">
                      <a:solidFill>
                        <a:srgbClr val="d0d5ee"/>
                      </a:solidFill>
                      <a:prstDash val="solid"/>
                    </a:lnB>
                    <a:solidFill>
                      <a:srgbClr val="f2f4ff"/>
                    </a:solidFill>
                  </a:tcPr>
                </a:tc>
              </a:tr>
              <a:tr h="338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00" spc="-1" strike="noStrike">
                          <a:solidFill>
                            <a:srgbClr val="1c2057"/>
                          </a:solidFill>
                          <a:latin typeface="Calibri"/>
                          <a:ea typeface="Calibri"/>
                        </a:rPr>
                        <a:t>Runtime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0d5ee"/>
                      </a:solidFill>
                      <a:prstDash val="solid"/>
                    </a:lnL>
                    <a:lnR w="6480">
                      <a:solidFill>
                        <a:srgbClr val="d0d5ee"/>
                      </a:solidFill>
                      <a:prstDash val="solid"/>
                    </a:lnR>
                    <a:lnT w="6480">
                      <a:solidFill>
                        <a:srgbClr val="d0d5ee"/>
                      </a:solidFill>
                      <a:prstDash val="solid"/>
                    </a:lnT>
                    <a:lnB w="6480">
                      <a:solidFill>
                        <a:srgbClr val="d0d5ee"/>
                      </a:solidFill>
                      <a:prstDash val="solid"/>
                    </a:lnB>
                    <a:solidFill>
                      <a:srgbClr val="e8ec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850" spc="-1" strike="noStrike">
                          <a:solidFill>
                            <a:srgbClr val="1a1e4f"/>
                          </a:solidFill>
                          <a:latin typeface="Courier New"/>
                          <a:ea typeface="Courier New"/>
                        </a:rPr>
                        <a:t>Docker Engine (local host)</a:t>
                      </a:r>
                      <a:endParaRPr b="0" lang="en-US" sz="8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0d5ee"/>
                      </a:solidFill>
                      <a:prstDash val="solid"/>
                    </a:lnL>
                    <a:lnR w="6480">
                      <a:solidFill>
                        <a:srgbClr val="d0d5ee"/>
                      </a:solidFill>
                      <a:prstDash val="solid"/>
                    </a:lnR>
                    <a:lnT w="6480">
                      <a:solidFill>
                        <a:srgbClr val="d0d5ee"/>
                      </a:solidFill>
                      <a:prstDash val="solid"/>
                    </a:lnT>
                    <a:lnB w="6480">
                      <a:solidFill>
                        <a:srgbClr val="d0d5ee"/>
                      </a:solidFill>
                      <a:prstDash val="solid"/>
                    </a:lnB>
                    <a:solidFill>
                      <a:srgbClr val="e8ec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850" spc="-1" strike="noStrike">
                          <a:solidFill>
                            <a:srgbClr val="1a1e4f"/>
                          </a:solidFill>
                          <a:latin typeface="Courier New"/>
                          <a:ea typeface="Courier New"/>
                        </a:rPr>
                        <a:t>Azure Managed Runtime</a:t>
                      </a:r>
                      <a:endParaRPr b="0" lang="en-US" sz="8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0d5ee"/>
                      </a:solidFill>
                      <a:prstDash val="solid"/>
                    </a:lnL>
                    <a:lnR w="6480">
                      <a:solidFill>
                        <a:srgbClr val="d0d5ee"/>
                      </a:solidFill>
                      <a:prstDash val="solid"/>
                    </a:lnR>
                    <a:lnT w="6480">
                      <a:solidFill>
                        <a:srgbClr val="d0d5ee"/>
                      </a:solidFill>
                      <a:prstDash val="solid"/>
                    </a:lnT>
                    <a:lnB w="6480">
                      <a:solidFill>
                        <a:srgbClr val="d0d5ee"/>
                      </a:solidFill>
                      <a:prstDash val="solid"/>
                    </a:lnB>
                    <a:solidFill>
                      <a:srgbClr val="e8ecff"/>
                    </a:solidFill>
                  </a:tcPr>
                </a:tc>
              </a:tr>
              <a:tr h="338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00" spc="-1" strike="noStrike">
                          <a:solidFill>
                            <a:srgbClr val="1c2057"/>
                          </a:solidFill>
                          <a:latin typeface="Calibri"/>
                          <a:ea typeface="Calibri"/>
                        </a:rPr>
                        <a:t>Logs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0d5ee"/>
                      </a:solidFill>
                      <a:prstDash val="solid"/>
                    </a:lnL>
                    <a:lnR w="6480">
                      <a:solidFill>
                        <a:srgbClr val="d0d5ee"/>
                      </a:solidFill>
                      <a:prstDash val="solid"/>
                    </a:lnR>
                    <a:lnT w="6480">
                      <a:solidFill>
                        <a:srgbClr val="d0d5ee"/>
                      </a:solidFill>
                      <a:prstDash val="solid"/>
                    </a:lnT>
                    <a:lnB w="6480">
                      <a:solidFill>
                        <a:srgbClr val="d0d5ee"/>
                      </a:solidFill>
                      <a:prstDash val="solid"/>
                    </a:lnB>
                    <a:solidFill>
                      <a:srgbClr val="f2f4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850" spc="-1" strike="noStrike">
                          <a:solidFill>
                            <a:srgbClr val="1a1e4f"/>
                          </a:solidFill>
                          <a:latin typeface="Courier New"/>
                          <a:ea typeface="Courier New"/>
                        </a:rPr>
                        <a:t>docker logs &lt;ctr&gt;</a:t>
                      </a:r>
                      <a:endParaRPr b="0" lang="en-US" sz="8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0d5ee"/>
                      </a:solidFill>
                      <a:prstDash val="solid"/>
                    </a:lnL>
                    <a:lnR w="6480">
                      <a:solidFill>
                        <a:srgbClr val="d0d5ee"/>
                      </a:solidFill>
                      <a:prstDash val="solid"/>
                    </a:lnR>
                    <a:lnT w="6480">
                      <a:solidFill>
                        <a:srgbClr val="d0d5ee"/>
                      </a:solidFill>
                      <a:prstDash val="solid"/>
                    </a:lnT>
                    <a:lnB w="6480">
                      <a:solidFill>
                        <a:srgbClr val="d0d5ee"/>
                      </a:solidFill>
                      <a:prstDash val="solid"/>
                    </a:lnB>
                    <a:solidFill>
                      <a:srgbClr val="f2f4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850" spc="-1" strike="noStrike">
                          <a:solidFill>
                            <a:srgbClr val="1a1e4f"/>
                          </a:solidFill>
                          <a:latin typeface="Courier New"/>
                          <a:ea typeface="Courier New"/>
                        </a:rPr>
                        <a:t>az container logs</a:t>
                      </a:r>
                      <a:endParaRPr b="0" lang="en-US" sz="8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0d5ee"/>
                      </a:solidFill>
                      <a:prstDash val="solid"/>
                    </a:lnL>
                    <a:lnR w="6480">
                      <a:solidFill>
                        <a:srgbClr val="d0d5ee"/>
                      </a:solidFill>
                      <a:prstDash val="solid"/>
                    </a:lnR>
                    <a:lnT w="6480">
                      <a:solidFill>
                        <a:srgbClr val="d0d5ee"/>
                      </a:solidFill>
                      <a:prstDash val="solid"/>
                    </a:lnT>
                    <a:lnB w="6480">
                      <a:solidFill>
                        <a:srgbClr val="d0d5ee"/>
                      </a:solidFill>
                      <a:prstDash val="solid"/>
                    </a:lnB>
                    <a:solidFill>
                      <a:srgbClr val="f2f4ff"/>
                    </a:solidFill>
                  </a:tcPr>
                </a:tc>
              </a:tr>
              <a:tr h="338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00" spc="-1" strike="noStrike">
                          <a:solidFill>
                            <a:srgbClr val="1c2057"/>
                          </a:solidFill>
                          <a:latin typeface="Calibri"/>
                          <a:ea typeface="Calibri"/>
                        </a:rPr>
                        <a:t>Inspect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0d5ee"/>
                      </a:solidFill>
                      <a:prstDash val="solid"/>
                    </a:lnL>
                    <a:lnR w="6480">
                      <a:solidFill>
                        <a:srgbClr val="d0d5ee"/>
                      </a:solidFill>
                      <a:prstDash val="solid"/>
                    </a:lnR>
                    <a:lnT w="6480">
                      <a:solidFill>
                        <a:srgbClr val="d0d5ee"/>
                      </a:solidFill>
                      <a:prstDash val="solid"/>
                    </a:lnT>
                    <a:lnB w="6480">
                      <a:solidFill>
                        <a:srgbClr val="d0d5ee"/>
                      </a:solidFill>
                      <a:prstDash val="solid"/>
                    </a:lnB>
                    <a:solidFill>
                      <a:srgbClr val="e8ec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850" spc="-1" strike="noStrike">
                          <a:solidFill>
                            <a:srgbClr val="1a1e4f"/>
                          </a:solidFill>
                          <a:latin typeface="Courier New"/>
                          <a:ea typeface="Courier New"/>
                        </a:rPr>
                        <a:t>docker inspect &lt;ctr&gt;</a:t>
                      </a:r>
                      <a:endParaRPr b="0" lang="en-US" sz="8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0d5ee"/>
                      </a:solidFill>
                      <a:prstDash val="solid"/>
                    </a:lnL>
                    <a:lnR w="6480">
                      <a:solidFill>
                        <a:srgbClr val="d0d5ee"/>
                      </a:solidFill>
                      <a:prstDash val="solid"/>
                    </a:lnR>
                    <a:lnT w="6480">
                      <a:solidFill>
                        <a:srgbClr val="d0d5ee"/>
                      </a:solidFill>
                      <a:prstDash val="solid"/>
                    </a:lnT>
                    <a:lnB w="6480">
                      <a:solidFill>
                        <a:srgbClr val="d0d5ee"/>
                      </a:solidFill>
                      <a:prstDash val="solid"/>
                    </a:lnB>
                    <a:solidFill>
                      <a:srgbClr val="e8ec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850" spc="-1" strike="noStrike">
                          <a:solidFill>
                            <a:srgbClr val="1a1e4f"/>
                          </a:solidFill>
                          <a:latin typeface="Courier New"/>
                          <a:ea typeface="Courier New"/>
                        </a:rPr>
                        <a:t>az container show</a:t>
                      </a:r>
                      <a:endParaRPr b="0" lang="en-US" sz="8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0d5ee"/>
                      </a:solidFill>
                      <a:prstDash val="solid"/>
                    </a:lnL>
                    <a:lnR w="6480">
                      <a:solidFill>
                        <a:srgbClr val="d0d5ee"/>
                      </a:solidFill>
                      <a:prstDash val="solid"/>
                    </a:lnR>
                    <a:lnT w="6480">
                      <a:solidFill>
                        <a:srgbClr val="d0d5ee"/>
                      </a:solidFill>
                      <a:prstDash val="solid"/>
                    </a:lnT>
                    <a:lnB w="6480">
                      <a:solidFill>
                        <a:srgbClr val="d0d5ee"/>
                      </a:solidFill>
                      <a:prstDash val="solid"/>
                    </a:lnB>
                    <a:solidFill>
                      <a:srgbClr val="e8ecff"/>
                    </a:solidFill>
                  </a:tcPr>
                </a:tc>
              </a:tr>
              <a:tr h="338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00" spc="-1" strike="noStrike">
                          <a:solidFill>
                            <a:srgbClr val="1c2057"/>
                          </a:solidFill>
                          <a:latin typeface="Calibri"/>
                          <a:ea typeface="Calibri"/>
                        </a:rPr>
                        <a:t>Storage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0d5ee"/>
                      </a:solidFill>
                      <a:prstDash val="solid"/>
                    </a:lnL>
                    <a:lnR w="6480">
                      <a:solidFill>
                        <a:srgbClr val="d0d5ee"/>
                      </a:solidFill>
                      <a:prstDash val="solid"/>
                    </a:lnR>
                    <a:lnT w="6480">
                      <a:solidFill>
                        <a:srgbClr val="d0d5ee"/>
                      </a:solidFill>
                      <a:prstDash val="solid"/>
                    </a:lnT>
                    <a:lnB w="6480">
                      <a:solidFill>
                        <a:srgbClr val="d0d5ee"/>
                      </a:solidFill>
                      <a:prstDash val="solid"/>
                    </a:lnB>
                    <a:solidFill>
                      <a:srgbClr val="f2f4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850" spc="-1" strike="noStrike">
                          <a:solidFill>
                            <a:srgbClr val="1a1e4f"/>
                          </a:solidFill>
                          <a:latin typeface="Courier New"/>
                          <a:ea typeface="Courier New"/>
                        </a:rPr>
                        <a:t>docker volume / bind mount</a:t>
                      </a:r>
                      <a:endParaRPr b="0" lang="en-US" sz="8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0d5ee"/>
                      </a:solidFill>
                      <a:prstDash val="solid"/>
                    </a:lnL>
                    <a:lnR w="6480">
                      <a:solidFill>
                        <a:srgbClr val="d0d5ee"/>
                      </a:solidFill>
                      <a:prstDash val="solid"/>
                    </a:lnR>
                    <a:lnT w="6480">
                      <a:solidFill>
                        <a:srgbClr val="d0d5ee"/>
                      </a:solidFill>
                      <a:prstDash val="solid"/>
                    </a:lnT>
                    <a:lnB w="6480">
                      <a:solidFill>
                        <a:srgbClr val="d0d5ee"/>
                      </a:solidFill>
                      <a:prstDash val="solid"/>
                    </a:lnB>
                    <a:solidFill>
                      <a:srgbClr val="f2f4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850" spc="-1" strike="noStrike">
                          <a:solidFill>
                            <a:srgbClr val="1a1e4f"/>
                          </a:solidFill>
                          <a:latin typeface="Courier New"/>
                          <a:ea typeface="Courier New"/>
                        </a:rPr>
                        <a:t>Azure Files Mount</a:t>
                      </a:r>
                      <a:endParaRPr b="0" lang="en-US" sz="8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0d5ee"/>
                      </a:solidFill>
                      <a:prstDash val="solid"/>
                    </a:lnL>
                    <a:lnR w="6480">
                      <a:solidFill>
                        <a:srgbClr val="d0d5ee"/>
                      </a:solidFill>
                      <a:prstDash val="solid"/>
                    </a:lnR>
                    <a:lnT w="6480">
                      <a:solidFill>
                        <a:srgbClr val="d0d5ee"/>
                      </a:solidFill>
                      <a:prstDash val="solid"/>
                    </a:lnT>
                    <a:lnB w="6480">
                      <a:solidFill>
                        <a:srgbClr val="d0d5ee"/>
                      </a:solidFill>
                      <a:prstDash val="solid"/>
                    </a:lnB>
                    <a:solidFill>
                      <a:srgbClr val="f2f4ff"/>
                    </a:solidFill>
                  </a:tcPr>
                </a:tc>
              </a:tr>
              <a:tr h="338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00" spc="-1" strike="noStrike">
                          <a:solidFill>
                            <a:srgbClr val="1c2057"/>
                          </a:solidFill>
                          <a:latin typeface="Calibri"/>
                          <a:ea typeface="Calibri"/>
                        </a:rPr>
                        <a:t>Config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0d5ee"/>
                      </a:solidFill>
                      <a:prstDash val="solid"/>
                    </a:lnL>
                    <a:lnR w="6480">
                      <a:solidFill>
                        <a:srgbClr val="d0d5ee"/>
                      </a:solidFill>
                      <a:prstDash val="solid"/>
                    </a:lnR>
                    <a:lnT w="6480">
                      <a:solidFill>
                        <a:srgbClr val="d0d5ee"/>
                      </a:solidFill>
                      <a:prstDash val="solid"/>
                    </a:lnT>
                    <a:lnB w="6480">
                      <a:solidFill>
                        <a:srgbClr val="d0d5ee"/>
                      </a:solidFill>
                      <a:prstDash val="solid"/>
                    </a:lnB>
                    <a:solidFill>
                      <a:srgbClr val="e8ec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850" spc="-1" strike="noStrike">
                          <a:solidFill>
                            <a:srgbClr val="1a1e4f"/>
                          </a:solidFill>
                          <a:latin typeface="Courier New"/>
                          <a:ea typeface="Courier New"/>
                        </a:rPr>
                        <a:t>-e ENV_VAR=value</a:t>
                      </a:r>
                      <a:endParaRPr b="0" lang="en-US" sz="8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0d5ee"/>
                      </a:solidFill>
                      <a:prstDash val="solid"/>
                    </a:lnL>
                    <a:lnR w="6480">
                      <a:solidFill>
                        <a:srgbClr val="d0d5ee"/>
                      </a:solidFill>
                      <a:prstDash val="solid"/>
                    </a:lnR>
                    <a:lnT w="6480">
                      <a:solidFill>
                        <a:srgbClr val="d0d5ee"/>
                      </a:solidFill>
                      <a:prstDash val="solid"/>
                    </a:lnT>
                    <a:lnB w="6480">
                      <a:solidFill>
                        <a:srgbClr val="d0d5ee"/>
                      </a:solidFill>
                      <a:prstDash val="solid"/>
                    </a:lnB>
                    <a:solidFill>
                      <a:srgbClr val="e8ec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850" spc="-1" strike="noStrike">
                          <a:solidFill>
                            <a:srgbClr val="1a1e4f"/>
                          </a:solidFill>
                          <a:latin typeface="Courier New"/>
                          <a:ea typeface="Courier New"/>
                        </a:rPr>
                        <a:t>--environment-variables</a:t>
                      </a:r>
                      <a:endParaRPr b="0" lang="en-US" sz="8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0d5ee"/>
                      </a:solidFill>
                      <a:prstDash val="solid"/>
                    </a:lnL>
                    <a:lnR w="6480">
                      <a:solidFill>
                        <a:srgbClr val="d0d5ee"/>
                      </a:solidFill>
                      <a:prstDash val="solid"/>
                    </a:lnR>
                    <a:lnT w="6480">
                      <a:solidFill>
                        <a:srgbClr val="d0d5ee"/>
                      </a:solidFill>
                      <a:prstDash val="solid"/>
                    </a:lnT>
                    <a:lnB w="6480">
                      <a:solidFill>
                        <a:srgbClr val="d0d5ee"/>
                      </a:solidFill>
                      <a:prstDash val="solid"/>
                    </a:lnB>
                    <a:solidFill>
                      <a:srgbClr val="e8ecff"/>
                    </a:solidFill>
                  </a:tcPr>
                </a:tc>
              </a:tr>
            </a:tbl>
          </a:graphicData>
        </a:graphic>
      </p:graphicFrame>
      <p:sp>
        <p:nvSpPr>
          <p:cNvPr id="223" name="Shape 4"/>
          <p:cNvSpPr/>
          <p:nvPr/>
        </p:nvSpPr>
        <p:spPr>
          <a:xfrm>
            <a:off x="4681800" y="1078920"/>
            <a:ext cx="4222800" cy="1150200"/>
          </a:xfrm>
          <a:prstGeom prst="roundRect">
            <a:avLst>
              <a:gd name="adj" fmla="val 7937"/>
            </a:avLst>
          </a:prstGeom>
          <a:solidFill>
            <a:srgbClr val="0f1035"/>
          </a:solidFill>
          <a:ln w="0">
            <a:noFill/>
          </a:ln>
          <a:effectLst>
            <a:outerShdw algn="bl" blurRad="50760" dir="2700000" dist="25455" kx="0" ky="0" rotWithShape="0" sx="100000" sy="10000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24" name="Image 0" descr="preencoded.png"/>
          <p:cNvPicPr/>
          <p:nvPr/>
        </p:nvPicPr>
        <p:blipFill>
          <a:blip r:embed="rId1"/>
          <a:stretch/>
        </p:blipFill>
        <p:spPr>
          <a:xfrm>
            <a:off x="4846320" y="1207080"/>
            <a:ext cx="327240" cy="327240"/>
          </a:xfrm>
          <a:prstGeom prst="rect">
            <a:avLst/>
          </a:prstGeom>
          <a:ln w="0">
            <a:noFill/>
          </a:ln>
        </p:spPr>
      </p:pic>
      <p:sp>
        <p:nvSpPr>
          <p:cNvPr id="225" name="Text 5"/>
          <p:cNvSpPr/>
          <p:nvPr/>
        </p:nvSpPr>
        <p:spPr>
          <a:xfrm>
            <a:off x="5266800" y="1188720"/>
            <a:ext cx="347292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Ephemeral vs Persistent Storage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Text 6"/>
          <p:cNvSpPr/>
          <p:nvPr/>
        </p:nvSpPr>
        <p:spPr>
          <a:xfrm>
            <a:off x="5266800" y="1463040"/>
            <a:ext cx="3472920" cy="65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892b8"/>
                </a:solidFill>
                <a:latin typeface="Calibri"/>
                <a:ea typeface="Calibri"/>
              </a:rPr>
              <a:t>Container data vanishes on deletion. Azure Files volumes survive — critical production pattern that maps directly to Kubernetes PVCs.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Shape 7"/>
          <p:cNvSpPr/>
          <p:nvPr/>
        </p:nvSpPr>
        <p:spPr>
          <a:xfrm>
            <a:off x="4681800" y="2340720"/>
            <a:ext cx="4222800" cy="1150200"/>
          </a:xfrm>
          <a:prstGeom prst="roundRect">
            <a:avLst>
              <a:gd name="adj" fmla="val 7937"/>
            </a:avLst>
          </a:prstGeom>
          <a:solidFill>
            <a:srgbClr val="0f1035"/>
          </a:solidFill>
          <a:ln w="0">
            <a:noFill/>
          </a:ln>
          <a:effectLst>
            <a:outerShdw algn="bl" blurRad="50760" dir="2700000" dist="25455" kx="0" ky="0" rotWithShape="0" sx="100000" sy="10000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28" name="Image 1" descr="preencoded.png"/>
          <p:cNvPicPr/>
          <p:nvPr/>
        </p:nvPicPr>
        <p:blipFill>
          <a:blip r:embed="rId2"/>
          <a:stretch/>
        </p:blipFill>
        <p:spPr>
          <a:xfrm>
            <a:off x="4846320" y="2468880"/>
            <a:ext cx="327240" cy="327240"/>
          </a:xfrm>
          <a:prstGeom prst="rect">
            <a:avLst/>
          </a:prstGeom>
          <a:ln w="0">
            <a:noFill/>
          </a:ln>
        </p:spPr>
      </p:pic>
      <p:sp>
        <p:nvSpPr>
          <p:cNvPr id="229" name="Text 8"/>
          <p:cNvSpPr/>
          <p:nvPr/>
        </p:nvSpPr>
        <p:spPr>
          <a:xfrm>
            <a:off x="5266800" y="2450520"/>
            <a:ext cx="347292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Managed Identity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Text 9"/>
          <p:cNvSpPr/>
          <p:nvPr/>
        </p:nvSpPr>
        <p:spPr>
          <a:xfrm>
            <a:off x="5266800" y="2724840"/>
            <a:ext cx="3472920" cy="65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892b8"/>
                </a:solidFill>
                <a:latin typeface="Calibri"/>
                <a:ea typeface="Calibri"/>
              </a:rPr>
              <a:t>ACI authenticates to ACR without storing passwords. Azure handles credentials transparently — the production-preferred approach.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Shape 10"/>
          <p:cNvSpPr/>
          <p:nvPr/>
        </p:nvSpPr>
        <p:spPr>
          <a:xfrm>
            <a:off x="4681800" y="3602880"/>
            <a:ext cx="4222800" cy="1150200"/>
          </a:xfrm>
          <a:prstGeom prst="roundRect">
            <a:avLst>
              <a:gd name="adj" fmla="val 7937"/>
            </a:avLst>
          </a:prstGeom>
          <a:solidFill>
            <a:srgbClr val="0f1035"/>
          </a:solidFill>
          <a:ln w="0">
            <a:noFill/>
          </a:ln>
          <a:effectLst>
            <a:outerShdw algn="bl" blurRad="50760" dir="2700000" dist="25455" kx="0" ky="0" rotWithShape="0" sx="100000" sy="10000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32" name="Image 2" descr="preencoded.png"/>
          <p:cNvPicPr/>
          <p:nvPr/>
        </p:nvPicPr>
        <p:blipFill>
          <a:blip r:embed="rId3"/>
          <a:stretch/>
        </p:blipFill>
        <p:spPr>
          <a:xfrm>
            <a:off x="4846320" y="3730680"/>
            <a:ext cx="327240" cy="327240"/>
          </a:xfrm>
          <a:prstGeom prst="rect">
            <a:avLst/>
          </a:prstGeom>
          <a:ln w="0">
            <a:noFill/>
          </a:ln>
        </p:spPr>
      </p:pic>
      <p:sp>
        <p:nvSpPr>
          <p:cNvPr id="233" name="Text 11"/>
          <p:cNvSpPr/>
          <p:nvPr/>
        </p:nvSpPr>
        <p:spPr>
          <a:xfrm>
            <a:off x="5266800" y="3712320"/>
            <a:ext cx="347292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Idempotent Bash Scripts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Text 12"/>
          <p:cNvSpPr/>
          <p:nvPr/>
        </p:nvSpPr>
        <p:spPr>
          <a:xfrm>
            <a:off x="5266800" y="3986640"/>
            <a:ext cx="3472920" cy="65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892b8"/>
                </a:solidFill>
                <a:latin typeface="Calibri"/>
                <a:ea typeface="Calibri"/>
              </a:rPr>
              <a:t>All 4 scripts can be re-run safely. The Infrastructure-as-Code mindset means deployments are repeatable, predictable, and reviewable.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Text 13"/>
          <p:cNvSpPr/>
          <p:nvPr/>
        </p:nvSpPr>
        <p:spPr>
          <a:xfrm>
            <a:off x="237600" y="3885840"/>
            <a:ext cx="4570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64748b"/>
                </a:solidFill>
                <a:latin typeface="Calibri"/>
                <a:ea typeface="Calibri"/>
              </a:rPr>
              <a:t>Production Concepts Shipped This Week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Shape 14"/>
          <p:cNvSpPr/>
          <p:nvPr/>
        </p:nvSpPr>
        <p:spPr>
          <a:xfrm>
            <a:off x="237600" y="4187880"/>
            <a:ext cx="1242360" cy="309240"/>
          </a:xfrm>
          <a:prstGeom prst="roundRect">
            <a:avLst>
              <a:gd name="adj" fmla="val 17647"/>
            </a:avLst>
          </a:prstGeom>
          <a:solidFill>
            <a:srgbClr val="252a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Text 15"/>
          <p:cNvSpPr/>
          <p:nvPr/>
        </p:nvSpPr>
        <p:spPr>
          <a:xfrm>
            <a:off x="237600" y="4187880"/>
            <a:ext cx="1242360" cy="30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ffffff"/>
                </a:solidFill>
                <a:latin typeface="Calibri"/>
                <a:ea typeface="Calibri"/>
              </a:rPr>
              <a:t>Container Lifecycle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Shape 16"/>
          <p:cNvSpPr/>
          <p:nvPr/>
        </p:nvSpPr>
        <p:spPr>
          <a:xfrm>
            <a:off x="1670400" y="4187880"/>
            <a:ext cx="1141560" cy="309240"/>
          </a:xfrm>
          <a:prstGeom prst="roundRect">
            <a:avLst>
              <a:gd name="adj" fmla="val 17647"/>
            </a:avLst>
          </a:prstGeom>
          <a:solidFill>
            <a:srgbClr val="252a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" name="Text 17"/>
          <p:cNvSpPr/>
          <p:nvPr/>
        </p:nvSpPr>
        <p:spPr>
          <a:xfrm>
            <a:off x="1670400" y="4187880"/>
            <a:ext cx="1141560" cy="30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ffffff"/>
                </a:solidFill>
                <a:latin typeface="Calibri"/>
                <a:ea typeface="Calibri"/>
              </a:rPr>
              <a:t>Image Registries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Shape 18"/>
          <p:cNvSpPr/>
          <p:nvPr/>
        </p:nvSpPr>
        <p:spPr>
          <a:xfrm>
            <a:off x="2971800" y="4187880"/>
            <a:ext cx="1370160" cy="309240"/>
          </a:xfrm>
          <a:prstGeom prst="roundRect">
            <a:avLst>
              <a:gd name="adj" fmla="val 17647"/>
            </a:avLst>
          </a:prstGeom>
          <a:solidFill>
            <a:srgbClr val="252a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" name="Text 19"/>
          <p:cNvSpPr/>
          <p:nvPr/>
        </p:nvSpPr>
        <p:spPr>
          <a:xfrm>
            <a:off x="2971800" y="4187880"/>
            <a:ext cx="1378800" cy="30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ffffff"/>
                </a:solidFill>
                <a:latin typeface="Calibri"/>
                <a:ea typeface="Calibri"/>
              </a:rPr>
              <a:t>Persistent Storage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Shape 20"/>
          <p:cNvSpPr/>
          <p:nvPr/>
        </p:nvSpPr>
        <p:spPr>
          <a:xfrm>
            <a:off x="228600" y="4572000"/>
            <a:ext cx="1251360" cy="309240"/>
          </a:xfrm>
          <a:prstGeom prst="roundRect">
            <a:avLst>
              <a:gd name="adj" fmla="val 17647"/>
            </a:avLst>
          </a:prstGeom>
          <a:solidFill>
            <a:srgbClr val="252a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" name="Text 21"/>
          <p:cNvSpPr/>
          <p:nvPr/>
        </p:nvSpPr>
        <p:spPr>
          <a:xfrm>
            <a:off x="228600" y="4572000"/>
            <a:ext cx="1251360" cy="30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ffffff"/>
                </a:solidFill>
                <a:latin typeface="Calibri"/>
                <a:ea typeface="Calibri"/>
              </a:rPr>
              <a:t>Infra Automation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Shape 22"/>
          <p:cNvSpPr/>
          <p:nvPr/>
        </p:nvSpPr>
        <p:spPr>
          <a:xfrm>
            <a:off x="2971800" y="4572000"/>
            <a:ext cx="1370160" cy="309240"/>
          </a:xfrm>
          <a:prstGeom prst="roundRect">
            <a:avLst>
              <a:gd name="adj" fmla="val 17647"/>
            </a:avLst>
          </a:prstGeom>
          <a:solidFill>
            <a:srgbClr val="252a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" name="Text 23"/>
          <p:cNvSpPr/>
          <p:nvPr/>
        </p:nvSpPr>
        <p:spPr>
          <a:xfrm>
            <a:off x="1481400" y="4572000"/>
            <a:ext cx="1150200" cy="30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ffffff"/>
                </a:solidFill>
                <a:latin typeface="Calibri"/>
                <a:ea typeface="Calibri"/>
              </a:rPr>
              <a:t>Cloud Deployments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Shape 24"/>
          <p:cNvSpPr/>
          <p:nvPr/>
        </p:nvSpPr>
        <p:spPr>
          <a:xfrm>
            <a:off x="1670400" y="4572000"/>
            <a:ext cx="1141560" cy="309240"/>
          </a:xfrm>
          <a:prstGeom prst="roundRect">
            <a:avLst>
              <a:gd name="adj" fmla="val 17647"/>
            </a:avLst>
          </a:prstGeom>
          <a:solidFill>
            <a:srgbClr val="252a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" name="Text 25"/>
          <p:cNvSpPr/>
          <p:nvPr/>
        </p:nvSpPr>
        <p:spPr>
          <a:xfrm>
            <a:off x="2971800" y="4572000"/>
            <a:ext cx="1370160" cy="30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ffffff"/>
                </a:solidFill>
                <a:latin typeface="Calibri"/>
                <a:ea typeface="Calibri"/>
              </a:rPr>
              <a:t>Resource Reuse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Text 27"/>
          <p:cNvSpPr/>
          <p:nvPr/>
        </p:nvSpPr>
        <p:spPr>
          <a:xfrm>
            <a:off x="1670400" y="4572000"/>
            <a:ext cx="1141560" cy="30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ffffff"/>
                </a:solidFill>
                <a:latin typeface="Calibri"/>
                <a:ea typeface="Calibri"/>
              </a:rPr>
              <a:t>Idempotent Scripts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0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Shape 0"/>
          <p:cNvSpPr/>
          <p:nvPr/>
        </p:nvSpPr>
        <p:spPr>
          <a:xfrm>
            <a:off x="0" y="0"/>
            <a:ext cx="52920" cy="51418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Text 1"/>
          <p:cNvSpPr/>
          <p:nvPr/>
        </p:nvSpPr>
        <p:spPr>
          <a:xfrm>
            <a:off x="274320" y="228600"/>
            <a:ext cx="859356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335" strike="noStrike">
                <a:solidFill>
                  <a:srgbClr val="f5a623"/>
                </a:solidFill>
                <a:latin typeface="Calibri"/>
                <a:ea typeface="Calibri"/>
              </a:rPr>
              <a:t>WEEK 1  ·  CONCLUSION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" name="Text 2"/>
          <p:cNvSpPr/>
          <p:nvPr/>
        </p:nvSpPr>
        <p:spPr>
          <a:xfrm>
            <a:off x="274320" y="567000"/>
            <a:ext cx="8410680" cy="69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200" spc="-1" strike="noStrike">
                <a:solidFill>
                  <a:srgbClr val="ffffff"/>
                </a:solidFill>
                <a:latin typeface="Cambria"/>
                <a:ea typeface="Cambria"/>
              </a:rPr>
              <a:t>Week 1 Completed.</a:t>
            </a:r>
            <a:endParaRPr b="0" lang="en-US" sz="4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Text 3"/>
          <p:cNvSpPr/>
          <p:nvPr/>
        </p:nvSpPr>
        <p:spPr>
          <a:xfrm>
            <a:off x="274320" y="1280160"/>
            <a:ext cx="8410680" cy="5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ffd580"/>
                </a:solidFill>
                <a:latin typeface="Cambria"/>
                <a:ea typeface="Cambria"/>
              </a:rPr>
              <a:t>"You did not just move a container to the cloud. You learned where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ffd580"/>
                </a:solidFill>
                <a:latin typeface="Cambria"/>
                <a:ea typeface="Cambria"/>
              </a:rPr>
              <a:t>your responsibility ends and the cloud's begins."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" name="Shape 4"/>
          <p:cNvSpPr/>
          <p:nvPr/>
        </p:nvSpPr>
        <p:spPr>
          <a:xfrm>
            <a:off x="293040" y="1974960"/>
            <a:ext cx="1534320" cy="1790280"/>
          </a:xfrm>
          <a:prstGeom prst="roundRect">
            <a:avLst>
              <a:gd name="adj" fmla="val 7143"/>
            </a:avLst>
          </a:prstGeom>
          <a:solidFill>
            <a:srgbClr val="252a6b"/>
          </a:solidFill>
          <a:ln w="0">
            <a:noFill/>
          </a:ln>
          <a:effectLst>
            <a:outerShdw algn="bl" blurRad="101520" dir="2700000" dist="37674" kx="0" ky="0" rotWithShape="0" sx="100000" sy="10000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" name="Text 5"/>
          <p:cNvSpPr/>
          <p:nvPr/>
        </p:nvSpPr>
        <p:spPr>
          <a:xfrm>
            <a:off x="293040" y="2066400"/>
            <a:ext cx="1534320" cy="60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f5a623"/>
                </a:solidFill>
                <a:latin typeface="Cambria"/>
                <a:ea typeface="Cambria"/>
              </a:rPr>
              <a:t>C</a:t>
            </a:r>
            <a:endParaRPr b="0" lang="en-US" sz="3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" name="Text 6"/>
          <p:cNvSpPr/>
          <p:nvPr/>
        </p:nvSpPr>
        <p:spPr>
          <a:xfrm>
            <a:off x="293040" y="2716200"/>
            <a:ext cx="153432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Cloud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" name="Shape 7"/>
          <p:cNvSpPr/>
          <p:nvPr/>
        </p:nvSpPr>
        <p:spPr>
          <a:xfrm>
            <a:off x="503280" y="2999160"/>
            <a:ext cx="1095480" cy="14760"/>
          </a:xfrm>
          <a:prstGeom prst="rect">
            <a:avLst/>
          </a:prstGeom>
          <a:solidFill>
            <a:srgbClr val="3a3f7a"/>
          </a:solidFill>
          <a:ln w="12700">
            <a:solidFill>
              <a:srgbClr val="3a3f7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8440" bIns="-2844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" name="Text 8"/>
          <p:cNvSpPr/>
          <p:nvPr/>
        </p:nvSpPr>
        <p:spPr>
          <a:xfrm>
            <a:off x="293040" y="3026160"/>
            <a:ext cx="1534320" cy="63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892b8"/>
                </a:solidFill>
                <a:latin typeface="Calibri"/>
                <a:ea typeface="Calibri"/>
              </a:rPr>
              <a:t>Resource Groups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892b8"/>
                </a:solidFill>
                <a:latin typeface="Calibri"/>
                <a:ea typeface="Calibri"/>
              </a:rPr>
              <a:t>Subscriptions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892b8"/>
                </a:solidFill>
                <a:latin typeface="Calibri"/>
                <a:ea typeface="Calibri"/>
              </a:rPr>
              <a:t>Azure CLI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" name="Shape 9"/>
          <p:cNvSpPr/>
          <p:nvPr/>
        </p:nvSpPr>
        <p:spPr>
          <a:xfrm>
            <a:off x="2057400" y="1974960"/>
            <a:ext cx="1534320" cy="1790280"/>
          </a:xfrm>
          <a:prstGeom prst="roundRect">
            <a:avLst>
              <a:gd name="adj" fmla="val 7143"/>
            </a:avLst>
          </a:prstGeom>
          <a:solidFill>
            <a:srgbClr val="252a6b"/>
          </a:solidFill>
          <a:ln w="0">
            <a:noFill/>
          </a:ln>
          <a:effectLst>
            <a:outerShdw algn="bl" blurRad="101520" dir="2700000" dist="37674" kx="0" ky="0" rotWithShape="0" sx="100000" sy="10000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" name="Text 10"/>
          <p:cNvSpPr/>
          <p:nvPr/>
        </p:nvSpPr>
        <p:spPr>
          <a:xfrm>
            <a:off x="2057400" y="2066400"/>
            <a:ext cx="1534320" cy="60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f5a623"/>
                </a:solidFill>
                <a:latin typeface="Cambria"/>
                <a:ea typeface="Cambria"/>
              </a:rPr>
              <a:t>N</a:t>
            </a:r>
            <a:endParaRPr b="0" lang="en-US" sz="3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" name="Text 11"/>
          <p:cNvSpPr/>
          <p:nvPr/>
        </p:nvSpPr>
        <p:spPr>
          <a:xfrm>
            <a:off x="2057400" y="2724840"/>
            <a:ext cx="153432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Networking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" name="Shape 12"/>
          <p:cNvSpPr/>
          <p:nvPr/>
        </p:nvSpPr>
        <p:spPr>
          <a:xfrm>
            <a:off x="2247840" y="2999160"/>
            <a:ext cx="1095480" cy="14760"/>
          </a:xfrm>
          <a:prstGeom prst="rect">
            <a:avLst/>
          </a:prstGeom>
          <a:solidFill>
            <a:srgbClr val="3a3f7a"/>
          </a:solidFill>
          <a:ln w="12700">
            <a:solidFill>
              <a:srgbClr val="3a3f7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8440" bIns="-2844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2" name="Text 13"/>
          <p:cNvSpPr/>
          <p:nvPr/>
        </p:nvSpPr>
        <p:spPr>
          <a:xfrm>
            <a:off x="2057400" y="3035880"/>
            <a:ext cx="1534320" cy="65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892b8"/>
                </a:solidFill>
                <a:latin typeface="Calibri"/>
                <a:ea typeface="Calibri"/>
              </a:rPr>
              <a:t>VNet · NSG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892b8"/>
                </a:solidFill>
                <a:latin typeface="Calibri"/>
                <a:ea typeface="Calibri"/>
              </a:rPr>
              <a:t>Subnets · Public IP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892b8"/>
                </a:solidFill>
                <a:latin typeface="Calibri"/>
                <a:ea typeface="Calibri"/>
              </a:rPr>
              <a:t>SSH hardening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" name="Shape 14"/>
          <p:cNvSpPr/>
          <p:nvPr/>
        </p:nvSpPr>
        <p:spPr>
          <a:xfrm>
            <a:off x="3821760" y="1974960"/>
            <a:ext cx="1534320" cy="1790280"/>
          </a:xfrm>
          <a:prstGeom prst="roundRect">
            <a:avLst>
              <a:gd name="adj" fmla="val 7143"/>
            </a:avLst>
          </a:prstGeom>
          <a:solidFill>
            <a:srgbClr val="252a6b"/>
          </a:solidFill>
          <a:ln w="0">
            <a:noFill/>
          </a:ln>
          <a:effectLst>
            <a:outerShdw algn="bl" blurRad="101520" dir="2700000" dist="37674" kx="0" ky="0" rotWithShape="0" sx="100000" sy="10000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4" name="Text 15"/>
          <p:cNvSpPr/>
          <p:nvPr/>
        </p:nvSpPr>
        <p:spPr>
          <a:xfrm>
            <a:off x="3840480" y="2066400"/>
            <a:ext cx="1515600" cy="60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f5a623"/>
                </a:solidFill>
                <a:latin typeface="Cambria"/>
                <a:ea typeface="Cambria"/>
              </a:rPr>
              <a:t>S</a:t>
            </a:r>
            <a:endParaRPr b="0" lang="en-US" sz="3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5" name="Text 16"/>
          <p:cNvSpPr/>
          <p:nvPr/>
        </p:nvSpPr>
        <p:spPr>
          <a:xfrm>
            <a:off x="3840480" y="2724840"/>
            <a:ext cx="151560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Storage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Shape 17"/>
          <p:cNvSpPr/>
          <p:nvPr/>
        </p:nvSpPr>
        <p:spPr>
          <a:xfrm>
            <a:off x="4060080" y="2999160"/>
            <a:ext cx="1095480" cy="14760"/>
          </a:xfrm>
          <a:prstGeom prst="rect">
            <a:avLst/>
          </a:prstGeom>
          <a:solidFill>
            <a:srgbClr val="3a3f7a"/>
          </a:solidFill>
          <a:ln w="12700">
            <a:solidFill>
              <a:srgbClr val="3a3f7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8440" bIns="-2844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7" name="Text 18"/>
          <p:cNvSpPr/>
          <p:nvPr/>
        </p:nvSpPr>
        <p:spPr>
          <a:xfrm>
            <a:off x="3821760" y="3035880"/>
            <a:ext cx="1534320" cy="65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892b8"/>
                </a:solidFill>
                <a:latin typeface="Calibri"/>
                <a:ea typeface="Calibri"/>
              </a:rPr>
              <a:t>Blob · SAS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892b8"/>
                </a:solidFill>
                <a:latin typeface="Calibri"/>
                <a:ea typeface="Calibri"/>
              </a:rPr>
              <a:t>Azure Files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892b8"/>
                </a:solidFill>
                <a:latin typeface="Calibri"/>
                <a:ea typeface="Calibri"/>
              </a:rPr>
              <a:t>Storage Tiers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8" name="Shape 19"/>
          <p:cNvSpPr/>
          <p:nvPr/>
        </p:nvSpPr>
        <p:spPr>
          <a:xfrm>
            <a:off x="5550840" y="1974960"/>
            <a:ext cx="1534320" cy="1790280"/>
          </a:xfrm>
          <a:prstGeom prst="roundRect">
            <a:avLst>
              <a:gd name="adj" fmla="val 7143"/>
            </a:avLst>
          </a:prstGeom>
          <a:solidFill>
            <a:srgbClr val="252a6b"/>
          </a:solidFill>
          <a:ln w="0">
            <a:noFill/>
          </a:ln>
          <a:effectLst>
            <a:outerShdw algn="bl" blurRad="101520" dir="2700000" dist="37674" kx="0" ky="0" rotWithShape="0" sx="100000" sy="10000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9" name="Text 20"/>
          <p:cNvSpPr/>
          <p:nvPr/>
        </p:nvSpPr>
        <p:spPr>
          <a:xfrm>
            <a:off x="5550840" y="2066400"/>
            <a:ext cx="1534320" cy="60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f5a623"/>
                </a:solidFill>
                <a:latin typeface="Cambria"/>
                <a:ea typeface="Cambria"/>
              </a:rPr>
              <a:t>R</a:t>
            </a:r>
            <a:endParaRPr b="0" lang="en-US" sz="3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Text 21"/>
          <p:cNvSpPr/>
          <p:nvPr/>
        </p:nvSpPr>
        <p:spPr>
          <a:xfrm>
            <a:off x="5550840" y="2724840"/>
            <a:ext cx="153432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Registry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1" name="Shape 22"/>
          <p:cNvSpPr/>
          <p:nvPr/>
        </p:nvSpPr>
        <p:spPr>
          <a:xfrm>
            <a:off x="5724000" y="2999160"/>
            <a:ext cx="1095480" cy="14760"/>
          </a:xfrm>
          <a:prstGeom prst="rect">
            <a:avLst/>
          </a:prstGeom>
          <a:solidFill>
            <a:srgbClr val="3a3f7a"/>
          </a:solidFill>
          <a:ln w="12700">
            <a:solidFill>
              <a:srgbClr val="3a3f7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8440" bIns="-2844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Text 23"/>
          <p:cNvSpPr/>
          <p:nvPr/>
        </p:nvSpPr>
        <p:spPr>
          <a:xfrm>
            <a:off x="5577840" y="3035880"/>
            <a:ext cx="1507320" cy="65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892b8"/>
                </a:solidFill>
                <a:latin typeface="Calibri"/>
                <a:ea typeface="Calibri"/>
              </a:rPr>
              <a:t>ACR · Image Tags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892b8"/>
                </a:solidFill>
                <a:latin typeface="Calibri"/>
                <a:ea typeface="Calibri"/>
              </a:rPr>
              <a:t>Private Registry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892b8"/>
                </a:solidFill>
                <a:latin typeface="Calibri"/>
                <a:ea typeface="Calibri"/>
              </a:rPr>
              <a:t>Managed Identity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" name="Shape 24"/>
          <p:cNvSpPr/>
          <p:nvPr/>
        </p:nvSpPr>
        <p:spPr>
          <a:xfrm>
            <a:off x="7315200" y="1974960"/>
            <a:ext cx="1534320" cy="1790280"/>
          </a:xfrm>
          <a:prstGeom prst="roundRect">
            <a:avLst>
              <a:gd name="adj" fmla="val 7143"/>
            </a:avLst>
          </a:prstGeom>
          <a:solidFill>
            <a:srgbClr val="252a6b"/>
          </a:solidFill>
          <a:ln w="0">
            <a:noFill/>
          </a:ln>
          <a:effectLst>
            <a:outerShdw algn="bl" blurRad="101520" dir="2700000" dist="37674" kx="0" ky="0" rotWithShape="0" sx="100000" sy="10000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 25"/>
          <p:cNvSpPr/>
          <p:nvPr/>
        </p:nvSpPr>
        <p:spPr>
          <a:xfrm>
            <a:off x="7315200" y="2066400"/>
            <a:ext cx="1534320" cy="60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f5a623"/>
                </a:solidFill>
                <a:latin typeface="Cambria"/>
                <a:ea typeface="Cambria"/>
              </a:rPr>
              <a:t>D</a:t>
            </a:r>
            <a:endParaRPr b="0" lang="en-US" sz="3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5" name="Text 26"/>
          <p:cNvSpPr/>
          <p:nvPr/>
        </p:nvSpPr>
        <p:spPr>
          <a:xfrm>
            <a:off x="7315200" y="2724840"/>
            <a:ext cx="153432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Deploy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6" name="Shape 27"/>
          <p:cNvSpPr/>
          <p:nvPr/>
        </p:nvSpPr>
        <p:spPr>
          <a:xfrm>
            <a:off x="7589880" y="2999160"/>
            <a:ext cx="1095480" cy="14760"/>
          </a:xfrm>
          <a:prstGeom prst="rect">
            <a:avLst/>
          </a:prstGeom>
          <a:solidFill>
            <a:srgbClr val="3a3f7a"/>
          </a:solidFill>
          <a:ln w="12700">
            <a:solidFill>
              <a:srgbClr val="3a3f7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8440" bIns="-2844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7" name="Text 28"/>
          <p:cNvSpPr/>
          <p:nvPr/>
        </p:nvSpPr>
        <p:spPr>
          <a:xfrm>
            <a:off x="7315200" y="3035880"/>
            <a:ext cx="1534320" cy="65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892b8"/>
                </a:solidFill>
                <a:latin typeface="Calibri"/>
                <a:ea typeface="Calibri"/>
              </a:rPr>
              <a:t>ACI · Public URL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892b8"/>
                </a:solidFill>
                <a:latin typeface="Calibri"/>
                <a:ea typeface="Calibri"/>
              </a:rPr>
              <a:t>Persistent Volume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892b8"/>
                </a:solidFill>
                <a:latin typeface="Calibri"/>
                <a:ea typeface="Calibri"/>
              </a:rPr>
              <a:t>Automation Scripts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" name="Shape 29"/>
          <p:cNvSpPr/>
          <p:nvPr/>
        </p:nvSpPr>
        <p:spPr>
          <a:xfrm>
            <a:off x="237600" y="3968640"/>
            <a:ext cx="8666640" cy="875880"/>
          </a:xfrm>
          <a:prstGeom prst="roundRect">
            <a:avLst>
              <a:gd name="adj" fmla="val 10417"/>
            </a:avLst>
          </a:prstGeom>
          <a:solidFill>
            <a:srgbClr val="252a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9" name="Text 30"/>
          <p:cNvSpPr/>
          <p:nvPr/>
        </p:nvSpPr>
        <p:spPr>
          <a:xfrm>
            <a:off x="420480" y="4041720"/>
            <a:ext cx="11869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188" strike="noStrike">
                <a:solidFill>
                  <a:srgbClr val="f5a623"/>
                </a:solidFill>
                <a:latin typeface="Calibri"/>
                <a:ea typeface="Calibri"/>
              </a:rPr>
              <a:t>WHAT'S NEXT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0" name="Text 31"/>
          <p:cNvSpPr/>
          <p:nvPr/>
        </p:nvSpPr>
        <p:spPr>
          <a:xfrm>
            <a:off x="420480" y="4242960"/>
            <a:ext cx="11869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Week 2 →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1" name="Shape 32"/>
          <p:cNvSpPr/>
          <p:nvPr/>
        </p:nvSpPr>
        <p:spPr>
          <a:xfrm>
            <a:off x="1719000" y="4078080"/>
            <a:ext cx="18360" cy="656640"/>
          </a:xfrm>
          <a:prstGeom prst="rect">
            <a:avLst/>
          </a:prstGeom>
          <a:solidFill>
            <a:srgbClr val="3a3f7a"/>
          </a:solidFill>
          <a:ln w="12700">
            <a:solidFill>
              <a:srgbClr val="3a3f7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" name="Shape 33"/>
          <p:cNvSpPr/>
          <p:nvPr/>
        </p:nvSpPr>
        <p:spPr>
          <a:xfrm>
            <a:off x="1883520" y="4060080"/>
            <a:ext cx="1296720" cy="675000"/>
          </a:xfrm>
          <a:prstGeom prst="roundRect">
            <a:avLst>
              <a:gd name="adj" fmla="val 9459"/>
            </a:avLst>
          </a:prstGeom>
          <a:solidFill>
            <a:srgbClr val="1a1e4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3" name="Text 34"/>
          <p:cNvSpPr/>
          <p:nvPr/>
        </p:nvSpPr>
        <p:spPr>
          <a:xfrm>
            <a:off x="1938600" y="4078080"/>
            <a:ext cx="1186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AKS — Kubernetes on Azure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4" name="Shape 35"/>
          <p:cNvSpPr/>
          <p:nvPr/>
        </p:nvSpPr>
        <p:spPr>
          <a:xfrm>
            <a:off x="3273480" y="4060080"/>
            <a:ext cx="1296720" cy="675000"/>
          </a:xfrm>
          <a:prstGeom prst="roundRect">
            <a:avLst>
              <a:gd name="adj" fmla="val 9459"/>
            </a:avLst>
          </a:prstGeom>
          <a:solidFill>
            <a:srgbClr val="1a1e4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" name="Text 36"/>
          <p:cNvSpPr/>
          <p:nvPr/>
        </p:nvSpPr>
        <p:spPr>
          <a:xfrm>
            <a:off x="3328560" y="4078080"/>
            <a:ext cx="1186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Azure DevOps CI/CD Pipelines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6" name="Shape 37"/>
          <p:cNvSpPr/>
          <p:nvPr/>
        </p:nvSpPr>
        <p:spPr>
          <a:xfrm>
            <a:off x="4663440" y="4060080"/>
            <a:ext cx="1296720" cy="675000"/>
          </a:xfrm>
          <a:prstGeom prst="roundRect">
            <a:avLst>
              <a:gd name="adj" fmla="val 9459"/>
            </a:avLst>
          </a:prstGeom>
          <a:solidFill>
            <a:srgbClr val="1a1e4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7" name="Text 38"/>
          <p:cNvSpPr/>
          <p:nvPr/>
        </p:nvSpPr>
        <p:spPr>
          <a:xfrm>
            <a:off x="4718160" y="4078080"/>
            <a:ext cx="1186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commit → build → deploy (auto)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8" name="Shape 39"/>
          <p:cNvSpPr/>
          <p:nvPr/>
        </p:nvSpPr>
        <p:spPr>
          <a:xfrm>
            <a:off x="6053400" y="4060080"/>
            <a:ext cx="1296720" cy="675000"/>
          </a:xfrm>
          <a:prstGeom prst="roundRect">
            <a:avLst>
              <a:gd name="adj" fmla="val 9459"/>
            </a:avLst>
          </a:prstGeom>
          <a:solidFill>
            <a:srgbClr val="1a1e4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" name="Text 40"/>
          <p:cNvSpPr/>
          <p:nvPr/>
        </p:nvSpPr>
        <p:spPr>
          <a:xfrm>
            <a:off x="6108120" y="4078080"/>
            <a:ext cx="1186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Container Insights + Monitoring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0" name="Shape 41"/>
          <p:cNvSpPr/>
          <p:nvPr/>
        </p:nvSpPr>
        <p:spPr>
          <a:xfrm>
            <a:off x="7443360" y="4060080"/>
            <a:ext cx="1296720" cy="675000"/>
          </a:xfrm>
          <a:prstGeom prst="roundRect">
            <a:avLst>
              <a:gd name="adj" fmla="val 9459"/>
            </a:avLst>
          </a:prstGeom>
          <a:solidFill>
            <a:srgbClr val="1a1e4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1" name="Text 42"/>
          <p:cNvSpPr/>
          <p:nvPr/>
        </p:nvSpPr>
        <p:spPr>
          <a:xfrm>
            <a:off x="7498080" y="4078080"/>
            <a:ext cx="1186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RBAC + Key Vault Secrets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 43"/>
          <p:cNvSpPr/>
          <p:nvPr/>
        </p:nvSpPr>
        <p:spPr>
          <a:xfrm>
            <a:off x="7022520" y="4352400"/>
            <a:ext cx="182700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Rectangle 1"/>
          <p:cNvSpPr/>
          <p:nvPr/>
        </p:nvSpPr>
        <p:spPr>
          <a:xfrm>
            <a:off x="0" y="0"/>
            <a:ext cx="52920" cy="51422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4" name="TextBox 2"/>
          <p:cNvSpPr/>
          <p:nvPr/>
        </p:nvSpPr>
        <p:spPr>
          <a:xfrm>
            <a:off x="274320" y="228600"/>
            <a:ext cx="859356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850" spc="335" strike="noStrike">
                <a:solidFill>
                  <a:srgbClr val="f5a623"/>
                </a:solidFill>
                <a:latin typeface="Calibri"/>
              </a:rPr>
              <a:t>OVERVIEW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TextBox 3"/>
          <p:cNvSpPr/>
          <p:nvPr/>
        </p:nvSpPr>
        <p:spPr>
          <a:xfrm>
            <a:off x="274320" y="457200"/>
            <a:ext cx="63990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3000" spc="-1" strike="noStrike">
                <a:solidFill>
                  <a:srgbClr val="1a1e4f"/>
                </a:solidFill>
                <a:latin typeface="Cambria"/>
              </a:rPr>
              <a:t>The Week 2 Learning Arc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Rounded Rectangle 4"/>
          <p:cNvSpPr/>
          <p:nvPr/>
        </p:nvSpPr>
        <p:spPr>
          <a:xfrm>
            <a:off x="237600" y="1115640"/>
            <a:ext cx="2759760" cy="1698840"/>
          </a:xfrm>
          <a:prstGeom prst="roundRect">
            <a:avLst>
              <a:gd name="adj" fmla="val 3000"/>
            </a:avLst>
          </a:prstGeom>
          <a:solidFill>
            <a:srgbClr val="0f1035"/>
          </a:solidFill>
          <a:ln>
            <a:noFill/>
          </a:ln>
          <a:effectLst>
            <a:outerShdw algn="bl" blurRad="50760" dir="2700000" dist="25455" kx="0" ky="0" rotWithShape="0" sx="100000" sy="10000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7" name="Rounded Rectangle 5"/>
          <p:cNvSpPr/>
          <p:nvPr/>
        </p:nvSpPr>
        <p:spPr>
          <a:xfrm>
            <a:off x="365760" y="1234800"/>
            <a:ext cx="309240" cy="30924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98" name="Picture 6" descr="k8s_wheel_white.png"/>
          <p:cNvPicPr/>
          <p:nvPr/>
        </p:nvPicPr>
        <p:blipFill>
          <a:blip r:embed="rId1"/>
          <a:stretch/>
        </p:blipFill>
        <p:spPr>
          <a:xfrm>
            <a:off x="424800" y="1293840"/>
            <a:ext cx="191160" cy="191160"/>
          </a:xfrm>
          <a:prstGeom prst="rect">
            <a:avLst/>
          </a:prstGeom>
          <a:ln w="0">
            <a:noFill/>
          </a:ln>
        </p:spPr>
      </p:pic>
      <p:sp>
        <p:nvSpPr>
          <p:cNvPr id="299" name="Rounded Rectangle 7"/>
          <p:cNvSpPr/>
          <p:nvPr/>
        </p:nvSpPr>
        <p:spPr>
          <a:xfrm>
            <a:off x="2590560" y="1234800"/>
            <a:ext cx="278640" cy="278640"/>
          </a:xfrm>
          <a:prstGeom prst="roundRect">
            <a:avLst>
              <a:gd name="adj" fmla="val 30000"/>
            </a:avLst>
          </a:prstGeom>
          <a:solidFill>
            <a:srgbClr val="1a1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900" spc="-1" strike="noStrike">
                <a:solidFill>
                  <a:srgbClr val="a8b2d8"/>
                </a:solidFill>
                <a:latin typeface="Calibri"/>
              </a:rPr>
              <a:t>01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TextBox 8"/>
          <p:cNvSpPr/>
          <p:nvPr/>
        </p:nvSpPr>
        <p:spPr>
          <a:xfrm>
            <a:off x="365760" y="1591200"/>
            <a:ext cx="250344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1250" spc="-1" strike="noStrike">
                <a:solidFill>
                  <a:srgbClr val="ffffff"/>
                </a:solidFill>
                <a:latin typeface="Calibri"/>
              </a:rPr>
              <a:t>AKS Fundamentals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TextBox 9"/>
          <p:cNvSpPr/>
          <p:nvPr/>
        </p:nvSpPr>
        <p:spPr>
          <a:xfrm>
            <a:off x="365760" y="1883520"/>
            <a:ext cx="2503440" cy="89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01520" indent="-101520">
              <a:lnSpc>
                <a:spcPct val="128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970" spc="-1" strike="noStrike">
                <a:solidFill>
                  <a:srgbClr val="a8b2d8"/>
                </a:solidFill>
                <a:latin typeface="Calibri"/>
              </a:rPr>
              <a:t>Cluster + node pool provisioned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>
              <a:lnSpc>
                <a:spcPct val="128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970" spc="-1" strike="noStrike">
                <a:solidFill>
                  <a:srgbClr val="a8b2d8"/>
                </a:solidFill>
                <a:latin typeface="Calibri"/>
              </a:rPr>
              <a:t>kubectl connected via az aks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>
              <a:lnSpc>
                <a:spcPct val="128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970" spc="-1" strike="noStrike">
                <a:solidFill>
                  <a:srgbClr val="a8b2d8"/>
                </a:solidFill>
                <a:latin typeface="Calibri"/>
              </a:rPr>
              <a:t>ACR attached — no imagePullSecrets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>
              <a:lnSpc>
                <a:spcPct val="128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970" spc="-1" strike="noStrike">
                <a:solidFill>
                  <a:srgbClr val="a8b2d8"/>
                </a:solidFill>
                <a:latin typeface="Calibri"/>
              </a:rPr>
              <a:t>Script: aks_cluster.sh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Rounded Rectangle 10"/>
          <p:cNvSpPr/>
          <p:nvPr/>
        </p:nvSpPr>
        <p:spPr>
          <a:xfrm>
            <a:off x="3098520" y="1115640"/>
            <a:ext cx="2759760" cy="1698840"/>
          </a:xfrm>
          <a:prstGeom prst="roundRect">
            <a:avLst>
              <a:gd name="adj" fmla="val 3000"/>
            </a:avLst>
          </a:prstGeom>
          <a:solidFill>
            <a:srgbClr val="0f1035"/>
          </a:solidFill>
          <a:ln>
            <a:noFill/>
          </a:ln>
          <a:effectLst>
            <a:outerShdw algn="bl" blurRad="50760" dir="2700000" dist="25455" kx="0" ky="0" rotWithShape="0" sx="100000" sy="10000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3" name="Rounded Rectangle 11"/>
          <p:cNvSpPr/>
          <p:nvPr/>
        </p:nvSpPr>
        <p:spPr>
          <a:xfrm>
            <a:off x="3226680" y="1234800"/>
            <a:ext cx="309240" cy="30924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04" name="Picture 12" descr="scale_white.png"/>
          <p:cNvPicPr/>
          <p:nvPr/>
        </p:nvPicPr>
        <p:blipFill>
          <a:blip r:embed="rId2"/>
          <a:stretch/>
        </p:blipFill>
        <p:spPr>
          <a:xfrm>
            <a:off x="3285720" y="1293840"/>
            <a:ext cx="191160" cy="191160"/>
          </a:xfrm>
          <a:prstGeom prst="rect">
            <a:avLst/>
          </a:prstGeom>
          <a:ln w="0">
            <a:noFill/>
          </a:ln>
        </p:spPr>
      </p:pic>
      <p:sp>
        <p:nvSpPr>
          <p:cNvPr id="305" name="Rounded Rectangle 13"/>
          <p:cNvSpPr/>
          <p:nvPr/>
        </p:nvSpPr>
        <p:spPr>
          <a:xfrm>
            <a:off x="5451480" y="1234800"/>
            <a:ext cx="278640" cy="278640"/>
          </a:xfrm>
          <a:prstGeom prst="roundRect">
            <a:avLst>
              <a:gd name="adj" fmla="val 30000"/>
            </a:avLst>
          </a:prstGeom>
          <a:solidFill>
            <a:srgbClr val="1a1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900" spc="-1" strike="noStrike">
                <a:solidFill>
                  <a:srgbClr val="a8b2d8"/>
                </a:solidFill>
                <a:latin typeface="Calibri"/>
              </a:rPr>
              <a:t>02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" name="TextBox 14"/>
          <p:cNvSpPr/>
          <p:nvPr/>
        </p:nvSpPr>
        <p:spPr>
          <a:xfrm>
            <a:off x="3226680" y="1591200"/>
            <a:ext cx="250344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1250" spc="-1" strike="noStrike">
                <a:solidFill>
                  <a:srgbClr val="ffffff"/>
                </a:solidFill>
                <a:latin typeface="Calibri"/>
              </a:rPr>
              <a:t>AKS Workloads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TextBox 15"/>
          <p:cNvSpPr/>
          <p:nvPr/>
        </p:nvSpPr>
        <p:spPr>
          <a:xfrm>
            <a:off x="3226680" y="1883520"/>
            <a:ext cx="2503440" cy="89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01520" indent="-101520">
              <a:lnSpc>
                <a:spcPct val="128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970" spc="-1" strike="noStrike">
                <a:solidFill>
                  <a:srgbClr val="a8b2d8"/>
                </a:solidFill>
                <a:latin typeface="Calibri"/>
              </a:rPr>
              <a:t>Deployment → ReplicaSet → Pods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>
              <a:lnSpc>
                <a:spcPct val="128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970" spc="-1" strike="noStrike">
                <a:solidFill>
                  <a:srgbClr val="a8b2d8"/>
                </a:solidFill>
                <a:latin typeface="Calibri"/>
              </a:rPr>
              <a:t>Azure LoadBalancer Service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>
              <a:lnSpc>
                <a:spcPct val="128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970" spc="-1" strike="noStrike">
                <a:solidFill>
                  <a:srgbClr val="a8b2d8"/>
                </a:solidFill>
                <a:latin typeface="Calibri"/>
              </a:rPr>
              <a:t>NGINX Ingress + HPA scaling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>
              <a:lnSpc>
                <a:spcPct val="128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970" spc="-1" strike="noStrike">
                <a:solidFill>
                  <a:srgbClr val="a8b2d8"/>
                </a:solidFill>
                <a:latin typeface="Calibri"/>
              </a:rPr>
              <a:t>Manual scale: 2 → 3 replicas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Rounded Rectangle 16"/>
          <p:cNvSpPr/>
          <p:nvPr/>
        </p:nvSpPr>
        <p:spPr>
          <a:xfrm>
            <a:off x="5959440" y="1115640"/>
            <a:ext cx="2759760" cy="1698840"/>
          </a:xfrm>
          <a:prstGeom prst="roundRect">
            <a:avLst>
              <a:gd name="adj" fmla="val 3000"/>
            </a:avLst>
          </a:prstGeom>
          <a:solidFill>
            <a:srgbClr val="0f1035"/>
          </a:solidFill>
          <a:ln>
            <a:noFill/>
          </a:ln>
          <a:effectLst>
            <a:outerShdw algn="bl" blurRad="50760" dir="2700000" dist="25455" kx="0" ky="0" rotWithShape="0" sx="100000" sy="10000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9" name="Rounded Rectangle 17"/>
          <p:cNvSpPr/>
          <p:nvPr/>
        </p:nvSpPr>
        <p:spPr>
          <a:xfrm>
            <a:off x="6087600" y="1234800"/>
            <a:ext cx="309240" cy="30924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10" name="Picture 18" descr="pipeline_white.png"/>
          <p:cNvPicPr/>
          <p:nvPr/>
        </p:nvPicPr>
        <p:blipFill>
          <a:blip r:embed="rId3"/>
          <a:stretch/>
        </p:blipFill>
        <p:spPr>
          <a:xfrm>
            <a:off x="6146640" y="1293840"/>
            <a:ext cx="191160" cy="191160"/>
          </a:xfrm>
          <a:prstGeom prst="rect">
            <a:avLst/>
          </a:prstGeom>
          <a:ln w="0">
            <a:noFill/>
          </a:ln>
        </p:spPr>
      </p:pic>
      <p:sp>
        <p:nvSpPr>
          <p:cNvPr id="311" name="Rounded Rectangle 19"/>
          <p:cNvSpPr/>
          <p:nvPr/>
        </p:nvSpPr>
        <p:spPr>
          <a:xfrm>
            <a:off x="8312400" y="1234800"/>
            <a:ext cx="278640" cy="278640"/>
          </a:xfrm>
          <a:prstGeom prst="roundRect">
            <a:avLst>
              <a:gd name="adj" fmla="val 30000"/>
            </a:avLst>
          </a:prstGeom>
          <a:solidFill>
            <a:srgbClr val="1a1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900" spc="-1" strike="noStrike">
                <a:solidFill>
                  <a:srgbClr val="a8b2d8"/>
                </a:solidFill>
                <a:latin typeface="Calibri"/>
              </a:rPr>
              <a:t>03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2" name="TextBox 20"/>
          <p:cNvSpPr/>
          <p:nvPr/>
        </p:nvSpPr>
        <p:spPr>
          <a:xfrm>
            <a:off x="6087600" y="1591200"/>
            <a:ext cx="250344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1250" spc="-1" strike="noStrike">
                <a:solidFill>
                  <a:srgbClr val="ffffff"/>
                </a:solidFill>
                <a:latin typeface="Calibri"/>
              </a:rPr>
              <a:t>DevOps Repos &amp; Pipelines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TextBox 21"/>
          <p:cNvSpPr/>
          <p:nvPr/>
        </p:nvSpPr>
        <p:spPr>
          <a:xfrm>
            <a:off x="6087600" y="1883520"/>
            <a:ext cx="2503440" cy="89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01520" indent="-101520">
              <a:lnSpc>
                <a:spcPct val="128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970" spc="-1" strike="noStrike">
                <a:solidFill>
                  <a:srgbClr val="a8b2d8"/>
                </a:solidFill>
                <a:latin typeface="Calibri"/>
              </a:rPr>
              <a:t>Azure DevOps org + project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>
              <a:lnSpc>
                <a:spcPct val="128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970" spc="-1" strike="noStrike">
                <a:solidFill>
                  <a:srgbClr val="a8b2d8"/>
                </a:solidFill>
                <a:latin typeface="Calibri"/>
              </a:rPr>
              <a:t>Repo pushed, YAML pipeline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>
              <a:lnSpc>
                <a:spcPct val="128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970" spc="-1" strike="noStrike">
                <a:solidFill>
                  <a:srgbClr val="a8b2d8"/>
                </a:solidFill>
                <a:latin typeface="Calibri"/>
              </a:rPr>
              <a:t>Build step + automated tests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>
              <a:lnSpc>
                <a:spcPct val="128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970" spc="-1" strike="noStrike">
                <a:solidFill>
                  <a:srgbClr val="a8b2d8"/>
                </a:solidFill>
                <a:latin typeface="Calibri"/>
              </a:rPr>
              <a:t>Triggered on every commit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Rounded Rectangle 22"/>
          <p:cNvSpPr/>
          <p:nvPr/>
        </p:nvSpPr>
        <p:spPr>
          <a:xfrm>
            <a:off x="237600" y="2945880"/>
            <a:ext cx="2759760" cy="1698840"/>
          </a:xfrm>
          <a:prstGeom prst="roundRect">
            <a:avLst>
              <a:gd name="adj" fmla="val 3000"/>
            </a:avLst>
          </a:prstGeom>
          <a:solidFill>
            <a:srgbClr val="0f1035"/>
          </a:solidFill>
          <a:ln>
            <a:noFill/>
          </a:ln>
          <a:effectLst>
            <a:outerShdw algn="bl" blurRad="50760" dir="2700000" dist="25455" kx="0" ky="0" rotWithShape="0" sx="100000" sy="10000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5" name="Rounded Rectangle 23"/>
          <p:cNvSpPr/>
          <p:nvPr/>
        </p:nvSpPr>
        <p:spPr>
          <a:xfrm>
            <a:off x="365760" y="3065040"/>
            <a:ext cx="309240" cy="30924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16" name="Picture 24" descr="cycle_white.png"/>
          <p:cNvPicPr/>
          <p:nvPr/>
        </p:nvPicPr>
        <p:blipFill>
          <a:blip r:embed="rId4"/>
          <a:stretch/>
        </p:blipFill>
        <p:spPr>
          <a:xfrm>
            <a:off x="424800" y="3124080"/>
            <a:ext cx="191160" cy="191160"/>
          </a:xfrm>
          <a:prstGeom prst="rect">
            <a:avLst/>
          </a:prstGeom>
          <a:ln w="0">
            <a:noFill/>
          </a:ln>
        </p:spPr>
      </p:pic>
      <p:sp>
        <p:nvSpPr>
          <p:cNvPr id="317" name="Rounded Rectangle 25"/>
          <p:cNvSpPr/>
          <p:nvPr/>
        </p:nvSpPr>
        <p:spPr>
          <a:xfrm>
            <a:off x="2590560" y="3065040"/>
            <a:ext cx="278640" cy="278640"/>
          </a:xfrm>
          <a:prstGeom prst="roundRect">
            <a:avLst>
              <a:gd name="adj" fmla="val 30000"/>
            </a:avLst>
          </a:prstGeom>
          <a:solidFill>
            <a:srgbClr val="1a1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900" spc="-1" strike="noStrike">
                <a:solidFill>
                  <a:srgbClr val="a8b2d8"/>
                </a:solidFill>
                <a:latin typeface="Calibri"/>
              </a:rPr>
              <a:t>04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TextBox 26"/>
          <p:cNvSpPr/>
          <p:nvPr/>
        </p:nvSpPr>
        <p:spPr>
          <a:xfrm>
            <a:off x="365760" y="3421440"/>
            <a:ext cx="250344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1250" spc="-1" strike="noStrike">
                <a:solidFill>
                  <a:srgbClr val="ffffff"/>
                </a:solidFill>
                <a:latin typeface="Calibri"/>
              </a:rPr>
              <a:t>Full CI/CD Pipeline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27"/>
          <p:cNvSpPr/>
          <p:nvPr/>
        </p:nvSpPr>
        <p:spPr>
          <a:xfrm>
            <a:off x="365760" y="3713760"/>
            <a:ext cx="2503440" cy="89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01520" indent="-101520">
              <a:lnSpc>
                <a:spcPct val="128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970" spc="-1" strike="noStrike">
                <a:solidFill>
                  <a:srgbClr val="a8b2d8"/>
                </a:solidFill>
                <a:latin typeface="Calibri"/>
              </a:rPr>
              <a:t>Docker build → ACR → AKS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>
              <a:lnSpc>
                <a:spcPct val="128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970" spc="-1" strike="noStrike">
                <a:solidFill>
                  <a:srgbClr val="a8b2d8"/>
                </a:solidFill>
                <a:latin typeface="Calibri"/>
              </a:rPr>
              <a:t>Build-ID image tagging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>
              <a:lnSpc>
                <a:spcPct val="128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970" spc="-1" strike="noStrike">
                <a:solidFill>
                  <a:srgbClr val="a8b2d8"/>
                </a:solidFill>
                <a:latin typeface="Calibri"/>
              </a:rPr>
              <a:t>Multi-arch buildx fix (ARM64)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>
              <a:lnSpc>
                <a:spcPct val="128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970" spc="-1" strike="noStrike">
                <a:solidFill>
                  <a:srgbClr val="a8b2d8"/>
                </a:solidFill>
                <a:latin typeface="Calibri"/>
              </a:rPr>
              <a:t>Script: azure-pipelines.yml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Rounded Rectangle 28"/>
          <p:cNvSpPr/>
          <p:nvPr/>
        </p:nvSpPr>
        <p:spPr>
          <a:xfrm>
            <a:off x="3098520" y="2945880"/>
            <a:ext cx="2759760" cy="1698840"/>
          </a:xfrm>
          <a:prstGeom prst="roundRect">
            <a:avLst>
              <a:gd name="adj" fmla="val 3000"/>
            </a:avLst>
          </a:prstGeom>
          <a:solidFill>
            <a:srgbClr val="0f1035"/>
          </a:solidFill>
          <a:ln>
            <a:noFill/>
          </a:ln>
          <a:effectLst>
            <a:outerShdw algn="bl" blurRad="50760" dir="2700000" dist="25455" kx="0" ky="0" rotWithShape="0" sx="100000" sy="10000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1" name="Rounded Rectangle 29"/>
          <p:cNvSpPr/>
          <p:nvPr/>
        </p:nvSpPr>
        <p:spPr>
          <a:xfrm>
            <a:off x="3226680" y="3065040"/>
            <a:ext cx="309240" cy="30924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22" name="Picture 30" descr="monitor_white.png"/>
          <p:cNvPicPr/>
          <p:nvPr/>
        </p:nvPicPr>
        <p:blipFill>
          <a:blip r:embed="rId5"/>
          <a:stretch/>
        </p:blipFill>
        <p:spPr>
          <a:xfrm>
            <a:off x="3285720" y="3124080"/>
            <a:ext cx="191160" cy="191160"/>
          </a:xfrm>
          <a:prstGeom prst="rect">
            <a:avLst/>
          </a:prstGeom>
          <a:ln w="0">
            <a:noFill/>
          </a:ln>
        </p:spPr>
      </p:pic>
      <p:sp>
        <p:nvSpPr>
          <p:cNvPr id="323" name="Rounded Rectangle 31"/>
          <p:cNvSpPr/>
          <p:nvPr/>
        </p:nvSpPr>
        <p:spPr>
          <a:xfrm>
            <a:off x="5451480" y="3065040"/>
            <a:ext cx="278640" cy="278640"/>
          </a:xfrm>
          <a:prstGeom prst="roundRect">
            <a:avLst>
              <a:gd name="adj" fmla="val 30000"/>
            </a:avLst>
          </a:prstGeom>
          <a:solidFill>
            <a:srgbClr val="1a1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900" spc="-1" strike="noStrike">
                <a:solidFill>
                  <a:srgbClr val="a8b2d8"/>
                </a:solidFill>
                <a:latin typeface="Calibri"/>
              </a:rPr>
              <a:t>05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" name="TextBox 32"/>
          <p:cNvSpPr/>
          <p:nvPr/>
        </p:nvSpPr>
        <p:spPr>
          <a:xfrm>
            <a:off x="3226680" y="3421440"/>
            <a:ext cx="250344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1250" spc="-1" strike="noStrike">
                <a:solidFill>
                  <a:srgbClr val="ffffff"/>
                </a:solidFill>
                <a:latin typeface="Calibri"/>
              </a:rPr>
              <a:t>Monitoring &amp; Alerts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TextBox 33"/>
          <p:cNvSpPr/>
          <p:nvPr/>
        </p:nvSpPr>
        <p:spPr>
          <a:xfrm>
            <a:off x="3226680" y="3713760"/>
            <a:ext cx="2503440" cy="89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01520" indent="-101520">
              <a:lnSpc>
                <a:spcPct val="128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970" spc="-1" strike="noStrike">
                <a:solidFill>
                  <a:srgbClr val="a8b2d8"/>
                </a:solidFill>
                <a:latin typeface="Calibri"/>
              </a:rPr>
              <a:t>Azure Monitor + Log Analytics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>
              <a:lnSpc>
                <a:spcPct val="128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970" spc="-1" strike="noStrike">
                <a:solidFill>
                  <a:srgbClr val="a8b2d8"/>
                </a:solidFill>
                <a:latin typeface="Calibri"/>
              </a:rPr>
              <a:t>KQL queries on pod restarts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>
              <a:lnSpc>
                <a:spcPct val="128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970" spc="-1" strike="noStrike">
                <a:solidFill>
                  <a:srgbClr val="a8b2d8"/>
                </a:solidFill>
                <a:latin typeface="Calibri"/>
              </a:rPr>
              <a:t>CPU threshold metric alerts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>
              <a:lnSpc>
                <a:spcPct val="128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970" spc="-1" strike="noStrike">
                <a:solidFill>
                  <a:srgbClr val="a8b2d8"/>
                </a:solidFill>
                <a:latin typeface="Calibri"/>
              </a:rPr>
              <a:t>Script: monitoring_setup.sh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Rounded Rectangle 34"/>
          <p:cNvSpPr/>
          <p:nvPr/>
        </p:nvSpPr>
        <p:spPr>
          <a:xfrm>
            <a:off x="5959440" y="2945880"/>
            <a:ext cx="2759760" cy="1698840"/>
          </a:xfrm>
          <a:prstGeom prst="roundRect">
            <a:avLst>
              <a:gd name="adj" fmla="val 3000"/>
            </a:avLst>
          </a:prstGeom>
          <a:solidFill>
            <a:srgbClr val="0f1035"/>
          </a:solidFill>
          <a:ln>
            <a:noFill/>
          </a:ln>
          <a:effectLst>
            <a:outerShdw algn="bl" blurRad="50760" dir="2700000" dist="25455" kx="0" ky="0" rotWithShape="0" sx="100000" sy="10000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7" name="Rounded Rectangle 35"/>
          <p:cNvSpPr/>
          <p:nvPr/>
        </p:nvSpPr>
        <p:spPr>
          <a:xfrm>
            <a:off x="6087600" y="3065040"/>
            <a:ext cx="309240" cy="30924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28" name="Picture 36" descr="shield_white.png"/>
          <p:cNvPicPr/>
          <p:nvPr/>
        </p:nvPicPr>
        <p:blipFill>
          <a:blip r:embed="rId6"/>
          <a:stretch/>
        </p:blipFill>
        <p:spPr>
          <a:xfrm>
            <a:off x="6146640" y="3124080"/>
            <a:ext cx="191160" cy="191160"/>
          </a:xfrm>
          <a:prstGeom prst="rect">
            <a:avLst/>
          </a:prstGeom>
          <a:ln w="0">
            <a:noFill/>
          </a:ln>
        </p:spPr>
      </p:pic>
      <p:sp>
        <p:nvSpPr>
          <p:cNvPr id="329" name="Rounded Rectangle 37"/>
          <p:cNvSpPr/>
          <p:nvPr/>
        </p:nvSpPr>
        <p:spPr>
          <a:xfrm>
            <a:off x="8312400" y="3065040"/>
            <a:ext cx="278640" cy="278640"/>
          </a:xfrm>
          <a:prstGeom prst="roundRect">
            <a:avLst>
              <a:gd name="adj" fmla="val 30000"/>
            </a:avLst>
          </a:prstGeom>
          <a:solidFill>
            <a:srgbClr val="1a1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900" spc="-1" strike="noStrike">
                <a:solidFill>
                  <a:srgbClr val="a8b2d8"/>
                </a:solidFill>
                <a:latin typeface="Calibri"/>
              </a:rPr>
              <a:t>06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TextBox 38"/>
          <p:cNvSpPr/>
          <p:nvPr/>
        </p:nvSpPr>
        <p:spPr>
          <a:xfrm>
            <a:off x="6087600" y="3421440"/>
            <a:ext cx="250344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1250" spc="-1" strike="noStrike">
                <a:solidFill>
                  <a:srgbClr val="ffffff"/>
                </a:solidFill>
                <a:latin typeface="Calibri"/>
              </a:rPr>
              <a:t>Security &amp; RBAC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TextBox 39"/>
          <p:cNvSpPr/>
          <p:nvPr/>
        </p:nvSpPr>
        <p:spPr>
          <a:xfrm>
            <a:off x="6087600" y="3713760"/>
            <a:ext cx="2503440" cy="89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01520" indent="-101520">
              <a:lnSpc>
                <a:spcPct val="128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970" spc="-1" strike="noStrike">
                <a:solidFill>
                  <a:srgbClr val="a8b2d8"/>
                </a:solidFill>
                <a:latin typeface="Calibri"/>
              </a:rPr>
              <a:t>RBAC roles — Reader vs Contributor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>
              <a:lnSpc>
                <a:spcPct val="128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970" spc="-1" strike="noStrike">
                <a:solidFill>
                  <a:srgbClr val="a8b2d8"/>
                </a:solidFill>
                <a:latin typeface="Calibri"/>
              </a:rPr>
              <a:t>Key Vault secret storage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>
              <a:lnSpc>
                <a:spcPct val="128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970" spc="-1" strike="noStrike">
                <a:solidFill>
                  <a:srgbClr val="a8b2d8"/>
                </a:solidFill>
                <a:latin typeface="Calibri"/>
              </a:rPr>
              <a:t>Microsoft Defender enabled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>
              <a:lnSpc>
                <a:spcPct val="128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970" spc="-1" strike="noStrike">
                <a:solidFill>
                  <a:srgbClr val="a8b2d8"/>
                </a:solidFill>
                <a:latin typeface="Calibri"/>
              </a:rPr>
              <a:t>Script: security_hardening.sh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Rectangle 1"/>
          <p:cNvSpPr/>
          <p:nvPr/>
        </p:nvSpPr>
        <p:spPr>
          <a:xfrm>
            <a:off x="0" y="0"/>
            <a:ext cx="52920" cy="51422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3" name="TextBox 2"/>
          <p:cNvSpPr/>
          <p:nvPr/>
        </p:nvSpPr>
        <p:spPr>
          <a:xfrm>
            <a:off x="274320" y="228600"/>
            <a:ext cx="859356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850" spc="335" strike="noStrike">
                <a:solidFill>
                  <a:srgbClr val="f5a623"/>
                </a:solidFill>
                <a:latin typeface="Calibri"/>
              </a:rPr>
              <a:t>WEEK 2  ·  DAY 1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TextBox 3"/>
          <p:cNvSpPr/>
          <p:nvPr/>
        </p:nvSpPr>
        <p:spPr>
          <a:xfrm>
            <a:off x="274320" y="457200"/>
            <a:ext cx="63990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3000" spc="-1" strike="noStrike">
                <a:solidFill>
                  <a:srgbClr val="1a1e4f"/>
                </a:solidFill>
                <a:latin typeface="Cambria"/>
              </a:rPr>
              <a:t>AKS Fundamentals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Rounded Rectangle 4"/>
          <p:cNvSpPr/>
          <p:nvPr/>
        </p:nvSpPr>
        <p:spPr>
          <a:xfrm>
            <a:off x="4928760" y="4001400"/>
            <a:ext cx="3931200" cy="798480"/>
          </a:xfrm>
          <a:prstGeom prst="roundRect">
            <a:avLst>
              <a:gd name="adj" fmla="val 10000"/>
            </a:avLst>
          </a:prstGeom>
          <a:solidFill>
            <a:srgbClr val="141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6" name="TextBox 5"/>
          <p:cNvSpPr/>
          <p:nvPr/>
        </p:nvSpPr>
        <p:spPr>
          <a:xfrm>
            <a:off x="5120640" y="3982680"/>
            <a:ext cx="3656880" cy="79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</a:pPr>
            <a:r>
              <a:rPr b="0" lang="en-US" sz="1050" spc="-1" strike="noStrike">
                <a:solidFill>
                  <a:srgbClr val="f5a623"/>
                </a:solidFill>
                <a:latin typeface="Calibri"/>
              </a:rPr>
              <a:t>Cluster: aks-bootcamp · Central India · K8s v1.34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en-US" sz="1050" spc="-1" strike="noStrike">
                <a:solidFill>
                  <a:srgbClr val="f5a623"/>
                </a:solidFill>
                <a:latin typeface="Calibri"/>
              </a:rPr>
              <a:t>Node count: 1 · VM size: Standard_B2pls_v2 · Tier: Free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Rounded Rectangle 6"/>
          <p:cNvSpPr/>
          <p:nvPr/>
        </p:nvSpPr>
        <p:spPr>
          <a:xfrm>
            <a:off x="237600" y="1180080"/>
            <a:ext cx="4478400" cy="3698640"/>
          </a:xfrm>
          <a:prstGeom prst="roundRect">
            <a:avLst>
              <a:gd name="adj" fmla="val 10000"/>
            </a:avLst>
          </a:prstGeom>
          <a:solidFill>
            <a:srgbClr val="0f1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38" name="Picture 7" descr="k8s_wheel_white.png"/>
          <p:cNvPicPr/>
          <p:nvPr/>
        </p:nvPicPr>
        <p:blipFill>
          <a:blip r:embed="rId1"/>
          <a:stretch/>
        </p:blipFill>
        <p:spPr>
          <a:xfrm>
            <a:off x="367560" y="1310040"/>
            <a:ext cx="338400" cy="338400"/>
          </a:xfrm>
          <a:prstGeom prst="rect">
            <a:avLst/>
          </a:prstGeom>
          <a:ln w="0">
            <a:noFill/>
          </a:ln>
        </p:spPr>
      </p:pic>
      <p:sp>
        <p:nvSpPr>
          <p:cNvPr id="339" name="TextBox 8"/>
          <p:cNvSpPr/>
          <p:nvPr/>
        </p:nvSpPr>
        <p:spPr>
          <a:xfrm>
            <a:off x="797760" y="1310040"/>
            <a:ext cx="3788640" cy="33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1350" spc="-1" strike="noStrike">
                <a:solidFill>
                  <a:srgbClr val="ffffff"/>
                </a:solidFill>
                <a:latin typeface="Calibri"/>
              </a:rPr>
              <a:t>Managed Kubernetes on Azure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TextBox 9"/>
          <p:cNvSpPr/>
          <p:nvPr/>
        </p:nvSpPr>
        <p:spPr>
          <a:xfrm>
            <a:off x="367560" y="1720080"/>
            <a:ext cx="421848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i="1" lang="en-US" sz="1000" spc="-1" strike="noStrike">
                <a:solidFill>
                  <a:srgbClr val="a8b2d8"/>
                </a:solidFill>
                <a:latin typeface="Calibri"/>
              </a:rPr>
              <a:t>“</a:t>
            </a:r>
            <a:r>
              <a:rPr b="0" i="1" lang="en-US" sz="1000" spc="-1" strike="noStrike">
                <a:solidFill>
                  <a:srgbClr val="a8b2d8"/>
                </a:solidFill>
                <a:latin typeface="Calibri"/>
              </a:rPr>
              <a:t>Azure runs the control plane. You only manage workloads.”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Rounded Rectangle 10"/>
          <p:cNvSpPr/>
          <p:nvPr/>
        </p:nvSpPr>
        <p:spPr>
          <a:xfrm>
            <a:off x="367560" y="2049840"/>
            <a:ext cx="4218480" cy="400680"/>
          </a:xfrm>
          <a:prstGeom prst="roundRect">
            <a:avLst>
              <a:gd name="adj" fmla="val 8000"/>
            </a:avLst>
          </a:prstGeom>
          <a:solidFill>
            <a:srgbClr val="25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2" name="Rounded Rectangle 11"/>
          <p:cNvSpPr/>
          <p:nvPr/>
        </p:nvSpPr>
        <p:spPr>
          <a:xfrm>
            <a:off x="367560" y="2049840"/>
            <a:ext cx="52920" cy="400680"/>
          </a:xfrm>
          <a:prstGeom prst="roundRect">
            <a:avLst>
              <a:gd name="adj" fmla="val 4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3" name="TextBox 12"/>
          <p:cNvSpPr/>
          <p:nvPr/>
        </p:nvSpPr>
        <p:spPr>
          <a:xfrm>
            <a:off x="495720" y="2068200"/>
            <a:ext cx="396216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ffd580"/>
                </a:solidFill>
                <a:latin typeface="Calibri"/>
              </a:rPr>
              <a:t>Connect kubectl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TextBox 13"/>
          <p:cNvSpPr/>
          <p:nvPr/>
        </p:nvSpPr>
        <p:spPr>
          <a:xfrm>
            <a:off x="495720" y="2251080"/>
            <a:ext cx="396216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860" spc="-1" strike="noStrike">
                <a:solidFill>
                  <a:srgbClr val="a8b2d8"/>
                </a:solidFill>
                <a:latin typeface="Calibri"/>
              </a:rPr>
              <a:t>az aks get-credentials → merges AKS into local kubeconfig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Rounded Rectangle 14"/>
          <p:cNvSpPr/>
          <p:nvPr/>
        </p:nvSpPr>
        <p:spPr>
          <a:xfrm>
            <a:off x="367560" y="2560320"/>
            <a:ext cx="4218480" cy="400680"/>
          </a:xfrm>
          <a:prstGeom prst="roundRect">
            <a:avLst>
              <a:gd name="adj" fmla="val 8000"/>
            </a:avLst>
          </a:prstGeom>
          <a:solidFill>
            <a:srgbClr val="25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6" name="Rounded Rectangle 15"/>
          <p:cNvSpPr/>
          <p:nvPr/>
        </p:nvSpPr>
        <p:spPr>
          <a:xfrm>
            <a:off x="367560" y="2560320"/>
            <a:ext cx="52920" cy="400680"/>
          </a:xfrm>
          <a:prstGeom prst="roundRect">
            <a:avLst>
              <a:gd name="adj" fmla="val 4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7" name="TextBox 16"/>
          <p:cNvSpPr/>
          <p:nvPr/>
        </p:nvSpPr>
        <p:spPr>
          <a:xfrm>
            <a:off x="495720" y="2579400"/>
            <a:ext cx="396216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ffd580"/>
                </a:solidFill>
                <a:latin typeface="Calibri"/>
              </a:rPr>
              <a:t>MC_ Resource Group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TextBox 17"/>
          <p:cNvSpPr/>
          <p:nvPr/>
        </p:nvSpPr>
        <p:spPr>
          <a:xfrm>
            <a:off x="495720" y="2779920"/>
            <a:ext cx="396216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860" spc="-1" strike="noStrike">
                <a:solidFill>
                  <a:srgbClr val="a8b2d8"/>
                </a:solidFill>
                <a:latin typeface="Calibri"/>
              </a:rPr>
              <a:t>MC_aks-bootcamp-rg_aks-bootcamp_centralindia — auto-created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Rounded Rectangle 18"/>
          <p:cNvSpPr/>
          <p:nvPr/>
        </p:nvSpPr>
        <p:spPr>
          <a:xfrm>
            <a:off x="367560" y="3072240"/>
            <a:ext cx="4218480" cy="400680"/>
          </a:xfrm>
          <a:prstGeom prst="roundRect">
            <a:avLst>
              <a:gd name="adj" fmla="val 8000"/>
            </a:avLst>
          </a:prstGeom>
          <a:solidFill>
            <a:srgbClr val="25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0" name="Rounded Rectangle 19"/>
          <p:cNvSpPr/>
          <p:nvPr/>
        </p:nvSpPr>
        <p:spPr>
          <a:xfrm>
            <a:off x="367560" y="3072240"/>
            <a:ext cx="52920" cy="400680"/>
          </a:xfrm>
          <a:prstGeom prst="roundRect">
            <a:avLst>
              <a:gd name="adj" fmla="val 4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1" name="TextBox 20"/>
          <p:cNvSpPr/>
          <p:nvPr/>
        </p:nvSpPr>
        <p:spPr>
          <a:xfrm>
            <a:off x="495720" y="3090600"/>
            <a:ext cx="396216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ffd580"/>
                </a:solidFill>
                <a:latin typeface="Calibri"/>
              </a:rPr>
              <a:t>Auto-Provisioned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TextBox 21"/>
          <p:cNvSpPr/>
          <p:nvPr/>
        </p:nvSpPr>
        <p:spPr>
          <a:xfrm>
            <a:off x="495720" y="3291840"/>
            <a:ext cx="396216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860" spc="-1" strike="noStrike">
                <a:solidFill>
                  <a:srgbClr val="a8b2d8"/>
                </a:solidFill>
                <a:latin typeface="Calibri"/>
              </a:rPr>
              <a:t>VMSS · Load Balancer · VNet · NSG · Public IP · Managed Identity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Rounded Rectangle 22"/>
          <p:cNvSpPr/>
          <p:nvPr/>
        </p:nvSpPr>
        <p:spPr>
          <a:xfrm>
            <a:off x="352440" y="3584520"/>
            <a:ext cx="4218480" cy="400680"/>
          </a:xfrm>
          <a:prstGeom prst="roundRect">
            <a:avLst>
              <a:gd name="adj" fmla="val 8000"/>
            </a:avLst>
          </a:prstGeom>
          <a:solidFill>
            <a:srgbClr val="25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4" name="Rounded Rectangle 23"/>
          <p:cNvSpPr/>
          <p:nvPr/>
        </p:nvSpPr>
        <p:spPr>
          <a:xfrm>
            <a:off x="367560" y="3584520"/>
            <a:ext cx="52920" cy="400680"/>
          </a:xfrm>
          <a:prstGeom prst="roundRect">
            <a:avLst>
              <a:gd name="adj" fmla="val 4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5" name="TextBox 24"/>
          <p:cNvSpPr/>
          <p:nvPr/>
        </p:nvSpPr>
        <p:spPr>
          <a:xfrm>
            <a:off x="495720" y="3602880"/>
            <a:ext cx="396216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ffd580"/>
                </a:solidFill>
                <a:latin typeface="Calibri"/>
              </a:rPr>
              <a:t>Worker Node Reality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TextBox 25"/>
          <p:cNvSpPr/>
          <p:nvPr/>
        </p:nvSpPr>
        <p:spPr>
          <a:xfrm>
            <a:off x="495720" y="3803760"/>
            <a:ext cx="396216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860" spc="-1" strike="noStrike">
                <a:solidFill>
                  <a:srgbClr val="a8b2d8"/>
                </a:solidFill>
                <a:latin typeface="Calibri"/>
              </a:rPr>
              <a:t>kubectl node = a real Azure VM inside a VM Scale Set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Rounded Rectangle 26"/>
          <p:cNvSpPr/>
          <p:nvPr/>
        </p:nvSpPr>
        <p:spPr>
          <a:xfrm>
            <a:off x="367560" y="4096440"/>
            <a:ext cx="4218480" cy="400680"/>
          </a:xfrm>
          <a:prstGeom prst="roundRect">
            <a:avLst>
              <a:gd name="adj" fmla="val 8000"/>
            </a:avLst>
          </a:prstGeom>
          <a:solidFill>
            <a:srgbClr val="25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8" name="Rounded Rectangle 27"/>
          <p:cNvSpPr/>
          <p:nvPr/>
        </p:nvSpPr>
        <p:spPr>
          <a:xfrm>
            <a:off x="367560" y="4096440"/>
            <a:ext cx="52920" cy="400680"/>
          </a:xfrm>
          <a:prstGeom prst="roundRect">
            <a:avLst>
              <a:gd name="adj" fmla="val 4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9" name="TextBox 28"/>
          <p:cNvSpPr/>
          <p:nvPr/>
        </p:nvSpPr>
        <p:spPr>
          <a:xfrm>
            <a:off x="495720" y="4114800"/>
            <a:ext cx="396216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ffd580"/>
                </a:solidFill>
                <a:latin typeface="Calibri"/>
              </a:rPr>
              <a:t>ACR Integration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TextBox 29"/>
          <p:cNvSpPr/>
          <p:nvPr/>
        </p:nvSpPr>
        <p:spPr>
          <a:xfrm>
            <a:off x="495720" y="4316040"/>
            <a:ext cx="396216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860" spc="-1" strike="noStrike">
                <a:solidFill>
                  <a:srgbClr val="a8b2d8"/>
                </a:solidFill>
                <a:latin typeface="Calibri"/>
              </a:rPr>
              <a:t>az aks update --attach-acr → AcrPull granted, no imagePullSecrets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Rounded Rectangle 30"/>
          <p:cNvSpPr/>
          <p:nvPr/>
        </p:nvSpPr>
        <p:spPr>
          <a:xfrm>
            <a:off x="4896000" y="1180080"/>
            <a:ext cx="3970440" cy="2705400"/>
          </a:xfrm>
          <a:prstGeom prst="roundRect">
            <a:avLst>
              <a:gd name="adj" fmla="val 10000"/>
            </a:avLst>
          </a:prstGeom>
          <a:solidFill>
            <a:srgbClr val="e8e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2" name="TextBox 31"/>
          <p:cNvSpPr/>
          <p:nvPr/>
        </p:nvSpPr>
        <p:spPr>
          <a:xfrm>
            <a:off x="5029200" y="1289880"/>
            <a:ext cx="3710520" cy="23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1a1e4f"/>
                </a:solidFill>
                <a:latin typeface="Calibri"/>
              </a:rPr>
              <a:t>Running Before You Deploy Anything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Rounded Rectangle 32"/>
          <p:cNvSpPr/>
          <p:nvPr/>
        </p:nvSpPr>
        <p:spPr>
          <a:xfrm>
            <a:off x="4989960" y="1599840"/>
            <a:ext cx="3710520" cy="308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4" name="TextBox 33"/>
          <p:cNvSpPr/>
          <p:nvPr/>
        </p:nvSpPr>
        <p:spPr>
          <a:xfrm>
            <a:off x="5040000" y="1599840"/>
            <a:ext cx="1448640" cy="30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980" spc="-1" strike="noStrike">
                <a:solidFill>
                  <a:srgbClr val="1a1e4f"/>
                </a:solidFill>
                <a:latin typeface="Calibri"/>
              </a:rPr>
              <a:t>CoreDNS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TextBox 34"/>
          <p:cNvSpPr/>
          <p:nvPr/>
        </p:nvSpPr>
        <p:spPr>
          <a:xfrm>
            <a:off x="6509880" y="1599840"/>
            <a:ext cx="2000520" cy="30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555c80"/>
                </a:solidFill>
                <a:latin typeface="Calibri"/>
              </a:rPr>
              <a:t>In-cluster DNS resolution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Rounded Rectangle 35"/>
          <p:cNvSpPr/>
          <p:nvPr/>
        </p:nvSpPr>
        <p:spPr>
          <a:xfrm>
            <a:off x="4989960" y="1959840"/>
            <a:ext cx="3710520" cy="308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7" name="TextBox 36"/>
          <p:cNvSpPr/>
          <p:nvPr/>
        </p:nvSpPr>
        <p:spPr>
          <a:xfrm>
            <a:off x="5040000" y="1959840"/>
            <a:ext cx="1448640" cy="30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980" spc="-1" strike="noStrike">
                <a:solidFill>
                  <a:srgbClr val="1a1e4f"/>
                </a:solidFill>
                <a:latin typeface="Calibri"/>
              </a:rPr>
              <a:t>Metrics Server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TextBox 37"/>
          <p:cNvSpPr/>
          <p:nvPr/>
        </p:nvSpPr>
        <p:spPr>
          <a:xfrm>
            <a:off x="6509880" y="1959840"/>
            <a:ext cx="2000520" cy="30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555c80"/>
                </a:solidFill>
                <a:latin typeface="Calibri"/>
              </a:rPr>
              <a:t>Powers kubectl top + HPA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Rounded Rectangle 38"/>
          <p:cNvSpPr/>
          <p:nvPr/>
        </p:nvSpPr>
        <p:spPr>
          <a:xfrm>
            <a:off x="4989960" y="2319840"/>
            <a:ext cx="3710520" cy="308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0" name="TextBox 39"/>
          <p:cNvSpPr/>
          <p:nvPr/>
        </p:nvSpPr>
        <p:spPr>
          <a:xfrm>
            <a:off x="5040000" y="2319840"/>
            <a:ext cx="1448640" cy="30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980" spc="-1" strike="noStrike">
                <a:solidFill>
                  <a:srgbClr val="1a1e4f"/>
                </a:solidFill>
                <a:latin typeface="Calibri"/>
              </a:rPr>
              <a:t>Azure CNS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Box 40"/>
          <p:cNvSpPr/>
          <p:nvPr/>
        </p:nvSpPr>
        <p:spPr>
          <a:xfrm>
            <a:off x="6509880" y="2319840"/>
            <a:ext cx="2000520" cy="30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555c80"/>
                </a:solidFill>
                <a:latin typeface="Calibri"/>
              </a:rPr>
              <a:t>Pod networking integration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Rounded Rectangle 41"/>
          <p:cNvSpPr/>
          <p:nvPr/>
        </p:nvSpPr>
        <p:spPr>
          <a:xfrm>
            <a:off x="4989960" y="2679840"/>
            <a:ext cx="3710520" cy="308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3" name="TextBox 42"/>
          <p:cNvSpPr/>
          <p:nvPr/>
        </p:nvSpPr>
        <p:spPr>
          <a:xfrm>
            <a:off x="5040000" y="2679840"/>
            <a:ext cx="1448640" cy="30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980" spc="-1" strike="noStrike">
                <a:solidFill>
                  <a:srgbClr val="1a1e4f"/>
                </a:solidFill>
                <a:latin typeface="Calibri"/>
              </a:rPr>
              <a:t>Azure File / Disk CSI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TextBox 43"/>
          <p:cNvSpPr/>
          <p:nvPr/>
        </p:nvSpPr>
        <p:spPr>
          <a:xfrm>
            <a:off x="6509880" y="2679840"/>
            <a:ext cx="2000520" cy="30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555c80"/>
                </a:solidFill>
                <a:latin typeface="Calibri"/>
              </a:rPr>
              <a:t>Persistent Volume drivers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Rounded Rectangle 44"/>
          <p:cNvSpPr/>
          <p:nvPr/>
        </p:nvSpPr>
        <p:spPr>
          <a:xfrm>
            <a:off x="4989960" y="3039840"/>
            <a:ext cx="3710520" cy="308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6" name="TextBox 45"/>
          <p:cNvSpPr/>
          <p:nvPr/>
        </p:nvSpPr>
        <p:spPr>
          <a:xfrm>
            <a:off x="5040000" y="3039840"/>
            <a:ext cx="1448640" cy="30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980" spc="-1" strike="noStrike">
                <a:solidFill>
                  <a:srgbClr val="1a1e4f"/>
                </a:solidFill>
                <a:latin typeface="Calibri"/>
              </a:rPr>
              <a:t>Kube Proxy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TextBox 46"/>
          <p:cNvSpPr/>
          <p:nvPr/>
        </p:nvSpPr>
        <p:spPr>
          <a:xfrm>
            <a:off x="6509880" y="3039840"/>
            <a:ext cx="2000520" cy="30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555c80"/>
                </a:solidFill>
                <a:latin typeface="Calibri"/>
              </a:rPr>
              <a:t>Service networking &amp; routing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78" name="Connector 47"/>
          <p:cNvCxnSpPr/>
          <p:nvPr/>
        </p:nvCxnSpPr>
        <p:spPr>
          <a:xfrm>
            <a:off x="4989960" y="3439800"/>
            <a:ext cx="3713400" cy="1440"/>
          </a:xfrm>
          <a:prstGeom prst="straightConnector1">
            <a:avLst/>
          </a:prstGeom>
          <a:ln w="9525">
            <a:solidFill>
              <a:srgbClr val="c8cdee"/>
            </a:solidFill>
            <a:round/>
          </a:ln>
        </p:spPr>
      </p:cxnSp>
      <p:sp>
        <p:nvSpPr>
          <p:cNvPr id="379" name="TextBox 48"/>
          <p:cNvSpPr/>
          <p:nvPr/>
        </p:nvSpPr>
        <p:spPr>
          <a:xfrm>
            <a:off x="5025960" y="3489840"/>
            <a:ext cx="3710520" cy="23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930" spc="-1" strike="noStrike">
                <a:solidFill>
                  <a:srgbClr val="555c80"/>
                </a:solidFill>
                <a:latin typeface="Calibri"/>
              </a:rPr>
              <a:t>Script: aks_cluster.sh — provision, connect, validate, repeat safely.</a:t>
            </a:r>
            <a:endParaRPr b="0" lang="en-US" sz="93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Rectangle 1"/>
          <p:cNvSpPr/>
          <p:nvPr/>
        </p:nvSpPr>
        <p:spPr>
          <a:xfrm>
            <a:off x="0" y="0"/>
            <a:ext cx="52920" cy="51422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1" name="TextBox 2"/>
          <p:cNvSpPr/>
          <p:nvPr/>
        </p:nvSpPr>
        <p:spPr>
          <a:xfrm>
            <a:off x="274320" y="228600"/>
            <a:ext cx="859356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850" spc="335" strike="noStrike">
                <a:solidFill>
                  <a:srgbClr val="f5a623"/>
                </a:solidFill>
                <a:latin typeface="Calibri"/>
              </a:rPr>
              <a:t>WEEK 2  ·  DAY 2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TextBox 3"/>
          <p:cNvSpPr/>
          <p:nvPr/>
        </p:nvSpPr>
        <p:spPr>
          <a:xfrm>
            <a:off x="274320" y="457200"/>
            <a:ext cx="479916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3000" spc="-1" strike="noStrike">
                <a:solidFill>
                  <a:srgbClr val="1a1e4f"/>
                </a:solidFill>
                <a:latin typeface="Cambria"/>
              </a:rPr>
              <a:t>AKS Workloads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Rounded Rectangle 4"/>
          <p:cNvSpPr/>
          <p:nvPr/>
        </p:nvSpPr>
        <p:spPr>
          <a:xfrm>
            <a:off x="4800600" y="228600"/>
            <a:ext cx="4030200" cy="798480"/>
          </a:xfrm>
          <a:prstGeom prst="roundRect">
            <a:avLst>
              <a:gd name="adj" fmla="val 10000"/>
            </a:avLst>
          </a:prstGeom>
          <a:solidFill>
            <a:srgbClr val="141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4" name="TextBox 5"/>
          <p:cNvSpPr/>
          <p:nvPr/>
        </p:nvSpPr>
        <p:spPr>
          <a:xfrm>
            <a:off x="4800600" y="228600"/>
            <a:ext cx="3899880" cy="79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</a:pPr>
            <a:r>
              <a:rPr b="0" lang="en-US" sz="1200" spc="-1" strike="noStrike">
                <a:solidFill>
                  <a:srgbClr val="f5a623"/>
                </a:solidFill>
                <a:latin typeface="Calibri"/>
              </a:rPr>
              <a:t>Verified live: BusyBox load generator drove pod CPU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30000"/>
              </a:lnSpc>
            </a:pPr>
            <a:r>
              <a:rPr b="0" lang="en-US" sz="1200" spc="-1" strike="noStrike">
                <a:solidFill>
                  <a:srgbClr val="f5a623"/>
                </a:solidFill>
                <a:latin typeface="Calibri"/>
              </a:rPr>
              <a:t>from 1% → 32% — HPA evaluated real metrics.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Rounded Rectangle 6"/>
          <p:cNvSpPr/>
          <p:nvPr/>
        </p:nvSpPr>
        <p:spPr>
          <a:xfrm>
            <a:off x="237600" y="1180080"/>
            <a:ext cx="4218480" cy="3698640"/>
          </a:xfrm>
          <a:prstGeom prst="roundRect">
            <a:avLst>
              <a:gd name="adj" fmla="val 10000"/>
            </a:avLst>
          </a:prstGeom>
          <a:solidFill>
            <a:srgbClr val="0f1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86" name="Picture 7" descr="scale_white.png"/>
          <p:cNvPicPr/>
          <p:nvPr/>
        </p:nvPicPr>
        <p:blipFill>
          <a:blip r:embed="rId1"/>
          <a:stretch/>
        </p:blipFill>
        <p:spPr>
          <a:xfrm>
            <a:off x="367560" y="1310040"/>
            <a:ext cx="338400" cy="338400"/>
          </a:xfrm>
          <a:prstGeom prst="rect">
            <a:avLst/>
          </a:prstGeom>
          <a:ln w="0">
            <a:noFill/>
          </a:ln>
        </p:spPr>
      </p:pic>
      <p:sp>
        <p:nvSpPr>
          <p:cNvPr id="387" name="TextBox 8"/>
          <p:cNvSpPr/>
          <p:nvPr/>
        </p:nvSpPr>
        <p:spPr>
          <a:xfrm>
            <a:off x="367560" y="1720080"/>
            <a:ext cx="395856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5a623"/>
                </a:solidFill>
                <a:latin typeface="Calibri"/>
              </a:rPr>
              <a:t>Day 2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TextBox 9"/>
          <p:cNvSpPr/>
          <p:nvPr/>
        </p:nvSpPr>
        <p:spPr>
          <a:xfrm>
            <a:off x="367560" y="1929960"/>
            <a:ext cx="395856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</a:rPr>
              <a:t>Deployment → Live Traffic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TextBox 10"/>
          <p:cNvSpPr/>
          <p:nvPr/>
        </p:nvSpPr>
        <p:spPr>
          <a:xfrm>
            <a:off x="367560" y="2250000"/>
            <a:ext cx="3958560" cy="27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i="1" lang="en-US" sz="1100" spc="-1" strike="noStrike">
                <a:solidFill>
                  <a:srgbClr val="a8b2d8"/>
                </a:solidFill>
                <a:latin typeface="Calibri"/>
              </a:rPr>
              <a:t>“</a:t>
            </a:r>
            <a:r>
              <a:rPr b="0" i="1" lang="en-US" sz="1100" spc="-1" strike="noStrike">
                <a:solidFill>
                  <a:srgbClr val="a8b2d8"/>
                </a:solidFill>
                <a:latin typeface="Calibri"/>
              </a:rPr>
              <a:t>Azure networking takes over where Minikube stopped.”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TextBox 11"/>
          <p:cNvSpPr/>
          <p:nvPr/>
        </p:nvSpPr>
        <p:spPr>
          <a:xfrm>
            <a:off x="367560" y="2570040"/>
            <a:ext cx="3958560" cy="149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01520" indent="-101520">
              <a:lnSpc>
                <a:spcPct val="132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a8b2d8"/>
                </a:solidFill>
                <a:latin typeface="Calibri"/>
              </a:rPr>
              <a:t>Deployment → ReplicaSet → 2 Pods (10.244.0.x)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>
              <a:lnSpc>
                <a:spcPct val="132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a8b2d8"/>
                </a:solidFill>
                <a:latin typeface="Calibri"/>
              </a:rPr>
              <a:t>type: LoadBalancer → Azure assigns a Public IP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>
              <a:lnSpc>
                <a:spcPct val="132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a8b2d8"/>
                </a:solidFill>
                <a:latin typeface="Calibri"/>
              </a:rPr>
              <a:t>NGINX Ingress Controller installed via Helm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>
              <a:lnSpc>
                <a:spcPct val="132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a8b2d8"/>
                </a:solidFill>
                <a:latin typeface="Calibri"/>
              </a:rPr>
              <a:t>Scaled manually: 2 → 3 replicas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>
              <a:lnSpc>
                <a:spcPct val="132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a8b2d8"/>
                </a:solidFill>
                <a:latin typeface="Calibri"/>
              </a:rPr>
              <a:t>HPA: min 3 / max 10 pods @ 50% target CPU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Rounded Rectangle 12"/>
          <p:cNvSpPr/>
          <p:nvPr/>
        </p:nvSpPr>
        <p:spPr>
          <a:xfrm>
            <a:off x="384120" y="4114800"/>
            <a:ext cx="3958560" cy="478440"/>
          </a:xfrm>
          <a:prstGeom prst="roundRect">
            <a:avLst>
              <a:gd name="adj" fmla="val 10000"/>
            </a:avLst>
          </a:prstGeom>
          <a:solidFill>
            <a:srgbClr val="141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2" name="TextBox 13"/>
          <p:cNvSpPr/>
          <p:nvPr/>
        </p:nvSpPr>
        <p:spPr>
          <a:xfrm>
            <a:off x="457200" y="4114800"/>
            <a:ext cx="3885480" cy="47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2000"/>
              </a:lnSpc>
            </a:pPr>
            <a:r>
              <a:rPr b="0" lang="en-US" sz="1100" spc="-1" strike="noStrike">
                <a:solidFill>
                  <a:srgbClr val="f5a623"/>
                </a:solidFill>
                <a:latin typeface="Calibri"/>
              </a:rPr>
              <a:t>One Ingress + routing rules replaces one Public IP per service — lower cost, lower complexity.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Rounded Rectangle 14"/>
          <p:cNvSpPr/>
          <p:nvPr/>
        </p:nvSpPr>
        <p:spPr>
          <a:xfrm>
            <a:off x="4700160" y="1180080"/>
            <a:ext cx="4130640" cy="3698640"/>
          </a:xfrm>
          <a:prstGeom prst="roundRect">
            <a:avLst>
              <a:gd name="adj" fmla="val 10000"/>
            </a:avLst>
          </a:prstGeom>
          <a:solidFill>
            <a:srgbClr val="e8e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94" name="Picture 15" descr="k8s_wheel_orange.png"/>
          <p:cNvPicPr/>
          <p:nvPr/>
        </p:nvPicPr>
        <p:blipFill>
          <a:blip r:embed="rId2"/>
          <a:stretch/>
        </p:blipFill>
        <p:spPr>
          <a:xfrm>
            <a:off x="4830120" y="1289880"/>
            <a:ext cx="278640" cy="278640"/>
          </a:xfrm>
          <a:prstGeom prst="rect">
            <a:avLst/>
          </a:prstGeom>
          <a:ln w="0">
            <a:noFill/>
          </a:ln>
        </p:spPr>
      </p:pic>
      <p:sp>
        <p:nvSpPr>
          <p:cNvPr id="395" name="TextBox 16"/>
          <p:cNvSpPr/>
          <p:nvPr/>
        </p:nvSpPr>
        <p:spPr>
          <a:xfrm>
            <a:off x="5159880" y="1289880"/>
            <a:ext cx="3540600" cy="27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1a1e4f"/>
                </a:solidFill>
                <a:latin typeface="Calibri"/>
              </a:rPr>
              <a:t>Azure Networking Service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TextBox 17"/>
          <p:cNvSpPr/>
          <p:nvPr/>
        </p:nvSpPr>
        <p:spPr>
          <a:xfrm>
            <a:off x="4830120" y="1620000"/>
            <a:ext cx="3870720" cy="23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i="1" lang="en-US" sz="1000" spc="-1" strike="noStrike">
                <a:solidFill>
                  <a:srgbClr val="555c80"/>
                </a:solidFill>
                <a:latin typeface="Calibri"/>
              </a:rPr>
              <a:t>“</a:t>
            </a:r>
            <a:r>
              <a:rPr b="0" i="1" lang="en-US" sz="1000" spc="-1" strike="noStrike">
                <a:solidFill>
                  <a:srgbClr val="555c80"/>
                </a:solidFill>
                <a:latin typeface="Calibri"/>
              </a:rPr>
              <a:t>From Pod to public traffic in five hops.”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Box 18"/>
          <p:cNvSpPr/>
          <p:nvPr/>
        </p:nvSpPr>
        <p:spPr>
          <a:xfrm>
            <a:off x="4830120" y="1940040"/>
            <a:ext cx="3870720" cy="2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5a623"/>
                </a:solidFill>
                <a:latin typeface="Calibri"/>
              </a:rPr>
              <a:t>Traffic Flow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Rounded Rectangle 19"/>
          <p:cNvSpPr/>
          <p:nvPr/>
        </p:nvSpPr>
        <p:spPr>
          <a:xfrm>
            <a:off x="4830120" y="2189880"/>
            <a:ext cx="1096560" cy="418680"/>
          </a:xfrm>
          <a:prstGeom prst="roundRect">
            <a:avLst>
              <a:gd name="adj" fmla="val 12000"/>
            </a:avLst>
          </a:prstGeom>
          <a:solidFill>
            <a:srgbClr val="2a2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9" name="TextBox 20"/>
          <p:cNvSpPr/>
          <p:nvPr/>
        </p:nvSpPr>
        <p:spPr>
          <a:xfrm>
            <a:off x="4830120" y="2330640"/>
            <a:ext cx="111276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0160" rIns="2016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</a:rPr>
              <a:t>Pod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TextBox 21"/>
          <p:cNvSpPr/>
          <p:nvPr/>
        </p:nvSpPr>
        <p:spPr>
          <a:xfrm>
            <a:off x="5970960" y="2286000"/>
            <a:ext cx="1645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300" spc="-1" strike="noStrike">
                <a:solidFill>
                  <a:srgbClr val="f5a623"/>
                </a:solidFill>
                <a:latin typeface="Arial"/>
              </a:rPr>
              <a:t>→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Rounded Rectangle 22"/>
          <p:cNvSpPr/>
          <p:nvPr/>
        </p:nvSpPr>
        <p:spPr>
          <a:xfrm>
            <a:off x="6172200" y="2189880"/>
            <a:ext cx="1096560" cy="418680"/>
          </a:xfrm>
          <a:prstGeom prst="roundRect">
            <a:avLst>
              <a:gd name="adj" fmla="val 12000"/>
            </a:avLst>
          </a:prstGeom>
          <a:solidFill>
            <a:srgbClr val="2a2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2" name="TextBox 23"/>
          <p:cNvSpPr/>
          <p:nvPr/>
        </p:nvSpPr>
        <p:spPr>
          <a:xfrm>
            <a:off x="6172200" y="2330640"/>
            <a:ext cx="114228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0160" rIns="2016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</a:rPr>
              <a:t>Service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TextBox 24"/>
          <p:cNvSpPr/>
          <p:nvPr/>
        </p:nvSpPr>
        <p:spPr>
          <a:xfrm>
            <a:off x="7324200" y="2286000"/>
            <a:ext cx="1645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300" spc="-1" strike="noStrike">
                <a:solidFill>
                  <a:srgbClr val="f5a623"/>
                </a:solidFill>
                <a:latin typeface="Arial"/>
              </a:rPr>
              <a:t>→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Rounded Rectangle 25"/>
          <p:cNvSpPr/>
          <p:nvPr/>
        </p:nvSpPr>
        <p:spPr>
          <a:xfrm>
            <a:off x="7543800" y="2189880"/>
            <a:ext cx="1097280" cy="418680"/>
          </a:xfrm>
          <a:prstGeom prst="roundRect">
            <a:avLst>
              <a:gd name="adj" fmla="val 12000"/>
            </a:avLst>
          </a:prstGeom>
          <a:solidFill>
            <a:srgbClr val="2a2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5" name="TextBox 26"/>
          <p:cNvSpPr/>
          <p:nvPr/>
        </p:nvSpPr>
        <p:spPr>
          <a:xfrm>
            <a:off x="7543800" y="2330640"/>
            <a:ext cx="109728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0160" rIns="2016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</a:rPr>
              <a:t>Endpoints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Rounded Rectangle 27"/>
          <p:cNvSpPr/>
          <p:nvPr/>
        </p:nvSpPr>
        <p:spPr>
          <a:xfrm>
            <a:off x="4830120" y="2720160"/>
            <a:ext cx="1096560" cy="418680"/>
          </a:xfrm>
          <a:prstGeom prst="roundRect">
            <a:avLst>
              <a:gd name="adj" fmla="val 12000"/>
            </a:avLst>
          </a:prstGeom>
          <a:solidFill>
            <a:srgbClr val="2a2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7" name="TextBox 28"/>
          <p:cNvSpPr/>
          <p:nvPr/>
        </p:nvSpPr>
        <p:spPr>
          <a:xfrm>
            <a:off x="4830120" y="2860920"/>
            <a:ext cx="111276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0160" rIns="2016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</a:rPr>
              <a:t>Azure LB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TextBox 29"/>
          <p:cNvSpPr/>
          <p:nvPr/>
        </p:nvSpPr>
        <p:spPr>
          <a:xfrm>
            <a:off x="5970960" y="2788920"/>
            <a:ext cx="1645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300" spc="-1" strike="noStrike">
                <a:solidFill>
                  <a:srgbClr val="f5a623"/>
                </a:solidFill>
                <a:latin typeface="Arial"/>
              </a:rPr>
              <a:t>→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Rounded Rectangle 30"/>
          <p:cNvSpPr/>
          <p:nvPr/>
        </p:nvSpPr>
        <p:spPr>
          <a:xfrm>
            <a:off x="6172200" y="2720160"/>
            <a:ext cx="1096560" cy="418680"/>
          </a:xfrm>
          <a:prstGeom prst="roundRect">
            <a:avLst>
              <a:gd name="adj" fmla="val 12000"/>
            </a:avLst>
          </a:prstGeom>
          <a:solidFill>
            <a:srgbClr val="2a2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0" name="TextBox 31"/>
          <p:cNvSpPr/>
          <p:nvPr/>
        </p:nvSpPr>
        <p:spPr>
          <a:xfrm>
            <a:off x="6172200" y="2860920"/>
            <a:ext cx="109728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0160" rIns="2016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</a:rPr>
              <a:t>Public IP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TextBox 32"/>
          <p:cNvSpPr/>
          <p:nvPr/>
        </p:nvSpPr>
        <p:spPr>
          <a:xfrm>
            <a:off x="7324200" y="2788920"/>
            <a:ext cx="1645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300" spc="-1" strike="noStrike">
                <a:solidFill>
                  <a:srgbClr val="f5a623"/>
                </a:solidFill>
                <a:latin typeface="Arial"/>
              </a:rPr>
              <a:t>→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Rounded Rectangle 33"/>
          <p:cNvSpPr/>
          <p:nvPr/>
        </p:nvSpPr>
        <p:spPr>
          <a:xfrm>
            <a:off x="7543800" y="2720160"/>
            <a:ext cx="1096560" cy="418680"/>
          </a:xfrm>
          <a:prstGeom prst="roundRect">
            <a:avLst>
              <a:gd name="adj" fmla="val 12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3" name="TextBox 34"/>
          <p:cNvSpPr/>
          <p:nvPr/>
        </p:nvSpPr>
        <p:spPr>
          <a:xfrm>
            <a:off x="7543800" y="2860920"/>
            <a:ext cx="109656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0160" rIns="2016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0f1035"/>
                </a:solidFill>
                <a:latin typeface="Calibri"/>
              </a:rPr>
              <a:t>Browser 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TextBox 35"/>
          <p:cNvSpPr/>
          <p:nvPr/>
        </p:nvSpPr>
        <p:spPr>
          <a:xfrm>
            <a:off x="4830120" y="3340080"/>
            <a:ext cx="3870720" cy="2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5a623"/>
                </a:solidFill>
                <a:latin typeface="Calibri"/>
              </a:rPr>
              <a:t>Service Details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TextBox 36"/>
          <p:cNvSpPr/>
          <p:nvPr/>
        </p:nvSpPr>
        <p:spPr>
          <a:xfrm>
            <a:off x="4830120" y="3620160"/>
            <a:ext cx="818640" cy="24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1000" spc="-1" strike="noStrike">
                <a:solidFill>
                  <a:srgbClr val="1a1e4f"/>
                </a:solidFill>
                <a:latin typeface="Calibri"/>
              </a:rPr>
              <a:t>Service: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TextBox 37"/>
          <p:cNvSpPr/>
          <p:nvPr/>
        </p:nvSpPr>
        <p:spPr>
          <a:xfrm>
            <a:off x="5649840" y="3620160"/>
            <a:ext cx="3050640" cy="24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950" spc="-1" strike="noStrike">
                <a:solidFill>
                  <a:srgbClr val="555c80"/>
                </a:solidFill>
                <a:latin typeface="Courier New"/>
              </a:rPr>
              <a:t>type: LoadBalancer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TextBox 38"/>
          <p:cNvSpPr/>
          <p:nvPr/>
        </p:nvSpPr>
        <p:spPr>
          <a:xfrm>
            <a:off x="4830120" y="3899880"/>
            <a:ext cx="818640" cy="24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1000" spc="-1" strike="noStrike">
                <a:solidFill>
                  <a:srgbClr val="1a1e4f"/>
                </a:solidFill>
                <a:latin typeface="Calibri"/>
              </a:rPr>
              <a:t>Selector: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TextBox 39"/>
          <p:cNvSpPr/>
          <p:nvPr/>
        </p:nvSpPr>
        <p:spPr>
          <a:xfrm>
            <a:off x="5649840" y="3899880"/>
            <a:ext cx="3050640" cy="24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950" spc="-1" strike="noStrike">
                <a:solidFill>
                  <a:srgbClr val="555c80"/>
                </a:solidFill>
                <a:latin typeface="Courier New"/>
              </a:rPr>
              <a:t>app=nginx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TextBox 40"/>
          <p:cNvSpPr/>
          <p:nvPr/>
        </p:nvSpPr>
        <p:spPr>
          <a:xfrm>
            <a:off x="4830120" y="4179960"/>
            <a:ext cx="818640" cy="24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1000" spc="-1" strike="noStrike">
                <a:solidFill>
                  <a:srgbClr val="1a1e4f"/>
                </a:solidFill>
                <a:latin typeface="Calibri"/>
              </a:rPr>
              <a:t>Ingress: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TextBox 41"/>
          <p:cNvSpPr/>
          <p:nvPr/>
        </p:nvSpPr>
        <p:spPr>
          <a:xfrm>
            <a:off x="5649840" y="4179960"/>
            <a:ext cx="3050640" cy="24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950" spc="-1" strike="noStrike">
                <a:solidFill>
                  <a:srgbClr val="555c80"/>
                </a:solidFill>
                <a:latin typeface="Courier New"/>
              </a:rPr>
              <a:t>nginx-ingress (Helm)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TextBox 42"/>
          <p:cNvSpPr/>
          <p:nvPr/>
        </p:nvSpPr>
        <p:spPr>
          <a:xfrm>
            <a:off x="4830120" y="4460040"/>
            <a:ext cx="818640" cy="24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1000" spc="-1" strike="noStrike">
                <a:solidFill>
                  <a:srgbClr val="1a1e4f"/>
                </a:solidFill>
                <a:latin typeface="Calibri"/>
              </a:rPr>
              <a:t>HPA: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TextBox 43"/>
          <p:cNvSpPr/>
          <p:nvPr/>
        </p:nvSpPr>
        <p:spPr>
          <a:xfrm>
            <a:off x="5649840" y="4460040"/>
            <a:ext cx="3050640" cy="24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950" spc="-1" strike="noStrike">
                <a:solidFill>
                  <a:srgbClr val="555c80"/>
                </a:solidFill>
                <a:latin typeface="Courier New"/>
              </a:rPr>
              <a:t>min 3 · max 10 · 50% CPU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0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Rectangle 1"/>
          <p:cNvSpPr/>
          <p:nvPr/>
        </p:nvSpPr>
        <p:spPr>
          <a:xfrm>
            <a:off x="0" y="0"/>
            <a:ext cx="52920" cy="51422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4" name="TextBox 2"/>
          <p:cNvSpPr/>
          <p:nvPr/>
        </p:nvSpPr>
        <p:spPr>
          <a:xfrm>
            <a:off x="274320" y="228600"/>
            <a:ext cx="859356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850" spc="335" strike="noStrike">
                <a:solidFill>
                  <a:srgbClr val="f5a623"/>
                </a:solidFill>
                <a:latin typeface="Calibri"/>
              </a:rPr>
              <a:t>WEEK 2  ·  DAYS 3–4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5" name="TextBox 3"/>
          <p:cNvSpPr/>
          <p:nvPr/>
        </p:nvSpPr>
        <p:spPr>
          <a:xfrm>
            <a:off x="274320" y="457200"/>
            <a:ext cx="669888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Cambria"/>
              </a:rPr>
              <a:t>CI/CD Pipeline &amp; Delivery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TextBox 4"/>
          <p:cNvSpPr/>
          <p:nvPr/>
        </p:nvSpPr>
        <p:spPr>
          <a:xfrm>
            <a:off x="274320" y="1019880"/>
            <a:ext cx="8593560" cy="27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</a:rPr>
              <a:t>Day 3 wired Azure DevOps repos and a first pipeline. Day 4 made every git push deploy itself to AKS.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7" name="Rounded Rectangle 5"/>
          <p:cNvSpPr/>
          <p:nvPr/>
        </p:nvSpPr>
        <p:spPr>
          <a:xfrm>
            <a:off x="237600" y="1479960"/>
            <a:ext cx="1557720" cy="978480"/>
          </a:xfrm>
          <a:prstGeom prst="roundRect">
            <a:avLst>
              <a:gd name="adj" fmla="val 10000"/>
            </a:avLst>
          </a:prstGeom>
          <a:solidFill>
            <a:srgbClr val="2a2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8" name="TextBox 6"/>
          <p:cNvSpPr/>
          <p:nvPr/>
        </p:nvSpPr>
        <p:spPr>
          <a:xfrm>
            <a:off x="237600" y="1569960"/>
            <a:ext cx="1557720" cy="23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Git Push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9" name="TextBox 7"/>
          <p:cNvSpPr/>
          <p:nvPr/>
        </p:nvSpPr>
        <p:spPr>
          <a:xfrm>
            <a:off x="277560" y="1829880"/>
            <a:ext cx="1477440" cy="58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ct val="118000"/>
              </a:lnSpc>
            </a:pPr>
            <a:r>
              <a:rPr b="0" lang="en-US" sz="870" spc="-1" strike="noStrike">
                <a:solidFill>
                  <a:srgbClr val="a8b2d8"/>
                </a:solidFill>
                <a:latin typeface="Courier New"/>
              </a:rPr>
              <a:t>main branch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18000"/>
              </a:lnSpc>
            </a:pPr>
            <a:r>
              <a:rPr b="0" lang="en-US" sz="870" spc="-1" strike="noStrike">
                <a:solidFill>
                  <a:srgbClr val="a8b2d8"/>
                </a:solidFill>
                <a:latin typeface="Courier New"/>
              </a:rPr>
              <a:t>azure-pipelines.yml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0" name="TextBox 8"/>
          <p:cNvSpPr/>
          <p:nvPr/>
        </p:nvSpPr>
        <p:spPr>
          <a:xfrm>
            <a:off x="1795320" y="1848240"/>
            <a:ext cx="2023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600" spc="-1" strike="noStrike">
                <a:solidFill>
                  <a:srgbClr val="f5a623"/>
                </a:solidFill>
                <a:latin typeface="Arial"/>
              </a:rPr>
              <a:t>→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1" name="Rounded Rectangle 9"/>
          <p:cNvSpPr/>
          <p:nvPr/>
        </p:nvSpPr>
        <p:spPr>
          <a:xfrm>
            <a:off x="1996560" y="1479960"/>
            <a:ext cx="1557720" cy="978480"/>
          </a:xfrm>
          <a:prstGeom prst="roundRect">
            <a:avLst>
              <a:gd name="adj" fmla="val 10000"/>
            </a:avLst>
          </a:prstGeom>
          <a:solidFill>
            <a:srgbClr val="2a2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2" name="TextBox 10"/>
          <p:cNvSpPr/>
          <p:nvPr/>
        </p:nvSpPr>
        <p:spPr>
          <a:xfrm>
            <a:off x="1996560" y="1569960"/>
            <a:ext cx="1557720" cy="23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Build Image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3" name="TextBox 11"/>
          <p:cNvSpPr/>
          <p:nvPr/>
        </p:nvSpPr>
        <p:spPr>
          <a:xfrm>
            <a:off x="2036520" y="1829880"/>
            <a:ext cx="1477440" cy="58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ct val="118000"/>
              </a:lnSpc>
            </a:pPr>
            <a:r>
              <a:rPr b="0" lang="en-US" sz="870" spc="-1" strike="noStrike">
                <a:solidFill>
                  <a:srgbClr val="a8b2d8"/>
                </a:solidFill>
                <a:latin typeface="Courier New"/>
              </a:rPr>
              <a:t>Docker@2 task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18000"/>
              </a:lnSpc>
            </a:pPr>
            <a:r>
              <a:rPr b="0" lang="en-US" sz="870" spc="-1" strike="noStrike">
                <a:solidFill>
                  <a:srgbClr val="a8b2d8"/>
                </a:solidFill>
                <a:latin typeface="Courier New"/>
              </a:rPr>
              <a:t>multi-arch buildx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4" name="TextBox 12"/>
          <p:cNvSpPr/>
          <p:nvPr/>
        </p:nvSpPr>
        <p:spPr>
          <a:xfrm>
            <a:off x="3554280" y="1848240"/>
            <a:ext cx="2023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600" spc="-1" strike="noStrike">
                <a:solidFill>
                  <a:srgbClr val="f5a623"/>
                </a:solidFill>
                <a:latin typeface="Arial"/>
              </a:rPr>
              <a:t>→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5" name="Rounded Rectangle 13"/>
          <p:cNvSpPr/>
          <p:nvPr/>
        </p:nvSpPr>
        <p:spPr>
          <a:xfrm>
            <a:off x="3755520" y="1479960"/>
            <a:ext cx="1557720" cy="978480"/>
          </a:xfrm>
          <a:prstGeom prst="roundRect">
            <a:avLst>
              <a:gd name="adj" fmla="val 10000"/>
            </a:avLst>
          </a:prstGeom>
          <a:solidFill>
            <a:srgbClr val="2a2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6" name="TextBox 14"/>
          <p:cNvSpPr/>
          <p:nvPr/>
        </p:nvSpPr>
        <p:spPr>
          <a:xfrm>
            <a:off x="3755520" y="1569960"/>
            <a:ext cx="1557720" cy="23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Push to ACR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7" name="TextBox 15"/>
          <p:cNvSpPr/>
          <p:nvPr/>
        </p:nvSpPr>
        <p:spPr>
          <a:xfrm>
            <a:off x="3795480" y="1829880"/>
            <a:ext cx="1477440" cy="58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ct val="118000"/>
              </a:lnSpc>
            </a:pPr>
            <a:r>
              <a:rPr b="0" lang="en-US" sz="870" spc="-1" strike="noStrike">
                <a:solidFill>
                  <a:srgbClr val="a8b2d8"/>
                </a:solidFill>
                <a:latin typeface="Courier New"/>
              </a:rPr>
              <a:t>acr-connection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18000"/>
              </a:lnSpc>
            </a:pPr>
            <a:r>
              <a:rPr b="0" lang="en-US" sz="870" spc="-1" strike="noStrike">
                <a:solidFill>
                  <a:srgbClr val="a8b2d8"/>
                </a:solidFill>
                <a:latin typeface="Courier New"/>
              </a:rPr>
              <a:t>tag: $(Build.BuildId)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8" name="TextBox 16"/>
          <p:cNvSpPr/>
          <p:nvPr/>
        </p:nvSpPr>
        <p:spPr>
          <a:xfrm>
            <a:off x="5313600" y="1848240"/>
            <a:ext cx="2023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600" spc="-1" strike="noStrike">
                <a:solidFill>
                  <a:srgbClr val="f5a623"/>
                </a:solidFill>
                <a:latin typeface="Arial"/>
              </a:rPr>
              <a:t>→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9" name="Rounded Rectangle 17"/>
          <p:cNvSpPr/>
          <p:nvPr/>
        </p:nvSpPr>
        <p:spPr>
          <a:xfrm>
            <a:off x="5514480" y="1479960"/>
            <a:ext cx="1557720" cy="978480"/>
          </a:xfrm>
          <a:prstGeom prst="roundRect">
            <a:avLst>
              <a:gd name="adj" fmla="val 10000"/>
            </a:avLst>
          </a:prstGeom>
          <a:solidFill>
            <a:srgbClr val="2a2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0" name="TextBox 18"/>
          <p:cNvSpPr/>
          <p:nvPr/>
        </p:nvSpPr>
        <p:spPr>
          <a:xfrm>
            <a:off x="5514480" y="1569960"/>
            <a:ext cx="1557720" cy="23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Deploy to AKS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1" name="TextBox 19"/>
          <p:cNvSpPr/>
          <p:nvPr/>
        </p:nvSpPr>
        <p:spPr>
          <a:xfrm>
            <a:off x="5554440" y="1829880"/>
            <a:ext cx="1477440" cy="58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ct val="118000"/>
              </a:lnSpc>
            </a:pPr>
            <a:r>
              <a:rPr b="0" lang="en-US" sz="870" spc="-1" strike="noStrike">
                <a:solidFill>
                  <a:srgbClr val="a8b2d8"/>
                </a:solidFill>
                <a:latin typeface="Courier New"/>
              </a:rPr>
              <a:t>kubectl set image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18000"/>
              </a:lnSpc>
            </a:pPr>
            <a:r>
              <a:rPr b="0" lang="en-US" sz="870" spc="-1" strike="noStrike">
                <a:solidFill>
                  <a:srgbClr val="a8b2d8"/>
                </a:solidFill>
                <a:latin typeface="Courier New"/>
              </a:rPr>
              <a:t>flask-app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2" name="TextBox 20"/>
          <p:cNvSpPr/>
          <p:nvPr/>
        </p:nvSpPr>
        <p:spPr>
          <a:xfrm>
            <a:off x="7072560" y="1848240"/>
            <a:ext cx="2023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600" spc="-1" strike="noStrike">
                <a:solidFill>
                  <a:srgbClr val="f5a623"/>
                </a:solidFill>
                <a:latin typeface="Arial"/>
              </a:rPr>
              <a:t>→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3" name="Rounded Rectangle 21"/>
          <p:cNvSpPr/>
          <p:nvPr/>
        </p:nvSpPr>
        <p:spPr>
          <a:xfrm>
            <a:off x="7273440" y="1479960"/>
            <a:ext cx="1557720" cy="978480"/>
          </a:xfrm>
          <a:prstGeom prst="roundRect">
            <a:avLst>
              <a:gd name="adj" fmla="val 1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4" name="TextBox 22"/>
          <p:cNvSpPr/>
          <p:nvPr/>
        </p:nvSpPr>
        <p:spPr>
          <a:xfrm>
            <a:off x="7273440" y="1569960"/>
            <a:ext cx="1557720" cy="23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0f1035"/>
                </a:solidFill>
                <a:latin typeface="Calibri"/>
              </a:rPr>
              <a:t>Live App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5" name="TextBox 23"/>
          <p:cNvSpPr/>
          <p:nvPr/>
        </p:nvSpPr>
        <p:spPr>
          <a:xfrm>
            <a:off x="7313760" y="1829880"/>
            <a:ext cx="1477440" cy="58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ct val="118000"/>
              </a:lnSpc>
            </a:pPr>
            <a:r>
              <a:rPr b="0" lang="en-US" sz="870" spc="-1" strike="noStrike">
                <a:solidFill>
                  <a:srgbClr val="3a3310"/>
                </a:solidFill>
                <a:latin typeface="Courier New"/>
              </a:rPr>
              <a:t>RollingUpdate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18000"/>
              </a:lnSpc>
            </a:pPr>
            <a:r>
              <a:rPr b="0" lang="en-US" sz="870" spc="-1" strike="noStrike">
                <a:solidFill>
                  <a:srgbClr val="3a3310"/>
                </a:solidFill>
                <a:latin typeface="Courier New"/>
              </a:rPr>
              <a:t>maxUnavailable: 0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6" name="Rounded Rectangle 24"/>
          <p:cNvSpPr/>
          <p:nvPr/>
        </p:nvSpPr>
        <p:spPr>
          <a:xfrm>
            <a:off x="237600" y="2700000"/>
            <a:ext cx="2759760" cy="2178720"/>
          </a:xfrm>
          <a:prstGeom prst="roundRect">
            <a:avLst>
              <a:gd name="adj" fmla="val 10000"/>
            </a:avLst>
          </a:prstGeom>
          <a:solidFill>
            <a:srgbClr val="2a2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7" name="Rounded Rectangle 25"/>
          <p:cNvSpPr/>
          <p:nvPr/>
        </p:nvSpPr>
        <p:spPr>
          <a:xfrm>
            <a:off x="367560" y="2829960"/>
            <a:ext cx="268560" cy="268560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0f1035"/>
                </a:solidFill>
                <a:latin typeface="Calibri"/>
              </a:rPr>
              <a:t>01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TextBox 26"/>
          <p:cNvSpPr/>
          <p:nvPr/>
        </p:nvSpPr>
        <p:spPr>
          <a:xfrm>
            <a:off x="717480" y="2829960"/>
            <a:ext cx="214992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Repos &amp; Pipeline Basics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449" name="Connector 27"/>
          <p:cNvCxnSpPr/>
          <p:nvPr/>
        </p:nvCxnSpPr>
        <p:spPr>
          <a:xfrm>
            <a:off x="367560" y="3159720"/>
            <a:ext cx="2502360" cy="1440"/>
          </a:xfrm>
          <a:prstGeom prst="straightConnector1">
            <a:avLst/>
          </a:prstGeom>
          <a:ln w="9525">
            <a:solidFill>
              <a:srgbClr val="3a3f7a"/>
            </a:solidFill>
            <a:round/>
          </a:ln>
        </p:spPr>
      </p:cxnSp>
      <p:sp>
        <p:nvSpPr>
          <p:cNvPr id="450" name="TextBox 28"/>
          <p:cNvSpPr/>
          <p:nvPr/>
        </p:nvSpPr>
        <p:spPr>
          <a:xfrm>
            <a:off x="367560" y="3269880"/>
            <a:ext cx="2499840" cy="15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01520" indent="-101520">
              <a:lnSpc>
                <a:spcPct val="122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a8b2d8"/>
                </a:solidFill>
                <a:latin typeface="Calibri"/>
              </a:rPr>
              <a:t>Azure DevOps org + project created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101520" indent="-101520">
              <a:lnSpc>
                <a:spcPct val="122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a8b2d8"/>
                </a:solidFill>
                <a:latin typeface="Calibri"/>
              </a:rPr>
              <a:t>Repo pushed, remote added to main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101520" indent="-101520">
              <a:lnSpc>
                <a:spcPct val="122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a8b2d8"/>
                </a:solidFill>
                <a:latin typeface="Calibri"/>
              </a:rPr>
              <a:t>azure-pipelines.yml: echo + build step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101520" indent="-101520">
              <a:lnSpc>
                <a:spcPct val="122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a8b2d8"/>
                </a:solidFill>
                <a:latin typeface="Calibri"/>
              </a:rPr>
              <a:t>Auto-triggered on every commit to main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1" name="Rounded Rectangle 29"/>
          <p:cNvSpPr/>
          <p:nvPr/>
        </p:nvSpPr>
        <p:spPr>
          <a:xfrm>
            <a:off x="3128760" y="2700000"/>
            <a:ext cx="2759760" cy="2178720"/>
          </a:xfrm>
          <a:prstGeom prst="roundRect">
            <a:avLst>
              <a:gd name="adj" fmla="val 10000"/>
            </a:avLst>
          </a:prstGeom>
          <a:solidFill>
            <a:srgbClr val="2a2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2" name="Rounded Rectangle 30"/>
          <p:cNvSpPr/>
          <p:nvPr/>
        </p:nvSpPr>
        <p:spPr>
          <a:xfrm>
            <a:off x="3258720" y="2829960"/>
            <a:ext cx="268560" cy="268560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0f1035"/>
                </a:solidFill>
                <a:latin typeface="Calibri"/>
              </a:rPr>
              <a:t>02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TextBox 31"/>
          <p:cNvSpPr/>
          <p:nvPr/>
        </p:nvSpPr>
        <p:spPr>
          <a:xfrm>
            <a:off x="3608640" y="2829960"/>
            <a:ext cx="214992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Secure Build &amp; Push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454" name="Connector 32"/>
          <p:cNvCxnSpPr/>
          <p:nvPr/>
        </p:nvCxnSpPr>
        <p:spPr>
          <a:xfrm>
            <a:off x="3258720" y="3159720"/>
            <a:ext cx="2502720" cy="1440"/>
          </a:xfrm>
          <a:prstGeom prst="straightConnector1">
            <a:avLst/>
          </a:prstGeom>
          <a:ln w="9525">
            <a:solidFill>
              <a:srgbClr val="3a3f7a"/>
            </a:solidFill>
            <a:round/>
          </a:ln>
        </p:spPr>
      </p:cxnSp>
      <p:sp>
        <p:nvSpPr>
          <p:cNvPr id="455" name="TextBox 33"/>
          <p:cNvSpPr/>
          <p:nvPr/>
        </p:nvSpPr>
        <p:spPr>
          <a:xfrm>
            <a:off x="3258720" y="3269880"/>
            <a:ext cx="2499840" cy="15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01520" indent="-101520">
              <a:lnSpc>
                <a:spcPct val="122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a8b2d8"/>
                </a:solidFill>
                <a:latin typeface="Calibri"/>
              </a:rPr>
              <a:t>Docker@2 build stage on every push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101520" indent="-101520">
              <a:lnSpc>
                <a:spcPct val="122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a8b2d8"/>
                </a:solidFill>
                <a:latin typeface="Calibri"/>
              </a:rPr>
              <a:t>Service Connection acr-connection — no passwords in YAML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101520" indent="-101520">
              <a:lnSpc>
                <a:spcPct val="122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a8b2d8"/>
                </a:solidFill>
                <a:latin typeface="Calibri"/>
              </a:rPr>
              <a:t>Image tagged by $(Build.BuildId)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101520" indent="-101520">
              <a:lnSpc>
                <a:spcPct val="122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a8b2d8"/>
                </a:solidFill>
                <a:latin typeface="Calibri"/>
              </a:rPr>
              <a:t>vibhavacrday4.azurecr.io/flask-app:9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6" name="Rounded Rectangle 34"/>
          <p:cNvSpPr/>
          <p:nvPr/>
        </p:nvSpPr>
        <p:spPr>
          <a:xfrm>
            <a:off x="6019920" y="2700000"/>
            <a:ext cx="2759760" cy="2178720"/>
          </a:xfrm>
          <a:prstGeom prst="roundRect">
            <a:avLst>
              <a:gd name="adj" fmla="val 10000"/>
            </a:avLst>
          </a:prstGeom>
          <a:solidFill>
            <a:srgbClr val="2a2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7" name="Rounded Rectangle 35"/>
          <p:cNvSpPr/>
          <p:nvPr/>
        </p:nvSpPr>
        <p:spPr>
          <a:xfrm>
            <a:off x="6149880" y="2829960"/>
            <a:ext cx="268560" cy="268560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0f1035"/>
                </a:solidFill>
                <a:latin typeface="Calibri"/>
              </a:rPr>
              <a:t>03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TextBox 36"/>
          <p:cNvSpPr/>
          <p:nvPr/>
        </p:nvSpPr>
        <p:spPr>
          <a:xfrm>
            <a:off x="6500160" y="2829960"/>
            <a:ext cx="214992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Production Debugging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459" name="Connector 37"/>
          <p:cNvCxnSpPr/>
          <p:nvPr/>
        </p:nvCxnSpPr>
        <p:spPr>
          <a:xfrm>
            <a:off x="6149880" y="3159720"/>
            <a:ext cx="2502720" cy="1440"/>
          </a:xfrm>
          <a:prstGeom prst="straightConnector1">
            <a:avLst/>
          </a:prstGeom>
          <a:ln w="9525">
            <a:solidFill>
              <a:srgbClr val="3a3f7a"/>
            </a:solidFill>
            <a:round/>
          </a:ln>
        </p:spPr>
      </p:cxnSp>
      <p:sp>
        <p:nvSpPr>
          <p:cNvPr id="460" name="TextBox 38"/>
          <p:cNvSpPr/>
          <p:nvPr/>
        </p:nvSpPr>
        <p:spPr>
          <a:xfrm>
            <a:off x="6149880" y="3269880"/>
            <a:ext cx="2499840" cy="15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01520" indent="-101520">
              <a:lnSpc>
                <a:spcPct val="122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a8b2d8"/>
                </a:solidFill>
                <a:latin typeface="Calibri"/>
              </a:rPr>
              <a:t>Hit: ImagePullBackOff on deploy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101520" indent="-101520">
              <a:lnSpc>
                <a:spcPct val="122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a8b2d8"/>
                </a:solidFill>
                <a:latin typeface="Calibri"/>
              </a:rPr>
              <a:t>AKS nodes were ARM64, image was AMD64-only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101520" indent="-101520">
              <a:lnSpc>
                <a:spcPct val="122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a8b2d8"/>
                </a:solidFill>
                <a:latin typeface="Calibri"/>
              </a:rPr>
              <a:t>Fixed with docker buildx --platform linux/amd64,linux/arm64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101520" indent="-101520">
              <a:lnSpc>
                <a:spcPct val="122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a8b2d8"/>
                </a:solidFill>
                <a:latin typeface="Calibri"/>
              </a:rPr>
              <a:t>RollingUpdate: maxSurge 1, zero downtime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Rectangle 1"/>
          <p:cNvSpPr/>
          <p:nvPr/>
        </p:nvSpPr>
        <p:spPr>
          <a:xfrm>
            <a:off x="0" y="0"/>
            <a:ext cx="52920" cy="51422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2" name="TextBox 2"/>
          <p:cNvSpPr/>
          <p:nvPr/>
        </p:nvSpPr>
        <p:spPr>
          <a:xfrm>
            <a:off x="274320" y="228600"/>
            <a:ext cx="859356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850" spc="335" strike="noStrike">
                <a:solidFill>
                  <a:srgbClr val="f5a623"/>
                </a:solidFill>
                <a:latin typeface="Calibri"/>
              </a:rPr>
              <a:t>WEEK 2  ·  DAYS 5–6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TextBox 3"/>
          <p:cNvSpPr/>
          <p:nvPr/>
        </p:nvSpPr>
        <p:spPr>
          <a:xfrm>
            <a:off x="274320" y="457200"/>
            <a:ext cx="63990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3000" spc="-1" strike="noStrike">
                <a:solidFill>
                  <a:srgbClr val="1a1e4f"/>
                </a:solidFill>
                <a:latin typeface="Cambria"/>
              </a:rPr>
              <a:t>Observability &amp; Hardening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Rounded Rectangle 4"/>
          <p:cNvSpPr/>
          <p:nvPr/>
        </p:nvSpPr>
        <p:spPr>
          <a:xfrm>
            <a:off x="237600" y="1180080"/>
            <a:ext cx="4218480" cy="3698640"/>
          </a:xfrm>
          <a:prstGeom prst="roundRect">
            <a:avLst>
              <a:gd name="adj" fmla="val 10000"/>
            </a:avLst>
          </a:prstGeom>
          <a:solidFill>
            <a:srgbClr val="1a1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465" name="Picture 5" descr="monitor_white.png"/>
          <p:cNvPicPr/>
          <p:nvPr/>
        </p:nvPicPr>
        <p:blipFill>
          <a:blip r:embed="rId1"/>
          <a:stretch/>
        </p:blipFill>
        <p:spPr>
          <a:xfrm>
            <a:off x="367560" y="1310040"/>
            <a:ext cx="338400" cy="338400"/>
          </a:xfrm>
          <a:prstGeom prst="rect">
            <a:avLst/>
          </a:prstGeom>
          <a:ln w="0">
            <a:noFill/>
          </a:ln>
        </p:spPr>
      </p:pic>
      <p:sp>
        <p:nvSpPr>
          <p:cNvPr id="466" name="TextBox 6"/>
          <p:cNvSpPr/>
          <p:nvPr/>
        </p:nvSpPr>
        <p:spPr>
          <a:xfrm>
            <a:off x="367560" y="1720080"/>
            <a:ext cx="395856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5a623"/>
                </a:solidFill>
                <a:latin typeface="Calibri"/>
              </a:rPr>
              <a:t>Day 5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TextBox 7"/>
          <p:cNvSpPr/>
          <p:nvPr/>
        </p:nvSpPr>
        <p:spPr>
          <a:xfrm>
            <a:off x="367560" y="1929960"/>
            <a:ext cx="395856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</a:rPr>
              <a:t>Monitoring &amp; Alerts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TextBox 8"/>
          <p:cNvSpPr/>
          <p:nvPr/>
        </p:nvSpPr>
        <p:spPr>
          <a:xfrm>
            <a:off x="367560" y="2250000"/>
            <a:ext cx="3958560" cy="27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i="1" lang="en-US" sz="1100" spc="-1" strike="noStrike">
                <a:solidFill>
                  <a:srgbClr val="a8b2d8"/>
                </a:solidFill>
                <a:latin typeface="Calibri"/>
              </a:rPr>
              <a:t>“</a:t>
            </a:r>
            <a:r>
              <a:rPr b="0" i="1" lang="en-US" sz="1100" spc="-1" strike="noStrike">
                <a:solidFill>
                  <a:srgbClr val="a8b2d8"/>
                </a:solidFill>
                <a:latin typeface="Calibri"/>
              </a:rPr>
              <a:t>See what the cluster is doing before it tells you something broke.”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TextBox 9"/>
          <p:cNvSpPr/>
          <p:nvPr/>
        </p:nvSpPr>
        <p:spPr>
          <a:xfrm>
            <a:off x="367560" y="2570040"/>
            <a:ext cx="3958560" cy="195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01520" indent="-101520">
              <a:lnSpc>
                <a:spcPct val="120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a8b2d8"/>
                </a:solidFill>
                <a:latin typeface="Calibri"/>
              </a:rPr>
              <a:t>Azure Monitor + Container Insights enabled on AKS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>
              <a:lnSpc>
                <a:spcPct val="120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a8b2d8"/>
                </a:solidFill>
                <a:latin typeface="Calibri"/>
              </a:rPr>
              <a:t>Log Analytics workspace linked to the cluster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>
              <a:lnSpc>
                <a:spcPct val="120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a8b2d8"/>
                </a:solidFill>
                <a:latin typeface="Calibri"/>
              </a:rPr>
              <a:t>KQL query: pod restarts in the last 24 hours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>
              <a:lnSpc>
                <a:spcPct val="120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a8b2d8"/>
                </a:solidFill>
                <a:latin typeface="Calibri"/>
              </a:rPr>
              <a:t>Metric alert: fires when pod CPU exceeds 80%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>
              <a:lnSpc>
                <a:spcPct val="120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a8b2d8"/>
                </a:solidFill>
                <a:latin typeface="Calibri"/>
              </a:rPr>
              <a:t>Verified by artificially spiking CPU with stress tool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Rounded Rectangle 10"/>
          <p:cNvSpPr/>
          <p:nvPr/>
        </p:nvSpPr>
        <p:spPr>
          <a:xfrm>
            <a:off x="367560" y="3887640"/>
            <a:ext cx="3958560" cy="478440"/>
          </a:xfrm>
          <a:prstGeom prst="roundRect">
            <a:avLst>
              <a:gd name="adj" fmla="val 10000"/>
            </a:avLst>
          </a:prstGeom>
          <a:solidFill>
            <a:srgbClr val="141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1" name="TextBox 11"/>
          <p:cNvSpPr/>
          <p:nvPr/>
        </p:nvSpPr>
        <p:spPr>
          <a:xfrm>
            <a:off x="477720" y="3887640"/>
            <a:ext cx="3738600" cy="47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2000"/>
              </a:lnSpc>
            </a:pPr>
            <a:r>
              <a:rPr b="0" lang="en-US" sz="1150" spc="-1" strike="noStrike">
                <a:solidFill>
                  <a:srgbClr val="f5a623"/>
                </a:solidFill>
                <a:latin typeface="Calibri"/>
              </a:rPr>
              <a:t>Dashboards and alert rules turn “is something wrong?” into a notification, not a guess.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Rounded Rectangle 12"/>
          <p:cNvSpPr/>
          <p:nvPr/>
        </p:nvSpPr>
        <p:spPr>
          <a:xfrm>
            <a:off x="367560" y="4487760"/>
            <a:ext cx="3958560" cy="290880"/>
          </a:xfrm>
          <a:prstGeom prst="roundRect">
            <a:avLst>
              <a:gd name="adj" fmla="val 45000"/>
            </a:avLst>
          </a:prstGeom>
          <a:solidFill>
            <a:srgbClr val="141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rIns="4500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f5a623"/>
                </a:solidFill>
                <a:latin typeface="Courier New"/>
              </a:rPr>
              <a:t>$ monitoring_setup.sh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3" name="Rounded Rectangle 13"/>
          <p:cNvSpPr/>
          <p:nvPr/>
        </p:nvSpPr>
        <p:spPr>
          <a:xfrm>
            <a:off x="4637520" y="1180080"/>
            <a:ext cx="4218480" cy="3698640"/>
          </a:xfrm>
          <a:prstGeom prst="roundRect">
            <a:avLst>
              <a:gd name="adj" fmla="val 10000"/>
            </a:avLst>
          </a:prstGeom>
          <a:solidFill>
            <a:srgbClr val="1a1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474" name="Picture 14" descr="shield_white.png"/>
          <p:cNvPicPr/>
          <p:nvPr/>
        </p:nvPicPr>
        <p:blipFill>
          <a:blip r:embed="rId2"/>
          <a:stretch/>
        </p:blipFill>
        <p:spPr>
          <a:xfrm>
            <a:off x="4767480" y="1310040"/>
            <a:ext cx="338400" cy="338400"/>
          </a:xfrm>
          <a:prstGeom prst="rect">
            <a:avLst/>
          </a:prstGeom>
          <a:ln w="0">
            <a:noFill/>
          </a:ln>
        </p:spPr>
      </p:pic>
      <p:sp>
        <p:nvSpPr>
          <p:cNvPr id="475" name="TextBox 15"/>
          <p:cNvSpPr/>
          <p:nvPr/>
        </p:nvSpPr>
        <p:spPr>
          <a:xfrm>
            <a:off x="4767480" y="1720080"/>
            <a:ext cx="395856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5a623"/>
                </a:solidFill>
                <a:latin typeface="Calibri"/>
              </a:rPr>
              <a:t>Day 6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TextBox 16"/>
          <p:cNvSpPr/>
          <p:nvPr/>
        </p:nvSpPr>
        <p:spPr>
          <a:xfrm>
            <a:off x="4767480" y="1929960"/>
            <a:ext cx="395856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</a:rPr>
              <a:t>Security &amp; RBAC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TextBox 17"/>
          <p:cNvSpPr/>
          <p:nvPr/>
        </p:nvSpPr>
        <p:spPr>
          <a:xfrm>
            <a:off x="4767480" y="2250000"/>
            <a:ext cx="3958560" cy="27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i="1" lang="en-US" sz="1100" spc="-1" strike="noStrike">
                <a:solidFill>
                  <a:srgbClr val="a8b2d8"/>
                </a:solidFill>
                <a:latin typeface="Calibri"/>
              </a:rPr>
              <a:t>“</a:t>
            </a:r>
            <a:r>
              <a:rPr b="0" i="1" lang="en-US" sz="1100" spc="-1" strike="noStrike">
                <a:solidFill>
                  <a:srgbClr val="a8b2d8"/>
                </a:solidFill>
                <a:latin typeface="Calibri"/>
              </a:rPr>
              <a:t>Least privilege, and no secrets left lying in YAML.”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TextBox 18"/>
          <p:cNvSpPr/>
          <p:nvPr/>
        </p:nvSpPr>
        <p:spPr>
          <a:xfrm>
            <a:off x="4767480" y="2570040"/>
            <a:ext cx="3958560" cy="195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01520" indent="-101520">
              <a:lnSpc>
                <a:spcPct val="120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a8b2d8"/>
                </a:solidFill>
                <a:latin typeface="Calibri"/>
              </a:rPr>
              <a:t>RBAC roles scoped to the resource group: Reader vs Contributor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>
              <a:lnSpc>
                <a:spcPct val="120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a8b2d8"/>
                </a:solidFill>
                <a:latin typeface="Calibri"/>
              </a:rPr>
              <a:t>Role assignment via az role assignment create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>
              <a:lnSpc>
                <a:spcPct val="120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a8b2d8"/>
                </a:solidFill>
                <a:latin typeface="Calibri"/>
              </a:rPr>
              <a:t>Azure Key Vault stores the database password as a secret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>
              <a:lnSpc>
                <a:spcPct val="120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a8b2d8"/>
                </a:solidFill>
                <a:latin typeface="Calibri"/>
              </a:rPr>
              <a:t>Secrets Store CSI driver pulls the secret into AKS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>
              <a:lnSpc>
                <a:spcPct val="120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a8b2d8"/>
                </a:solidFill>
                <a:latin typeface="Calibri"/>
              </a:rPr>
              <a:t>Microsoft Defender for Containers enabled on the cluster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Rounded Rectangle 19"/>
          <p:cNvSpPr/>
          <p:nvPr/>
        </p:nvSpPr>
        <p:spPr>
          <a:xfrm>
            <a:off x="4767480" y="3887640"/>
            <a:ext cx="3958560" cy="478440"/>
          </a:xfrm>
          <a:prstGeom prst="roundRect">
            <a:avLst>
              <a:gd name="adj" fmla="val 10000"/>
            </a:avLst>
          </a:prstGeom>
          <a:solidFill>
            <a:srgbClr val="141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0" name="TextBox 20"/>
          <p:cNvSpPr/>
          <p:nvPr/>
        </p:nvSpPr>
        <p:spPr>
          <a:xfrm>
            <a:off x="4877640" y="3887640"/>
            <a:ext cx="3738600" cy="47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2000"/>
              </a:lnSpc>
            </a:pPr>
            <a:r>
              <a:rPr b="0" lang="en-US" sz="1150" spc="-1" strike="noStrike">
                <a:solidFill>
                  <a:srgbClr val="f5a623"/>
                </a:solidFill>
                <a:latin typeface="Calibri"/>
              </a:rPr>
              <a:t>App reads its DB password from Key Vault at runtime — nothing sensitive ships in the image or manifest.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Rounded Rectangle 21"/>
          <p:cNvSpPr/>
          <p:nvPr/>
        </p:nvSpPr>
        <p:spPr>
          <a:xfrm>
            <a:off x="4767480" y="4487760"/>
            <a:ext cx="3958560" cy="290880"/>
          </a:xfrm>
          <a:prstGeom prst="roundRect">
            <a:avLst>
              <a:gd name="adj" fmla="val 45000"/>
            </a:avLst>
          </a:prstGeom>
          <a:solidFill>
            <a:srgbClr val="141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rIns="4500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f5a623"/>
                </a:solidFill>
                <a:latin typeface="Courier New"/>
              </a:rPr>
              <a:t>$ security_hardening.sh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Rectangle 1"/>
          <p:cNvSpPr/>
          <p:nvPr/>
        </p:nvSpPr>
        <p:spPr>
          <a:xfrm>
            <a:off x="0" y="0"/>
            <a:ext cx="52920" cy="51422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3" name="TextBox 2"/>
          <p:cNvSpPr/>
          <p:nvPr/>
        </p:nvSpPr>
        <p:spPr>
          <a:xfrm>
            <a:off x="274320" y="228600"/>
            <a:ext cx="859356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850" spc="335" strike="noStrike">
                <a:solidFill>
                  <a:srgbClr val="f5a623"/>
                </a:solidFill>
                <a:latin typeface="Calibri"/>
              </a:rPr>
              <a:t>KEY CONCEPTS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TextBox 3"/>
          <p:cNvSpPr/>
          <p:nvPr/>
        </p:nvSpPr>
        <p:spPr>
          <a:xfrm>
            <a:off x="274320" y="457200"/>
            <a:ext cx="859356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1a1e4f"/>
                </a:solidFill>
                <a:latin typeface="Cambria"/>
              </a:rPr>
              <a:t>Production Concepts Introduced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TextBox 4"/>
          <p:cNvSpPr/>
          <p:nvPr/>
        </p:nvSpPr>
        <p:spPr>
          <a:xfrm>
            <a:off x="237600" y="1149840"/>
            <a:ext cx="4478400" cy="23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1a1e4f"/>
                </a:solidFill>
                <a:latin typeface="Calibri"/>
              </a:rPr>
              <a:t>Minikube  vs  Azure Kubernetes Service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Rounded Rectangle 5"/>
          <p:cNvSpPr/>
          <p:nvPr/>
        </p:nvSpPr>
        <p:spPr>
          <a:xfrm>
            <a:off x="237600" y="1469880"/>
            <a:ext cx="1498680" cy="253440"/>
          </a:xfrm>
          <a:prstGeom prst="roundRect">
            <a:avLst>
              <a:gd name="adj" fmla="val 10000"/>
            </a:avLst>
          </a:prstGeom>
          <a:solidFill>
            <a:srgbClr val="1a1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7" name="Rounded Rectangle 6"/>
          <p:cNvSpPr/>
          <p:nvPr/>
        </p:nvSpPr>
        <p:spPr>
          <a:xfrm>
            <a:off x="1737720" y="1469880"/>
            <a:ext cx="1488600" cy="253440"/>
          </a:xfrm>
          <a:prstGeom prst="roundRect">
            <a:avLst>
              <a:gd name="adj" fmla="val 10000"/>
            </a:avLst>
          </a:prstGeom>
          <a:solidFill>
            <a:srgbClr val="141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8" name="TextBox 7"/>
          <p:cNvSpPr/>
          <p:nvPr/>
        </p:nvSpPr>
        <p:spPr>
          <a:xfrm>
            <a:off x="1737720" y="1469880"/>
            <a:ext cx="148860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</a:rPr>
              <a:t>Minikube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Rounded Rectangle 8"/>
          <p:cNvSpPr/>
          <p:nvPr/>
        </p:nvSpPr>
        <p:spPr>
          <a:xfrm>
            <a:off x="3227760" y="1469880"/>
            <a:ext cx="1488600" cy="253440"/>
          </a:xfrm>
          <a:prstGeom prst="roundRect">
            <a:avLst>
              <a:gd name="adj" fmla="val 1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0" name="TextBox 9"/>
          <p:cNvSpPr/>
          <p:nvPr/>
        </p:nvSpPr>
        <p:spPr>
          <a:xfrm>
            <a:off x="3227760" y="1469880"/>
            <a:ext cx="148860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050" spc="-1" strike="noStrike">
                <a:solidFill>
                  <a:srgbClr val="0f1035"/>
                </a:solidFill>
                <a:latin typeface="Calibri"/>
              </a:rPr>
              <a:t>AKS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Rectangle 10"/>
          <p:cNvSpPr/>
          <p:nvPr/>
        </p:nvSpPr>
        <p:spPr>
          <a:xfrm>
            <a:off x="237600" y="1744920"/>
            <a:ext cx="4478400" cy="253440"/>
          </a:xfrm>
          <a:prstGeom prst="rect">
            <a:avLst/>
          </a:prstGeom>
          <a:solidFill>
            <a:srgbClr val="e8e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2" name="TextBox 11"/>
          <p:cNvSpPr/>
          <p:nvPr/>
        </p:nvSpPr>
        <p:spPr>
          <a:xfrm>
            <a:off x="297720" y="1744920"/>
            <a:ext cx="14385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980" spc="-1" strike="noStrike">
                <a:solidFill>
                  <a:srgbClr val="1a1e4f"/>
                </a:solidFill>
                <a:latin typeface="Calibri"/>
              </a:rPr>
              <a:t>Control Plane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TextBox 12"/>
          <p:cNvSpPr/>
          <p:nvPr/>
        </p:nvSpPr>
        <p:spPr>
          <a:xfrm>
            <a:off x="1797480" y="1744920"/>
            <a:ext cx="13885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444a6a"/>
                </a:solidFill>
                <a:latin typeface="Courier New"/>
              </a:rPr>
              <a:t>User Managed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TextBox 13"/>
          <p:cNvSpPr/>
          <p:nvPr/>
        </p:nvSpPr>
        <p:spPr>
          <a:xfrm>
            <a:off x="3287520" y="1744920"/>
            <a:ext cx="13885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444a6a"/>
                </a:solidFill>
                <a:latin typeface="Courier New"/>
              </a:rPr>
              <a:t>Azure Managed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TextBox 14"/>
          <p:cNvSpPr/>
          <p:nvPr/>
        </p:nvSpPr>
        <p:spPr>
          <a:xfrm>
            <a:off x="297720" y="2000160"/>
            <a:ext cx="14385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980" spc="-1" strike="noStrike">
                <a:solidFill>
                  <a:srgbClr val="1a1e4f"/>
                </a:solidFill>
                <a:latin typeface="Calibri"/>
              </a:rPr>
              <a:t>Nodes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6" name="TextBox 15"/>
          <p:cNvSpPr/>
          <p:nvPr/>
        </p:nvSpPr>
        <p:spPr>
          <a:xfrm>
            <a:off x="1797480" y="2000160"/>
            <a:ext cx="13885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444a6a"/>
                </a:solidFill>
                <a:latin typeface="Courier New"/>
              </a:rPr>
              <a:t>Local VM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TextBox 16"/>
          <p:cNvSpPr/>
          <p:nvPr/>
        </p:nvSpPr>
        <p:spPr>
          <a:xfrm>
            <a:off x="3287520" y="2000160"/>
            <a:ext cx="13885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444a6a"/>
                </a:solidFill>
                <a:latin typeface="Courier New"/>
              </a:rPr>
              <a:t>Azure VMs (VMSS)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Rectangle 17"/>
          <p:cNvSpPr/>
          <p:nvPr/>
        </p:nvSpPr>
        <p:spPr>
          <a:xfrm>
            <a:off x="237600" y="2255040"/>
            <a:ext cx="4478400" cy="253440"/>
          </a:xfrm>
          <a:prstGeom prst="rect">
            <a:avLst/>
          </a:prstGeom>
          <a:solidFill>
            <a:srgbClr val="e8e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9" name="TextBox 18"/>
          <p:cNvSpPr/>
          <p:nvPr/>
        </p:nvSpPr>
        <p:spPr>
          <a:xfrm>
            <a:off x="297720" y="2255040"/>
            <a:ext cx="14385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980" spc="-1" strike="noStrike">
                <a:solidFill>
                  <a:srgbClr val="1a1e4f"/>
                </a:solidFill>
                <a:latin typeface="Calibri"/>
              </a:rPr>
              <a:t>Scaling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TextBox 19"/>
          <p:cNvSpPr/>
          <p:nvPr/>
        </p:nvSpPr>
        <p:spPr>
          <a:xfrm>
            <a:off x="1797480" y="2255040"/>
            <a:ext cx="13885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444a6a"/>
                </a:solidFill>
                <a:latin typeface="Courier New"/>
              </a:rPr>
              <a:t>Manual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TextBox 20"/>
          <p:cNvSpPr/>
          <p:nvPr/>
        </p:nvSpPr>
        <p:spPr>
          <a:xfrm>
            <a:off x="3287520" y="2255040"/>
            <a:ext cx="13885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444a6a"/>
                </a:solidFill>
                <a:latin typeface="Courier New"/>
              </a:rPr>
              <a:t>HPA + Managed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TextBox 21"/>
          <p:cNvSpPr/>
          <p:nvPr/>
        </p:nvSpPr>
        <p:spPr>
          <a:xfrm>
            <a:off x="297720" y="2509920"/>
            <a:ext cx="14385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980" spc="-1" strike="noStrike">
                <a:solidFill>
                  <a:srgbClr val="1a1e4f"/>
                </a:solidFill>
                <a:latin typeface="Calibri"/>
              </a:rPr>
              <a:t>Load Balancer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3" name="TextBox 22"/>
          <p:cNvSpPr/>
          <p:nvPr/>
        </p:nvSpPr>
        <p:spPr>
          <a:xfrm>
            <a:off x="1797480" y="2509920"/>
            <a:ext cx="13885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444a6a"/>
                </a:solidFill>
                <a:latin typeface="Courier New"/>
              </a:rPr>
              <a:t>Limited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4" name="TextBox 23"/>
          <p:cNvSpPr/>
          <p:nvPr/>
        </p:nvSpPr>
        <p:spPr>
          <a:xfrm>
            <a:off x="3287520" y="2509920"/>
            <a:ext cx="13885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444a6a"/>
                </a:solidFill>
                <a:latin typeface="Courier New"/>
              </a:rPr>
              <a:t>Native Azure LB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Rectangle 24"/>
          <p:cNvSpPr/>
          <p:nvPr/>
        </p:nvSpPr>
        <p:spPr>
          <a:xfrm>
            <a:off x="237600" y="2765160"/>
            <a:ext cx="4478400" cy="253440"/>
          </a:xfrm>
          <a:prstGeom prst="rect">
            <a:avLst/>
          </a:prstGeom>
          <a:solidFill>
            <a:srgbClr val="e8e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6" name="TextBox 25"/>
          <p:cNvSpPr/>
          <p:nvPr/>
        </p:nvSpPr>
        <p:spPr>
          <a:xfrm>
            <a:off x="297720" y="2765160"/>
            <a:ext cx="14385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980" spc="-1" strike="noStrike">
                <a:solidFill>
                  <a:srgbClr val="1a1e4f"/>
                </a:solidFill>
                <a:latin typeface="Calibri"/>
              </a:rPr>
              <a:t>Identity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7" name="TextBox 26"/>
          <p:cNvSpPr/>
          <p:nvPr/>
        </p:nvSpPr>
        <p:spPr>
          <a:xfrm>
            <a:off x="1797480" y="2765160"/>
            <a:ext cx="13885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444a6a"/>
                </a:solidFill>
                <a:latin typeface="Courier New"/>
              </a:rPr>
              <a:t>None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TextBox 27"/>
          <p:cNvSpPr/>
          <p:nvPr/>
        </p:nvSpPr>
        <p:spPr>
          <a:xfrm>
            <a:off x="3287520" y="2765160"/>
            <a:ext cx="13885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444a6a"/>
                </a:solidFill>
                <a:latin typeface="Courier New"/>
              </a:rPr>
              <a:t>Managed Identity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TextBox 28"/>
          <p:cNvSpPr/>
          <p:nvPr/>
        </p:nvSpPr>
        <p:spPr>
          <a:xfrm>
            <a:off x="297720" y="3020040"/>
            <a:ext cx="14385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980" spc="-1" strike="noStrike">
                <a:solidFill>
                  <a:srgbClr val="1a1e4f"/>
                </a:solidFill>
                <a:latin typeface="Calibri"/>
              </a:rPr>
              <a:t>Registry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TextBox 29"/>
          <p:cNvSpPr/>
          <p:nvPr/>
        </p:nvSpPr>
        <p:spPr>
          <a:xfrm>
            <a:off x="1797480" y="3020040"/>
            <a:ext cx="13885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444a6a"/>
                </a:solidFill>
                <a:latin typeface="Courier New"/>
              </a:rPr>
              <a:t>Manual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TextBox 30"/>
          <p:cNvSpPr/>
          <p:nvPr/>
        </p:nvSpPr>
        <p:spPr>
          <a:xfrm>
            <a:off x="3287520" y="3020040"/>
            <a:ext cx="13885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444a6a"/>
                </a:solidFill>
                <a:latin typeface="Courier New"/>
              </a:rPr>
              <a:t>ACR Integration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Rounded Rectangle 31"/>
          <p:cNvSpPr/>
          <p:nvPr/>
        </p:nvSpPr>
        <p:spPr>
          <a:xfrm>
            <a:off x="5050080" y="1149840"/>
            <a:ext cx="3853440" cy="556200"/>
          </a:xfrm>
          <a:prstGeom prst="roundRect">
            <a:avLst>
              <a:gd name="adj" fmla="val 10000"/>
            </a:avLst>
          </a:prstGeom>
          <a:solidFill>
            <a:srgbClr val="0f1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3" name="Rounded Rectangle 32"/>
          <p:cNvSpPr/>
          <p:nvPr/>
        </p:nvSpPr>
        <p:spPr>
          <a:xfrm>
            <a:off x="5140080" y="1298880"/>
            <a:ext cx="258480" cy="25848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514" name="Picture 33" descr="k8s_wheel_orange.png"/>
          <p:cNvPicPr/>
          <p:nvPr/>
        </p:nvPicPr>
        <p:blipFill>
          <a:blip r:embed="rId1"/>
          <a:stretch/>
        </p:blipFill>
        <p:spPr>
          <a:xfrm>
            <a:off x="5191920" y="1350720"/>
            <a:ext cx="154440" cy="154440"/>
          </a:xfrm>
          <a:prstGeom prst="rect">
            <a:avLst/>
          </a:prstGeom>
          <a:ln w="0">
            <a:noFill/>
          </a:ln>
        </p:spPr>
      </p:pic>
      <p:sp>
        <p:nvSpPr>
          <p:cNvPr id="515" name="TextBox 34"/>
          <p:cNvSpPr/>
          <p:nvPr/>
        </p:nvSpPr>
        <p:spPr>
          <a:xfrm>
            <a:off x="5510160" y="1220040"/>
            <a:ext cx="330372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Managed Control Plane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TextBox 35"/>
          <p:cNvSpPr/>
          <p:nvPr/>
        </p:nvSpPr>
        <p:spPr>
          <a:xfrm>
            <a:off x="5510160" y="1431720"/>
            <a:ext cx="330372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2000"/>
              </a:lnSpc>
            </a:pPr>
            <a:r>
              <a:rPr b="0" lang="en-US" sz="830" spc="-1" strike="noStrike">
                <a:solidFill>
                  <a:srgbClr val="a8b2d8"/>
                </a:solidFill>
                <a:latin typeface="Calibri"/>
              </a:rPr>
              <a:t>Azure runs the API server, scheduler, and etcd — you manage workloads, not infra.</a:t>
            </a:r>
            <a:endParaRPr b="0" lang="en-US" sz="8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Rounded Rectangle 36"/>
          <p:cNvSpPr/>
          <p:nvPr/>
        </p:nvSpPr>
        <p:spPr>
          <a:xfrm>
            <a:off x="5050080" y="1797480"/>
            <a:ext cx="3853440" cy="556200"/>
          </a:xfrm>
          <a:prstGeom prst="roundRect">
            <a:avLst>
              <a:gd name="adj" fmla="val 10000"/>
            </a:avLst>
          </a:prstGeom>
          <a:solidFill>
            <a:srgbClr val="0f1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8" name="Rounded Rectangle 37"/>
          <p:cNvSpPr/>
          <p:nvPr/>
        </p:nvSpPr>
        <p:spPr>
          <a:xfrm>
            <a:off x="5140080" y="1946160"/>
            <a:ext cx="258480" cy="25848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519" name="Picture 38" descr="cycle_orange.png"/>
          <p:cNvPicPr/>
          <p:nvPr/>
        </p:nvPicPr>
        <p:blipFill>
          <a:blip r:embed="rId2"/>
          <a:stretch/>
        </p:blipFill>
        <p:spPr>
          <a:xfrm>
            <a:off x="5191920" y="1998360"/>
            <a:ext cx="154440" cy="154440"/>
          </a:xfrm>
          <a:prstGeom prst="rect">
            <a:avLst/>
          </a:prstGeom>
          <a:ln w="0">
            <a:noFill/>
          </a:ln>
        </p:spPr>
      </p:pic>
      <p:sp>
        <p:nvSpPr>
          <p:cNvPr id="520" name="TextBox 39"/>
          <p:cNvSpPr/>
          <p:nvPr/>
        </p:nvSpPr>
        <p:spPr>
          <a:xfrm>
            <a:off x="5510160" y="1867680"/>
            <a:ext cx="330372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Pipeline-Driven Delivery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TextBox 40"/>
          <p:cNvSpPr/>
          <p:nvPr/>
        </p:nvSpPr>
        <p:spPr>
          <a:xfrm>
            <a:off x="5510160" y="2079360"/>
            <a:ext cx="330372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2000"/>
              </a:lnSpc>
            </a:pPr>
            <a:r>
              <a:rPr b="0" lang="en-US" sz="830" spc="-1" strike="noStrike">
                <a:solidFill>
                  <a:srgbClr val="a8b2d8"/>
                </a:solidFill>
                <a:latin typeface="Calibri"/>
              </a:rPr>
              <a:t>Every git push builds, tags by Build ID, and deploys to AKS automatically.</a:t>
            </a:r>
            <a:endParaRPr b="0" lang="en-US" sz="8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Rounded Rectangle 41"/>
          <p:cNvSpPr/>
          <p:nvPr/>
        </p:nvSpPr>
        <p:spPr>
          <a:xfrm>
            <a:off x="5050080" y="2445120"/>
            <a:ext cx="3853440" cy="556200"/>
          </a:xfrm>
          <a:prstGeom prst="roundRect">
            <a:avLst>
              <a:gd name="adj" fmla="val 10000"/>
            </a:avLst>
          </a:prstGeom>
          <a:solidFill>
            <a:srgbClr val="0f1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3" name="Rounded Rectangle 42"/>
          <p:cNvSpPr/>
          <p:nvPr/>
        </p:nvSpPr>
        <p:spPr>
          <a:xfrm>
            <a:off x="5140080" y="2593800"/>
            <a:ext cx="258480" cy="25848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524" name="Picture 43" descr="monitor_orange.png"/>
          <p:cNvPicPr/>
          <p:nvPr/>
        </p:nvPicPr>
        <p:blipFill>
          <a:blip r:embed="rId3"/>
          <a:stretch/>
        </p:blipFill>
        <p:spPr>
          <a:xfrm>
            <a:off x="5191920" y="2645640"/>
            <a:ext cx="154440" cy="154440"/>
          </a:xfrm>
          <a:prstGeom prst="rect">
            <a:avLst/>
          </a:prstGeom>
          <a:ln w="0">
            <a:noFill/>
          </a:ln>
        </p:spPr>
      </p:pic>
      <p:sp>
        <p:nvSpPr>
          <p:cNvPr id="525" name="TextBox 44"/>
          <p:cNvSpPr/>
          <p:nvPr/>
        </p:nvSpPr>
        <p:spPr>
          <a:xfrm>
            <a:off x="5510160" y="2514960"/>
            <a:ext cx="330372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Observability by Default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TextBox 45"/>
          <p:cNvSpPr/>
          <p:nvPr/>
        </p:nvSpPr>
        <p:spPr>
          <a:xfrm>
            <a:off x="5510160" y="2727000"/>
            <a:ext cx="330372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2000"/>
              </a:lnSpc>
            </a:pPr>
            <a:r>
              <a:rPr b="0" lang="en-US" sz="830" spc="-1" strike="noStrike">
                <a:solidFill>
                  <a:srgbClr val="a8b2d8"/>
                </a:solidFill>
                <a:latin typeface="Calibri"/>
              </a:rPr>
              <a:t>Azure Monitor and KQL turn cluster health into alerts, not guesswork.</a:t>
            </a:r>
            <a:endParaRPr b="0" lang="en-US" sz="8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Rounded Rectangle 46"/>
          <p:cNvSpPr/>
          <p:nvPr/>
        </p:nvSpPr>
        <p:spPr>
          <a:xfrm>
            <a:off x="5050080" y="3092400"/>
            <a:ext cx="3853440" cy="556200"/>
          </a:xfrm>
          <a:prstGeom prst="roundRect">
            <a:avLst>
              <a:gd name="adj" fmla="val 10000"/>
            </a:avLst>
          </a:prstGeom>
          <a:solidFill>
            <a:srgbClr val="0f1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8" name="Rounded Rectangle 47"/>
          <p:cNvSpPr/>
          <p:nvPr/>
        </p:nvSpPr>
        <p:spPr>
          <a:xfrm>
            <a:off x="5140080" y="3241080"/>
            <a:ext cx="258480" cy="25848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529" name="Picture 48" descr="shield_orange.png"/>
          <p:cNvPicPr/>
          <p:nvPr/>
        </p:nvPicPr>
        <p:blipFill>
          <a:blip r:embed="rId4"/>
          <a:stretch/>
        </p:blipFill>
        <p:spPr>
          <a:xfrm>
            <a:off x="5191920" y="3293280"/>
            <a:ext cx="154440" cy="154440"/>
          </a:xfrm>
          <a:prstGeom prst="rect">
            <a:avLst/>
          </a:prstGeom>
          <a:ln w="0">
            <a:noFill/>
          </a:ln>
        </p:spPr>
      </p:pic>
      <p:sp>
        <p:nvSpPr>
          <p:cNvPr id="530" name="TextBox 49"/>
          <p:cNvSpPr/>
          <p:nvPr/>
        </p:nvSpPr>
        <p:spPr>
          <a:xfrm>
            <a:off x="5510160" y="3162600"/>
            <a:ext cx="330372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Least-Privilege by Default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TextBox 50"/>
          <p:cNvSpPr/>
          <p:nvPr/>
        </p:nvSpPr>
        <p:spPr>
          <a:xfrm>
            <a:off x="5510160" y="3374280"/>
            <a:ext cx="330372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2000"/>
              </a:lnSpc>
            </a:pPr>
            <a:r>
              <a:rPr b="0" lang="en-US" sz="830" spc="-1" strike="noStrike">
                <a:solidFill>
                  <a:srgbClr val="a8b2d8"/>
                </a:solidFill>
                <a:latin typeface="Calibri"/>
              </a:rPr>
              <a:t>RBAC scoping and Key Vault remove passwords from YAML entirely.</a:t>
            </a:r>
            <a:endParaRPr b="0" lang="en-US" sz="8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TextBox 51"/>
          <p:cNvSpPr/>
          <p:nvPr/>
        </p:nvSpPr>
        <p:spPr>
          <a:xfrm>
            <a:off x="321480" y="3650040"/>
            <a:ext cx="447840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8892b8"/>
                </a:solidFill>
                <a:latin typeface="Calibri"/>
              </a:rPr>
              <a:t>Production Concepts Shipped This Week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Rounded Rectangle 52"/>
          <p:cNvSpPr/>
          <p:nvPr/>
        </p:nvSpPr>
        <p:spPr>
          <a:xfrm>
            <a:off x="255960" y="3970080"/>
            <a:ext cx="1517040" cy="358560"/>
          </a:xfrm>
          <a:prstGeom prst="roundRect">
            <a:avLst>
              <a:gd name="adj" fmla="val 22000"/>
            </a:avLst>
          </a:prstGeom>
          <a:solidFill>
            <a:srgbClr val="2a2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0120" rIns="6012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920" spc="-1" strike="noStrike">
                <a:solidFill>
                  <a:srgbClr val="ffffff"/>
                </a:solidFill>
                <a:latin typeface="Calibri"/>
              </a:rPr>
              <a:t>Managed Kubernetes</a:t>
            </a:r>
            <a:endParaRPr b="0" lang="en-US" sz="9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4" name="Rounded Rectangle 53"/>
          <p:cNvSpPr/>
          <p:nvPr/>
        </p:nvSpPr>
        <p:spPr>
          <a:xfrm>
            <a:off x="2030040" y="3970080"/>
            <a:ext cx="1517040" cy="358560"/>
          </a:xfrm>
          <a:prstGeom prst="roundRect">
            <a:avLst>
              <a:gd name="adj" fmla="val 22000"/>
            </a:avLst>
          </a:prstGeom>
          <a:solidFill>
            <a:srgbClr val="2a2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0120" rIns="6012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920" spc="-1" strike="noStrike">
                <a:solidFill>
                  <a:srgbClr val="ffffff"/>
                </a:solidFill>
                <a:latin typeface="Calibri"/>
              </a:rPr>
              <a:t>Service Discovery</a:t>
            </a:r>
            <a:endParaRPr b="0" lang="en-US" sz="9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5" name="Rounded Rectangle 54"/>
          <p:cNvSpPr/>
          <p:nvPr/>
        </p:nvSpPr>
        <p:spPr>
          <a:xfrm>
            <a:off x="3803760" y="3970080"/>
            <a:ext cx="1517040" cy="358560"/>
          </a:xfrm>
          <a:prstGeom prst="roundRect">
            <a:avLst>
              <a:gd name="adj" fmla="val 22000"/>
            </a:avLst>
          </a:prstGeom>
          <a:solidFill>
            <a:srgbClr val="2a2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0120" rIns="6012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920" spc="-1" strike="noStrike">
                <a:solidFill>
                  <a:srgbClr val="ffffff"/>
                </a:solidFill>
                <a:latin typeface="Calibri"/>
              </a:rPr>
              <a:t>Ingress Routing</a:t>
            </a:r>
            <a:endParaRPr b="0" lang="en-US" sz="9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6" name="Rounded Rectangle 55"/>
          <p:cNvSpPr/>
          <p:nvPr/>
        </p:nvSpPr>
        <p:spPr>
          <a:xfrm>
            <a:off x="5577840" y="3970080"/>
            <a:ext cx="1517040" cy="358560"/>
          </a:xfrm>
          <a:prstGeom prst="roundRect">
            <a:avLst>
              <a:gd name="adj" fmla="val 22000"/>
            </a:avLst>
          </a:prstGeom>
          <a:solidFill>
            <a:srgbClr val="2a2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0120" rIns="6012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920" spc="-1" strike="noStrike">
                <a:solidFill>
                  <a:srgbClr val="ffffff"/>
                </a:solidFill>
                <a:latin typeface="Calibri"/>
              </a:rPr>
              <a:t>Autoscaling (HPA)</a:t>
            </a:r>
            <a:endParaRPr b="0" lang="en-US" sz="9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7" name="Rounded Rectangle 56"/>
          <p:cNvSpPr/>
          <p:nvPr/>
        </p:nvSpPr>
        <p:spPr>
          <a:xfrm>
            <a:off x="7351920" y="3970080"/>
            <a:ext cx="1517040" cy="358560"/>
          </a:xfrm>
          <a:prstGeom prst="roundRect">
            <a:avLst>
              <a:gd name="adj" fmla="val 22000"/>
            </a:avLst>
          </a:prstGeom>
          <a:solidFill>
            <a:srgbClr val="2a2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0120" rIns="6012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920" spc="-1" strike="noStrike">
                <a:solidFill>
                  <a:srgbClr val="ffffff"/>
                </a:solidFill>
                <a:latin typeface="Calibri"/>
              </a:rPr>
              <a:t>CI/CD Automation</a:t>
            </a:r>
            <a:endParaRPr b="0" lang="en-US" sz="9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8" name="Rounded Rectangle 57"/>
          <p:cNvSpPr/>
          <p:nvPr/>
        </p:nvSpPr>
        <p:spPr>
          <a:xfrm>
            <a:off x="255960" y="4420080"/>
            <a:ext cx="1517040" cy="358560"/>
          </a:xfrm>
          <a:prstGeom prst="roundRect">
            <a:avLst>
              <a:gd name="adj" fmla="val 22000"/>
            </a:avLst>
          </a:prstGeom>
          <a:solidFill>
            <a:srgbClr val="2a2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0120" rIns="6012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920" spc="-1" strike="noStrike">
                <a:solidFill>
                  <a:srgbClr val="ffffff"/>
                </a:solidFill>
                <a:latin typeface="Calibri"/>
              </a:rPr>
              <a:t>Multi-Arch Builds</a:t>
            </a:r>
            <a:endParaRPr b="0" lang="en-US" sz="9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9" name="Rounded Rectangle 58"/>
          <p:cNvSpPr/>
          <p:nvPr/>
        </p:nvSpPr>
        <p:spPr>
          <a:xfrm>
            <a:off x="3803760" y="4441320"/>
            <a:ext cx="1517040" cy="358560"/>
          </a:xfrm>
          <a:prstGeom prst="roundRect">
            <a:avLst>
              <a:gd name="adj" fmla="val 22000"/>
            </a:avLst>
          </a:prstGeom>
          <a:solidFill>
            <a:srgbClr val="2a2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0120" rIns="6012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920" spc="-1" strike="noStrike">
                <a:solidFill>
                  <a:srgbClr val="ffffff"/>
                </a:solidFill>
                <a:latin typeface="Calibri"/>
              </a:rPr>
              <a:t>Observability</a:t>
            </a:r>
            <a:endParaRPr b="0" lang="en-US" sz="9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0" name="Rounded Rectangle 59"/>
          <p:cNvSpPr/>
          <p:nvPr/>
        </p:nvSpPr>
        <p:spPr>
          <a:xfrm>
            <a:off x="5577840" y="4441320"/>
            <a:ext cx="1517040" cy="358560"/>
          </a:xfrm>
          <a:prstGeom prst="roundRect">
            <a:avLst>
              <a:gd name="adj" fmla="val 22000"/>
            </a:avLst>
          </a:prstGeom>
          <a:solidFill>
            <a:srgbClr val="2a2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0120" rIns="6012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920" spc="-1" strike="noStrike">
                <a:solidFill>
                  <a:srgbClr val="ffffff"/>
                </a:solidFill>
                <a:latin typeface="Calibri"/>
              </a:rPr>
              <a:t>RBAC </a:t>
            </a:r>
            <a:endParaRPr b="0" lang="en-US" sz="9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1" name="Rounded Rectangle 1"/>
          <p:cNvSpPr/>
          <p:nvPr/>
        </p:nvSpPr>
        <p:spPr>
          <a:xfrm>
            <a:off x="7351920" y="4441320"/>
            <a:ext cx="1517040" cy="358560"/>
          </a:xfrm>
          <a:prstGeom prst="roundRect">
            <a:avLst>
              <a:gd name="adj" fmla="val 22000"/>
            </a:avLst>
          </a:prstGeom>
          <a:solidFill>
            <a:srgbClr val="2a2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0120" rIns="6012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920" spc="-1" strike="noStrike">
                <a:solidFill>
                  <a:srgbClr val="ffffff"/>
                </a:solidFill>
                <a:latin typeface="Calibri"/>
              </a:rPr>
              <a:t>Secrets</a:t>
            </a:r>
            <a:endParaRPr b="0" lang="en-US" sz="9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2" name="Rounded Rectangle 2"/>
          <p:cNvSpPr/>
          <p:nvPr/>
        </p:nvSpPr>
        <p:spPr>
          <a:xfrm>
            <a:off x="2030040" y="4441320"/>
            <a:ext cx="1517040" cy="358560"/>
          </a:xfrm>
          <a:prstGeom prst="roundRect">
            <a:avLst>
              <a:gd name="adj" fmla="val 22000"/>
            </a:avLst>
          </a:prstGeom>
          <a:solidFill>
            <a:srgbClr val="2a2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0120" rIns="6012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920" spc="-1" strike="noStrike">
                <a:solidFill>
                  <a:srgbClr val="ffffff"/>
                </a:solidFill>
                <a:latin typeface="Calibri"/>
              </a:rPr>
              <a:t>Multi-Arch Builds</a:t>
            </a:r>
            <a:endParaRPr b="0" lang="en-US" sz="92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0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Rectangle 1"/>
          <p:cNvSpPr/>
          <p:nvPr/>
        </p:nvSpPr>
        <p:spPr>
          <a:xfrm>
            <a:off x="0" y="0"/>
            <a:ext cx="52920" cy="51422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4" name="TextBox 2"/>
          <p:cNvSpPr/>
          <p:nvPr/>
        </p:nvSpPr>
        <p:spPr>
          <a:xfrm>
            <a:off x="274320" y="228600"/>
            <a:ext cx="859356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850" spc="335" strike="noStrike">
                <a:solidFill>
                  <a:srgbClr val="f5a623"/>
                </a:solidFill>
                <a:latin typeface="Calibri"/>
              </a:rPr>
              <a:t>WEEK 2  ·  CONCLUSION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5" name="TextBox 3"/>
          <p:cNvSpPr/>
          <p:nvPr/>
        </p:nvSpPr>
        <p:spPr>
          <a:xfrm>
            <a:off x="274320" y="479880"/>
            <a:ext cx="8593560" cy="69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3800" spc="-1" strike="noStrike">
                <a:solidFill>
                  <a:srgbClr val="ffffff"/>
                </a:solidFill>
                <a:latin typeface="Cambria"/>
              </a:rPr>
              <a:t>Week 2 Completed.</a:t>
            </a:r>
            <a:endParaRPr b="0" lang="en-US" sz="3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6" name="TextBox 4"/>
          <p:cNvSpPr/>
          <p:nvPr/>
        </p:nvSpPr>
        <p:spPr>
          <a:xfrm>
            <a:off x="274320" y="1230120"/>
            <a:ext cx="8593560" cy="55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28000"/>
              </a:lnSpc>
            </a:pPr>
            <a:r>
              <a:rPr b="0" i="1" lang="en-US" sz="1300" spc="-1" strike="noStrike">
                <a:solidFill>
                  <a:srgbClr val="f5a623"/>
                </a:solidFill>
                <a:latin typeface="Calibri"/>
              </a:rPr>
              <a:t>“</a:t>
            </a:r>
            <a:r>
              <a:rPr b="0" i="1" lang="en-US" sz="1300" spc="-1" strike="noStrike">
                <a:solidFill>
                  <a:srgbClr val="f5a623"/>
                </a:solidFill>
                <a:latin typeface="Calibri"/>
              </a:rPr>
              <a:t>You did not just deploy to Kubernetes. You learned what Azure quietly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28000"/>
              </a:lnSpc>
            </a:pPr>
            <a:r>
              <a:rPr b="0" i="1" lang="en-US" sz="1300" spc="-1" strike="noStrike">
                <a:solidFill>
                  <a:srgbClr val="f5a623"/>
                </a:solidFill>
                <a:latin typeface="Calibri"/>
              </a:rPr>
              <a:t>automates — and built the pipeline that gets your code there.”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7" name="Rounded Rectangle 5"/>
          <p:cNvSpPr/>
          <p:nvPr/>
        </p:nvSpPr>
        <p:spPr>
          <a:xfrm>
            <a:off x="237600" y="1919880"/>
            <a:ext cx="1637640" cy="2398680"/>
          </a:xfrm>
          <a:prstGeom prst="roundRect">
            <a:avLst>
              <a:gd name="adj" fmla="val 10000"/>
            </a:avLst>
          </a:prstGeom>
          <a:solidFill>
            <a:srgbClr val="2a2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8" name="TextBox 6"/>
          <p:cNvSpPr/>
          <p:nvPr/>
        </p:nvSpPr>
        <p:spPr>
          <a:xfrm>
            <a:off x="237600" y="2070000"/>
            <a:ext cx="1637640" cy="69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4000" spc="-1" strike="noStrike">
                <a:solidFill>
                  <a:srgbClr val="f5a623"/>
                </a:solidFill>
                <a:latin typeface="Cambria"/>
              </a:rPr>
              <a:t>C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9" name="TextBox 7"/>
          <p:cNvSpPr/>
          <p:nvPr/>
        </p:nvSpPr>
        <p:spPr>
          <a:xfrm>
            <a:off x="237600" y="2800080"/>
            <a:ext cx="16376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Cluster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550" name="Connector 8"/>
          <p:cNvCxnSpPr/>
          <p:nvPr/>
        </p:nvCxnSpPr>
        <p:spPr>
          <a:xfrm>
            <a:off x="532440" y="3109680"/>
            <a:ext cx="1050480" cy="1440"/>
          </a:xfrm>
          <a:prstGeom prst="straightConnector1">
            <a:avLst/>
          </a:prstGeom>
          <a:ln w="9525">
            <a:solidFill>
              <a:srgbClr val="4a4f8a"/>
            </a:solidFill>
            <a:round/>
          </a:ln>
        </p:spPr>
      </p:cxnSp>
      <p:sp>
        <p:nvSpPr>
          <p:cNvPr id="551" name="TextBox 9"/>
          <p:cNvSpPr/>
          <p:nvPr/>
        </p:nvSpPr>
        <p:spPr>
          <a:xfrm>
            <a:off x="307440" y="3200040"/>
            <a:ext cx="1497600" cy="103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ct val="140000"/>
              </a:lnSpc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</a:rPr>
              <a:t>AKS · Node Pools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40000"/>
              </a:lnSpc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</a:rPr>
              <a:t>Managed Identity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40000"/>
              </a:lnSpc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</a:rPr>
              <a:t>ACR Integration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2" name="Rounded Rectangle 10"/>
          <p:cNvSpPr/>
          <p:nvPr/>
        </p:nvSpPr>
        <p:spPr>
          <a:xfrm>
            <a:off x="1976760" y="1919880"/>
            <a:ext cx="1637640" cy="2398680"/>
          </a:xfrm>
          <a:prstGeom prst="roundRect">
            <a:avLst>
              <a:gd name="adj" fmla="val 10000"/>
            </a:avLst>
          </a:prstGeom>
          <a:solidFill>
            <a:srgbClr val="2a2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3" name="TextBox 11"/>
          <p:cNvSpPr/>
          <p:nvPr/>
        </p:nvSpPr>
        <p:spPr>
          <a:xfrm>
            <a:off x="1976760" y="2070000"/>
            <a:ext cx="1637640" cy="69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4000" spc="-1" strike="noStrike">
                <a:solidFill>
                  <a:srgbClr val="f5a623"/>
                </a:solidFill>
                <a:latin typeface="Cambria"/>
              </a:rPr>
              <a:t>D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4" name="TextBox 12"/>
          <p:cNvSpPr/>
          <p:nvPr/>
        </p:nvSpPr>
        <p:spPr>
          <a:xfrm>
            <a:off x="1976760" y="2800080"/>
            <a:ext cx="16376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Deploy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555" name="Connector 13"/>
          <p:cNvCxnSpPr/>
          <p:nvPr/>
        </p:nvCxnSpPr>
        <p:spPr>
          <a:xfrm>
            <a:off x="2271600" y="3109680"/>
            <a:ext cx="1050120" cy="1440"/>
          </a:xfrm>
          <a:prstGeom prst="straightConnector1">
            <a:avLst/>
          </a:prstGeom>
          <a:ln w="9525">
            <a:solidFill>
              <a:srgbClr val="4a4f8a"/>
            </a:solidFill>
            <a:round/>
          </a:ln>
        </p:spPr>
      </p:cxnSp>
      <p:sp>
        <p:nvSpPr>
          <p:cNvPr id="556" name="TextBox 14"/>
          <p:cNvSpPr/>
          <p:nvPr/>
        </p:nvSpPr>
        <p:spPr>
          <a:xfrm>
            <a:off x="2046600" y="3200040"/>
            <a:ext cx="1497600" cy="103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ct val="140000"/>
              </a:lnSpc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</a:rPr>
              <a:t>LoadBalancer · Ingress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40000"/>
              </a:lnSpc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</a:rPr>
              <a:t>HPA Autoscaling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40000"/>
              </a:lnSpc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</a:rPr>
              <a:t>Rolling Updates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7" name="Rounded Rectangle 15"/>
          <p:cNvSpPr/>
          <p:nvPr/>
        </p:nvSpPr>
        <p:spPr>
          <a:xfrm>
            <a:off x="3715560" y="1919880"/>
            <a:ext cx="1637640" cy="2398680"/>
          </a:xfrm>
          <a:prstGeom prst="roundRect">
            <a:avLst>
              <a:gd name="adj" fmla="val 10000"/>
            </a:avLst>
          </a:prstGeom>
          <a:solidFill>
            <a:srgbClr val="2a2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8" name="TextBox 16"/>
          <p:cNvSpPr/>
          <p:nvPr/>
        </p:nvSpPr>
        <p:spPr>
          <a:xfrm>
            <a:off x="3715560" y="2070000"/>
            <a:ext cx="1637640" cy="69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4000" spc="-1" strike="noStrike">
                <a:solidFill>
                  <a:srgbClr val="f5a623"/>
                </a:solidFill>
                <a:latin typeface="Cambria"/>
              </a:rPr>
              <a:t>P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9" name="TextBox 17"/>
          <p:cNvSpPr/>
          <p:nvPr/>
        </p:nvSpPr>
        <p:spPr>
          <a:xfrm>
            <a:off x="3715560" y="2800080"/>
            <a:ext cx="16376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Pipeline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560" name="Connector 18"/>
          <p:cNvCxnSpPr/>
          <p:nvPr/>
        </p:nvCxnSpPr>
        <p:spPr>
          <a:xfrm>
            <a:off x="4010400" y="3109680"/>
            <a:ext cx="1050480" cy="1440"/>
          </a:xfrm>
          <a:prstGeom prst="straightConnector1">
            <a:avLst/>
          </a:prstGeom>
          <a:ln w="9525">
            <a:solidFill>
              <a:srgbClr val="4a4f8a"/>
            </a:solidFill>
            <a:round/>
          </a:ln>
        </p:spPr>
      </p:cxnSp>
      <p:sp>
        <p:nvSpPr>
          <p:cNvPr id="561" name="TextBox 19"/>
          <p:cNvSpPr/>
          <p:nvPr/>
        </p:nvSpPr>
        <p:spPr>
          <a:xfrm>
            <a:off x="3785760" y="3200040"/>
            <a:ext cx="1497600" cy="103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ct val="140000"/>
              </a:lnSpc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</a:rPr>
              <a:t>Azure DevOps Repos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40000"/>
              </a:lnSpc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</a:rPr>
              <a:t>YAML Pipelines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40000"/>
              </a:lnSpc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</a:rPr>
              <a:t>Build-ID Tagging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2" name="Rounded Rectangle 20"/>
          <p:cNvSpPr/>
          <p:nvPr/>
        </p:nvSpPr>
        <p:spPr>
          <a:xfrm>
            <a:off x="5454720" y="1919880"/>
            <a:ext cx="1637640" cy="2398680"/>
          </a:xfrm>
          <a:prstGeom prst="roundRect">
            <a:avLst>
              <a:gd name="adj" fmla="val 10000"/>
            </a:avLst>
          </a:prstGeom>
          <a:solidFill>
            <a:srgbClr val="2a2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3" name="TextBox 21"/>
          <p:cNvSpPr/>
          <p:nvPr/>
        </p:nvSpPr>
        <p:spPr>
          <a:xfrm>
            <a:off x="5454720" y="2070000"/>
            <a:ext cx="1637640" cy="69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4000" spc="-1" strike="noStrike">
                <a:solidFill>
                  <a:srgbClr val="f5a623"/>
                </a:solidFill>
                <a:latin typeface="Cambria"/>
              </a:rPr>
              <a:t>O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4" name="TextBox 22"/>
          <p:cNvSpPr/>
          <p:nvPr/>
        </p:nvSpPr>
        <p:spPr>
          <a:xfrm>
            <a:off x="5454720" y="2800080"/>
            <a:ext cx="16376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Observe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565" name="Connector 23"/>
          <p:cNvCxnSpPr/>
          <p:nvPr/>
        </p:nvCxnSpPr>
        <p:spPr>
          <a:xfrm>
            <a:off x="5749560" y="3109680"/>
            <a:ext cx="1050120" cy="1440"/>
          </a:xfrm>
          <a:prstGeom prst="straightConnector1">
            <a:avLst/>
          </a:prstGeom>
          <a:ln w="9525">
            <a:solidFill>
              <a:srgbClr val="4a4f8a"/>
            </a:solidFill>
            <a:round/>
          </a:ln>
        </p:spPr>
      </p:cxnSp>
      <p:sp>
        <p:nvSpPr>
          <p:cNvPr id="566" name="TextBox 24"/>
          <p:cNvSpPr/>
          <p:nvPr/>
        </p:nvSpPr>
        <p:spPr>
          <a:xfrm>
            <a:off x="5524560" y="3200040"/>
            <a:ext cx="1497600" cy="103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ct val="140000"/>
              </a:lnSpc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</a:rPr>
              <a:t>Azure Monitor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40000"/>
              </a:lnSpc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</a:rPr>
              <a:t>Log Analytics · KQL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40000"/>
              </a:lnSpc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</a:rPr>
              <a:t>Metric Alerts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7" name="Rounded Rectangle 25"/>
          <p:cNvSpPr/>
          <p:nvPr/>
        </p:nvSpPr>
        <p:spPr>
          <a:xfrm>
            <a:off x="7193520" y="1919880"/>
            <a:ext cx="1637640" cy="2398680"/>
          </a:xfrm>
          <a:prstGeom prst="roundRect">
            <a:avLst>
              <a:gd name="adj" fmla="val 10000"/>
            </a:avLst>
          </a:prstGeom>
          <a:solidFill>
            <a:srgbClr val="2a2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8" name="TextBox 26"/>
          <p:cNvSpPr/>
          <p:nvPr/>
        </p:nvSpPr>
        <p:spPr>
          <a:xfrm>
            <a:off x="7193520" y="2070000"/>
            <a:ext cx="1637640" cy="69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4000" spc="-1" strike="noStrike">
                <a:solidFill>
                  <a:srgbClr val="f5a623"/>
                </a:solidFill>
                <a:latin typeface="Cambria"/>
              </a:rPr>
              <a:t>S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9" name="TextBox 27"/>
          <p:cNvSpPr/>
          <p:nvPr/>
        </p:nvSpPr>
        <p:spPr>
          <a:xfrm>
            <a:off x="7193520" y="2800080"/>
            <a:ext cx="16376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Secure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570" name="Connector 28"/>
          <p:cNvCxnSpPr/>
          <p:nvPr/>
        </p:nvCxnSpPr>
        <p:spPr>
          <a:xfrm>
            <a:off x="7488360" y="3109680"/>
            <a:ext cx="1050480" cy="1440"/>
          </a:xfrm>
          <a:prstGeom prst="straightConnector1">
            <a:avLst/>
          </a:prstGeom>
          <a:ln w="9525">
            <a:solidFill>
              <a:srgbClr val="4a4f8a"/>
            </a:solidFill>
            <a:round/>
          </a:ln>
        </p:spPr>
      </p:cxnSp>
      <p:sp>
        <p:nvSpPr>
          <p:cNvPr id="571" name="TextBox 29"/>
          <p:cNvSpPr/>
          <p:nvPr/>
        </p:nvSpPr>
        <p:spPr>
          <a:xfrm>
            <a:off x="7263720" y="3200040"/>
            <a:ext cx="1497600" cy="103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ct val="140000"/>
              </a:lnSpc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</a:rPr>
              <a:t>RBAC Roles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40000"/>
              </a:lnSpc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</a:rPr>
              <a:t>Key Vault Secrets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40000"/>
              </a:lnSpc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</a:rPr>
              <a:t>Microsoft Defender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2" name="Rounded Rectangle 30"/>
          <p:cNvSpPr/>
          <p:nvPr/>
        </p:nvSpPr>
        <p:spPr>
          <a:xfrm>
            <a:off x="237600" y="4470120"/>
            <a:ext cx="8593560" cy="598680"/>
          </a:xfrm>
          <a:prstGeom prst="roundRect">
            <a:avLst>
              <a:gd name="adj" fmla="val 10000"/>
            </a:avLst>
          </a:prstGeom>
          <a:solidFill>
            <a:srgbClr val="1a1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3" name="TextBox 31"/>
          <p:cNvSpPr/>
          <p:nvPr/>
        </p:nvSpPr>
        <p:spPr>
          <a:xfrm>
            <a:off x="349920" y="4470120"/>
            <a:ext cx="1498680" cy="23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900" spc="239" strike="noStrike">
                <a:solidFill>
                  <a:srgbClr val="f5a623"/>
                </a:solidFill>
                <a:latin typeface="Calibri"/>
              </a:rPr>
              <a:t>WHAT'S NEXT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4" name="TextBox 32"/>
          <p:cNvSpPr/>
          <p:nvPr/>
        </p:nvSpPr>
        <p:spPr>
          <a:xfrm>
            <a:off x="349920" y="4749840"/>
            <a:ext cx="149868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Week 3 →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5" name="TextBox 33"/>
          <p:cNvSpPr/>
          <p:nvPr/>
        </p:nvSpPr>
        <p:spPr>
          <a:xfrm>
            <a:off x="1917720" y="4470120"/>
            <a:ext cx="1309680" cy="59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Azure AI Services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2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(Vision, Language)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6" name="TextBox 34"/>
          <p:cNvSpPr/>
          <p:nvPr/>
        </p:nvSpPr>
        <p:spPr>
          <a:xfrm>
            <a:off x="3308760" y="4470120"/>
            <a:ext cx="1309680" cy="59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Azure ML +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2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AutoML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7" name="TextBox 35"/>
          <p:cNvSpPr/>
          <p:nvPr/>
        </p:nvSpPr>
        <p:spPr>
          <a:xfrm>
            <a:off x="4699440" y="4470120"/>
            <a:ext cx="1309680" cy="59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Azure OpenAI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2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GPT-4o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8" name="TextBox 36"/>
          <p:cNvSpPr/>
          <p:nvPr/>
        </p:nvSpPr>
        <p:spPr>
          <a:xfrm>
            <a:off x="6090480" y="4470120"/>
            <a:ext cx="1309680" cy="59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RAG + Embeddings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9" name="TextBox 37"/>
          <p:cNvSpPr/>
          <p:nvPr/>
        </p:nvSpPr>
        <p:spPr>
          <a:xfrm>
            <a:off x="7481520" y="4470120"/>
            <a:ext cx="1309680" cy="59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AI-Powered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2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DevOps App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Rectangle 1"/>
          <p:cNvSpPr/>
          <p:nvPr/>
        </p:nvSpPr>
        <p:spPr>
          <a:xfrm>
            <a:off x="0" y="0"/>
            <a:ext cx="52920" cy="51422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1" name="TextBox 2"/>
          <p:cNvSpPr/>
          <p:nvPr/>
        </p:nvSpPr>
        <p:spPr>
          <a:xfrm>
            <a:off x="274320" y="228600"/>
            <a:ext cx="859356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850" spc="335" strike="noStrike">
                <a:solidFill>
                  <a:srgbClr val="f5a623"/>
                </a:solidFill>
                <a:latin typeface="Calibri"/>
              </a:rPr>
              <a:t>OVERVIEW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TextBox 3"/>
          <p:cNvSpPr/>
          <p:nvPr/>
        </p:nvSpPr>
        <p:spPr>
          <a:xfrm>
            <a:off x="274320" y="457200"/>
            <a:ext cx="63990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3000" spc="-1" strike="noStrike">
                <a:solidFill>
                  <a:srgbClr val="1a1e4f"/>
                </a:solidFill>
                <a:latin typeface="Cambria"/>
              </a:rPr>
              <a:t>The Week 3 Learning Arc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Rounded Rectangle 4"/>
          <p:cNvSpPr/>
          <p:nvPr/>
        </p:nvSpPr>
        <p:spPr>
          <a:xfrm>
            <a:off x="237600" y="1115640"/>
            <a:ext cx="2759760" cy="1698840"/>
          </a:xfrm>
          <a:prstGeom prst="roundRect">
            <a:avLst>
              <a:gd name="adj" fmla="val 3000"/>
            </a:avLst>
          </a:prstGeom>
          <a:solidFill>
            <a:srgbClr val="0f1035"/>
          </a:solidFill>
          <a:ln>
            <a:noFill/>
          </a:ln>
          <a:effectLst>
            <a:outerShdw algn="bl" blurRad="50760" dir="2700000" dist="25455" kx="0" ky="0" rotWithShape="0" sx="100000" sy="10000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4" name="Rounded Rectangle 5"/>
          <p:cNvSpPr/>
          <p:nvPr/>
        </p:nvSpPr>
        <p:spPr>
          <a:xfrm>
            <a:off x="365760" y="1234800"/>
            <a:ext cx="309240" cy="30924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585" name="Picture 6" descr="k8s_wheel_white.png"/>
          <p:cNvPicPr/>
          <p:nvPr/>
        </p:nvPicPr>
        <p:blipFill>
          <a:blip r:embed="rId1"/>
          <a:stretch/>
        </p:blipFill>
        <p:spPr>
          <a:xfrm>
            <a:off x="424800" y="1293840"/>
            <a:ext cx="191160" cy="191160"/>
          </a:xfrm>
          <a:prstGeom prst="rect">
            <a:avLst/>
          </a:prstGeom>
          <a:ln w="0">
            <a:noFill/>
          </a:ln>
        </p:spPr>
      </p:pic>
      <p:sp>
        <p:nvSpPr>
          <p:cNvPr id="586" name="Rounded Rectangle 7"/>
          <p:cNvSpPr/>
          <p:nvPr/>
        </p:nvSpPr>
        <p:spPr>
          <a:xfrm>
            <a:off x="2590560" y="1234800"/>
            <a:ext cx="278640" cy="278640"/>
          </a:xfrm>
          <a:prstGeom prst="roundRect">
            <a:avLst>
              <a:gd name="adj" fmla="val 30000"/>
            </a:avLst>
          </a:prstGeom>
          <a:solidFill>
            <a:srgbClr val="1a1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900" spc="-1" strike="noStrike">
                <a:solidFill>
                  <a:srgbClr val="a8b2d8"/>
                </a:solidFill>
                <a:latin typeface="Calibri"/>
              </a:rPr>
              <a:t>01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7" name="TextBox 8"/>
          <p:cNvSpPr/>
          <p:nvPr/>
        </p:nvSpPr>
        <p:spPr>
          <a:xfrm>
            <a:off x="365760" y="1591200"/>
            <a:ext cx="250344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1250" spc="-1" strike="noStrike">
                <a:solidFill>
                  <a:srgbClr val="ffffff"/>
                </a:solidFill>
                <a:latin typeface="Calibri"/>
              </a:rPr>
              <a:t>Azure AI Services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8" name="TextBox 9"/>
          <p:cNvSpPr/>
          <p:nvPr/>
        </p:nvSpPr>
        <p:spPr>
          <a:xfrm>
            <a:off x="365760" y="1883520"/>
            <a:ext cx="2503440" cy="89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01520" indent="-101520">
              <a:lnSpc>
                <a:spcPct val="128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970" spc="-1" strike="noStrike">
                <a:solidFill>
                  <a:srgbClr val="a8b2d8"/>
                </a:solidFill>
                <a:latin typeface="Calibri"/>
              </a:rPr>
              <a:t>Text Analytics + Sentiment API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>
              <a:lnSpc>
                <a:spcPct val="128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970" spc="-1" strike="noStrike">
                <a:solidFill>
                  <a:srgbClr val="a8b2d8"/>
                </a:solidFill>
                <a:latin typeface="Calibri"/>
              </a:rPr>
              <a:t>Computer Vision + Translator APIs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>
              <a:lnSpc>
                <a:spcPct val="128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970" spc="-1" strike="noStrike">
                <a:solidFill>
                  <a:srgbClr val="a8b2d8"/>
                </a:solidFill>
                <a:latin typeface="Calibri"/>
              </a:rPr>
              <a:t>REST calls via curl + Python SDK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>
              <a:lnSpc>
                <a:spcPct val="128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970" spc="-1" strike="noStrike">
                <a:solidFill>
                  <a:srgbClr val="a8b2d8"/>
                </a:solidFill>
                <a:latin typeface="Calibri"/>
              </a:rPr>
              <a:t>Script: ai_services_demo.sh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9" name="Rounded Rectangle 10"/>
          <p:cNvSpPr/>
          <p:nvPr/>
        </p:nvSpPr>
        <p:spPr>
          <a:xfrm>
            <a:off x="3098520" y="1115640"/>
            <a:ext cx="2759760" cy="1698840"/>
          </a:xfrm>
          <a:prstGeom prst="roundRect">
            <a:avLst>
              <a:gd name="adj" fmla="val 3000"/>
            </a:avLst>
          </a:prstGeom>
          <a:solidFill>
            <a:srgbClr val="0f1035"/>
          </a:solidFill>
          <a:ln>
            <a:noFill/>
          </a:ln>
          <a:effectLst>
            <a:outerShdw algn="bl" blurRad="50760" dir="2700000" dist="25455" kx="0" ky="0" rotWithShape="0" sx="100000" sy="10000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0" name="Rounded Rectangle 11"/>
          <p:cNvSpPr/>
          <p:nvPr/>
        </p:nvSpPr>
        <p:spPr>
          <a:xfrm>
            <a:off x="3226680" y="1234800"/>
            <a:ext cx="309240" cy="30924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591" name="Picture 12" descr="scale_white.png"/>
          <p:cNvPicPr/>
          <p:nvPr/>
        </p:nvPicPr>
        <p:blipFill>
          <a:blip r:embed="rId2"/>
          <a:stretch/>
        </p:blipFill>
        <p:spPr>
          <a:xfrm>
            <a:off x="3285720" y="1293840"/>
            <a:ext cx="191160" cy="191160"/>
          </a:xfrm>
          <a:prstGeom prst="rect">
            <a:avLst/>
          </a:prstGeom>
          <a:ln w="0">
            <a:noFill/>
          </a:ln>
        </p:spPr>
      </p:pic>
      <p:sp>
        <p:nvSpPr>
          <p:cNvPr id="592" name="Rounded Rectangle 13"/>
          <p:cNvSpPr/>
          <p:nvPr/>
        </p:nvSpPr>
        <p:spPr>
          <a:xfrm>
            <a:off x="5451480" y="1234800"/>
            <a:ext cx="278640" cy="278640"/>
          </a:xfrm>
          <a:prstGeom prst="roundRect">
            <a:avLst>
              <a:gd name="adj" fmla="val 30000"/>
            </a:avLst>
          </a:prstGeom>
          <a:solidFill>
            <a:srgbClr val="1a1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900" spc="-1" strike="noStrike">
                <a:solidFill>
                  <a:srgbClr val="a8b2d8"/>
                </a:solidFill>
                <a:latin typeface="Calibri"/>
              </a:rPr>
              <a:t>02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3" name="TextBox 14"/>
          <p:cNvSpPr/>
          <p:nvPr/>
        </p:nvSpPr>
        <p:spPr>
          <a:xfrm>
            <a:off x="3226680" y="1591200"/>
            <a:ext cx="250344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1250" spc="-1" strike="noStrike">
                <a:solidFill>
                  <a:srgbClr val="ffffff"/>
                </a:solidFill>
                <a:latin typeface="Calibri"/>
              </a:rPr>
              <a:t>Azure ML Workspace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TextBox 15"/>
          <p:cNvSpPr/>
          <p:nvPr/>
        </p:nvSpPr>
        <p:spPr>
          <a:xfrm>
            <a:off x="3226680" y="1883520"/>
            <a:ext cx="2503440" cy="89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01520" indent="-101520">
              <a:lnSpc>
                <a:spcPct val="128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970" spc="-1" strike="noStrike">
                <a:solidFill>
                  <a:srgbClr val="a8b2d8"/>
                </a:solidFill>
                <a:latin typeface="Calibri"/>
              </a:rPr>
              <a:t>ML workspace + compute instance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>
              <a:lnSpc>
                <a:spcPct val="128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970" spc="-1" strike="noStrike">
                <a:solidFill>
                  <a:srgbClr val="a8b2d8"/>
                </a:solidFill>
                <a:latin typeface="Calibri"/>
              </a:rPr>
              <a:t>CSV dataset registered + experiment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>
              <a:lnSpc>
                <a:spcPct val="128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970" spc="-1" strike="noStrike">
                <a:solidFill>
                  <a:srgbClr val="a8b2d8"/>
                </a:solidFill>
                <a:latin typeface="Calibri"/>
              </a:rPr>
              <a:t>scikit-learn training tracked in MLflow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>
              <a:lnSpc>
                <a:spcPct val="128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970" spc="-1" strike="noStrike">
                <a:solidFill>
                  <a:srgbClr val="a8b2d8"/>
                </a:solidFill>
                <a:latin typeface="Calibri"/>
              </a:rPr>
              <a:t>Script: ml_workspace_setup.sh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Rounded Rectangle 16"/>
          <p:cNvSpPr/>
          <p:nvPr/>
        </p:nvSpPr>
        <p:spPr>
          <a:xfrm>
            <a:off x="5959440" y="1115640"/>
            <a:ext cx="2759760" cy="1698840"/>
          </a:xfrm>
          <a:prstGeom prst="roundRect">
            <a:avLst>
              <a:gd name="adj" fmla="val 3000"/>
            </a:avLst>
          </a:prstGeom>
          <a:solidFill>
            <a:srgbClr val="0f1035"/>
          </a:solidFill>
          <a:ln>
            <a:noFill/>
          </a:ln>
          <a:effectLst>
            <a:outerShdw algn="bl" blurRad="50760" dir="2700000" dist="25455" kx="0" ky="0" rotWithShape="0" sx="100000" sy="10000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6" name="Rounded Rectangle 17"/>
          <p:cNvSpPr/>
          <p:nvPr/>
        </p:nvSpPr>
        <p:spPr>
          <a:xfrm>
            <a:off x="6087600" y="1234800"/>
            <a:ext cx="309240" cy="30924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597" name="Picture 18" descr="pipeline_white.png"/>
          <p:cNvPicPr/>
          <p:nvPr/>
        </p:nvPicPr>
        <p:blipFill>
          <a:blip r:embed="rId3"/>
          <a:stretch/>
        </p:blipFill>
        <p:spPr>
          <a:xfrm>
            <a:off x="6146640" y="1293840"/>
            <a:ext cx="191160" cy="191160"/>
          </a:xfrm>
          <a:prstGeom prst="rect">
            <a:avLst/>
          </a:prstGeom>
          <a:ln w="0">
            <a:noFill/>
          </a:ln>
        </p:spPr>
      </p:pic>
      <p:sp>
        <p:nvSpPr>
          <p:cNvPr id="598" name="Rounded Rectangle 19"/>
          <p:cNvSpPr/>
          <p:nvPr/>
        </p:nvSpPr>
        <p:spPr>
          <a:xfrm>
            <a:off x="8312400" y="1234800"/>
            <a:ext cx="278640" cy="278640"/>
          </a:xfrm>
          <a:prstGeom prst="roundRect">
            <a:avLst>
              <a:gd name="adj" fmla="val 30000"/>
            </a:avLst>
          </a:prstGeom>
          <a:solidFill>
            <a:srgbClr val="1a1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900" spc="-1" strike="noStrike">
                <a:solidFill>
                  <a:srgbClr val="a8b2d8"/>
                </a:solidFill>
                <a:latin typeface="Calibri"/>
              </a:rPr>
              <a:t>03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9" name="TextBox 20"/>
          <p:cNvSpPr/>
          <p:nvPr/>
        </p:nvSpPr>
        <p:spPr>
          <a:xfrm>
            <a:off x="6087600" y="1591200"/>
            <a:ext cx="250344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1250" spc="-1" strike="noStrike">
                <a:solidFill>
                  <a:srgbClr val="ffffff"/>
                </a:solidFill>
                <a:latin typeface="Calibri"/>
              </a:rPr>
              <a:t>Training &amp; AutoML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TextBox 21"/>
          <p:cNvSpPr/>
          <p:nvPr/>
        </p:nvSpPr>
        <p:spPr>
          <a:xfrm>
            <a:off x="6087600" y="1883520"/>
            <a:ext cx="2503440" cy="89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01520" indent="-101520">
              <a:lnSpc>
                <a:spcPct val="128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970" spc="-1" strike="noStrike">
                <a:solidFill>
                  <a:srgbClr val="a8b2d8"/>
                </a:solidFill>
                <a:latin typeface="Calibri"/>
              </a:rPr>
              <a:t>AutoML binary classification run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>
              <a:lnSpc>
                <a:spcPct val="128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970" spc="-1" strike="noStrike">
                <a:solidFill>
                  <a:srgbClr val="a8b2d8"/>
                </a:solidFill>
                <a:latin typeface="Calibri"/>
              </a:rPr>
              <a:t>Best model registered + deployed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>
              <a:lnSpc>
                <a:spcPct val="128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970" spc="-1" strike="noStrike">
                <a:solidFill>
                  <a:srgbClr val="a8b2d8"/>
                </a:solidFill>
                <a:latin typeface="Calibri"/>
              </a:rPr>
              <a:t>Managed Online Endpoint live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>
              <a:lnSpc>
                <a:spcPct val="128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970" spc="-1" strike="noStrike">
                <a:solidFill>
                  <a:srgbClr val="a8b2d8"/>
                </a:solidFill>
                <a:latin typeface="Calibri"/>
              </a:rPr>
              <a:t>Script: model_deploy.sh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Rounded Rectangle 22"/>
          <p:cNvSpPr/>
          <p:nvPr/>
        </p:nvSpPr>
        <p:spPr>
          <a:xfrm>
            <a:off x="237600" y="2945880"/>
            <a:ext cx="2759760" cy="1698840"/>
          </a:xfrm>
          <a:prstGeom prst="roundRect">
            <a:avLst>
              <a:gd name="adj" fmla="val 3000"/>
            </a:avLst>
          </a:prstGeom>
          <a:solidFill>
            <a:srgbClr val="0f1035"/>
          </a:solidFill>
          <a:ln>
            <a:noFill/>
          </a:ln>
          <a:effectLst>
            <a:outerShdw algn="bl" blurRad="50760" dir="2700000" dist="25455" kx="0" ky="0" rotWithShape="0" sx="100000" sy="10000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2" name="Rounded Rectangle 23"/>
          <p:cNvSpPr/>
          <p:nvPr/>
        </p:nvSpPr>
        <p:spPr>
          <a:xfrm>
            <a:off x="365760" y="3065040"/>
            <a:ext cx="309240" cy="30924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603" name="Picture 24" descr="cycle_white.png"/>
          <p:cNvPicPr/>
          <p:nvPr/>
        </p:nvPicPr>
        <p:blipFill>
          <a:blip r:embed="rId4"/>
          <a:stretch/>
        </p:blipFill>
        <p:spPr>
          <a:xfrm>
            <a:off x="424800" y="3124080"/>
            <a:ext cx="191160" cy="191160"/>
          </a:xfrm>
          <a:prstGeom prst="rect">
            <a:avLst/>
          </a:prstGeom>
          <a:ln w="0">
            <a:noFill/>
          </a:ln>
        </p:spPr>
      </p:pic>
      <p:sp>
        <p:nvSpPr>
          <p:cNvPr id="604" name="Rounded Rectangle 25"/>
          <p:cNvSpPr/>
          <p:nvPr/>
        </p:nvSpPr>
        <p:spPr>
          <a:xfrm>
            <a:off x="2590560" y="3065040"/>
            <a:ext cx="278640" cy="278640"/>
          </a:xfrm>
          <a:prstGeom prst="roundRect">
            <a:avLst>
              <a:gd name="adj" fmla="val 30000"/>
            </a:avLst>
          </a:prstGeom>
          <a:solidFill>
            <a:srgbClr val="1a1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900" spc="-1" strike="noStrike">
                <a:solidFill>
                  <a:srgbClr val="a8b2d8"/>
                </a:solidFill>
                <a:latin typeface="Calibri"/>
              </a:rPr>
              <a:t>04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5" name="TextBox 26"/>
          <p:cNvSpPr/>
          <p:nvPr/>
        </p:nvSpPr>
        <p:spPr>
          <a:xfrm>
            <a:off x="365760" y="3421440"/>
            <a:ext cx="250344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1250" spc="-1" strike="noStrike">
                <a:solidFill>
                  <a:srgbClr val="ffffff"/>
                </a:solidFill>
                <a:latin typeface="Calibri"/>
              </a:rPr>
              <a:t>Vision &amp; Language APIs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TextBox 27"/>
          <p:cNvSpPr/>
          <p:nvPr/>
        </p:nvSpPr>
        <p:spPr>
          <a:xfrm>
            <a:off x="365760" y="3713760"/>
            <a:ext cx="2503440" cy="89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01520" indent="-101520">
              <a:lnSpc>
                <a:spcPct val="128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970" spc="-1" strike="noStrike">
                <a:solidFill>
                  <a:srgbClr val="a8b2d8"/>
                </a:solidFill>
                <a:latin typeface="Calibri"/>
              </a:rPr>
              <a:t>OCR printed + handwritten text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>
              <a:lnSpc>
                <a:spcPct val="128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970" spc="-1" strike="noStrike">
                <a:solidFill>
                  <a:srgbClr val="a8b2d8"/>
                </a:solidFill>
                <a:latin typeface="Calibri"/>
              </a:rPr>
              <a:t>Key phrases + named entities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>
              <a:lnSpc>
                <a:spcPct val="128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970" spc="-1" strike="noStrike">
                <a:solidFill>
                  <a:srgbClr val="a8b2d8"/>
                </a:solidFill>
                <a:latin typeface="Calibri"/>
              </a:rPr>
              <a:t>Document Intelligence PDF parsing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>
              <a:lnSpc>
                <a:spcPct val="128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970" spc="-1" strike="noStrike">
                <a:solidFill>
                  <a:srgbClr val="a8b2d8"/>
                </a:solidFill>
                <a:latin typeface="Calibri"/>
              </a:rPr>
              <a:t>Python: OCR → structured output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Rounded Rectangle 28"/>
          <p:cNvSpPr/>
          <p:nvPr/>
        </p:nvSpPr>
        <p:spPr>
          <a:xfrm>
            <a:off x="3098520" y="2945880"/>
            <a:ext cx="2759760" cy="1698840"/>
          </a:xfrm>
          <a:prstGeom prst="roundRect">
            <a:avLst>
              <a:gd name="adj" fmla="val 3000"/>
            </a:avLst>
          </a:prstGeom>
          <a:solidFill>
            <a:srgbClr val="0f1035"/>
          </a:solidFill>
          <a:ln>
            <a:noFill/>
          </a:ln>
          <a:effectLst>
            <a:outerShdw algn="bl" blurRad="50760" dir="2700000" dist="25455" kx="0" ky="0" rotWithShape="0" sx="100000" sy="10000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8" name="Rounded Rectangle 29"/>
          <p:cNvSpPr/>
          <p:nvPr/>
        </p:nvSpPr>
        <p:spPr>
          <a:xfrm>
            <a:off x="3226680" y="3065040"/>
            <a:ext cx="309240" cy="30924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609" name="Picture 30" descr="monitor_white.png"/>
          <p:cNvPicPr/>
          <p:nvPr/>
        </p:nvPicPr>
        <p:blipFill>
          <a:blip r:embed="rId5"/>
          <a:stretch/>
        </p:blipFill>
        <p:spPr>
          <a:xfrm>
            <a:off x="3285720" y="3124080"/>
            <a:ext cx="191160" cy="191160"/>
          </a:xfrm>
          <a:prstGeom prst="rect">
            <a:avLst/>
          </a:prstGeom>
          <a:ln w="0">
            <a:noFill/>
          </a:ln>
        </p:spPr>
      </p:pic>
      <p:sp>
        <p:nvSpPr>
          <p:cNvPr id="610" name="Rounded Rectangle 31"/>
          <p:cNvSpPr/>
          <p:nvPr/>
        </p:nvSpPr>
        <p:spPr>
          <a:xfrm>
            <a:off x="5451480" y="3065040"/>
            <a:ext cx="278640" cy="278640"/>
          </a:xfrm>
          <a:prstGeom prst="roundRect">
            <a:avLst>
              <a:gd name="adj" fmla="val 30000"/>
            </a:avLst>
          </a:prstGeom>
          <a:solidFill>
            <a:srgbClr val="1a1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900" spc="-1" strike="noStrike">
                <a:solidFill>
                  <a:srgbClr val="a8b2d8"/>
                </a:solidFill>
                <a:latin typeface="Calibri"/>
              </a:rPr>
              <a:t>05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1" name="TextBox 32"/>
          <p:cNvSpPr/>
          <p:nvPr/>
        </p:nvSpPr>
        <p:spPr>
          <a:xfrm>
            <a:off x="3226680" y="3421440"/>
            <a:ext cx="250344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1250" spc="-1" strike="noStrike">
                <a:solidFill>
                  <a:srgbClr val="ffffff"/>
                </a:solidFill>
                <a:latin typeface="Calibri"/>
              </a:rPr>
              <a:t>Azure OpenAI Service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" name="TextBox 33"/>
          <p:cNvSpPr/>
          <p:nvPr/>
        </p:nvSpPr>
        <p:spPr>
          <a:xfrm>
            <a:off x="3226680" y="3713760"/>
            <a:ext cx="2503440" cy="89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01520" indent="-101520">
              <a:lnSpc>
                <a:spcPct val="128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970" spc="-1" strike="noStrike">
                <a:solidFill>
                  <a:srgbClr val="a8b2d8"/>
                </a:solidFill>
                <a:latin typeface="Calibri"/>
              </a:rPr>
              <a:t>gpt-5-mini deployed in Azure OpenAI Studio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>
              <a:lnSpc>
                <a:spcPct val="128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970" spc="-1" strike="noStrike">
                <a:solidFill>
                  <a:srgbClr val="a8b2d8"/>
                </a:solidFill>
                <a:latin typeface="Calibri"/>
              </a:rPr>
              <a:t>Chat Completions API via curl + SDK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>
              <a:lnSpc>
                <a:spcPct val="128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970" spc="-1" strike="noStrike">
                <a:solidFill>
                  <a:srgbClr val="a8b2d8"/>
                </a:solidFill>
                <a:latin typeface="Calibri"/>
              </a:rPr>
              <a:t>Embeddings + cosine similarity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>
              <a:lnSpc>
                <a:spcPct val="128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970" spc="-1" strike="noStrike">
                <a:solidFill>
                  <a:srgbClr val="a8b2d8"/>
                </a:solidFill>
                <a:latin typeface="Calibri"/>
              </a:rPr>
              <a:t>RAG Q&amp;A app using README + GPT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Rounded Rectangle 34"/>
          <p:cNvSpPr/>
          <p:nvPr/>
        </p:nvSpPr>
        <p:spPr>
          <a:xfrm>
            <a:off x="5959440" y="2945880"/>
            <a:ext cx="2759760" cy="1698840"/>
          </a:xfrm>
          <a:prstGeom prst="roundRect">
            <a:avLst>
              <a:gd name="adj" fmla="val 3000"/>
            </a:avLst>
          </a:prstGeom>
          <a:solidFill>
            <a:srgbClr val="0f1035"/>
          </a:solidFill>
          <a:ln>
            <a:noFill/>
          </a:ln>
          <a:effectLst>
            <a:outerShdw algn="bl" blurRad="50760" dir="2700000" dist="25455" kx="0" ky="0" rotWithShape="0" sx="100000" sy="10000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4" name="Rounded Rectangle 35"/>
          <p:cNvSpPr/>
          <p:nvPr/>
        </p:nvSpPr>
        <p:spPr>
          <a:xfrm>
            <a:off x="6087600" y="3065040"/>
            <a:ext cx="309240" cy="30924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615" name="Picture 36" descr="shield_white.png"/>
          <p:cNvPicPr/>
          <p:nvPr/>
        </p:nvPicPr>
        <p:blipFill>
          <a:blip r:embed="rId6"/>
          <a:stretch/>
        </p:blipFill>
        <p:spPr>
          <a:xfrm>
            <a:off x="6146640" y="3124080"/>
            <a:ext cx="191160" cy="191160"/>
          </a:xfrm>
          <a:prstGeom prst="rect">
            <a:avLst/>
          </a:prstGeom>
          <a:ln w="0">
            <a:noFill/>
          </a:ln>
        </p:spPr>
      </p:pic>
      <p:sp>
        <p:nvSpPr>
          <p:cNvPr id="616" name="Rounded Rectangle 37"/>
          <p:cNvSpPr/>
          <p:nvPr/>
        </p:nvSpPr>
        <p:spPr>
          <a:xfrm>
            <a:off x="8312400" y="3065040"/>
            <a:ext cx="278640" cy="278640"/>
          </a:xfrm>
          <a:prstGeom prst="roundRect">
            <a:avLst>
              <a:gd name="adj" fmla="val 30000"/>
            </a:avLst>
          </a:prstGeom>
          <a:solidFill>
            <a:srgbClr val="1a1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900" spc="-1" strike="noStrike">
                <a:solidFill>
                  <a:srgbClr val="a8b2d8"/>
                </a:solidFill>
                <a:latin typeface="Calibri"/>
              </a:rPr>
              <a:t>06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7" name="TextBox 38"/>
          <p:cNvSpPr/>
          <p:nvPr/>
        </p:nvSpPr>
        <p:spPr>
          <a:xfrm>
            <a:off x="6087600" y="3421440"/>
            <a:ext cx="250344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1250" spc="-1" strike="noStrike">
                <a:solidFill>
                  <a:srgbClr val="ffffff"/>
                </a:solidFill>
                <a:latin typeface="Calibri"/>
              </a:rPr>
              <a:t>Week 3 Capstone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TextBox 39"/>
          <p:cNvSpPr/>
          <p:nvPr/>
        </p:nvSpPr>
        <p:spPr>
          <a:xfrm>
            <a:off x="6087600" y="3713760"/>
            <a:ext cx="2503440" cy="89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01520" indent="-101520">
              <a:lnSpc>
                <a:spcPct val="128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970" spc="-1" strike="noStrike">
                <a:solidFill>
                  <a:srgbClr val="a8b2d8"/>
                </a:solidFill>
                <a:latin typeface="Calibri"/>
              </a:rPr>
              <a:t>FastAPI app → AI log analyser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>
              <a:lnSpc>
                <a:spcPct val="128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970" spc="-1" strike="noStrike">
                <a:solidFill>
                  <a:srgbClr val="a8b2d8"/>
                </a:solidFill>
                <a:latin typeface="Calibri"/>
              </a:rPr>
              <a:t>Dockerised + deployed to AKS via CI/CD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>
              <a:lnSpc>
                <a:spcPct val="128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970" spc="-1" strike="noStrike">
                <a:solidFill>
                  <a:srgbClr val="a8b2d8"/>
                </a:solidFill>
                <a:latin typeface="Calibri"/>
              </a:rPr>
              <a:t>Key Vault secrets → CSI driver → pods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  <a:p>
            <a:pPr marL="101520" indent="-101520">
              <a:lnSpc>
                <a:spcPct val="128000"/>
              </a:lnSpc>
              <a:buClr>
                <a:srgbClr val="8892b8"/>
              </a:buClr>
              <a:buFont typeface="Symbol" charset="2"/>
              <a:buChar char=""/>
            </a:pPr>
            <a:r>
              <a:rPr b="0" lang="en-US" sz="970" spc="-1" strike="noStrike">
                <a:solidFill>
                  <a:srgbClr val="a8b2d8"/>
                </a:solidFill>
                <a:latin typeface="Calibri"/>
              </a:rPr>
              <a:t>Live at public IP — HTTP 200 verified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0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Shape 0"/>
          <p:cNvSpPr/>
          <p:nvPr/>
        </p:nvSpPr>
        <p:spPr>
          <a:xfrm>
            <a:off x="0" y="0"/>
            <a:ext cx="52920" cy="51418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Text 1"/>
          <p:cNvSpPr/>
          <p:nvPr/>
        </p:nvSpPr>
        <p:spPr>
          <a:xfrm>
            <a:off x="274320" y="228600"/>
            <a:ext cx="859356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335" strike="noStrike">
                <a:solidFill>
                  <a:srgbClr val="f5a623"/>
                </a:solidFill>
                <a:latin typeface="Calibri"/>
                <a:ea typeface="Calibri"/>
              </a:rPr>
              <a:t>WEEK 3  ·  DAYS 1–3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1" name="Text 2"/>
          <p:cNvSpPr/>
          <p:nvPr/>
        </p:nvSpPr>
        <p:spPr>
          <a:xfrm>
            <a:off x="274320" y="457200"/>
            <a:ext cx="566748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900" spc="-1" strike="noStrike">
                <a:solidFill>
                  <a:srgbClr val="ffffff"/>
                </a:solidFill>
                <a:latin typeface="Cambria"/>
                <a:ea typeface="Cambria"/>
              </a:rPr>
              <a:t>Azure AI Services + ML Platform</a:t>
            </a:r>
            <a:endParaRPr b="0" lang="en-US" sz="2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2" name="Text 3"/>
          <p:cNvSpPr/>
          <p:nvPr/>
        </p:nvSpPr>
        <p:spPr>
          <a:xfrm>
            <a:off x="274320" y="1005840"/>
            <a:ext cx="63990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50" spc="-1" strike="noStrike">
                <a:solidFill>
                  <a:srgbClr val="8892b8"/>
                </a:solidFill>
                <a:latin typeface="Calibri"/>
                <a:ea typeface="Calibri"/>
              </a:rPr>
              <a:t>"Pre-trained APIs, ML workspaces, AutoML — AI without building models from scratch."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3" name="Shape 4"/>
          <p:cNvSpPr/>
          <p:nvPr/>
        </p:nvSpPr>
        <p:spPr>
          <a:xfrm>
            <a:off x="7644240" y="274320"/>
            <a:ext cx="1113840" cy="802800"/>
          </a:xfrm>
          <a:prstGeom prst="roundRect">
            <a:avLst>
              <a:gd name="adj" fmla="val 9091"/>
            </a:avLst>
          </a:prstGeom>
          <a:solidFill>
            <a:srgbClr val="252a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4" name="Text 5"/>
          <p:cNvSpPr/>
          <p:nvPr/>
        </p:nvSpPr>
        <p:spPr>
          <a:xfrm>
            <a:off x="7644240" y="292680"/>
            <a:ext cx="11138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5a623"/>
                </a:solidFill>
                <a:latin typeface="Cambria"/>
                <a:ea typeface="Cambria"/>
              </a:rPr>
              <a:t>4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5" name="Text 6"/>
          <p:cNvSpPr/>
          <p:nvPr/>
        </p:nvSpPr>
        <p:spPr>
          <a:xfrm>
            <a:off x="7644240" y="768240"/>
            <a:ext cx="1113840" cy="23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892b8"/>
                </a:solidFill>
                <a:latin typeface="Calibri"/>
                <a:ea typeface="Calibri"/>
              </a:rPr>
              <a:t>Scripts Built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6" name="Text 8"/>
          <p:cNvSpPr/>
          <p:nvPr/>
        </p:nvSpPr>
        <p:spPr>
          <a:xfrm>
            <a:off x="7644240" y="1261800"/>
            <a:ext cx="11138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5a623"/>
                </a:solidFill>
                <a:latin typeface="Cambria"/>
                <a:ea typeface="Cambria"/>
              </a:rPr>
              <a:t>8+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7" name="Text 9"/>
          <p:cNvSpPr/>
          <p:nvPr/>
        </p:nvSpPr>
        <p:spPr>
          <a:xfrm>
            <a:off x="7644240" y="1737360"/>
            <a:ext cx="1113840" cy="23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892b8"/>
                </a:solidFill>
                <a:latin typeface="Calibri"/>
                <a:ea typeface="Calibri"/>
              </a:rPr>
              <a:t>Azure Services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8" name="Shape 10"/>
          <p:cNvSpPr/>
          <p:nvPr/>
        </p:nvSpPr>
        <p:spPr>
          <a:xfrm>
            <a:off x="237600" y="1389960"/>
            <a:ext cx="2778120" cy="3509640"/>
          </a:xfrm>
          <a:prstGeom prst="roundRect">
            <a:avLst>
              <a:gd name="adj" fmla="val 3289"/>
            </a:avLst>
          </a:prstGeom>
          <a:solidFill>
            <a:srgbClr val="252a6b"/>
          </a:solidFill>
          <a:ln w="0">
            <a:noFill/>
          </a:ln>
          <a:effectLst>
            <a:outerShdw algn="bl" blurRad="50760" dir="2700000" dist="25455" kx="0" ky="0" rotWithShape="0" sx="100000" sy="10000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629" name="Image 0" descr="preencoded.png"/>
          <p:cNvPicPr/>
          <p:nvPr/>
        </p:nvPicPr>
        <p:blipFill>
          <a:blip r:embed="rId1"/>
          <a:stretch/>
        </p:blipFill>
        <p:spPr>
          <a:xfrm>
            <a:off x="402480" y="1536120"/>
            <a:ext cx="364320" cy="364320"/>
          </a:xfrm>
          <a:prstGeom prst="rect">
            <a:avLst/>
          </a:prstGeom>
          <a:ln w="0">
            <a:noFill/>
          </a:ln>
        </p:spPr>
      </p:pic>
      <p:sp>
        <p:nvSpPr>
          <p:cNvPr id="630" name="Text 11"/>
          <p:cNvSpPr/>
          <p:nvPr/>
        </p:nvSpPr>
        <p:spPr>
          <a:xfrm>
            <a:off x="402480" y="1901880"/>
            <a:ext cx="9126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5a623"/>
                </a:solidFill>
                <a:latin typeface="Calibri"/>
                <a:ea typeface="Calibri"/>
              </a:rPr>
              <a:t>Day 1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1" name="Text 12"/>
          <p:cNvSpPr/>
          <p:nvPr/>
        </p:nvSpPr>
        <p:spPr>
          <a:xfrm>
            <a:off x="402480" y="2103120"/>
            <a:ext cx="24487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Azure AI Services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2" name="Shape 13"/>
          <p:cNvSpPr/>
          <p:nvPr/>
        </p:nvSpPr>
        <p:spPr>
          <a:xfrm>
            <a:off x="394920" y="2515320"/>
            <a:ext cx="2448720" cy="18360"/>
          </a:xfrm>
          <a:prstGeom prst="rect">
            <a:avLst/>
          </a:prstGeom>
          <a:solidFill>
            <a:srgbClr val="3a3f7a"/>
          </a:solidFill>
          <a:ln w="12700">
            <a:solidFill>
              <a:srgbClr val="3a3f7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4840" bIns="-2484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3" name="Text 14"/>
          <p:cNvSpPr/>
          <p:nvPr/>
        </p:nvSpPr>
        <p:spPr>
          <a:xfrm>
            <a:off x="394920" y="2675880"/>
            <a:ext cx="2448720" cy="195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01520" indent="-101520" defTabSz="914400">
              <a:lnSpc>
                <a:spcPct val="100000"/>
              </a:lnSpc>
              <a:buClr>
                <a:srgbClr val="a8b2d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  <a:ea typeface="Calibri"/>
              </a:rPr>
              <a:t>Created Azure AI Services multi-service resource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a8b2d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  <a:ea typeface="Calibri"/>
              </a:rPr>
              <a:t>Text Analytics API — language detect + sentiment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a8b2d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  <a:ea typeface="Calibri"/>
              </a:rPr>
              <a:t>Translator API — translated paragraph into 3 languages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a8b2d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  <a:ea typeface="Calibri"/>
              </a:rPr>
              <a:t>Computer Vision API — image URL analysed via JSON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a8b2d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  <a:ea typeface="Calibri"/>
              </a:rPr>
              <a:t>Script runs 3 cognitive API calls in sequence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4" name="Shape 15"/>
          <p:cNvSpPr/>
          <p:nvPr/>
        </p:nvSpPr>
        <p:spPr>
          <a:xfrm>
            <a:off x="402480" y="4480560"/>
            <a:ext cx="2448720" cy="290880"/>
          </a:xfrm>
          <a:prstGeom prst="roundRect">
            <a:avLst>
              <a:gd name="adj" fmla="val 18750"/>
            </a:avLst>
          </a:prstGeom>
          <a:solidFill>
            <a:srgbClr val="1418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5" name="Text 16"/>
          <p:cNvSpPr/>
          <p:nvPr/>
        </p:nvSpPr>
        <p:spPr>
          <a:xfrm>
            <a:off x="402480" y="4480560"/>
            <a:ext cx="244872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5a623"/>
                </a:solidFill>
                <a:latin typeface="Courier New"/>
                <a:ea typeface="Courier New"/>
              </a:rPr>
              <a:t>$ ai_services_demo.sh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6" name="Shape 17"/>
          <p:cNvSpPr/>
          <p:nvPr/>
        </p:nvSpPr>
        <p:spPr>
          <a:xfrm>
            <a:off x="3182040" y="1389960"/>
            <a:ext cx="2778120" cy="3509640"/>
          </a:xfrm>
          <a:prstGeom prst="roundRect">
            <a:avLst>
              <a:gd name="adj" fmla="val 3289"/>
            </a:avLst>
          </a:prstGeom>
          <a:solidFill>
            <a:srgbClr val="252a6b"/>
          </a:solidFill>
          <a:ln w="0">
            <a:noFill/>
          </a:ln>
          <a:effectLst>
            <a:outerShdw algn="bl" blurRad="50760" dir="2700000" dist="25455" kx="0" ky="0" rotWithShape="0" sx="100000" sy="10000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637" name="Image 1" descr="preencoded.png"/>
          <p:cNvPicPr/>
          <p:nvPr/>
        </p:nvPicPr>
        <p:blipFill>
          <a:blip r:embed="rId2"/>
          <a:stretch/>
        </p:blipFill>
        <p:spPr>
          <a:xfrm>
            <a:off x="3346560" y="1536120"/>
            <a:ext cx="364320" cy="364320"/>
          </a:xfrm>
          <a:prstGeom prst="rect">
            <a:avLst/>
          </a:prstGeom>
          <a:ln w="0">
            <a:noFill/>
          </a:ln>
        </p:spPr>
      </p:pic>
      <p:sp>
        <p:nvSpPr>
          <p:cNvPr id="638" name="Text 18"/>
          <p:cNvSpPr/>
          <p:nvPr/>
        </p:nvSpPr>
        <p:spPr>
          <a:xfrm>
            <a:off x="3346560" y="1902240"/>
            <a:ext cx="9126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5a623"/>
                </a:solidFill>
                <a:latin typeface="Calibri"/>
                <a:ea typeface="Calibri"/>
              </a:rPr>
              <a:t>Day 2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9" name="Text 19"/>
          <p:cNvSpPr/>
          <p:nvPr/>
        </p:nvSpPr>
        <p:spPr>
          <a:xfrm>
            <a:off x="3346560" y="2103120"/>
            <a:ext cx="24487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Azure ML Workspace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0" name="Shape 20"/>
          <p:cNvSpPr/>
          <p:nvPr/>
        </p:nvSpPr>
        <p:spPr>
          <a:xfrm>
            <a:off x="3346560" y="2512440"/>
            <a:ext cx="2448720" cy="18360"/>
          </a:xfrm>
          <a:prstGeom prst="rect">
            <a:avLst/>
          </a:prstGeom>
          <a:solidFill>
            <a:srgbClr val="3a3f7a"/>
          </a:solidFill>
          <a:ln w="12700">
            <a:solidFill>
              <a:srgbClr val="3a3f7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4840" bIns="-2484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1" name="Text 21"/>
          <p:cNvSpPr/>
          <p:nvPr/>
        </p:nvSpPr>
        <p:spPr>
          <a:xfrm>
            <a:off x="3331440" y="2697840"/>
            <a:ext cx="2448720" cy="195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01520" indent="-101520" defTabSz="914400">
              <a:lnSpc>
                <a:spcPct val="100000"/>
              </a:lnSpc>
              <a:buClr>
                <a:srgbClr val="a8b2d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  <a:ea typeface="Calibri"/>
              </a:rPr>
              <a:t>Azure ML workspace created via portal + CLI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a8b2d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  <a:ea typeface="Calibri"/>
              </a:rPr>
              <a:t>Compute instance — managed cloud Jupyter env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a8b2d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  <a:ea typeface="Calibri"/>
              </a:rPr>
              <a:t>CSV dataset registered in workspace data catalog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a8b2d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  <a:ea typeface="Calibri"/>
              </a:rPr>
              <a:t>scikit-learn training run tracked via MLflow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a8b2d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  <a:ea typeface="Calibri"/>
              </a:rPr>
              <a:t>Workspace, compute, dataset all provisioned in one run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2" name="Shape 22"/>
          <p:cNvSpPr/>
          <p:nvPr/>
        </p:nvSpPr>
        <p:spPr>
          <a:xfrm>
            <a:off x="3346560" y="4480560"/>
            <a:ext cx="2448720" cy="290880"/>
          </a:xfrm>
          <a:prstGeom prst="roundRect">
            <a:avLst>
              <a:gd name="adj" fmla="val 18750"/>
            </a:avLst>
          </a:prstGeom>
          <a:solidFill>
            <a:srgbClr val="1418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3" name="Text 23"/>
          <p:cNvSpPr/>
          <p:nvPr/>
        </p:nvSpPr>
        <p:spPr>
          <a:xfrm>
            <a:off x="3346560" y="4480560"/>
            <a:ext cx="244872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5a623"/>
                </a:solidFill>
                <a:latin typeface="Courier New"/>
                <a:ea typeface="Courier New"/>
              </a:rPr>
              <a:t>$ ml_workspace_setup.sh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4" name="Shape 24"/>
          <p:cNvSpPr/>
          <p:nvPr/>
        </p:nvSpPr>
        <p:spPr>
          <a:xfrm>
            <a:off x="6126480" y="1389960"/>
            <a:ext cx="2778120" cy="3509640"/>
          </a:xfrm>
          <a:prstGeom prst="roundRect">
            <a:avLst>
              <a:gd name="adj" fmla="val 3289"/>
            </a:avLst>
          </a:prstGeom>
          <a:solidFill>
            <a:srgbClr val="252a6b"/>
          </a:solidFill>
          <a:ln w="0">
            <a:noFill/>
          </a:ln>
          <a:effectLst>
            <a:outerShdw algn="bl" blurRad="50760" dir="2700000" dist="25455" kx="0" ky="0" rotWithShape="0" sx="100000" sy="10000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645" name="Image 2" descr="preencoded.png"/>
          <p:cNvPicPr/>
          <p:nvPr/>
        </p:nvPicPr>
        <p:blipFill>
          <a:blip r:embed="rId3"/>
          <a:stretch/>
        </p:blipFill>
        <p:spPr>
          <a:xfrm>
            <a:off x="6291000" y="1536120"/>
            <a:ext cx="364320" cy="364320"/>
          </a:xfrm>
          <a:prstGeom prst="rect">
            <a:avLst/>
          </a:prstGeom>
          <a:ln w="0">
            <a:noFill/>
          </a:ln>
        </p:spPr>
      </p:pic>
      <p:sp>
        <p:nvSpPr>
          <p:cNvPr id="646" name="Text 25"/>
          <p:cNvSpPr/>
          <p:nvPr/>
        </p:nvSpPr>
        <p:spPr>
          <a:xfrm>
            <a:off x="6291000" y="1917000"/>
            <a:ext cx="9126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5a623"/>
                </a:solidFill>
                <a:latin typeface="Calibri"/>
                <a:ea typeface="Calibri"/>
              </a:rPr>
              <a:t>Day 3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7" name="Text 26"/>
          <p:cNvSpPr/>
          <p:nvPr/>
        </p:nvSpPr>
        <p:spPr>
          <a:xfrm>
            <a:off x="6291000" y="2103120"/>
            <a:ext cx="24487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Training &amp; AutoML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8" name="Shape 27"/>
          <p:cNvSpPr/>
          <p:nvPr/>
        </p:nvSpPr>
        <p:spPr>
          <a:xfrm>
            <a:off x="6291000" y="2500200"/>
            <a:ext cx="2448720" cy="18360"/>
          </a:xfrm>
          <a:prstGeom prst="rect">
            <a:avLst/>
          </a:prstGeom>
          <a:solidFill>
            <a:srgbClr val="3a3f7a"/>
          </a:solidFill>
          <a:ln w="12700">
            <a:solidFill>
              <a:srgbClr val="3a3f7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4840" bIns="-2484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9" name="Text 28"/>
          <p:cNvSpPr/>
          <p:nvPr/>
        </p:nvSpPr>
        <p:spPr>
          <a:xfrm>
            <a:off x="6275880" y="2649960"/>
            <a:ext cx="2448720" cy="195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01520" indent="-101520" defTabSz="914400">
              <a:lnSpc>
                <a:spcPct val="100000"/>
              </a:lnSpc>
              <a:buClr>
                <a:srgbClr val="a8b2d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  <a:ea typeface="Calibri"/>
              </a:rPr>
              <a:t>AutoML binary classification run on tabular dataset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a8b2d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  <a:ea typeface="Calibri"/>
              </a:rPr>
              <a:t>Reviewed accuracy, confusion matrix, feature importance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a8b2d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  <a:ea typeface="Calibri"/>
              </a:rPr>
              <a:t>Best model registered in Azure ML Model Registry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a8b2d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  <a:ea typeface="Calibri"/>
              </a:rPr>
              <a:t>Deployed to Managed Online Endpoint, tested via curl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a8b2d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  <a:ea typeface="Calibri"/>
              </a:rPr>
              <a:t>Register, deploy, smoke-test endpoint in one run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0" name="Shape 29"/>
          <p:cNvSpPr/>
          <p:nvPr/>
        </p:nvSpPr>
        <p:spPr>
          <a:xfrm>
            <a:off x="6291000" y="4480560"/>
            <a:ext cx="2448720" cy="290880"/>
          </a:xfrm>
          <a:prstGeom prst="roundRect">
            <a:avLst>
              <a:gd name="adj" fmla="val 18750"/>
            </a:avLst>
          </a:prstGeom>
          <a:solidFill>
            <a:srgbClr val="1418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1" name="Text 30"/>
          <p:cNvSpPr/>
          <p:nvPr/>
        </p:nvSpPr>
        <p:spPr>
          <a:xfrm>
            <a:off x="6291000" y="4480560"/>
            <a:ext cx="244872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5a623"/>
                </a:solidFill>
                <a:latin typeface="Courier New"/>
                <a:ea typeface="Courier New"/>
              </a:rPr>
              <a:t>$ model_deploy.sh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Shape 0"/>
          <p:cNvSpPr/>
          <p:nvPr/>
        </p:nvSpPr>
        <p:spPr>
          <a:xfrm>
            <a:off x="0" y="0"/>
            <a:ext cx="52920" cy="51418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Text 1"/>
          <p:cNvSpPr/>
          <p:nvPr/>
        </p:nvSpPr>
        <p:spPr>
          <a:xfrm>
            <a:off x="274320" y="228600"/>
            <a:ext cx="859356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335" strike="noStrike">
                <a:solidFill>
                  <a:srgbClr val="f5a623"/>
                </a:solidFill>
                <a:latin typeface="Calibri"/>
                <a:ea typeface="Calibri"/>
              </a:rPr>
              <a:t>WEEK 3  ·  DAYS 4–5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Text 2"/>
          <p:cNvSpPr/>
          <p:nvPr/>
        </p:nvSpPr>
        <p:spPr>
          <a:xfrm>
            <a:off x="274320" y="457200"/>
            <a:ext cx="63990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1a1e4f"/>
                </a:solidFill>
                <a:latin typeface="Cambria"/>
                <a:ea typeface="Cambria"/>
              </a:rPr>
              <a:t>Vision, Language &amp; OpenAI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Shape 3"/>
          <p:cNvSpPr/>
          <p:nvPr/>
        </p:nvSpPr>
        <p:spPr>
          <a:xfrm>
            <a:off x="237600" y="1115640"/>
            <a:ext cx="4222800" cy="3912120"/>
          </a:xfrm>
          <a:prstGeom prst="roundRect">
            <a:avLst>
              <a:gd name="adj" fmla="val 2913"/>
            </a:avLst>
          </a:prstGeom>
          <a:solidFill>
            <a:srgbClr val="0f1035"/>
          </a:solidFill>
          <a:ln w="0">
            <a:noFill/>
          </a:ln>
          <a:effectLst>
            <a:outerShdw algn="bl" blurRad="50760" dir="2700000" dist="25455" kx="0" ky="0" rotWithShape="0" sx="100000" sy="10000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656" name="Image 0" descr="preencoded.png"/>
          <p:cNvPicPr/>
          <p:nvPr/>
        </p:nvPicPr>
        <p:blipFill>
          <a:blip r:embed="rId1"/>
          <a:stretch/>
        </p:blipFill>
        <p:spPr>
          <a:xfrm>
            <a:off x="420480" y="1261800"/>
            <a:ext cx="327240" cy="327240"/>
          </a:xfrm>
          <a:prstGeom prst="rect">
            <a:avLst/>
          </a:prstGeom>
          <a:ln w="0">
            <a:noFill/>
          </a:ln>
        </p:spPr>
      </p:pic>
      <p:sp>
        <p:nvSpPr>
          <p:cNvPr id="657" name="Text 4"/>
          <p:cNvSpPr/>
          <p:nvPr/>
        </p:nvSpPr>
        <p:spPr>
          <a:xfrm>
            <a:off x="822960" y="1280160"/>
            <a:ext cx="91260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5a623"/>
                </a:solidFill>
                <a:latin typeface="Calibri"/>
                <a:ea typeface="Calibri"/>
              </a:rPr>
              <a:t>Day 4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Text 5"/>
          <p:cNvSpPr/>
          <p:nvPr/>
        </p:nvSpPr>
        <p:spPr>
          <a:xfrm>
            <a:off x="420480" y="1627560"/>
            <a:ext cx="385704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ffffff"/>
                </a:solidFill>
                <a:latin typeface="Calibri"/>
                <a:ea typeface="Calibri"/>
              </a:rPr>
              <a:t>Computer Vision &amp; Language APIs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Text 6"/>
          <p:cNvSpPr/>
          <p:nvPr/>
        </p:nvSpPr>
        <p:spPr>
          <a:xfrm>
            <a:off x="420480" y="1938600"/>
            <a:ext cx="3857040" cy="23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8892b8"/>
                </a:solidFill>
                <a:latin typeface="Calibri"/>
                <a:ea typeface="Calibri"/>
              </a:rPr>
              <a:t>"Pre-trained vision and language models — no model training required."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" name="Shape 7"/>
          <p:cNvSpPr/>
          <p:nvPr/>
        </p:nvSpPr>
        <p:spPr>
          <a:xfrm>
            <a:off x="420480" y="2286000"/>
            <a:ext cx="3857040" cy="400680"/>
          </a:xfrm>
          <a:prstGeom prst="roundRect">
            <a:avLst>
              <a:gd name="adj" fmla="val 15909"/>
            </a:avLst>
          </a:prstGeom>
          <a:solidFill>
            <a:srgbClr val="252a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1" name="Shape 8"/>
          <p:cNvSpPr/>
          <p:nvPr/>
        </p:nvSpPr>
        <p:spPr>
          <a:xfrm>
            <a:off x="420480" y="2286000"/>
            <a:ext cx="52920" cy="400680"/>
          </a:xfrm>
          <a:prstGeom prst="roundRect">
            <a:avLst>
              <a:gd name="adj" fmla="val 16667"/>
            </a:avLst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Text 9"/>
          <p:cNvSpPr/>
          <p:nvPr/>
        </p:nvSpPr>
        <p:spPr>
          <a:xfrm>
            <a:off x="548640" y="2304360"/>
            <a:ext cx="365580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d580"/>
                </a:solidFill>
                <a:latin typeface="Calibri"/>
                <a:ea typeface="Calibri"/>
              </a:rPr>
              <a:t>OCR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" name="Text 10"/>
          <p:cNvSpPr/>
          <p:nvPr/>
        </p:nvSpPr>
        <p:spPr>
          <a:xfrm>
            <a:off x="548640" y="2487240"/>
            <a:ext cx="365580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892b8"/>
                </a:solidFill>
                <a:latin typeface="Calibri"/>
                <a:ea typeface="Calibri"/>
              </a:rPr>
              <a:t>Computer Vision API · printed + handwritten text extraction · structured JSON output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Shape 11"/>
          <p:cNvSpPr/>
          <p:nvPr/>
        </p:nvSpPr>
        <p:spPr>
          <a:xfrm>
            <a:off x="420480" y="2788920"/>
            <a:ext cx="3857040" cy="400680"/>
          </a:xfrm>
          <a:prstGeom prst="roundRect">
            <a:avLst>
              <a:gd name="adj" fmla="val 15909"/>
            </a:avLst>
          </a:prstGeom>
          <a:solidFill>
            <a:srgbClr val="252a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5" name="Shape 12"/>
          <p:cNvSpPr/>
          <p:nvPr/>
        </p:nvSpPr>
        <p:spPr>
          <a:xfrm>
            <a:off x="420480" y="2788920"/>
            <a:ext cx="52920" cy="400680"/>
          </a:xfrm>
          <a:prstGeom prst="roundRect">
            <a:avLst>
              <a:gd name="adj" fmla="val 16667"/>
            </a:avLst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Text 13"/>
          <p:cNvSpPr/>
          <p:nvPr/>
        </p:nvSpPr>
        <p:spPr>
          <a:xfrm>
            <a:off x="548640" y="2807280"/>
            <a:ext cx="365580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d580"/>
                </a:solidFill>
                <a:latin typeface="Calibri"/>
                <a:ea typeface="Calibri"/>
              </a:rPr>
              <a:t>Language Service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Text 14"/>
          <p:cNvSpPr/>
          <p:nvPr/>
        </p:nvSpPr>
        <p:spPr>
          <a:xfrm>
            <a:off x="548640" y="2990160"/>
            <a:ext cx="365580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892b8"/>
                </a:solidFill>
                <a:latin typeface="Calibri"/>
                <a:ea typeface="Calibri"/>
              </a:rPr>
              <a:t>Key phrase extraction · named entity recognition · paragraph-level NLP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" name="Shape 15"/>
          <p:cNvSpPr/>
          <p:nvPr/>
        </p:nvSpPr>
        <p:spPr>
          <a:xfrm>
            <a:off x="420480" y="3291840"/>
            <a:ext cx="3857040" cy="400680"/>
          </a:xfrm>
          <a:prstGeom prst="roundRect">
            <a:avLst>
              <a:gd name="adj" fmla="val 15909"/>
            </a:avLst>
          </a:prstGeom>
          <a:solidFill>
            <a:srgbClr val="252a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9" name="Shape 16"/>
          <p:cNvSpPr/>
          <p:nvPr/>
        </p:nvSpPr>
        <p:spPr>
          <a:xfrm>
            <a:off x="420480" y="3291840"/>
            <a:ext cx="52920" cy="400680"/>
          </a:xfrm>
          <a:prstGeom prst="roundRect">
            <a:avLst>
              <a:gd name="adj" fmla="val 16667"/>
            </a:avLst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Text 17"/>
          <p:cNvSpPr/>
          <p:nvPr/>
        </p:nvSpPr>
        <p:spPr>
          <a:xfrm>
            <a:off x="548640" y="3310200"/>
            <a:ext cx="365580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d580"/>
                </a:solidFill>
                <a:latin typeface="Calibri"/>
                <a:ea typeface="Calibri"/>
              </a:rPr>
              <a:t>Document Intelligence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Text 18"/>
          <p:cNvSpPr/>
          <p:nvPr/>
        </p:nvSpPr>
        <p:spPr>
          <a:xfrm>
            <a:off x="548640" y="3493080"/>
            <a:ext cx="365580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892b8"/>
                </a:solidFill>
                <a:latin typeface="Calibri"/>
                <a:ea typeface="Calibri"/>
              </a:rPr>
              <a:t>Form Recognizer · parsed structured fields from PDF invoice · no manual regex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Shape 19"/>
          <p:cNvSpPr/>
          <p:nvPr/>
        </p:nvSpPr>
        <p:spPr>
          <a:xfrm>
            <a:off x="420480" y="3794760"/>
            <a:ext cx="3857040" cy="400680"/>
          </a:xfrm>
          <a:prstGeom prst="roundRect">
            <a:avLst>
              <a:gd name="adj" fmla="val 15909"/>
            </a:avLst>
          </a:prstGeom>
          <a:solidFill>
            <a:srgbClr val="252a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3" name="Shape 20"/>
          <p:cNvSpPr/>
          <p:nvPr/>
        </p:nvSpPr>
        <p:spPr>
          <a:xfrm>
            <a:off x="420480" y="3794760"/>
            <a:ext cx="52920" cy="400680"/>
          </a:xfrm>
          <a:prstGeom prst="roundRect">
            <a:avLst>
              <a:gd name="adj" fmla="val 16667"/>
            </a:avLst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Text 21"/>
          <p:cNvSpPr/>
          <p:nvPr/>
        </p:nvSpPr>
        <p:spPr>
          <a:xfrm>
            <a:off x="548640" y="3813120"/>
            <a:ext cx="365580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d580"/>
                </a:solidFill>
                <a:latin typeface="Calibri"/>
                <a:ea typeface="Calibri"/>
              </a:rPr>
              <a:t>Python Script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5" name="Text 22"/>
          <p:cNvSpPr/>
          <p:nvPr/>
        </p:nvSpPr>
        <p:spPr>
          <a:xfrm>
            <a:off x="548640" y="3996000"/>
            <a:ext cx="365580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892b8"/>
                </a:solidFill>
                <a:latin typeface="Calibri"/>
                <a:ea typeface="Calibri"/>
              </a:rPr>
              <a:t>upload image → OCR via SDK → print structured extracted text fields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6" name="Shape 23"/>
          <p:cNvSpPr/>
          <p:nvPr/>
        </p:nvSpPr>
        <p:spPr>
          <a:xfrm>
            <a:off x="420480" y="4297680"/>
            <a:ext cx="3857040" cy="400680"/>
          </a:xfrm>
          <a:prstGeom prst="roundRect">
            <a:avLst>
              <a:gd name="adj" fmla="val 15909"/>
            </a:avLst>
          </a:prstGeom>
          <a:solidFill>
            <a:srgbClr val="252a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7" name="Shape 24"/>
          <p:cNvSpPr/>
          <p:nvPr/>
        </p:nvSpPr>
        <p:spPr>
          <a:xfrm>
            <a:off x="420480" y="4297680"/>
            <a:ext cx="52920" cy="400680"/>
          </a:xfrm>
          <a:prstGeom prst="roundRect">
            <a:avLst>
              <a:gd name="adj" fmla="val 16667"/>
            </a:avLst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8" name="Text 25"/>
          <p:cNvSpPr/>
          <p:nvPr/>
        </p:nvSpPr>
        <p:spPr>
          <a:xfrm>
            <a:off x="548640" y="4316040"/>
            <a:ext cx="365580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d580"/>
                </a:solidFill>
                <a:latin typeface="Calibri"/>
                <a:ea typeface="Calibri"/>
              </a:rPr>
              <a:t>Day 4 Built On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9" name="Text 26"/>
          <p:cNvSpPr/>
          <p:nvPr/>
        </p:nvSpPr>
        <p:spPr>
          <a:xfrm>
            <a:off x="548640" y="4498920"/>
            <a:ext cx="365580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892b8"/>
                </a:solidFill>
                <a:latin typeface="Calibri"/>
                <a:ea typeface="Calibri"/>
              </a:rPr>
              <a:t>FastAPI capstone app skeleton built alongside Day 4 — fully locally verified before Day 5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0" name="Shape 27"/>
          <p:cNvSpPr/>
          <p:nvPr/>
        </p:nvSpPr>
        <p:spPr>
          <a:xfrm>
            <a:off x="4626720" y="1115640"/>
            <a:ext cx="4287240" cy="3912120"/>
          </a:xfrm>
          <a:prstGeom prst="roundRect">
            <a:avLst>
              <a:gd name="adj" fmla="val 2913"/>
            </a:avLst>
          </a:prstGeom>
          <a:solidFill>
            <a:srgbClr val="e8ecff"/>
          </a:solidFill>
          <a:ln w="0">
            <a:noFill/>
          </a:ln>
          <a:effectLst>
            <a:outerShdw algn="bl" blurRad="50760" dir="2700000" dist="25455" kx="0" ky="0" rotWithShape="0" sx="100000" sy="10000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81" name="Image 1" descr="preencoded.png"/>
          <p:cNvPicPr/>
          <p:nvPr/>
        </p:nvPicPr>
        <p:blipFill>
          <a:blip r:embed="rId2"/>
          <a:stretch/>
        </p:blipFill>
        <p:spPr>
          <a:xfrm>
            <a:off x="4809600" y="1261800"/>
            <a:ext cx="327240" cy="327240"/>
          </a:xfrm>
          <a:prstGeom prst="rect">
            <a:avLst/>
          </a:prstGeom>
          <a:ln w="0">
            <a:noFill/>
          </a:ln>
        </p:spPr>
      </p:pic>
      <p:sp>
        <p:nvSpPr>
          <p:cNvPr id="682" name="Text 28"/>
          <p:cNvSpPr/>
          <p:nvPr/>
        </p:nvSpPr>
        <p:spPr>
          <a:xfrm>
            <a:off x="5212080" y="1280160"/>
            <a:ext cx="91260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5a623"/>
                </a:solidFill>
                <a:latin typeface="Calibri"/>
                <a:ea typeface="Calibri"/>
              </a:rPr>
              <a:t>Day 5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" name="Text 29"/>
          <p:cNvSpPr/>
          <p:nvPr/>
        </p:nvSpPr>
        <p:spPr>
          <a:xfrm>
            <a:off x="4809600" y="1627560"/>
            <a:ext cx="39117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1a1e4f"/>
                </a:solidFill>
                <a:latin typeface="Calibri"/>
                <a:ea typeface="Calibri"/>
              </a:rPr>
              <a:t>Azure OpenAI Service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Text 30"/>
          <p:cNvSpPr/>
          <p:nvPr/>
        </p:nvSpPr>
        <p:spPr>
          <a:xfrm>
            <a:off x="4809600" y="1938600"/>
            <a:ext cx="3911760" cy="23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64748b"/>
                </a:solidFill>
                <a:latin typeface="Calibri"/>
                <a:ea typeface="Calibri"/>
              </a:rPr>
              <a:t>"GPT-4 and embeddings through Azure — enterprise-grade security and compliance."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5" name="Text 31"/>
          <p:cNvSpPr/>
          <p:nvPr/>
        </p:nvSpPr>
        <p:spPr>
          <a:xfrm>
            <a:off x="4809600" y="2249280"/>
            <a:ext cx="3911760" cy="23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5a623"/>
                </a:solidFill>
                <a:latin typeface="Calibri"/>
                <a:ea typeface="Calibri"/>
              </a:rPr>
              <a:t>API Call Flow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6" name="Shape 32"/>
          <p:cNvSpPr/>
          <p:nvPr/>
        </p:nvSpPr>
        <p:spPr>
          <a:xfrm>
            <a:off x="4809600" y="2560320"/>
            <a:ext cx="867960" cy="437040"/>
          </a:xfrm>
          <a:prstGeom prst="roundRect">
            <a:avLst>
              <a:gd name="adj" fmla="val 14583"/>
            </a:avLst>
          </a:prstGeom>
          <a:solidFill>
            <a:srgbClr val="252a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7" name="Text 33"/>
          <p:cNvSpPr/>
          <p:nvPr/>
        </p:nvSpPr>
        <p:spPr>
          <a:xfrm>
            <a:off x="4809600" y="2560320"/>
            <a:ext cx="86796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Set API Key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8" name="Text 34"/>
          <p:cNvSpPr/>
          <p:nvPr/>
        </p:nvSpPr>
        <p:spPr>
          <a:xfrm>
            <a:off x="5696640" y="2633400"/>
            <a:ext cx="896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5a623"/>
                </a:solidFill>
                <a:latin typeface="Calibri"/>
                <a:ea typeface="Calibri"/>
              </a:rPr>
              <a:t>→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9" name="Shape 35"/>
          <p:cNvSpPr/>
          <p:nvPr/>
        </p:nvSpPr>
        <p:spPr>
          <a:xfrm>
            <a:off x="5833800" y="2560320"/>
            <a:ext cx="867960" cy="437040"/>
          </a:xfrm>
          <a:prstGeom prst="roundRect">
            <a:avLst>
              <a:gd name="adj" fmla="val 14583"/>
            </a:avLst>
          </a:prstGeom>
          <a:solidFill>
            <a:srgbClr val="252a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0" name="Text 36"/>
          <p:cNvSpPr/>
          <p:nvPr/>
        </p:nvSpPr>
        <p:spPr>
          <a:xfrm>
            <a:off x="5833800" y="2560320"/>
            <a:ext cx="86796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set_env.sh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Text 37"/>
          <p:cNvSpPr/>
          <p:nvPr/>
        </p:nvSpPr>
        <p:spPr>
          <a:xfrm>
            <a:off x="6720840" y="2633400"/>
            <a:ext cx="896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5a623"/>
                </a:solidFill>
                <a:latin typeface="Calibri"/>
                <a:ea typeface="Calibri"/>
              </a:rPr>
              <a:t>→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2" name="Shape 38"/>
          <p:cNvSpPr/>
          <p:nvPr/>
        </p:nvSpPr>
        <p:spPr>
          <a:xfrm>
            <a:off x="6858000" y="2560320"/>
            <a:ext cx="867960" cy="437040"/>
          </a:xfrm>
          <a:prstGeom prst="roundRect">
            <a:avLst>
              <a:gd name="adj" fmla="val 14583"/>
            </a:avLst>
          </a:prstGeom>
          <a:solidFill>
            <a:srgbClr val="252a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3" name="Text 39"/>
          <p:cNvSpPr/>
          <p:nvPr/>
        </p:nvSpPr>
        <p:spPr>
          <a:xfrm>
            <a:off x="6858000" y="2560320"/>
            <a:ext cx="86796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curl call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4" name="Text 40"/>
          <p:cNvSpPr/>
          <p:nvPr/>
        </p:nvSpPr>
        <p:spPr>
          <a:xfrm>
            <a:off x="7745040" y="2633400"/>
            <a:ext cx="896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5a623"/>
                </a:solidFill>
                <a:latin typeface="Calibri"/>
                <a:ea typeface="Calibri"/>
              </a:rPr>
              <a:t>→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Shape 41"/>
          <p:cNvSpPr/>
          <p:nvPr/>
        </p:nvSpPr>
        <p:spPr>
          <a:xfrm>
            <a:off x="7882200" y="2560320"/>
            <a:ext cx="867960" cy="437040"/>
          </a:xfrm>
          <a:prstGeom prst="roundRect">
            <a:avLst>
              <a:gd name="adj" fmla="val 14583"/>
            </a:avLst>
          </a:prstGeom>
          <a:solidFill>
            <a:srgbClr val="252a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6" name="Text 42"/>
          <p:cNvSpPr/>
          <p:nvPr/>
        </p:nvSpPr>
        <p:spPr>
          <a:xfrm>
            <a:off x="7882200" y="2560320"/>
            <a:ext cx="86796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Python SDK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7" name="Shape 43"/>
          <p:cNvSpPr/>
          <p:nvPr/>
        </p:nvSpPr>
        <p:spPr>
          <a:xfrm>
            <a:off x="4809600" y="3163680"/>
            <a:ext cx="867960" cy="437040"/>
          </a:xfrm>
          <a:prstGeom prst="roundRect">
            <a:avLst>
              <a:gd name="adj" fmla="val 14583"/>
            </a:avLst>
          </a:prstGeom>
          <a:solidFill>
            <a:srgbClr val="252a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8" name="Text 44"/>
          <p:cNvSpPr/>
          <p:nvPr/>
        </p:nvSpPr>
        <p:spPr>
          <a:xfrm>
            <a:off x="4809600" y="3163680"/>
            <a:ext cx="86796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System prompt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9" name="Text 45"/>
          <p:cNvSpPr/>
          <p:nvPr/>
        </p:nvSpPr>
        <p:spPr>
          <a:xfrm>
            <a:off x="5696640" y="3237120"/>
            <a:ext cx="896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5a623"/>
                </a:solidFill>
                <a:latin typeface="Calibri"/>
                <a:ea typeface="Calibri"/>
              </a:rPr>
              <a:t>→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Shape 46"/>
          <p:cNvSpPr/>
          <p:nvPr/>
        </p:nvSpPr>
        <p:spPr>
          <a:xfrm>
            <a:off x="5833800" y="3163680"/>
            <a:ext cx="867960" cy="437040"/>
          </a:xfrm>
          <a:prstGeom prst="roundRect">
            <a:avLst>
              <a:gd name="adj" fmla="val 14583"/>
            </a:avLst>
          </a:prstGeom>
          <a:solidFill>
            <a:srgbClr val="252a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1" name="Text 47"/>
          <p:cNvSpPr/>
          <p:nvPr/>
        </p:nvSpPr>
        <p:spPr>
          <a:xfrm>
            <a:off x="5833800" y="3163680"/>
            <a:ext cx="86796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Embeddings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Text 48"/>
          <p:cNvSpPr/>
          <p:nvPr/>
        </p:nvSpPr>
        <p:spPr>
          <a:xfrm>
            <a:off x="6720840" y="3237120"/>
            <a:ext cx="896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5a623"/>
                </a:solidFill>
                <a:latin typeface="Calibri"/>
                <a:ea typeface="Calibri"/>
              </a:rPr>
              <a:t>→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3" name="Shape 49"/>
          <p:cNvSpPr/>
          <p:nvPr/>
        </p:nvSpPr>
        <p:spPr>
          <a:xfrm>
            <a:off x="6858000" y="3163680"/>
            <a:ext cx="867960" cy="437040"/>
          </a:xfrm>
          <a:prstGeom prst="roundRect">
            <a:avLst>
              <a:gd name="adj" fmla="val 14583"/>
            </a:avLst>
          </a:prstGeom>
          <a:solidFill>
            <a:srgbClr val="252a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4" name="Text 50"/>
          <p:cNvSpPr/>
          <p:nvPr/>
        </p:nvSpPr>
        <p:spPr>
          <a:xfrm>
            <a:off x="6858000" y="3163680"/>
            <a:ext cx="86796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RAG Q&amp;A app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Text 51"/>
          <p:cNvSpPr/>
          <p:nvPr/>
        </p:nvSpPr>
        <p:spPr>
          <a:xfrm>
            <a:off x="7745040" y="3237120"/>
            <a:ext cx="896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5a623"/>
                </a:solidFill>
                <a:latin typeface="Calibri"/>
                <a:ea typeface="Calibri"/>
              </a:rPr>
              <a:t>→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6" name="Shape 52"/>
          <p:cNvSpPr/>
          <p:nvPr/>
        </p:nvSpPr>
        <p:spPr>
          <a:xfrm>
            <a:off x="7882200" y="3163680"/>
            <a:ext cx="867960" cy="437040"/>
          </a:xfrm>
          <a:prstGeom prst="roundRect">
            <a:avLst>
              <a:gd name="adj" fmla="val 14583"/>
            </a:avLst>
          </a:prstGeom>
          <a:solidFill>
            <a:srgbClr val="f5a62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7" name="Text 53"/>
          <p:cNvSpPr/>
          <p:nvPr/>
        </p:nvSpPr>
        <p:spPr>
          <a:xfrm>
            <a:off x="7882200" y="3163680"/>
            <a:ext cx="86796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f1035"/>
                </a:solidFill>
                <a:latin typeface="Calibri"/>
                <a:ea typeface="Calibri"/>
              </a:rPr>
              <a:t>GPT response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8" name="Text 54"/>
          <p:cNvSpPr/>
          <p:nvPr/>
        </p:nvSpPr>
        <p:spPr>
          <a:xfrm>
            <a:off x="4809600" y="3877200"/>
            <a:ext cx="391176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5a623"/>
                </a:solidFill>
                <a:latin typeface="Calibri"/>
                <a:ea typeface="Calibri"/>
              </a:rPr>
              <a:t>Deployment Details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Text 55"/>
          <p:cNvSpPr/>
          <p:nvPr/>
        </p:nvSpPr>
        <p:spPr>
          <a:xfrm>
            <a:off x="4809600" y="4133160"/>
            <a:ext cx="8211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1a1e4f"/>
                </a:solidFill>
                <a:latin typeface="Calibri"/>
                <a:ea typeface="Calibri"/>
              </a:rPr>
              <a:t>Registry: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Text 56"/>
          <p:cNvSpPr/>
          <p:nvPr/>
        </p:nvSpPr>
        <p:spPr>
          <a:xfrm>
            <a:off x="5486400" y="4133160"/>
            <a:ext cx="305244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4748b"/>
                </a:solidFill>
                <a:latin typeface="Courier New"/>
                <a:ea typeface="Courier New"/>
              </a:rPr>
              <a:t>Resource: vibha-mqyv8dko-eastus2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1" name="Text 57"/>
          <p:cNvSpPr/>
          <p:nvPr/>
        </p:nvSpPr>
        <p:spPr>
          <a:xfrm>
            <a:off x="4809600" y="4334400"/>
            <a:ext cx="8211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1a1e4f"/>
                </a:solidFill>
                <a:latin typeface="Calibri"/>
                <a:ea typeface="Calibri"/>
              </a:rPr>
              <a:t>Image: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Text 58"/>
          <p:cNvSpPr/>
          <p:nvPr/>
        </p:nvSpPr>
        <p:spPr>
          <a:xfrm>
            <a:off x="5486400" y="4334400"/>
            <a:ext cx="305244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4748b"/>
                </a:solidFill>
                <a:latin typeface="Courier New"/>
                <a:ea typeface="Courier New"/>
              </a:rPr>
              <a:t>Model: gpt-5-mini + text-embedding-3-small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Text 59"/>
          <p:cNvSpPr/>
          <p:nvPr/>
        </p:nvSpPr>
        <p:spPr>
          <a:xfrm>
            <a:off x="4809600" y="4535280"/>
            <a:ext cx="8211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1a1e4f"/>
                </a:solidFill>
                <a:latin typeface="Calibri"/>
                <a:ea typeface="Calibri"/>
              </a:rPr>
              <a:t>Auth: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4" name="Text 60"/>
          <p:cNvSpPr/>
          <p:nvPr/>
        </p:nvSpPr>
        <p:spPr>
          <a:xfrm>
            <a:off x="5486400" y="4544640"/>
            <a:ext cx="305244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4748b"/>
                </a:solidFill>
                <a:latin typeface="Courier New"/>
                <a:ea typeface="Courier New"/>
              </a:rPr>
              <a:t>Auth: API key stored in Key Vault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Text 61"/>
          <p:cNvSpPr/>
          <p:nvPr/>
        </p:nvSpPr>
        <p:spPr>
          <a:xfrm>
            <a:off x="4809600" y="4736520"/>
            <a:ext cx="8211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1a1e4f"/>
                </a:solidFill>
                <a:latin typeface="Calibri"/>
                <a:ea typeface="Calibri"/>
              </a:rPr>
              <a:t>Endpoint: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6" name="Text 62"/>
          <p:cNvSpPr/>
          <p:nvPr/>
        </p:nvSpPr>
        <p:spPr>
          <a:xfrm>
            <a:off x="5486400" y="4736520"/>
            <a:ext cx="34275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64748b"/>
                </a:solidFill>
                <a:latin typeface="Courier New"/>
                <a:ea typeface="Courier New"/>
              </a:rPr>
              <a:t>API Version: 2025-04-01-preview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0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Shape 0"/>
          <p:cNvSpPr/>
          <p:nvPr/>
        </p:nvSpPr>
        <p:spPr>
          <a:xfrm>
            <a:off x="0" y="0"/>
            <a:ext cx="52920" cy="51418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Text 1"/>
          <p:cNvSpPr/>
          <p:nvPr/>
        </p:nvSpPr>
        <p:spPr>
          <a:xfrm>
            <a:off x="274320" y="228600"/>
            <a:ext cx="859356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335" strike="noStrike">
                <a:solidFill>
                  <a:srgbClr val="f5a623"/>
                </a:solidFill>
                <a:latin typeface="Calibri"/>
                <a:ea typeface="Calibri"/>
              </a:rPr>
              <a:t>WEEK 3  ·  CAPSTONE PROJECT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9" name="Text 2"/>
          <p:cNvSpPr/>
          <p:nvPr/>
        </p:nvSpPr>
        <p:spPr>
          <a:xfrm>
            <a:off x="274320" y="457200"/>
            <a:ext cx="73134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ambria"/>
                <a:ea typeface="Cambria"/>
              </a:rPr>
              <a:t>AI-Powered Log Analyser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0" name="Text 3"/>
          <p:cNvSpPr/>
          <p:nvPr/>
        </p:nvSpPr>
        <p:spPr>
          <a:xfrm>
            <a:off x="274320" y="1005840"/>
            <a:ext cx="841068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8892b8"/>
                </a:solidFill>
                <a:latin typeface="Calibri"/>
                <a:ea typeface="Calibri"/>
              </a:rPr>
              <a:t>FastAPI app that accepts log files, calls Azure OpenAI (gpt-5-mini), and returns AI-generated root-cause analysis — containerised, deployed to AKS via CI/CD, secrets from Key Vault.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1" name="Shape 4"/>
          <p:cNvSpPr/>
          <p:nvPr/>
        </p:nvSpPr>
        <p:spPr>
          <a:xfrm>
            <a:off x="255960" y="1444680"/>
            <a:ext cx="1516320" cy="1333080"/>
          </a:xfrm>
          <a:prstGeom prst="roundRect">
            <a:avLst>
              <a:gd name="adj" fmla="val 6410"/>
            </a:avLst>
          </a:prstGeom>
          <a:solidFill>
            <a:srgbClr val="252a6b"/>
          </a:solidFill>
          <a:ln w="0">
            <a:noFill/>
          </a:ln>
          <a:effectLst>
            <a:outerShdw algn="bl" blurRad="50760" dir="2700000" dist="25455" kx="0" ky="0" rotWithShape="0" sx="100000" sy="10000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22" name="Image 0" descr="preencoded.png"/>
          <p:cNvPicPr/>
          <p:nvPr/>
        </p:nvPicPr>
        <p:blipFill>
          <a:blip r:embed="rId1"/>
          <a:stretch/>
        </p:blipFill>
        <p:spPr>
          <a:xfrm>
            <a:off x="868680" y="1572840"/>
            <a:ext cx="345600" cy="345600"/>
          </a:xfrm>
          <a:prstGeom prst="rect">
            <a:avLst/>
          </a:prstGeom>
          <a:ln w="0">
            <a:noFill/>
          </a:ln>
        </p:spPr>
      </p:pic>
      <p:sp>
        <p:nvSpPr>
          <p:cNvPr id="723" name="Text 5"/>
          <p:cNvSpPr/>
          <p:nvPr/>
        </p:nvSpPr>
        <p:spPr>
          <a:xfrm>
            <a:off x="255960" y="1993320"/>
            <a:ext cx="1571400" cy="23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git push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4" name="Text 6"/>
          <p:cNvSpPr/>
          <p:nvPr/>
        </p:nvSpPr>
        <p:spPr>
          <a:xfrm>
            <a:off x="255960" y="2249280"/>
            <a:ext cx="1516320" cy="5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8892b8"/>
                </a:solidFill>
                <a:latin typeface="Calibri"/>
                <a:ea typeface="Calibri"/>
              </a:rPr>
              <a:t>triggers pipeline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8892b8"/>
                </a:solidFill>
                <a:latin typeface="Calibri"/>
                <a:ea typeface="Calibri"/>
              </a:rPr>
              <a:t>auto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5" name="Text 7"/>
          <p:cNvSpPr/>
          <p:nvPr/>
        </p:nvSpPr>
        <p:spPr>
          <a:xfrm>
            <a:off x="1828800" y="1993320"/>
            <a:ext cx="16308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5a623"/>
                </a:solidFill>
                <a:latin typeface="Calibri"/>
                <a:ea typeface="Calibri"/>
              </a:rPr>
              <a:t>→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6" name="Shape 8"/>
          <p:cNvSpPr/>
          <p:nvPr/>
        </p:nvSpPr>
        <p:spPr>
          <a:xfrm>
            <a:off x="2048400" y="1444680"/>
            <a:ext cx="1515960" cy="1333080"/>
          </a:xfrm>
          <a:prstGeom prst="roundRect">
            <a:avLst>
              <a:gd name="adj" fmla="val 6410"/>
            </a:avLst>
          </a:prstGeom>
          <a:solidFill>
            <a:srgbClr val="252a6b"/>
          </a:solidFill>
          <a:ln w="0">
            <a:noFill/>
          </a:ln>
          <a:effectLst>
            <a:outerShdw algn="bl" blurRad="50760" dir="2700000" dist="25455" kx="0" ky="0" rotWithShape="0" sx="100000" sy="10000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27" name="Image 1" descr="preencoded.png"/>
          <p:cNvPicPr/>
          <p:nvPr/>
        </p:nvPicPr>
        <p:blipFill>
          <a:blip r:embed="rId2"/>
          <a:stretch/>
        </p:blipFill>
        <p:spPr>
          <a:xfrm>
            <a:off x="2624760" y="1572840"/>
            <a:ext cx="345600" cy="345600"/>
          </a:xfrm>
          <a:prstGeom prst="rect">
            <a:avLst/>
          </a:prstGeom>
          <a:ln w="0">
            <a:noFill/>
          </a:ln>
        </p:spPr>
      </p:pic>
      <p:sp>
        <p:nvSpPr>
          <p:cNvPr id="728" name="Text 9"/>
          <p:cNvSpPr/>
          <p:nvPr/>
        </p:nvSpPr>
        <p:spPr>
          <a:xfrm>
            <a:off x="2030400" y="1993320"/>
            <a:ext cx="1533960" cy="23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Build Stage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9" name="Text 10"/>
          <p:cNvSpPr/>
          <p:nvPr/>
        </p:nvSpPr>
        <p:spPr>
          <a:xfrm>
            <a:off x="2048400" y="2249280"/>
            <a:ext cx="1515960" cy="5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8892b8"/>
                </a:solidFill>
                <a:latin typeface="Calibri"/>
                <a:ea typeface="Calibri"/>
              </a:rPr>
              <a:t>docker buildx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8892b8"/>
                </a:solidFill>
                <a:latin typeface="Calibri"/>
                <a:ea typeface="Calibri"/>
              </a:rPr>
              <a:t>multi-arch push ACR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0" name="Text 11"/>
          <p:cNvSpPr/>
          <p:nvPr/>
        </p:nvSpPr>
        <p:spPr>
          <a:xfrm>
            <a:off x="3602880" y="1993320"/>
            <a:ext cx="18144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5a623"/>
                </a:solidFill>
                <a:latin typeface="Calibri"/>
                <a:ea typeface="Calibri"/>
              </a:rPr>
              <a:t>→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1" name="Shape 12"/>
          <p:cNvSpPr/>
          <p:nvPr/>
        </p:nvSpPr>
        <p:spPr>
          <a:xfrm>
            <a:off x="3886200" y="1444680"/>
            <a:ext cx="1415520" cy="1333080"/>
          </a:xfrm>
          <a:prstGeom prst="roundRect">
            <a:avLst>
              <a:gd name="adj" fmla="val 6410"/>
            </a:avLst>
          </a:prstGeom>
          <a:solidFill>
            <a:srgbClr val="252a6b"/>
          </a:solidFill>
          <a:ln w="0">
            <a:noFill/>
          </a:ln>
          <a:effectLst>
            <a:outerShdw algn="bl" blurRad="50760" dir="2700000" dist="25455" kx="0" ky="0" rotWithShape="0" sx="100000" sy="10000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32" name="Image 2" descr="preencoded.png"/>
          <p:cNvPicPr/>
          <p:nvPr/>
        </p:nvPicPr>
        <p:blipFill>
          <a:blip r:embed="rId3"/>
          <a:stretch/>
        </p:blipFill>
        <p:spPr>
          <a:xfrm>
            <a:off x="4343400" y="1572840"/>
            <a:ext cx="345600" cy="345600"/>
          </a:xfrm>
          <a:prstGeom prst="rect">
            <a:avLst/>
          </a:prstGeom>
          <a:ln w="0">
            <a:noFill/>
          </a:ln>
        </p:spPr>
      </p:pic>
      <p:sp>
        <p:nvSpPr>
          <p:cNvPr id="733" name="Text 13"/>
          <p:cNvSpPr/>
          <p:nvPr/>
        </p:nvSpPr>
        <p:spPr>
          <a:xfrm>
            <a:off x="3785760" y="2012040"/>
            <a:ext cx="1571040" cy="23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Deploy Stage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4" name="Text 14"/>
          <p:cNvSpPr/>
          <p:nvPr/>
        </p:nvSpPr>
        <p:spPr>
          <a:xfrm>
            <a:off x="3785760" y="2249280"/>
            <a:ext cx="1515960" cy="5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8892b8"/>
                </a:solidFill>
                <a:latin typeface="Calibri"/>
                <a:ea typeface="Calibri"/>
              </a:rPr>
              <a:t>kubectl apply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8892b8"/>
                </a:solidFill>
                <a:latin typeface="Calibri"/>
                <a:ea typeface="Calibri"/>
              </a:rPr>
              <a:t>set image + rollout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5" name="Text 15"/>
          <p:cNvSpPr/>
          <p:nvPr/>
        </p:nvSpPr>
        <p:spPr>
          <a:xfrm>
            <a:off x="5340240" y="1993320"/>
            <a:ext cx="1263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5a623"/>
                </a:solidFill>
                <a:latin typeface="Calibri"/>
                <a:ea typeface="Calibri"/>
              </a:rPr>
              <a:t>→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6" name="Shape 16"/>
          <p:cNvSpPr/>
          <p:nvPr/>
        </p:nvSpPr>
        <p:spPr>
          <a:xfrm>
            <a:off x="5554080" y="1444680"/>
            <a:ext cx="1522080" cy="1333080"/>
          </a:xfrm>
          <a:prstGeom prst="roundRect">
            <a:avLst>
              <a:gd name="adj" fmla="val 6410"/>
            </a:avLst>
          </a:prstGeom>
          <a:solidFill>
            <a:srgbClr val="252a6b"/>
          </a:solidFill>
          <a:ln w="0">
            <a:noFill/>
          </a:ln>
          <a:effectLst>
            <a:outerShdw algn="bl" blurRad="50760" dir="2700000" dist="25455" kx="0" ky="0" rotWithShape="0" sx="100000" sy="10000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37" name="Image 3" descr="preencoded.png"/>
          <p:cNvPicPr/>
          <p:nvPr/>
        </p:nvPicPr>
        <p:blipFill>
          <a:blip r:embed="rId4"/>
          <a:stretch/>
        </p:blipFill>
        <p:spPr>
          <a:xfrm>
            <a:off x="6172200" y="1572840"/>
            <a:ext cx="345600" cy="345600"/>
          </a:xfrm>
          <a:prstGeom prst="rect">
            <a:avLst/>
          </a:prstGeom>
          <a:ln w="0">
            <a:noFill/>
          </a:ln>
        </p:spPr>
      </p:pic>
      <p:sp>
        <p:nvSpPr>
          <p:cNvPr id="738" name="Text 17"/>
          <p:cNvSpPr/>
          <p:nvPr/>
        </p:nvSpPr>
        <p:spPr>
          <a:xfrm>
            <a:off x="5554080" y="1993320"/>
            <a:ext cx="1552680" cy="23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Key Vault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9" name="Text 18"/>
          <p:cNvSpPr/>
          <p:nvPr/>
        </p:nvSpPr>
        <p:spPr>
          <a:xfrm>
            <a:off x="5614920" y="2249280"/>
            <a:ext cx="1461240" cy="5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8892b8"/>
                </a:solidFill>
                <a:latin typeface="Calibri"/>
                <a:ea typeface="Calibri"/>
              </a:rPr>
              <a:t>CSI driver syncs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8892b8"/>
                </a:solidFill>
                <a:latin typeface="Calibri"/>
                <a:ea typeface="Calibri"/>
              </a:rPr>
              <a:t>3 secrets → env vars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0" name="Text 19"/>
          <p:cNvSpPr/>
          <p:nvPr/>
        </p:nvSpPr>
        <p:spPr>
          <a:xfrm>
            <a:off x="7108200" y="1993320"/>
            <a:ext cx="2055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5a623"/>
                </a:solidFill>
                <a:latin typeface="Calibri"/>
                <a:ea typeface="Calibri"/>
              </a:rPr>
              <a:t>→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1" name="Shape 20"/>
          <p:cNvSpPr/>
          <p:nvPr/>
        </p:nvSpPr>
        <p:spPr>
          <a:xfrm>
            <a:off x="7315200" y="1444680"/>
            <a:ext cx="1461240" cy="1333080"/>
          </a:xfrm>
          <a:prstGeom prst="roundRect">
            <a:avLst>
              <a:gd name="adj" fmla="val 6410"/>
            </a:avLst>
          </a:prstGeom>
          <a:solidFill>
            <a:srgbClr val="f5a623"/>
          </a:solidFill>
          <a:ln w="0">
            <a:noFill/>
          </a:ln>
          <a:effectLst>
            <a:outerShdw algn="bl" blurRad="50760" dir="2700000" dist="25455" kx="0" ky="0" rotWithShape="0" sx="100000" sy="10000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42" name="Image 4" descr="preencoded.png"/>
          <p:cNvPicPr/>
          <p:nvPr/>
        </p:nvPicPr>
        <p:blipFill>
          <a:blip r:embed="rId5"/>
          <a:stretch/>
        </p:blipFill>
        <p:spPr>
          <a:xfrm>
            <a:off x="7818120" y="1572840"/>
            <a:ext cx="345600" cy="345600"/>
          </a:xfrm>
          <a:prstGeom prst="rect">
            <a:avLst/>
          </a:prstGeom>
          <a:ln w="0">
            <a:noFill/>
          </a:ln>
        </p:spPr>
      </p:pic>
      <p:sp>
        <p:nvSpPr>
          <p:cNvPr id="743" name="Text 21"/>
          <p:cNvSpPr/>
          <p:nvPr/>
        </p:nvSpPr>
        <p:spPr>
          <a:xfrm>
            <a:off x="7205400" y="1993320"/>
            <a:ext cx="1571040" cy="23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f1035"/>
                </a:solidFill>
                <a:latin typeface="Calibri"/>
                <a:ea typeface="Calibri"/>
              </a:rPr>
              <a:t>Live App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4" name="Text 22"/>
          <p:cNvSpPr/>
          <p:nvPr/>
        </p:nvSpPr>
        <p:spPr>
          <a:xfrm>
            <a:off x="7260480" y="2249280"/>
            <a:ext cx="1461240" cy="5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c2057"/>
                </a:solidFill>
                <a:latin typeface="Calibri"/>
                <a:ea typeface="Calibri"/>
              </a:rPr>
              <a:t>20.235.193.18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c2057"/>
                </a:solidFill>
                <a:latin typeface="Calibri"/>
                <a:ea typeface="Calibri"/>
              </a:rPr>
              <a:t>HTTP 200 verified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5" name="Shape 23"/>
          <p:cNvSpPr/>
          <p:nvPr/>
        </p:nvSpPr>
        <p:spPr>
          <a:xfrm>
            <a:off x="237600" y="3054240"/>
            <a:ext cx="2796120" cy="1874160"/>
          </a:xfrm>
          <a:prstGeom prst="roundRect">
            <a:avLst>
              <a:gd name="adj" fmla="val 5102"/>
            </a:avLst>
          </a:prstGeom>
          <a:solidFill>
            <a:srgbClr val="252a6b"/>
          </a:solidFill>
          <a:ln w="0">
            <a:noFill/>
          </a:ln>
          <a:effectLst>
            <a:outerShdw algn="bl" blurRad="50760" dir="2700000" dist="25455" kx="0" ky="0" rotWithShape="0" sx="100000" sy="10000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6" name="Shape 24"/>
          <p:cNvSpPr/>
          <p:nvPr/>
        </p:nvSpPr>
        <p:spPr>
          <a:xfrm>
            <a:off x="365760" y="3173040"/>
            <a:ext cx="309240" cy="309240"/>
          </a:xfrm>
          <a:prstGeom prst="roundRect">
            <a:avLst>
              <a:gd name="adj" fmla="val 14706"/>
            </a:avLst>
          </a:prstGeom>
          <a:solidFill>
            <a:srgbClr val="f5a62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Text 25"/>
          <p:cNvSpPr/>
          <p:nvPr/>
        </p:nvSpPr>
        <p:spPr>
          <a:xfrm>
            <a:off x="365760" y="3173040"/>
            <a:ext cx="309240" cy="30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f1035"/>
                </a:solidFill>
                <a:latin typeface="Calibri"/>
                <a:ea typeface="Calibri"/>
              </a:rPr>
              <a:t>01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8" name="Text 26"/>
          <p:cNvSpPr/>
          <p:nvPr/>
        </p:nvSpPr>
        <p:spPr>
          <a:xfrm>
            <a:off x="768240" y="3182040"/>
            <a:ext cx="2138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What Was Built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9" name="Shape 27"/>
          <p:cNvSpPr/>
          <p:nvPr/>
        </p:nvSpPr>
        <p:spPr>
          <a:xfrm>
            <a:off x="365760" y="3529440"/>
            <a:ext cx="2540160" cy="14760"/>
          </a:xfrm>
          <a:prstGeom prst="rect">
            <a:avLst/>
          </a:prstGeom>
          <a:solidFill>
            <a:srgbClr val="3a3f7a"/>
          </a:solidFill>
          <a:ln w="12700">
            <a:solidFill>
              <a:srgbClr val="3a3f7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8440" bIns="-2844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0" name="Text 28"/>
          <p:cNvSpPr/>
          <p:nvPr/>
        </p:nvSpPr>
        <p:spPr>
          <a:xfrm>
            <a:off x="365760" y="3666960"/>
            <a:ext cx="2540160" cy="113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01520" indent="-101520" defTabSz="914400">
              <a:lnSpc>
                <a:spcPct val="100000"/>
              </a:lnSpc>
              <a:buClr>
                <a:srgbClr val="a8b2d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  <a:ea typeface="Calibri"/>
              </a:rPr>
              <a:t>FastAPI: /analyse/text + /analyse/upload + /healthz + /readyz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a8b2d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  <a:ea typeface="Calibri"/>
              </a:rPr>
              <a:t>main.py (routes) + analyser.py (OpenAI logic)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a8b2d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  <a:ea typeface="Calibri"/>
              </a:rPr>
              <a:t>Dockerfile: multi-arch buildx, uvicorn CMD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a8b2d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  <a:ea typeface="Calibri"/>
              </a:rPr>
              <a:t>5 core checklist items completed — all verified live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1" name="Shape 29"/>
          <p:cNvSpPr/>
          <p:nvPr/>
        </p:nvSpPr>
        <p:spPr>
          <a:xfrm>
            <a:off x="3218760" y="3054240"/>
            <a:ext cx="2796120" cy="1874160"/>
          </a:xfrm>
          <a:prstGeom prst="roundRect">
            <a:avLst>
              <a:gd name="adj" fmla="val 5102"/>
            </a:avLst>
          </a:prstGeom>
          <a:solidFill>
            <a:srgbClr val="252a6b"/>
          </a:solidFill>
          <a:ln w="0">
            <a:noFill/>
          </a:ln>
          <a:effectLst>
            <a:outerShdw algn="bl" blurRad="50760" dir="2700000" dist="25455" kx="0" ky="0" rotWithShape="0" sx="100000" sy="10000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2" name="Shape 30"/>
          <p:cNvSpPr/>
          <p:nvPr/>
        </p:nvSpPr>
        <p:spPr>
          <a:xfrm>
            <a:off x="3346560" y="3173040"/>
            <a:ext cx="309240" cy="309240"/>
          </a:xfrm>
          <a:prstGeom prst="roundRect">
            <a:avLst>
              <a:gd name="adj" fmla="val 14706"/>
            </a:avLst>
          </a:prstGeom>
          <a:solidFill>
            <a:srgbClr val="f5a62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3" name="Text 31"/>
          <p:cNvSpPr/>
          <p:nvPr/>
        </p:nvSpPr>
        <p:spPr>
          <a:xfrm>
            <a:off x="3346560" y="3173040"/>
            <a:ext cx="309240" cy="30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f1035"/>
                </a:solidFill>
                <a:latin typeface="Calibri"/>
                <a:ea typeface="Calibri"/>
              </a:rPr>
              <a:t>02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4" name="Text 32"/>
          <p:cNvSpPr/>
          <p:nvPr/>
        </p:nvSpPr>
        <p:spPr>
          <a:xfrm>
            <a:off x="3749040" y="3182040"/>
            <a:ext cx="2138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Real Bugs Fixed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5" name="Shape 33"/>
          <p:cNvSpPr/>
          <p:nvPr/>
        </p:nvSpPr>
        <p:spPr>
          <a:xfrm>
            <a:off x="3346560" y="3529440"/>
            <a:ext cx="2540160" cy="14760"/>
          </a:xfrm>
          <a:prstGeom prst="rect">
            <a:avLst/>
          </a:prstGeom>
          <a:solidFill>
            <a:srgbClr val="3a3f7a"/>
          </a:solidFill>
          <a:ln w="12700">
            <a:solidFill>
              <a:srgbClr val="3a3f7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8440" bIns="-2844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6" name="Text 34"/>
          <p:cNvSpPr/>
          <p:nvPr/>
        </p:nvSpPr>
        <p:spPr>
          <a:xfrm>
            <a:off x="3346560" y="3657600"/>
            <a:ext cx="2540160" cy="113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01520" indent="-101520" defTabSz="914400">
              <a:lnSpc>
                <a:spcPct val="100000"/>
              </a:lnSpc>
              <a:buClr>
                <a:srgbClr val="a8b2d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  <a:ea typeface="Calibri"/>
              </a:rPr>
              <a:t>checkout: self missing in deployment job → path not found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a8b2d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  <a:ea typeface="Calibri"/>
              </a:rPr>
              <a:t>gpt-5-mini rejects temperature + max_tokens → raised to 2000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a8b2d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  <a:ea typeface="Calibri"/>
              </a:rPr>
              <a:t>Key Vault ForbiddenByRbac → explicit role assignment required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7" name="Shape 35"/>
          <p:cNvSpPr/>
          <p:nvPr/>
        </p:nvSpPr>
        <p:spPr>
          <a:xfrm>
            <a:off x="6199560" y="3054240"/>
            <a:ext cx="2796120" cy="1874160"/>
          </a:xfrm>
          <a:prstGeom prst="roundRect">
            <a:avLst>
              <a:gd name="adj" fmla="val 5102"/>
            </a:avLst>
          </a:prstGeom>
          <a:solidFill>
            <a:srgbClr val="252a6b"/>
          </a:solidFill>
          <a:ln w="0">
            <a:noFill/>
          </a:ln>
          <a:effectLst>
            <a:outerShdw algn="bl" blurRad="50760" dir="2700000" dist="25455" kx="0" ky="0" rotWithShape="0" sx="100000" sy="10000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8" name="Shape 36"/>
          <p:cNvSpPr/>
          <p:nvPr/>
        </p:nvSpPr>
        <p:spPr>
          <a:xfrm>
            <a:off x="6327720" y="3173040"/>
            <a:ext cx="309240" cy="309240"/>
          </a:xfrm>
          <a:prstGeom prst="roundRect">
            <a:avLst>
              <a:gd name="adj" fmla="val 14706"/>
            </a:avLst>
          </a:prstGeom>
          <a:solidFill>
            <a:srgbClr val="f5a62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9" name="Text 37"/>
          <p:cNvSpPr/>
          <p:nvPr/>
        </p:nvSpPr>
        <p:spPr>
          <a:xfrm>
            <a:off x="6327720" y="3173040"/>
            <a:ext cx="309240" cy="30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f1035"/>
                </a:solidFill>
                <a:latin typeface="Calibri"/>
                <a:ea typeface="Calibri"/>
              </a:rPr>
              <a:t>03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0" name="Text 38"/>
          <p:cNvSpPr/>
          <p:nvPr/>
        </p:nvSpPr>
        <p:spPr>
          <a:xfrm>
            <a:off x="6729840" y="3182040"/>
            <a:ext cx="2138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Live Verification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1" name="Shape 39"/>
          <p:cNvSpPr/>
          <p:nvPr/>
        </p:nvSpPr>
        <p:spPr>
          <a:xfrm>
            <a:off x="6327720" y="3529440"/>
            <a:ext cx="2540160" cy="14760"/>
          </a:xfrm>
          <a:prstGeom prst="rect">
            <a:avLst/>
          </a:prstGeom>
          <a:solidFill>
            <a:srgbClr val="3a3f7a"/>
          </a:solidFill>
          <a:ln w="12700">
            <a:solidFill>
              <a:srgbClr val="3a3f7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8440" bIns="-2844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2" name="Text 40"/>
          <p:cNvSpPr/>
          <p:nvPr/>
        </p:nvSpPr>
        <p:spPr>
          <a:xfrm>
            <a:off x="6327720" y="3657600"/>
            <a:ext cx="2540160" cy="10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01520" indent="-101520" defTabSz="914400">
              <a:lnSpc>
                <a:spcPct val="100000"/>
              </a:lnSpc>
              <a:buClr>
                <a:srgbClr val="a8b2d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  <a:ea typeface="Calibri"/>
              </a:rPr>
              <a:t>curl /healthz → {"status":"ok"} from AKS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a8b2d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  <a:ea typeface="Calibri"/>
              </a:rPr>
              <a:t>curl /readyz → {"status":"ready"} — Key Vault secrets confirmed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a8b2d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  <a:ea typeface="Calibri"/>
              </a:rPr>
              <a:t>POST /analyse/text → HTTP 200 real AI root-cause summary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101520" indent="-101520" defTabSz="914400">
              <a:lnSpc>
                <a:spcPct val="100000"/>
              </a:lnSpc>
              <a:buClr>
                <a:srgbClr val="a8b2d8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  <a:ea typeface="Calibri"/>
              </a:rPr>
              <a:t>UI live at http://20.235.193.18/docs — file upload tested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Shape 0"/>
          <p:cNvSpPr/>
          <p:nvPr/>
        </p:nvSpPr>
        <p:spPr>
          <a:xfrm>
            <a:off x="0" y="0"/>
            <a:ext cx="52920" cy="51418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4" name="Text 1"/>
          <p:cNvSpPr/>
          <p:nvPr/>
        </p:nvSpPr>
        <p:spPr>
          <a:xfrm>
            <a:off x="274320" y="228600"/>
            <a:ext cx="859356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335" strike="noStrike">
                <a:solidFill>
                  <a:srgbClr val="f5a623"/>
                </a:solidFill>
                <a:latin typeface="Calibri"/>
                <a:ea typeface="Calibri"/>
              </a:rPr>
              <a:t>KEY CONCEPTS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5" name="Text 2"/>
          <p:cNvSpPr/>
          <p:nvPr/>
        </p:nvSpPr>
        <p:spPr>
          <a:xfrm>
            <a:off x="274320" y="457200"/>
            <a:ext cx="6399000" cy="5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1a1e4f"/>
                </a:solidFill>
                <a:latin typeface="Cambria"/>
                <a:ea typeface="Cambria"/>
              </a:rPr>
              <a:t>AI Integration Concepts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6" name="Text 3"/>
          <p:cNvSpPr/>
          <p:nvPr/>
        </p:nvSpPr>
        <p:spPr>
          <a:xfrm>
            <a:off x="237600" y="1078920"/>
            <a:ext cx="420444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1a1e4f"/>
                </a:solidFill>
                <a:latin typeface="Calibri"/>
                <a:ea typeface="Calibri"/>
              </a:rPr>
              <a:t>FastAPI app — endpoint design decisions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767" name="Table 0"/>
          <p:cNvGraphicFramePr/>
          <p:nvPr/>
        </p:nvGraphicFramePr>
        <p:xfrm>
          <a:off x="237600" y="1389960"/>
          <a:ext cx="4223880" cy="2720160"/>
        </p:xfrm>
        <a:graphic>
          <a:graphicData uri="http://schemas.openxmlformats.org/drawingml/2006/table">
            <a:tbl>
              <a:tblPr/>
              <a:tblGrid>
                <a:gridCol w="786240"/>
                <a:gridCol w="1719000"/>
                <a:gridCol w="1719000"/>
              </a:tblGrid>
              <a:tr h="338040">
                <a:tc>
                  <a:txBody>
                    <a:bodyPr anchor="t">
                      <a:noAutofit/>
                    </a:bodyPr>
                    <a:p>
                      <a:endParaRPr b="0" lang="en-US" sz="950" spc="-1" strike="noStrike">
                        <a:solidFill>
                          <a:schemeClr val="dk1"/>
                        </a:solidFill>
                        <a:latin typeface="Calibri"/>
                        <a:ea typeface="Calibri"/>
                      </a:endParaRPr>
                    </a:p>
                  </a:txBody>
                  <a:tcPr anchor="t" marL="91440" marR="91440">
                    <a:lnL w="6480">
                      <a:solidFill>
                        <a:srgbClr val="d0d5ee"/>
                      </a:solidFill>
                      <a:prstDash val="solid"/>
                    </a:lnL>
                    <a:lnR w="6480">
                      <a:solidFill>
                        <a:srgbClr val="d0d5ee"/>
                      </a:solidFill>
                      <a:prstDash val="solid"/>
                    </a:lnR>
                    <a:lnT w="6480">
                      <a:solidFill>
                        <a:srgbClr val="d0d5ee"/>
                      </a:solidFill>
                      <a:prstDash val="solid"/>
                    </a:lnT>
                    <a:lnB w="6480">
                      <a:solidFill>
                        <a:srgbClr val="d0d5ee"/>
                      </a:solidFill>
                      <a:prstDash val="solid"/>
                    </a:lnB>
                    <a:solidFill>
                      <a:srgbClr val="1c205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5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/healthz</a:t>
                      </a:r>
                      <a:endParaRPr b="0" lang="en-US" sz="9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0d5ee"/>
                      </a:solidFill>
                      <a:prstDash val="solid"/>
                    </a:lnL>
                    <a:lnR w="6480">
                      <a:solidFill>
                        <a:srgbClr val="d0d5ee"/>
                      </a:solidFill>
                      <a:prstDash val="solid"/>
                    </a:lnR>
                    <a:lnT w="6480">
                      <a:solidFill>
                        <a:srgbClr val="d0d5ee"/>
                      </a:solidFill>
                      <a:prstDash val="solid"/>
                    </a:lnT>
                    <a:lnB w="6480">
                      <a:solidFill>
                        <a:srgbClr val="d0d5ee"/>
                      </a:solidFill>
                      <a:prstDash val="solid"/>
                    </a:lnB>
                    <a:solidFill>
                      <a:srgbClr val="1c205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50" spc="-1" strike="noStrike">
                          <a:solidFill>
                            <a:srgbClr val="0f1035"/>
                          </a:solidFill>
                          <a:latin typeface="Calibri"/>
                          <a:ea typeface="Calibri"/>
                        </a:rPr>
                        <a:t>/readyz</a:t>
                      </a:r>
                      <a:endParaRPr b="0" lang="en-US" sz="9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0d5ee"/>
                      </a:solidFill>
                      <a:prstDash val="solid"/>
                    </a:lnL>
                    <a:lnR w="6480">
                      <a:solidFill>
                        <a:srgbClr val="d0d5ee"/>
                      </a:solidFill>
                      <a:prstDash val="solid"/>
                    </a:lnR>
                    <a:lnT w="6480">
                      <a:solidFill>
                        <a:srgbClr val="d0d5ee"/>
                      </a:solidFill>
                      <a:prstDash val="solid"/>
                    </a:lnT>
                    <a:lnB w="6480">
                      <a:solidFill>
                        <a:srgbClr val="d0d5ee"/>
                      </a:solidFill>
                      <a:prstDash val="solid"/>
                    </a:lnB>
                    <a:solidFill>
                      <a:srgbClr val="f5a623"/>
                    </a:solidFill>
                  </a:tcPr>
                </a:tc>
              </a:tr>
              <a:tr h="338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00" spc="-1" strike="noStrike">
                          <a:solidFill>
                            <a:srgbClr val="1c2057"/>
                          </a:solidFill>
                          <a:latin typeface="Calibri"/>
                          <a:ea typeface="Calibri"/>
                        </a:rPr>
                        <a:t>Purpose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0d5ee"/>
                      </a:solidFill>
                      <a:prstDash val="solid"/>
                    </a:lnL>
                    <a:lnR w="6480">
                      <a:solidFill>
                        <a:srgbClr val="d0d5ee"/>
                      </a:solidFill>
                      <a:prstDash val="solid"/>
                    </a:lnR>
                    <a:lnT w="6480">
                      <a:solidFill>
                        <a:srgbClr val="d0d5ee"/>
                      </a:solidFill>
                      <a:prstDash val="solid"/>
                    </a:lnT>
                    <a:lnB w="6480">
                      <a:solidFill>
                        <a:srgbClr val="d0d5ee"/>
                      </a:solidFill>
                      <a:prstDash val="solid"/>
                    </a:lnB>
                    <a:solidFill>
                      <a:srgbClr val="f2f4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850" spc="-1" strike="noStrike">
                          <a:solidFill>
                            <a:srgbClr val="1a1e4f"/>
                          </a:solidFill>
                          <a:latin typeface="Courier New"/>
                          <a:ea typeface="Courier New"/>
                        </a:rPr>
                        <a:t>Liveness probe — is process alive?</a:t>
                      </a:r>
                      <a:endParaRPr b="0" lang="en-US" sz="8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0d5ee"/>
                      </a:solidFill>
                      <a:prstDash val="solid"/>
                    </a:lnL>
                    <a:lnR w="6480">
                      <a:solidFill>
                        <a:srgbClr val="d0d5ee"/>
                      </a:solidFill>
                      <a:prstDash val="solid"/>
                    </a:lnR>
                    <a:lnT w="6480">
                      <a:solidFill>
                        <a:srgbClr val="d0d5ee"/>
                      </a:solidFill>
                      <a:prstDash val="solid"/>
                    </a:lnT>
                    <a:lnB w="6480">
                      <a:solidFill>
                        <a:srgbClr val="d0d5ee"/>
                      </a:solidFill>
                      <a:prstDash val="solid"/>
                    </a:lnB>
                    <a:solidFill>
                      <a:srgbClr val="f2f4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850" spc="-1" strike="noStrike">
                          <a:solidFill>
                            <a:srgbClr val="1a1e4f"/>
                          </a:solidFill>
                          <a:latin typeface="Courier New"/>
                          <a:ea typeface="Courier New"/>
                        </a:rPr>
                        <a:t>Readiness probe — are secrets present?</a:t>
                      </a:r>
                      <a:endParaRPr b="0" lang="en-US" sz="8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0d5ee"/>
                      </a:solidFill>
                      <a:prstDash val="solid"/>
                    </a:lnL>
                    <a:lnR w="6480">
                      <a:solidFill>
                        <a:srgbClr val="d0d5ee"/>
                      </a:solidFill>
                      <a:prstDash val="solid"/>
                    </a:lnR>
                    <a:lnT w="6480">
                      <a:solidFill>
                        <a:srgbClr val="d0d5ee"/>
                      </a:solidFill>
                      <a:prstDash val="solid"/>
                    </a:lnT>
                    <a:lnB w="6480">
                      <a:solidFill>
                        <a:srgbClr val="d0d5ee"/>
                      </a:solidFill>
                      <a:prstDash val="solid"/>
                    </a:lnB>
                    <a:solidFill>
                      <a:srgbClr val="f2f4ff"/>
                    </a:solidFill>
                  </a:tcPr>
                </a:tc>
              </a:tr>
              <a:tr h="338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00" spc="-1" strike="noStrike">
                          <a:solidFill>
                            <a:srgbClr val="1c2057"/>
                          </a:solidFill>
                          <a:latin typeface="Calibri"/>
                          <a:ea typeface="Calibri"/>
                        </a:rPr>
                        <a:t>Failure mode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0d5ee"/>
                      </a:solidFill>
                      <a:prstDash val="solid"/>
                    </a:lnL>
                    <a:lnR w="6480">
                      <a:solidFill>
                        <a:srgbClr val="d0d5ee"/>
                      </a:solidFill>
                      <a:prstDash val="solid"/>
                    </a:lnR>
                    <a:lnT w="6480">
                      <a:solidFill>
                        <a:srgbClr val="d0d5ee"/>
                      </a:solidFill>
                      <a:prstDash val="solid"/>
                    </a:lnT>
                    <a:lnB w="6480">
                      <a:solidFill>
                        <a:srgbClr val="d0d5ee"/>
                      </a:solidFill>
                      <a:prstDash val="solid"/>
                    </a:lnB>
                    <a:solidFill>
                      <a:srgbClr val="e8ec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850" spc="-1" strike="noStrike">
                          <a:solidFill>
                            <a:srgbClr val="1a1e4f"/>
                          </a:solidFill>
                          <a:latin typeface="Courier New"/>
                          <a:ea typeface="Courier New"/>
                        </a:rPr>
                        <a:t>Pod restart (wrong response to config issues)</a:t>
                      </a:r>
                      <a:endParaRPr b="0" lang="en-US" sz="8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0d5ee"/>
                      </a:solidFill>
                      <a:prstDash val="solid"/>
                    </a:lnL>
                    <a:lnR w="6480">
                      <a:solidFill>
                        <a:srgbClr val="d0d5ee"/>
                      </a:solidFill>
                      <a:prstDash val="solid"/>
                    </a:lnR>
                    <a:lnT w="6480">
                      <a:solidFill>
                        <a:srgbClr val="d0d5ee"/>
                      </a:solidFill>
                      <a:prstDash val="solid"/>
                    </a:lnT>
                    <a:lnB w="6480">
                      <a:solidFill>
                        <a:srgbClr val="d0d5ee"/>
                      </a:solidFill>
                      <a:prstDash val="solid"/>
                    </a:lnB>
                    <a:solidFill>
                      <a:srgbClr val="e8ec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850" spc="-1" strike="noStrike">
                          <a:solidFill>
                            <a:srgbClr val="1a1e4f"/>
                          </a:solidFill>
                          <a:latin typeface="Courier New"/>
                          <a:ea typeface="Courier New"/>
                        </a:rPr>
                        <a:t>Traffic paused (correct — no restart)</a:t>
                      </a:r>
                      <a:endParaRPr b="0" lang="en-US" sz="8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0d5ee"/>
                      </a:solidFill>
                      <a:prstDash val="solid"/>
                    </a:lnL>
                    <a:lnR w="6480">
                      <a:solidFill>
                        <a:srgbClr val="d0d5ee"/>
                      </a:solidFill>
                      <a:prstDash val="solid"/>
                    </a:lnR>
                    <a:lnT w="6480">
                      <a:solidFill>
                        <a:srgbClr val="d0d5ee"/>
                      </a:solidFill>
                      <a:prstDash val="solid"/>
                    </a:lnT>
                    <a:lnB w="6480">
                      <a:solidFill>
                        <a:srgbClr val="d0d5ee"/>
                      </a:solidFill>
                      <a:prstDash val="solid"/>
                    </a:lnB>
                    <a:solidFill>
                      <a:srgbClr val="e8ecff"/>
                    </a:solidFill>
                  </a:tcPr>
                </a:tc>
              </a:tr>
              <a:tr h="338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00" spc="-1" strike="noStrike">
                          <a:solidFill>
                            <a:srgbClr val="1c2057"/>
                          </a:solidFill>
                          <a:latin typeface="Calibri"/>
                          <a:ea typeface="Calibri"/>
                        </a:rPr>
                        <a:t>Returns 200 when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0d5ee"/>
                      </a:solidFill>
                      <a:prstDash val="solid"/>
                    </a:lnL>
                    <a:lnR w="6480">
                      <a:solidFill>
                        <a:srgbClr val="d0d5ee"/>
                      </a:solidFill>
                      <a:prstDash val="solid"/>
                    </a:lnR>
                    <a:lnT w="6480">
                      <a:solidFill>
                        <a:srgbClr val="d0d5ee"/>
                      </a:solidFill>
                      <a:prstDash val="solid"/>
                    </a:lnT>
                    <a:lnB w="6480">
                      <a:solidFill>
                        <a:srgbClr val="d0d5ee"/>
                      </a:solidFill>
                      <a:prstDash val="solid"/>
                    </a:lnB>
                    <a:solidFill>
                      <a:srgbClr val="f2f4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850" spc="-1" strike="noStrike">
                          <a:solidFill>
                            <a:srgbClr val="1a1e4f"/>
                          </a:solidFill>
                          <a:latin typeface="Courier New"/>
                          <a:ea typeface="Courier New"/>
                        </a:rPr>
                        <a:t>Process is running (always)</a:t>
                      </a:r>
                      <a:endParaRPr b="0" lang="en-US" sz="8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0d5ee"/>
                      </a:solidFill>
                      <a:prstDash val="solid"/>
                    </a:lnL>
                    <a:lnR w="6480">
                      <a:solidFill>
                        <a:srgbClr val="d0d5ee"/>
                      </a:solidFill>
                      <a:prstDash val="solid"/>
                    </a:lnR>
                    <a:lnT w="6480">
                      <a:solidFill>
                        <a:srgbClr val="d0d5ee"/>
                      </a:solidFill>
                      <a:prstDash val="solid"/>
                    </a:lnT>
                    <a:lnB w="6480">
                      <a:solidFill>
                        <a:srgbClr val="d0d5ee"/>
                      </a:solidFill>
                      <a:prstDash val="solid"/>
                    </a:lnB>
                    <a:solidFill>
                      <a:srgbClr val="f2f4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850" spc="-1" strike="noStrike">
                          <a:solidFill>
                            <a:srgbClr val="1a1e4f"/>
                          </a:solidFill>
                          <a:latin typeface="Courier New"/>
                          <a:ea typeface="Courier New"/>
                        </a:rPr>
                        <a:t>All 3 OpenAI env vars present</a:t>
                      </a:r>
                      <a:endParaRPr b="0" lang="en-US" sz="8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0d5ee"/>
                      </a:solidFill>
                      <a:prstDash val="solid"/>
                    </a:lnL>
                    <a:lnR w="6480">
                      <a:solidFill>
                        <a:srgbClr val="d0d5ee"/>
                      </a:solidFill>
                      <a:prstDash val="solid"/>
                    </a:lnR>
                    <a:lnT w="6480">
                      <a:solidFill>
                        <a:srgbClr val="d0d5ee"/>
                      </a:solidFill>
                      <a:prstDash val="solid"/>
                    </a:lnT>
                    <a:lnB w="6480">
                      <a:solidFill>
                        <a:srgbClr val="d0d5ee"/>
                      </a:solidFill>
                      <a:prstDash val="solid"/>
                    </a:lnB>
                    <a:solidFill>
                      <a:srgbClr val="f2f4ff"/>
                    </a:solidFill>
                  </a:tcPr>
                </a:tc>
              </a:tr>
              <a:tr h="338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00" spc="-1" strike="noStrike">
                          <a:solidFill>
                            <a:srgbClr val="1c2057"/>
                          </a:solidFill>
                          <a:latin typeface="Calibri"/>
                          <a:ea typeface="Calibri"/>
                        </a:rPr>
                        <a:t>Kubernetes action on fail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0d5ee"/>
                      </a:solidFill>
                      <a:prstDash val="solid"/>
                    </a:lnL>
                    <a:lnR w="6480">
                      <a:solidFill>
                        <a:srgbClr val="d0d5ee"/>
                      </a:solidFill>
                      <a:prstDash val="solid"/>
                    </a:lnR>
                    <a:lnT w="6480">
                      <a:solidFill>
                        <a:srgbClr val="d0d5ee"/>
                      </a:solidFill>
                      <a:prstDash val="solid"/>
                    </a:lnT>
                    <a:lnB w="6480">
                      <a:solidFill>
                        <a:srgbClr val="d0d5ee"/>
                      </a:solidFill>
                      <a:prstDash val="solid"/>
                    </a:lnB>
                    <a:solidFill>
                      <a:srgbClr val="e8ec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850" spc="-1" strike="noStrike">
                          <a:solidFill>
                            <a:srgbClr val="1a1e4f"/>
                          </a:solidFill>
                          <a:latin typeface="Courier New"/>
                          <a:ea typeface="Courier New"/>
                        </a:rPr>
                        <a:t>Kill + restart pod</a:t>
                      </a:r>
                      <a:endParaRPr b="0" lang="en-US" sz="8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0d5ee"/>
                      </a:solidFill>
                      <a:prstDash val="solid"/>
                    </a:lnL>
                    <a:lnR w="6480">
                      <a:solidFill>
                        <a:srgbClr val="d0d5ee"/>
                      </a:solidFill>
                      <a:prstDash val="solid"/>
                    </a:lnR>
                    <a:lnT w="6480">
                      <a:solidFill>
                        <a:srgbClr val="d0d5ee"/>
                      </a:solidFill>
                      <a:prstDash val="solid"/>
                    </a:lnT>
                    <a:lnB w="6480">
                      <a:solidFill>
                        <a:srgbClr val="d0d5ee"/>
                      </a:solidFill>
                      <a:prstDash val="solid"/>
                    </a:lnB>
                    <a:solidFill>
                      <a:srgbClr val="e8ec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850" spc="-1" strike="noStrike">
                          <a:solidFill>
                            <a:srgbClr val="1a1e4f"/>
                          </a:solidFill>
                          <a:latin typeface="Courier New"/>
                          <a:ea typeface="Courier New"/>
                        </a:rPr>
                        <a:t>Stop routing traffic only</a:t>
                      </a:r>
                      <a:endParaRPr b="0" lang="en-US" sz="8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0d5ee"/>
                      </a:solidFill>
                      <a:prstDash val="solid"/>
                    </a:lnL>
                    <a:lnR w="6480">
                      <a:solidFill>
                        <a:srgbClr val="d0d5ee"/>
                      </a:solidFill>
                      <a:prstDash val="solid"/>
                    </a:lnR>
                    <a:lnT w="6480">
                      <a:solidFill>
                        <a:srgbClr val="d0d5ee"/>
                      </a:solidFill>
                      <a:prstDash val="solid"/>
                    </a:lnT>
                    <a:lnB w="6480">
                      <a:solidFill>
                        <a:srgbClr val="d0d5ee"/>
                      </a:solidFill>
                      <a:prstDash val="solid"/>
                    </a:lnB>
                    <a:solidFill>
                      <a:srgbClr val="e8ecff"/>
                    </a:solidFill>
                  </a:tcPr>
                </a:tc>
              </a:tr>
              <a:tr h="338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00" spc="-1" strike="noStrike">
                          <a:solidFill>
                            <a:srgbClr val="1c2057"/>
                          </a:solidFill>
                          <a:latin typeface="Calibri"/>
                          <a:ea typeface="Calibri"/>
                        </a:rPr>
                        <a:t>Used for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0d5ee"/>
                      </a:solidFill>
                      <a:prstDash val="solid"/>
                    </a:lnL>
                    <a:lnR w="6480">
                      <a:solidFill>
                        <a:srgbClr val="d0d5ee"/>
                      </a:solidFill>
                      <a:prstDash val="solid"/>
                    </a:lnR>
                    <a:lnT w="6480">
                      <a:solidFill>
                        <a:srgbClr val="d0d5ee"/>
                      </a:solidFill>
                      <a:prstDash val="solid"/>
                    </a:lnT>
                    <a:lnB w="6480">
                      <a:solidFill>
                        <a:srgbClr val="d0d5ee"/>
                      </a:solidFill>
                      <a:prstDash val="solid"/>
                    </a:lnB>
                    <a:solidFill>
                      <a:srgbClr val="f2f4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850" spc="-1" strike="noStrike">
                          <a:solidFill>
                            <a:srgbClr val="1a1e4f"/>
                          </a:solidFill>
                          <a:latin typeface="Courier New"/>
                          <a:ea typeface="Courier New"/>
                        </a:rPr>
                        <a:t>Liveness probe target</a:t>
                      </a:r>
                      <a:endParaRPr b="0" lang="en-US" sz="8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0d5ee"/>
                      </a:solidFill>
                      <a:prstDash val="solid"/>
                    </a:lnL>
                    <a:lnR w="6480">
                      <a:solidFill>
                        <a:srgbClr val="d0d5ee"/>
                      </a:solidFill>
                      <a:prstDash val="solid"/>
                    </a:lnR>
                    <a:lnT w="6480">
                      <a:solidFill>
                        <a:srgbClr val="d0d5ee"/>
                      </a:solidFill>
                      <a:prstDash val="solid"/>
                    </a:lnT>
                    <a:lnB w="6480">
                      <a:solidFill>
                        <a:srgbClr val="d0d5ee"/>
                      </a:solidFill>
                      <a:prstDash val="solid"/>
                    </a:lnB>
                    <a:solidFill>
                      <a:srgbClr val="f2f4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850" spc="-1" strike="noStrike">
                          <a:solidFill>
                            <a:srgbClr val="1a1e4f"/>
                          </a:solidFill>
                          <a:latin typeface="Courier New"/>
                          <a:ea typeface="Courier New"/>
                        </a:rPr>
                        <a:t>Readiness probe target</a:t>
                      </a:r>
                      <a:endParaRPr b="0" lang="en-US" sz="8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0d5ee"/>
                      </a:solidFill>
                      <a:prstDash val="solid"/>
                    </a:lnL>
                    <a:lnR w="6480">
                      <a:solidFill>
                        <a:srgbClr val="d0d5ee"/>
                      </a:solidFill>
                      <a:prstDash val="solid"/>
                    </a:lnR>
                    <a:lnT w="6480">
                      <a:solidFill>
                        <a:srgbClr val="d0d5ee"/>
                      </a:solidFill>
                      <a:prstDash val="solid"/>
                    </a:lnT>
                    <a:lnB w="6480">
                      <a:solidFill>
                        <a:srgbClr val="d0d5ee"/>
                      </a:solidFill>
                      <a:prstDash val="solid"/>
                    </a:lnB>
                    <a:solidFill>
                      <a:srgbClr val="f2f4ff"/>
                    </a:solidFill>
                  </a:tcPr>
                </a:tc>
              </a:tr>
              <a:tr h="338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900" spc="-1" strike="noStrike">
                          <a:solidFill>
                            <a:srgbClr val="1c2057"/>
                          </a:solidFill>
                          <a:latin typeface="Calibri"/>
                          <a:ea typeface="Calibri"/>
                        </a:rPr>
                        <a:t>Split because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0d5ee"/>
                      </a:solidFill>
                      <a:prstDash val="solid"/>
                    </a:lnL>
                    <a:lnR w="6480">
                      <a:solidFill>
                        <a:srgbClr val="d0d5ee"/>
                      </a:solidFill>
                      <a:prstDash val="solid"/>
                    </a:lnR>
                    <a:lnT w="6480">
                      <a:solidFill>
                        <a:srgbClr val="d0d5ee"/>
                      </a:solidFill>
                      <a:prstDash val="solid"/>
                    </a:lnT>
                    <a:lnB w="6480">
                      <a:solidFill>
                        <a:srgbClr val="d0d5ee"/>
                      </a:solidFill>
                      <a:prstDash val="solid"/>
                    </a:lnB>
                    <a:solidFill>
                      <a:srgbClr val="e8ec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850" spc="-1" strike="noStrike">
                          <a:solidFill>
                            <a:srgbClr val="1a1e4f"/>
                          </a:solidFill>
                          <a:latin typeface="Courier New"/>
                          <a:ea typeface="Courier New"/>
                        </a:rPr>
                        <a:t>Config outage ≠ process crash</a:t>
                      </a:r>
                      <a:endParaRPr b="0" lang="en-US" sz="8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0d5ee"/>
                      </a:solidFill>
                      <a:prstDash val="solid"/>
                    </a:lnL>
                    <a:lnR w="6480">
                      <a:solidFill>
                        <a:srgbClr val="d0d5ee"/>
                      </a:solidFill>
                      <a:prstDash val="solid"/>
                    </a:lnR>
                    <a:lnT w="6480">
                      <a:solidFill>
                        <a:srgbClr val="d0d5ee"/>
                      </a:solidFill>
                      <a:prstDash val="solid"/>
                    </a:lnT>
                    <a:lnB w="6480">
                      <a:solidFill>
                        <a:srgbClr val="d0d5ee"/>
                      </a:solidFill>
                      <a:prstDash val="solid"/>
                    </a:lnB>
                    <a:solidFill>
                      <a:srgbClr val="e8ec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850" spc="-1" strike="noStrike">
                          <a:solidFill>
                            <a:srgbClr val="1a1e4f"/>
                          </a:solidFill>
                          <a:latin typeface="Courier New"/>
                          <a:ea typeface="Courier New"/>
                        </a:rPr>
                        <a:t>Different Kubernetes response needed</a:t>
                      </a:r>
                      <a:endParaRPr b="0" lang="en-US" sz="8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d0d5ee"/>
                      </a:solidFill>
                      <a:prstDash val="solid"/>
                    </a:lnL>
                    <a:lnR w="6480">
                      <a:solidFill>
                        <a:srgbClr val="d0d5ee"/>
                      </a:solidFill>
                      <a:prstDash val="solid"/>
                    </a:lnR>
                    <a:lnT w="6480">
                      <a:solidFill>
                        <a:srgbClr val="d0d5ee"/>
                      </a:solidFill>
                      <a:prstDash val="solid"/>
                    </a:lnT>
                    <a:lnB w="6480">
                      <a:solidFill>
                        <a:srgbClr val="d0d5ee"/>
                      </a:solidFill>
                      <a:prstDash val="solid"/>
                    </a:lnB>
                    <a:solidFill>
                      <a:srgbClr val="e8ecff"/>
                    </a:solidFill>
                  </a:tcPr>
                </a:tc>
              </a:tr>
            </a:tbl>
          </a:graphicData>
        </a:graphic>
      </p:graphicFrame>
      <p:sp>
        <p:nvSpPr>
          <p:cNvPr id="768" name="Shape 4"/>
          <p:cNvSpPr/>
          <p:nvPr/>
        </p:nvSpPr>
        <p:spPr>
          <a:xfrm>
            <a:off x="4681800" y="1078920"/>
            <a:ext cx="4222800" cy="1150200"/>
          </a:xfrm>
          <a:prstGeom prst="roundRect">
            <a:avLst>
              <a:gd name="adj" fmla="val 7937"/>
            </a:avLst>
          </a:prstGeom>
          <a:solidFill>
            <a:srgbClr val="0f1035"/>
          </a:solidFill>
          <a:ln w="0">
            <a:noFill/>
          </a:ln>
          <a:effectLst>
            <a:outerShdw algn="bl" blurRad="50760" dir="2700000" dist="25455" kx="0" ky="0" rotWithShape="0" sx="100000" sy="10000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69" name="Image 0" descr="preencoded.png"/>
          <p:cNvPicPr/>
          <p:nvPr/>
        </p:nvPicPr>
        <p:blipFill>
          <a:blip r:embed="rId1"/>
          <a:stretch/>
        </p:blipFill>
        <p:spPr>
          <a:xfrm>
            <a:off x="4846320" y="1207080"/>
            <a:ext cx="327240" cy="327240"/>
          </a:xfrm>
          <a:prstGeom prst="rect">
            <a:avLst/>
          </a:prstGeom>
          <a:ln w="0">
            <a:noFill/>
          </a:ln>
        </p:spPr>
      </p:pic>
      <p:sp>
        <p:nvSpPr>
          <p:cNvPr id="770" name="Text 5"/>
          <p:cNvSpPr/>
          <p:nvPr/>
        </p:nvSpPr>
        <p:spPr>
          <a:xfrm>
            <a:off x="5266800" y="1188720"/>
            <a:ext cx="347292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gpt-5-mini Reasoning Model Behaviour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1" name="Text 6"/>
          <p:cNvSpPr/>
          <p:nvPr/>
        </p:nvSpPr>
        <p:spPr>
          <a:xfrm>
            <a:off x="5266800" y="1463040"/>
            <a:ext cx="3472920" cy="65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892b8"/>
                </a:solidFill>
                <a:latin typeface="Calibri"/>
                <a:ea typeface="Calibri"/>
              </a:rPr>
              <a:t>Rejects temperature + max_tokens outright (400). Uses max_completion_tokens. Hidden reasoning tokens consume budget before visible output — set to 2000 minimum. Empty response = token exhaustion, not an API error.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Shape 7"/>
          <p:cNvSpPr/>
          <p:nvPr/>
        </p:nvSpPr>
        <p:spPr>
          <a:xfrm>
            <a:off x="4681800" y="2340720"/>
            <a:ext cx="4222800" cy="1150200"/>
          </a:xfrm>
          <a:prstGeom prst="roundRect">
            <a:avLst>
              <a:gd name="adj" fmla="val 7937"/>
            </a:avLst>
          </a:prstGeom>
          <a:solidFill>
            <a:srgbClr val="0f1035"/>
          </a:solidFill>
          <a:ln w="0">
            <a:noFill/>
          </a:ln>
          <a:effectLst>
            <a:outerShdw algn="bl" blurRad="50760" dir="2700000" dist="25455" kx="0" ky="0" rotWithShape="0" sx="100000" sy="10000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73" name="Image 1" descr="preencoded.png"/>
          <p:cNvPicPr/>
          <p:nvPr/>
        </p:nvPicPr>
        <p:blipFill>
          <a:blip r:embed="rId2"/>
          <a:stretch/>
        </p:blipFill>
        <p:spPr>
          <a:xfrm>
            <a:off x="4846320" y="2468880"/>
            <a:ext cx="327240" cy="327240"/>
          </a:xfrm>
          <a:prstGeom prst="rect">
            <a:avLst/>
          </a:prstGeom>
          <a:ln w="0">
            <a:noFill/>
          </a:ln>
        </p:spPr>
      </p:pic>
      <p:sp>
        <p:nvSpPr>
          <p:cNvPr id="774" name="Text 8"/>
          <p:cNvSpPr/>
          <p:nvPr/>
        </p:nvSpPr>
        <p:spPr>
          <a:xfrm>
            <a:off x="5266800" y="2450520"/>
            <a:ext cx="347292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Key Vault → CSI Driver → Pod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5" name="Text 9"/>
          <p:cNvSpPr/>
          <p:nvPr/>
        </p:nvSpPr>
        <p:spPr>
          <a:xfrm>
            <a:off x="5266800" y="2724840"/>
            <a:ext cx="3472920" cy="65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892b8"/>
                </a:solidFill>
                <a:latin typeface="Calibri"/>
                <a:ea typeface="Calibri"/>
              </a:rPr>
              <a:t>Secrets stored in Key Vault. CSI driver add-on authenticates via AKS managed identity. secretObjects block syncs KV secrets → K8s Secret → env vars. Optional: false means pod fails to start if any secret is missing — fail-fast by design.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Shape 10"/>
          <p:cNvSpPr/>
          <p:nvPr/>
        </p:nvSpPr>
        <p:spPr>
          <a:xfrm>
            <a:off x="4681800" y="3602880"/>
            <a:ext cx="4222800" cy="1150200"/>
          </a:xfrm>
          <a:prstGeom prst="roundRect">
            <a:avLst>
              <a:gd name="adj" fmla="val 7937"/>
            </a:avLst>
          </a:prstGeom>
          <a:solidFill>
            <a:srgbClr val="0f1035"/>
          </a:solidFill>
          <a:ln w="0">
            <a:noFill/>
          </a:ln>
          <a:effectLst>
            <a:outerShdw algn="bl" blurRad="50760" dir="2700000" dist="25455" kx="0" ky="0" rotWithShape="0" sx="100000" sy="10000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77" name="Image 2" descr="preencoded.png"/>
          <p:cNvPicPr/>
          <p:nvPr/>
        </p:nvPicPr>
        <p:blipFill>
          <a:blip r:embed="rId3"/>
          <a:stretch/>
        </p:blipFill>
        <p:spPr>
          <a:xfrm>
            <a:off x="4846320" y="3730680"/>
            <a:ext cx="327240" cy="327240"/>
          </a:xfrm>
          <a:prstGeom prst="rect">
            <a:avLst/>
          </a:prstGeom>
          <a:ln w="0">
            <a:noFill/>
          </a:ln>
        </p:spPr>
      </p:pic>
      <p:sp>
        <p:nvSpPr>
          <p:cNvPr id="778" name="Text 11"/>
          <p:cNvSpPr/>
          <p:nvPr/>
        </p:nvSpPr>
        <p:spPr>
          <a:xfrm>
            <a:off x="5266800" y="3712320"/>
            <a:ext cx="347292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Build Once, Promote Everywhere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9" name="Text 12"/>
          <p:cNvSpPr/>
          <p:nvPr/>
        </p:nvSpPr>
        <p:spPr>
          <a:xfrm>
            <a:off x="5266800" y="3986640"/>
            <a:ext cx="3472920" cy="65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892b8"/>
                </a:solidFill>
                <a:latin typeface="Calibri"/>
                <a:ea typeface="Calibri"/>
              </a:rPr>
              <a:t>Image built once in CI with Build.BuildId tag. Same image promoted dev → staging → prod — never rebuilt. Guarantees what was tested is exactly what runs in production. Rollback = kubectl rollout undo to a specific known-good Build.BuildId.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0" name="Text 13"/>
          <p:cNvSpPr/>
          <p:nvPr/>
        </p:nvSpPr>
        <p:spPr>
          <a:xfrm>
            <a:off x="237600" y="3885840"/>
            <a:ext cx="4570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64748b"/>
                </a:solidFill>
                <a:latin typeface="Calibri"/>
                <a:ea typeface="Calibri"/>
              </a:rPr>
              <a:t>Concepts Shipped This Week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1" name="Shape 14"/>
          <p:cNvSpPr/>
          <p:nvPr/>
        </p:nvSpPr>
        <p:spPr>
          <a:xfrm>
            <a:off x="237600" y="4187880"/>
            <a:ext cx="1242360" cy="309240"/>
          </a:xfrm>
          <a:prstGeom prst="roundRect">
            <a:avLst>
              <a:gd name="adj" fmla="val 17647"/>
            </a:avLst>
          </a:prstGeom>
          <a:solidFill>
            <a:srgbClr val="252a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2" name="Text 15"/>
          <p:cNvSpPr/>
          <p:nvPr/>
        </p:nvSpPr>
        <p:spPr>
          <a:xfrm>
            <a:off x="237600" y="4187880"/>
            <a:ext cx="1242360" cy="30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ffffff"/>
                </a:solidFill>
                <a:latin typeface="Calibri"/>
                <a:ea typeface="Calibri"/>
              </a:rPr>
              <a:t>Reasoning Models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3" name="Shape 16"/>
          <p:cNvSpPr/>
          <p:nvPr/>
        </p:nvSpPr>
        <p:spPr>
          <a:xfrm>
            <a:off x="1719000" y="4187880"/>
            <a:ext cx="1188720" cy="309240"/>
          </a:xfrm>
          <a:prstGeom prst="roundRect">
            <a:avLst>
              <a:gd name="adj" fmla="val 17647"/>
            </a:avLst>
          </a:prstGeom>
          <a:solidFill>
            <a:srgbClr val="252a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4" name="Text 17"/>
          <p:cNvSpPr/>
          <p:nvPr/>
        </p:nvSpPr>
        <p:spPr>
          <a:xfrm>
            <a:off x="1719000" y="4187880"/>
            <a:ext cx="1188720" cy="30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ffffff"/>
                </a:solidFill>
                <a:latin typeface="Calibri"/>
                <a:ea typeface="Calibri"/>
              </a:rPr>
              <a:t>Key Vault + CSI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5" name="Shape 18"/>
          <p:cNvSpPr/>
          <p:nvPr/>
        </p:nvSpPr>
        <p:spPr>
          <a:xfrm>
            <a:off x="3108960" y="4187880"/>
            <a:ext cx="1325880" cy="309240"/>
          </a:xfrm>
          <a:prstGeom prst="roundRect">
            <a:avLst>
              <a:gd name="adj" fmla="val 17647"/>
            </a:avLst>
          </a:prstGeom>
          <a:solidFill>
            <a:srgbClr val="252a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6" name="Text 19"/>
          <p:cNvSpPr/>
          <p:nvPr/>
        </p:nvSpPr>
        <p:spPr>
          <a:xfrm>
            <a:off x="3108960" y="4187880"/>
            <a:ext cx="1325880" cy="30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ffffff"/>
                </a:solidFill>
                <a:latin typeface="Calibri"/>
                <a:ea typeface="Calibri"/>
              </a:rPr>
              <a:t>Probe Split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7" name="Shape 20"/>
          <p:cNvSpPr/>
          <p:nvPr/>
        </p:nvSpPr>
        <p:spPr>
          <a:xfrm>
            <a:off x="228600" y="4572000"/>
            <a:ext cx="1251360" cy="309240"/>
          </a:xfrm>
          <a:prstGeom prst="roundRect">
            <a:avLst>
              <a:gd name="adj" fmla="val 17647"/>
            </a:avLst>
          </a:prstGeom>
          <a:solidFill>
            <a:srgbClr val="252a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8" name="Text 21"/>
          <p:cNvSpPr/>
          <p:nvPr/>
        </p:nvSpPr>
        <p:spPr>
          <a:xfrm>
            <a:off x="228600" y="4572000"/>
            <a:ext cx="1251360" cy="30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ffffff"/>
                </a:solidFill>
                <a:latin typeface="Calibri"/>
                <a:ea typeface="Calibri"/>
              </a:rPr>
              <a:t>Build Once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9" name="Shape 22"/>
          <p:cNvSpPr/>
          <p:nvPr/>
        </p:nvSpPr>
        <p:spPr>
          <a:xfrm>
            <a:off x="3108960" y="4572000"/>
            <a:ext cx="1325880" cy="309240"/>
          </a:xfrm>
          <a:prstGeom prst="roundRect">
            <a:avLst>
              <a:gd name="adj" fmla="val 17647"/>
            </a:avLst>
          </a:prstGeom>
          <a:solidFill>
            <a:srgbClr val="252a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0" name="Text 23"/>
          <p:cNvSpPr/>
          <p:nvPr/>
        </p:nvSpPr>
        <p:spPr>
          <a:xfrm>
            <a:off x="1481400" y="4572000"/>
            <a:ext cx="1150200" cy="30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ffffff"/>
                </a:solidFill>
                <a:latin typeface="Calibri"/>
                <a:ea typeface="Calibri"/>
              </a:rPr>
              <a:t>Env Promotion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1" name="Shape 24"/>
          <p:cNvSpPr/>
          <p:nvPr/>
        </p:nvSpPr>
        <p:spPr>
          <a:xfrm>
            <a:off x="1719000" y="4572000"/>
            <a:ext cx="1188720" cy="309240"/>
          </a:xfrm>
          <a:prstGeom prst="roundRect">
            <a:avLst>
              <a:gd name="adj" fmla="val 17647"/>
            </a:avLst>
          </a:prstGeom>
          <a:solidFill>
            <a:srgbClr val="252a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2" name="Text 25"/>
          <p:cNvSpPr/>
          <p:nvPr/>
        </p:nvSpPr>
        <p:spPr>
          <a:xfrm>
            <a:off x="3108960" y="4572000"/>
            <a:ext cx="1325880" cy="30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ffffff"/>
                </a:solidFill>
                <a:latin typeface="Calibri"/>
                <a:ea typeface="Calibri"/>
              </a:rPr>
              <a:t>Secrets RBAC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3" name="Text 27"/>
          <p:cNvSpPr/>
          <p:nvPr/>
        </p:nvSpPr>
        <p:spPr>
          <a:xfrm>
            <a:off x="1719000" y="4572000"/>
            <a:ext cx="1188720" cy="30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ffffff"/>
                </a:solidFill>
                <a:latin typeface="Calibri"/>
                <a:ea typeface="Calibri"/>
              </a:rPr>
              <a:t>Fail Fast Design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0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Rectangle 1"/>
          <p:cNvSpPr/>
          <p:nvPr/>
        </p:nvSpPr>
        <p:spPr>
          <a:xfrm>
            <a:off x="0" y="0"/>
            <a:ext cx="52920" cy="51422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95" name="TextBox 2"/>
          <p:cNvSpPr/>
          <p:nvPr/>
        </p:nvSpPr>
        <p:spPr>
          <a:xfrm>
            <a:off x="274320" y="228600"/>
            <a:ext cx="859356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850" spc="335" strike="noStrike">
                <a:solidFill>
                  <a:srgbClr val="f5a623"/>
                </a:solidFill>
                <a:latin typeface="Calibri"/>
              </a:rPr>
              <a:t>WEEK 3  ·  CONCLUSION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6" name="TextBox 3"/>
          <p:cNvSpPr/>
          <p:nvPr/>
        </p:nvSpPr>
        <p:spPr>
          <a:xfrm>
            <a:off x="274320" y="479880"/>
            <a:ext cx="8593560" cy="69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3800" spc="-1" strike="noStrike">
                <a:solidFill>
                  <a:srgbClr val="ffffff"/>
                </a:solidFill>
                <a:latin typeface="Cambria"/>
              </a:rPr>
              <a:t>Week 3 Completed.</a:t>
            </a:r>
            <a:endParaRPr b="0" lang="en-US" sz="3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7" name="TextBox 4"/>
          <p:cNvSpPr/>
          <p:nvPr/>
        </p:nvSpPr>
        <p:spPr>
          <a:xfrm>
            <a:off x="274320" y="1230120"/>
            <a:ext cx="8593560" cy="55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28000"/>
              </a:lnSpc>
            </a:pPr>
            <a:r>
              <a:rPr b="0" i="1" lang="en-US" sz="1300" spc="-1" strike="noStrike">
                <a:solidFill>
                  <a:srgbClr val="f5a623"/>
                </a:solidFill>
                <a:latin typeface="Calibri"/>
              </a:rPr>
              <a:t>“</a:t>
            </a:r>
            <a:r>
              <a:rPr b="0" i="1" lang="en-US" sz="1300" spc="-1" strike="noStrike">
                <a:solidFill>
                  <a:srgbClr val="f5a623"/>
                </a:solidFill>
                <a:latin typeface="Calibri"/>
              </a:rPr>
              <a:t>You did not just deploy to Kubernetes. You learned what Azure quietly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28000"/>
              </a:lnSpc>
            </a:pPr>
            <a:r>
              <a:rPr b="0" i="1" lang="en-US" sz="1300" spc="-1" strike="noStrike">
                <a:solidFill>
                  <a:srgbClr val="f5a623"/>
                </a:solidFill>
                <a:latin typeface="Calibri"/>
              </a:rPr>
              <a:t>automates — and built the pipeline that gets your code there.”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8" name="Rounded Rectangle 5"/>
          <p:cNvSpPr/>
          <p:nvPr/>
        </p:nvSpPr>
        <p:spPr>
          <a:xfrm>
            <a:off x="237600" y="1919880"/>
            <a:ext cx="1637640" cy="2398680"/>
          </a:xfrm>
          <a:prstGeom prst="roundRect">
            <a:avLst>
              <a:gd name="adj" fmla="val 10000"/>
            </a:avLst>
          </a:prstGeom>
          <a:solidFill>
            <a:srgbClr val="2a2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99" name="TextBox 6"/>
          <p:cNvSpPr/>
          <p:nvPr/>
        </p:nvSpPr>
        <p:spPr>
          <a:xfrm>
            <a:off x="237600" y="2070000"/>
            <a:ext cx="1637640" cy="69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4000" spc="-1" strike="noStrike">
                <a:solidFill>
                  <a:srgbClr val="f5a623"/>
                </a:solidFill>
                <a:latin typeface="Cambria"/>
              </a:rPr>
              <a:t>A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0" name="TextBox 7"/>
          <p:cNvSpPr/>
          <p:nvPr/>
        </p:nvSpPr>
        <p:spPr>
          <a:xfrm>
            <a:off x="237600" y="2800080"/>
            <a:ext cx="16376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AI Services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801" name="Connector 8"/>
          <p:cNvCxnSpPr/>
          <p:nvPr/>
        </p:nvCxnSpPr>
        <p:spPr>
          <a:xfrm>
            <a:off x="532440" y="3109680"/>
            <a:ext cx="1050480" cy="1440"/>
          </a:xfrm>
          <a:prstGeom prst="straightConnector1">
            <a:avLst/>
          </a:prstGeom>
          <a:ln w="9525">
            <a:solidFill>
              <a:srgbClr val="4a4f8a"/>
            </a:solidFill>
            <a:round/>
          </a:ln>
        </p:spPr>
      </p:cxnSp>
      <p:sp>
        <p:nvSpPr>
          <p:cNvPr id="802" name="TextBox 9"/>
          <p:cNvSpPr/>
          <p:nvPr/>
        </p:nvSpPr>
        <p:spPr>
          <a:xfrm>
            <a:off x="307440" y="3200040"/>
            <a:ext cx="1497600" cy="103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ct val="140000"/>
              </a:lnSpc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</a:rPr>
              <a:t>Cognitive APIs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40000"/>
              </a:lnSpc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</a:rPr>
              <a:t>Vision · Language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40000"/>
              </a:lnSpc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</a:rPr>
              <a:t>Translator · OCR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3" name="Rounded Rectangle 10"/>
          <p:cNvSpPr/>
          <p:nvPr/>
        </p:nvSpPr>
        <p:spPr>
          <a:xfrm>
            <a:off x="1976760" y="1919880"/>
            <a:ext cx="1637640" cy="2398680"/>
          </a:xfrm>
          <a:prstGeom prst="roundRect">
            <a:avLst>
              <a:gd name="adj" fmla="val 10000"/>
            </a:avLst>
          </a:prstGeom>
          <a:solidFill>
            <a:srgbClr val="2a2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04" name="TextBox 11"/>
          <p:cNvSpPr/>
          <p:nvPr/>
        </p:nvSpPr>
        <p:spPr>
          <a:xfrm>
            <a:off x="1976760" y="2070000"/>
            <a:ext cx="1637640" cy="69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4000" spc="-1" strike="noStrike">
                <a:solidFill>
                  <a:srgbClr val="f5a623"/>
                </a:solidFill>
                <a:latin typeface="Cambria"/>
              </a:rPr>
              <a:t>M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5" name="TextBox 12"/>
          <p:cNvSpPr/>
          <p:nvPr/>
        </p:nvSpPr>
        <p:spPr>
          <a:xfrm>
            <a:off x="1976760" y="2800080"/>
            <a:ext cx="16376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ML Platform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806" name="Connector 13"/>
          <p:cNvCxnSpPr/>
          <p:nvPr/>
        </p:nvCxnSpPr>
        <p:spPr>
          <a:xfrm>
            <a:off x="2271600" y="3109680"/>
            <a:ext cx="1050120" cy="1440"/>
          </a:xfrm>
          <a:prstGeom prst="straightConnector1">
            <a:avLst/>
          </a:prstGeom>
          <a:ln w="9525">
            <a:solidFill>
              <a:srgbClr val="4a4f8a"/>
            </a:solidFill>
            <a:round/>
          </a:ln>
        </p:spPr>
      </p:cxnSp>
      <p:sp>
        <p:nvSpPr>
          <p:cNvPr id="807" name="TextBox 14"/>
          <p:cNvSpPr/>
          <p:nvPr/>
        </p:nvSpPr>
        <p:spPr>
          <a:xfrm>
            <a:off x="2046600" y="3200040"/>
            <a:ext cx="1497600" cy="103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ct val="140000"/>
              </a:lnSpc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</a:rPr>
              <a:t>Azure ML Workspace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40000"/>
              </a:lnSpc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</a:rPr>
              <a:t>AutoML + Registry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40000"/>
              </a:lnSpc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</a:rPr>
              <a:t>Online Endpoints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8" name="Rounded Rectangle 15"/>
          <p:cNvSpPr/>
          <p:nvPr/>
        </p:nvSpPr>
        <p:spPr>
          <a:xfrm>
            <a:off x="3715560" y="1919880"/>
            <a:ext cx="1637640" cy="2398680"/>
          </a:xfrm>
          <a:prstGeom prst="roundRect">
            <a:avLst>
              <a:gd name="adj" fmla="val 10000"/>
            </a:avLst>
          </a:prstGeom>
          <a:solidFill>
            <a:srgbClr val="2a2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09" name="TextBox 16"/>
          <p:cNvSpPr/>
          <p:nvPr/>
        </p:nvSpPr>
        <p:spPr>
          <a:xfrm>
            <a:off x="3715560" y="2070000"/>
            <a:ext cx="1637640" cy="69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4000" spc="-1" strike="noStrike">
                <a:solidFill>
                  <a:srgbClr val="f5a623"/>
                </a:solidFill>
                <a:latin typeface="Cambria"/>
              </a:rPr>
              <a:t>C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0" name="TextBox 17"/>
          <p:cNvSpPr/>
          <p:nvPr/>
        </p:nvSpPr>
        <p:spPr>
          <a:xfrm>
            <a:off x="3715560" y="2800080"/>
            <a:ext cx="16376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OpenAI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811" name="Connector 18"/>
          <p:cNvCxnSpPr/>
          <p:nvPr/>
        </p:nvCxnSpPr>
        <p:spPr>
          <a:xfrm>
            <a:off x="4010400" y="3109680"/>
            <a:ext cx="1050480" cy="1440"/>
          </a:xfrm>
          <a:prstGeom prst="straightConnector1">
            <a:avLst/>
          </a:prstGeom>
          <a:ln w="9525">
            <a:solidFill>
              <a:srgbClr val="4a4f8a"/>
            </a:solidFill>
            <a:round/>
          </a:ln>
        </p:spPr>
      </p:cxnSp>
      <p:sp>
        <p:nvSpPr>
          <p:cNvPr id="812" name="TextBox 19"/>
          <p:cNvSpPr/>
          <p:nvPr/>
        </p:nvSpPr>
        <p:spPr>
          <a:xfrm>
            <a:off x="3785760" y="3200040"/>
            <a:ext cx="1497600" cy="103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ct val="140000"/>
              </a:lnSpc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</a:rPr>
              <a:t>gpt-5-mini deployed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40000"/>
              </a:lnSpc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</a:rPr>
              <a:t>Chat Completions API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40000"/>
              </a:lnSpc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</a:rPr>
              <a:t>Embeddings + RAG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3" name="Rounded Rectangle 20"/>
          <p:cNvSpPr/>
          <p:nvPr/>
        </p:nvSpPr>
        <p:spPr>
          <a:xfrm>
            <a:off x="5454720" y="1919880"/>
            <a:ext cx="1637640" cy="2398680"/>
          </a:xfrm>
          <a:prstGeom prst="roundRect">
            <a:avLst>
              <a:gd name="adj" fmla="val 10000"/>
            </a:avLst>
          </a:prstGeom>
          <a:solidFill>
            <a:srgbClr val="2a2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14" name="TextBox 21"/>
          <p:cNvSpPr/>
          <p:nvPr/>
        </p:nvSpPr>
        <p:spPr>
          <a:xfrm>
            <a:off x="5454720" y="2070000"/>
            <a:ext cx="1637640" cy="69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4000" spc="-1" strike="noStrike">
                <a:solidFill>
                  <a:srgbClr val="f5a623"/>
                </a:solidFill>
                <a:latin typeface="Cambria"/>
              </a:rPr>
              <a:t>O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5" name="TextBox 22"/>
          <p:cNvSpPr/>
          <p:nvPr/>
        </p:nvSpPr>
        <p:spPr>
          <a:xfrm>
            <a:off x="5454720" y="2800080"/>
            <a:ext cx="16376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Capstone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816" name="Connector 23"/>
          <p:cNvCxnSpPr/>
          <p:nvPr/>
        </p:nvCxnSpPr>
        <p:spPr>
          <a:xfrm>
            <a:off x="5749560" y="3109680"/>
            <a:ext cx="1050120" cy="1440"/>
          </a:xfrm>
          <a:prstGeom prst="straightConnector1">
            <a:avLst/>
          </a:prstGeom>
          <a:ln w="9525">
            <a:solidFill>
              <a:srgbClr val="4a4f8a"/>
            </a:solidFill>
            <a:round/>
          </a:ln>
        </p:spPr>
      </p:cxnSp>
      <p:sp>
        <p:nvSpPr>
          <p:cNvPr id="817" name="TextBox 24"/>
          <p:cNvSpPr/>
          <p:nvPr/>
        </p:nvSpPr>
        <p:spPr>
          <a:xfrm>
            <a:off x="5524560" y="3200040"/>
            <a:ext cx="1497600" cy="103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ct val="140000"/>
              </a:lnSpc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</a:rPr>
              <a:t>FastAPI App live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40000"/>
              </a:lnSpc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</a:rPr>
              <a:t>AKS + CI/CD + Key Vault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40000"/>
              </a:lnSpc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</a:rPr>
              <a:t>HTTP 200 verified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8" name="Rounded Rectangle 25"/>
          <p:cNvSpPr/>
          <p:nvPr/>
        </p:nvSpPr>
        <p:spPr>
          <a:xfrm>
            <a:off x="7193520" y="1919880"/>
            <a:ext cx="1637640" cy="2398680"/>
          </a:xfrm>
          <a:prstGeom prst="roundRect">
            <a:avLst>
              <a:gd name="adj" fmla="val 10000"/>
            </a:avLst>
          </a:prstGeom>
          <a:solidFill>
            <a:srgbClr val="2a2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19" name="TextBox 26"/>
          <p:cNvSpPr/>
          <p:nvPr/>
        </p:nvSpPr>
        <p:spPr>
          <a:xfrm>
            <a:off x="7193520" y="2070000"/>
            <a:ext cx="1637640" cy="69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4000" spc="-1" strike="noStrike">
                <a:solidFill>
                  <a:srgbClr val="f5a623"/>
                </a:solidFill>
                <a:latin typeface="Cambria"/>
              </a:rPr>
              <a:t>D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0" name="TextBox 27"/>
          <p:cNvSpPr/>
          <p:nvPr/>
        </p:nvSpPr>
        <p:spPr>
          <a:xfrm>
            <a:off x="7193520" y="2800080"/>
            <a:ext cx="16376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DevOps Done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821" name="Connector 28"/>
          <p:cNvCxnSpPr/>
          <p:nvPr/>
        </p:nvCxnSpPr>
        <p:spPr>
          <a:xfrm>
            <a:off x="7488360" y="3109680"/>
            <a:ext cx="1050480" cy="1440"/>
          </a:xfrm>
          <a:prstGeom prst="straightConnector1">
            <a:avLst/>
          </a:prstGeom>
          <a:ln w="9525">
            <a:solidFill>
              <a:srgbClr val="4a4f8a"/>
            </a:solidFill>
            <a:round/>
          </a:ln>
        </p:spPr>
      </p:cxnSp>
      <p:sp>
        <p:nvSpPr>
          <p:cNvPr id="822" name="TextBox 29"/>
          <p:cNvSpPr/>
          <p:nvPr/>
        </p:nvSpPr>
        <p:spPr>
          <a:xfrm>
            <a:off x="7263720" y="3200040"/>
            <a:ext cx="1497600" cy="103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ct val="140000"/>
              </a:lnSpc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</a:rPr>
              <a:t>18 days complete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40000"/>
              </a:lnSpc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</a:rPr>
              <a:t>Linux → Cloud-Native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40000"/>
              </a:lnSpc>
            </a:pPr>
            <a:r>
              <a:rPr b="0" lang="en-US" sz="1100" spc="-1" strike="noStrike">
                <a:solidFill>
                  <a:srgbClr val="a8b2d8"/>
                </a:solidFill>
                <a:latin typeface="Calibri"/>
              </a:rPr>
              <a:t>→ </a:t>
            </a:r>
            <a:r>
              <a:rPr b="0" lang="en-US" sz="1100" spc="-1" strike="noStrike">
                <a:solidFill>
                  <a:srgbClr val="a8b2d8"/>
                </a:solidFill>
                <a:latin typeface="Calibri"/>
              </a:rPr>
              <a:t>AI Engineer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3" name="Rounded Rectangle 30"/>
          <p:cNvSpPr/>
          <p:nvPr/>
        </p:nvSpPr>
        <p:spPr>
          <a:xfrm>
            <a:off x="237600" y="4470120"/>
            <a:ext cx="8593560" cy="598680"/>
          </a:xfrm>
          <a:prstGeom prst="roundRect">
            <a:avLst>
              <a:gd name="adj" fmla="val 10000"/>
            </a:avLst>
          </a:prstGeom>
          <a:solidFill>
            <a:srgbClr val="1a1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4" name="TextBox 31"/>
          <p:cNvSpPr/>
          <p:nvPr/>
        </p:nvSpPr>
        <p:spPr>
          <a:xfrm>
            <a:off x="349920" y="4470120"/>
            <a:ext cx="1498680" cy="23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900" spc="239" strike="noStrike">
                <a:solidFill>
                  <a:srgbClr val="f5a623"/>
                </a:solidFill>
                <a:latin typeface="Calibri"/>
              </a:rPr>
              <a:t>BOOTCAMP COMPLETE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5" name="TextBox 32"/>
          <p:cNvSpPr/>
          <p:nvPr/>
        </p:nvSpPr>
        <p:spPr>
          <a:xfrm>
            <a:off x="349920" y="4749840"/>
            <a:ext cx="149868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Certifications →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6" name="TextBox 33"/>
          <p:cNvSpPr/>
          <p:nvPr/>
        </p:nvSpPr>
        <p:spPr>
          <a:xfrm>
            <a:off x="1917720" y="4470120"/>
            <a:ext cx="1309680" cy="59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Azure AI Services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2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(Vision, Language)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7" name="TextBox 34"/>
          <p:cNvSpPr/>
          <p:nvPr/>
        </p:nvSpPr>
        <p:spPr>
          <a:xfrm>
            <a:off x="3308760" y="4470120"/>
            <a:ext cx="1309680" cy="59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Azure ML +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2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AutoML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8" name="TextBox 35"/>
          <p:cNvSpPr/>
          <p:nvPr/>
        </p:nvSpPr>
        <p:spPr>
          <a:xfrm>
            <a:off x="4699440" y="4470120"/>
            <a:ext cx="1309680" cy="59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Azure OpenAI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2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GPT-4o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9" name="TextBox 36"/>
          <p:cNvSpPr/>
          <p:nvPr/>
        </p:nvSpPr>
        <p:spPr>
          <a:xfrm>
            <a:off x="6090480" y="4470120"/>
            <a:ext cx="1309680" cy="59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AI-102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2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AI Engineer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0" name="TextBox 37"/>
          <p:cNvSpPr/>
          <p:nvPr/>
        </p:nvSpPr>
        <p:spPr>
          <a:xfrm>
            <a:off x="7481520" y="4470120"/>
            <a:ext cx="1309680" cy="59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AI-Powered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2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DevOps App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85</TotalTime>
  <Application>LibreOffice/24.2.7.2$Linux_X86_64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2026-06-12T19:28:29Z</dcterms:created>
  <dc:creator>PptxGenJS</dc:creator>
  <dc:description/>
  <dc:language>en-US</dc:language>
  <cp:lastModifiedBy/>
  <dcterms:modified xsi:type="dcterms:W3CDTF">2026-07-06T12:09:41Z</dcterms:modified>
  <cp:revision>8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7</vt:i4>
  </property>
  <property fmtid="{D5CDD505-2E9C-101B-9397-08002B2CF9AE}" pid="3" name="PresentationFormat">
    <vt:lpwstr>On-screen Show (16:9)</vt:lpwstr>
  </property>
  <property fmtid="{D5CDD505-2E9C-101B-9397-08002B2CF9AE}" pid="4" name="Slides">
    <vt:i4>7</vt:i4>
  </property>
</Properties>
</file>