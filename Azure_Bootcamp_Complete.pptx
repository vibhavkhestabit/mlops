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image14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8.png" ContentType="image/png"/>
  <Override PartName="/ppt/media/image17.png" ContentType="image/png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45EC0E8-2D1A-4B91-AC46-B1CBDC51222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8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4DC81D-4996-4A39-B3D8-DED1B6B68BC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8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58ED65-3187-4B03-8A07-0E1F536361F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8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AC19BC-7905-4D00-87C6-B6D478915F0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8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A49ED7-0656-4493-A4F3-4602F6666FD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8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22984FB-3CC6-40BA-B432-B25030467DE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8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A5CF42-954A-438C-92FE-34CEAFC328C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/>
        </p:nvSpPr>
        <p:spPr>
          <a:xfrm>
            <a:off x="0" y="0"/>
            <a:ext cx="52560" cy="5141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" name="TextBox 2"/>
          <p:cNvSpPr/>
          <p:nvPr/>
        </p:nvSpPr>
        <p:spPr>
          <a:xfrm>
            <a:off x="274320" y="228600"/>
            <a:ext cx="439812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850" spc="333" strike="noStrike">
                <a:solidFill>
                  <a:srgbClr val="f5a623"/>
                </a:solidFill>
                <a:latin typeface="Calibri"/>
              </a:rPr>
              <a:t>AZURE LAUNCHPAD  ·  FRESHER TRACK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Box 3"/>
          <p:cNvSpPr/>
          <p:nvPr/>
        </p:nvSpPr>
        <p:spPr>
          <a:xfrm>
            <a:off x="274320" y="530280"/>
            <a:ext cx="449856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Cambria"/>
              </a:rPr>
              <a:t>Azure Bootcamp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Box 4"/>
          <p:cNvSpPr/>
          <p:nvPr/>
        </p:nvSpPr>
        <p:spPr>
          <a:xfrm>
            <a:off x="274320" y="1090440"/>
            <a:ext cx="4498560" cy="65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4400" spc="-1" strike="noStrike">
                <a:solidFill>
                  <a:srgbClr val="f5a623"/>
                </a:solidFill>
                <a:latin typeface="Cambria"/>
              </a:rPr>
              <a:t>Weeks 1 – 2 – 3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Box 5"/>
          <p:cNvSpPr/>
          <p:nvPr/>
        </p:nvSpPr>
        <p:spPr>
          <a:xfrm>
            <a:off x="334800" y="1830600"/>
            <a:ext cx="449856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Vibhav Khaneja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Box 6"/>
          <p:cNvSpPr/>
          <p:nvPr/>
        </p:nvSpPr>
        <p:spPr>
          <a:xfrm>
            <a:off x="334800" y="2105640"/>
            <a:ext cx="44985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080" spc="-1" strike="noStrike">
                <a:solidFill>
                  <a:srgbClr val="a8b2d8"/>
                </a:solidFill>
                <a:latin typeface="Calibri"/>
              </a:rPr>
              <a:t>Cloud Foundations · Containers · Kubernetes · CI/CD · Ops · AI/ML</a:t>
            </a:r>
            <a:endParaRPr b="0" lang="en-US" sz="10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Rounded Rectangle 7"/>
          <p:cNvSpPr/>
          <p:nvPr/>
        </p:nvSpPr>
        <p:spPr>
          <a:xfrm>
            <a:off x="334800" y="2559960"/>
            <a:ext cx="978120" cy="878040"/>
          </a:xfrm>
          <a:prstGeom prst="roundRect">
            <a:avLst>
              <a:gd name="adj" fmla="val 10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" name="TextBox 8"/>
          <p:cNvSpPr/>
          <p:nvPr/>
        </p:nvSpPr>
        <p:spPr>
          <a:xfrm>
            <a:off x="334800" y="2649960"/>
            <a:ext cx="97812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>
              <a:lnSpc>
                <a:spcPct val="100000"/>
              </a:lnSpc>
            </a:pPr>
            <a:r>
              <a:rPr b="1" lang="en-US" sz="2300" spc="-1" strike="noStrike">
                <a:solidFill>
                  <a:srgbClr val="f5a623"/>
                </a:solidFill>
                <a:latin typeface="Cambria"/>
              </a:rPr>
              <a:t>18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Box 9"/>
          <p:cNvSpPr/>
          <p:nvPr/>
        </p:nvSpPr>
        <p:spPr>
          <a:xfrm>
            <a:off x="334800" y="3089880"/>
            <a:ext cx="978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a8b2d8"/>
                </a:solidFill>
                <a:latin typeface="Calibri"/>
              </a:rPr>
              <a:t>Days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Rounded Rectangle 10"/>
          <p:cNvSpPr/>
          <p:nvPr/>
        </p:nvSpPr>
        <p:spPr>
          <a:xfrm>
            <a:off x="1419840" y="2559960"/>
            <a:ext cx="978120" cy="878040"/>
          </a:xfrm>
          <a:prstGeom prst="roundRect">
            <a:avLst>
              <a:gd name="adj" fmla="val 10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" name="TextBox 11"/>
          <p:cNvSpPr/>
          <p:nvPr/>
        </p:nvSpPr>
        <p:spPr>
          <a:xfrm>
            <a:off x="1419840" y="2649960"/>
            <a:ext cx="97812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>
              <a:lnSpc>
                <a:spcPct val="100000"/>
              </a:lnSpc>
            </a:pPr>
            <a:r>
              <a:rPr b="1" lang="en-US" sz="2300" spc="-1" strike="noStrike">
                <a:solidFill>
                  <a:srgbClr val="f5a623"/>
                </a:solidFill>
                <a:latin typeface="Cambria"/>
              </a:rPr>
              <a:t>15+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Box 12"/>
          <p:cNvSpPr/>
          <p:nvPr/>
        </p:nvSpPr>
        <p:spPr>
          <a:xfrm>
            <a:off x="1419840" y="3089880"/>
            <a:ext cx="978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a8b2d8"/>
                </a:solidFill>
                <a:latin typeface="Calibri"/>
              </a:rPr>
              <a:t>Bash Scripts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Rounded Rectangle 13"/>
          <p:cNvSpPr/>
          <p:nvPr/>
        </p:nvSpPr>
        <p:spPr>
          <a:xfrm>
            <a:off x="2504880" y="2559960"/>
            <a:ext cx="978120" cy="878040"/>
          </a:xfrm>
          <a:prstGeom prst="roundRect">
            <a:avLst>
              <a:gd name="adj" fmla="val 10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" name="TextBox 14"/>
          <p:cNvSpPr/>
          <p:nvPr/>
        </p:nvSpPr>
        <p:spPr>
          <a:xfrm>
            <a:off x="2504880" y="2649960"/>
            <a:ext cx="97812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>
              <a:lnSpc>
                <a:spcPct val="100000"/>
              </a:lnSpc>
            </a:pPr>
            <a:r>
              <a:rPr b="1" lang="en-US" sz="2300" spc="-1" strike="noStrike">
                <a:solidFill>
                  <a:srgbClr val="f5a623"/>
                </a:solidFill>
                <a:latin typeface="Cambria"/>
              </a:rPr>
              <a:t>20+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Box 15"/>
          <p:cNvSpPr/>
          <p:nvPr/>
        </p:nvSpPr>
        <p:spPr>
          <a:xfrm>
            <a:off x="2504880" y="3089880"/>
            <a:ext cx="978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a8b2d8"/>
                </a:solidFill>
                <a:latin typeface="Calibri"/>
              </a:rPr>
              <a:t>Azure Services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Rounded Rectangle 16"/>
          <p:cNvSpPr/>
          <p:nvPr/>
        </p:nvSpPr>
        <p:spPr>
          <a:xfrm>
            <a:off x="3589920" y="2559960"/>
            <a:ext cx="978120" cy="878040"/>
          </a:xfrm>
          <a:prstGeom prst="roundRect">
            <a:avLst>
              <a:gd name="adj" fmla="val 10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" name="TextBox 17"/>
          <p:cNvSpPr/>
          <p:nvPr/>
        </p:nvSpPr>
        <p:spPr>
          <a:xfrm>
            <a:off x="3589920" y="2649960"/>
            <a:ext cx="97812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>
              <a:lnSpc>
                <a:spcPct val="100000"/>
              </a:lnSpc>
            </a:pPr>
            <a:r>
              <a:rPr b="1" lang="en-US" sz="2300" spc="-1" strike="noStrike">
                <a:solidFill>
                  <a:srgbClr val="f5a623"/>
                </a:solidFill>
                <a:latin typeface="Cambria"/>
              </a:rPr>
              <a:t>3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Box 18"/>
          <p:cNvSpPr/>
          <p:nvPr/>
        </p:nvSpPr>
        <p:spPr>
          <a:xfrm>
            <a:off x="3589920" y="3089880"/>
            <a:ext cx="978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a8b2d8"/>
                </a:solidFill>
                <a:latin typeface="Calibri"/>
              </a:rPr>
              <a:t>Live Deploys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6" name="Connector 19"/>
          <p:cNvCxnSpPr/>
          <p:nvPr/>
        </p:nvCxnSpPr>
        <p:spPr>
          <a:xfrm>
            <a:off x="334800" y="3619800"/>
            <a:ext cx="4281840" cy="1800"/>
          </a:xfrm>
          <a:prstGeom prst="straightConnector1">
            <a:avLst/>
          </a:prstGeom>
          <a:ln w="9525">
            <a:solidFill>
              <a:srgbClr val="3a3f7a"/>
            </a:solidFill>
            <a:round/>
          </a:ln>
        </p:spPr>
      </p:cxnSp>
      <p:sp>
        <p:nvSpPr>
          <p:cNvPr id="27" name="TextBox 20"/>
          <p:cNvSpPr/>
          <p:nvPr/>
        </p:nvSpPr>
        <p:spPr>
          <a:xfrm>
            <a:off x="334800" y="3700080"/>
            <a:ext cx="44985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8892b8"/>
                </a:solidFill>
                <a:latin typeface="Calibri"/>
              </a:rPr>
              <a:t>3-Week Azure Bootcamp  ·  Ubuntu + Docker → Cloud-Native + AI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Rounded Rectangle 21"/>
          <p:cNvSpPr/>
          <p:nvPr/>
        </p:nvSpPr>
        <p:spPr>
          <a:xfrm>
            <a:off x="4983480" y="182880"/>
            <a:ext cx="4068360" cy="4891320"/>
          </a:xfrm>
          <a:prstGeom prst="roundRect">
            <a:avLst>
              <a:gd name="adj" fmla="val 7000"/>
            </a:avLst>
          </a:prstGeom>
          <a:solidFill>
            <a:srgbClr val="1c2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" name="TextBox 22"/>
          <p:cNvSpPr/>
          <p:nvPr/>
        </p:nvSpPr>
        <p:spPr>
          <a:xfrm>
            <a:off x="5243040" y="228600"/>
            <a:ext cx="380880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50" spc="287" strike="noStrike">
                <a:solidFill>
                  <a:srgbClr val="f5a623"/>
                </a:solidFill>
                <a:latin typeface="Calibri"/>
              </a:rPr>
              <a:t>3 WEEKS · 18 DAYS · FULL PROGRAMME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Week1Box"/>
          <p:cNvSpPr/>
          <p:nvPr/>
        </p:nvSpPr>
        <p:spPr>
          <a:xfrm>
            <a:off x="5119920" y="454320"/>
            <a:ext cx="3808800" cy="1438920"/>
          </a:xfrm>
          <a:prstGeom prst="roundRect">
            <a:avLst>
              <a:gd name="adj" fmla="val 16667"/>
            </a:avLst>
          </a:prstGeom>
          <a:solidFill>
            <a:srgbClr val="1e2a5e"/>
          </a:solidFill>
          <a:ln w="1905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159840" bIns="11988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92" strike="noStrike">
                <a:solidFill>
                  <a:srgbClr val="f5a623"/>
                </a:solidFill>
                <a:latin typeface="Cambria"/>
              </a:rPr>
              <a:t>Week 1  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Azure Foundations + Containers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60000"/>
              </a:lnSpc>
            </a:pPr>
            <a:r>
              <a:rPr b="0" lang="en-US" sz="200" spc="-1" strike="noStrike">
                <a:solidFill>
                  <a:srgbClr val="f5a623"/>
                </a:solidFill>
                <a:latin typeface="Calibri"/>
              </a:rPr>
              <a:t> </a:t>
            </a:r>
            <a:endParaRPr b="0" lang="en-US" sz="20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>
              <a:lnSpc>
                <a:spcPct val="11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5a623"/>
                </a:solidFill>
                <a:latin typeface="Calibri"/>
              </a:rPr>
              <a:t>Cloud &amp; CLI  </a:t>
            </a:r>
            <a:r>
              <a:rPr b="0" lang="en-US" sz="880" spc="-1" strike="noStrike">
                <a:solidFill>
                  <a:srgbClr val="a8b2d8"/>
                </a:solidFill>
                <a:latin typeface="Calibri"/>
              </a:rPr>
              <a:t>Azure portal, resource groups, regions, subscriptions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>
              <a:lnSpc>
                <a:spcPct val="11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5a623"/>
                </a:solidFill>
                <a:latin typeface="Calibri"/>
              </a:rPr>
              <a:t>VMs &amp; Networking  </a:t>
            </a:r>
            <a:r>
              <a:rPr b="0" lang="en-US" sz="880" spc="-1" strike="noStrike">
                <a:solidFill>
                  <a:srgbClr val="a8b2d8"/>
                </a:solidFill>
                <a:latin typeface="Calibri"/>
              </a:rPr>
              <a:t>VNet · NSG · SSH · Nginx on Ubuntu VM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>
              <a:lnSpc>
                <a:spcPct val="11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5a623"/>
                </a:solidFill>
                <a:latin typeface="Calibri"/>
              </a:rPr>
              <a:t>Storage  </a:t>
            </a:r>
            <a:r>
              <a:rPr b="0" lang="en-US" sz="880" spc="-1" strike="noStrike">
                <a:solidFill>
                  <a:srgbClr val="a8b2d8"/>
                </a:solidFill>
                <a:latin typeface="Calibri"/>
              </a:rPr>
              <a:t>Blob containers · SAS tokens · Azure Files mount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>
              <a:lnSpc>
                <a:spcPct val="11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5a623"/>
                </a:solidFill>
                <a:latin typeface="Calibri"/>
              </a:rPr>
              <a:t>ACI  </a:t>
            </a:r>
            <a:r>
              <a:rPr b="0" lang="en-US" sz="880" spc="-1" strike="noStrike">
                <a:solidFill>
                  <a:srgbClr val="a8b2d8"/>
                </a:solidFill>
                <a:latin typeface="Calibri"/>
              </a:rPr>
              <a:t>Deploy container, logs, env vars — no VM management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>
              <a:lnSpc>
                <a:spcPct val="11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5a623"/>
                </a:solidFill>
                <a:latin typeface="Calibri"/>
              </a:rPr>
              <a:t>ACR  </a:t>
            </a:r>
            <a:r>
              <a:rPr b="0" lang="en-US" sz="880" spc="-1" strike="noStrike">
                <a:solidFill>
                  <a:srgbClr val="a8b2d8"/>
                </a:solidFill>
                <a:latin typeface="Calibri"/>
              </a:rPr>
              <a:t>Private registry · build · tag · push · managed identity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>
              <a:lnSpc>
                <a:spcPct val="11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5a623"/>
                </a:solidFill>
                <a:latin typeface="Calibri"/>
              </a:rPr>
              <a:t>Capstone  </a:t>
            </a:r>
            <a:r>
              <a:rPr b="0" lang="en-US" sz="880" spc="-1" strike="noStrike">
                <a:solidFill>
                  <a:srgbClr val="a8b2d8"/>
                </a:solidFill>
                <a:latin typeface="Calibri"/>
              </a:rPr>
              <a:t>End-to-end live deploy: ACR → ACI → public URL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Week2Box"/>
          <p:cNvSpPr/>
          <p:nvPr/>
        </p:nvSpPr>
        <p:spPr>
          <a:xfrm>
            <a:off x="5119920" y="1984320"/>
            <a:ext cx="3808800" cy="1438920"/>
          </a:xfrm>
          <a:prstGeom prst="roundRect">
            <a:avLst>
              <a:gd name="adj" fmla="val 16667"/>
            </a:avLst>
          </a:prstGeom>
          <a:solidFill>
            <a:srgbClr val="1e2a5e"/>
          </a:solidFill>
          <a:ln w="1905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159840" bIns="11988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92" strike="noStrike">
                <a:solidFill>
                  <a:srgbClr val="f5a623"/>
                </a:solidFill>
                <a:latin typeface="Cambria"/>
              </a:rPr>
              <a:t>Week 2  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AKS + CI/CD + Monitoring + Security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60000"/>
              </a:lnSpc>
            </a:pPr>
            <a:r>
              <a:rPr b="0" lang="en-US" sz="200" spc="-1" strike="noStrike">
                <a:solidFill>
                  <a:srgbClr val="f5a623"/>
                </a:solidFill>
                <a:latin typeface="Calibri"/>
              </a:rPr>
              <a:t> </a:t>
            </a:r>
            <a:endParaRPr b="0" lang="en-US" sz="20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>
              <a:lnSpc>
                <a:spcPct val="11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5a623"/>
                </a:solidFill>
                <a:latin typeface="Calibri"/>
              </a:rPr>
              <a:t>AKS  </a:t>
            </a:r>
            <a:r>
              <a:rPr b="0" lang="en-US" sz="880" spc="-1" strike="noStrike">
                <a:solidFill>
                  <a:srgbClr val="a8b2d8"/>
                </a:solidFill>
                <a:latin typeface="Calibri"/>
              </a:rPr>
              <a:t>Cluster provisioned · ACR attached · kubectl connected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>
              <a:lnSpc>
                <a:spcPct val="11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5a623"/>
                </a:solidFill>
                <a:latin typeface="Calibri"/>
              </a:rPr>
              <a:t>Workloads  </a:t>
            </a:r>
            <a:r>
              <a:rPr b="0" lang="en-US" sz="880" spc="-1" strike="noStrike">
                <a:solidFill>
                  <a:srgbClr val="a8b2d8"/>
                </a:solidFill>
                <a:latin typeface="Calibri"/>
              </a:rPr>
              <a:t>Deployment · LoadBalancer · Ingress · HPA scaling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>
              <a:lnSpc>
                <a:spcPct val="11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5a623"/>
                </a:solidFill>
                <a:latin typeface="Calibri"/>
              </a:rPr>
              <a:t>CI/CD  </a:t>
            </a:r>
            <a:r>
              <a:rPr b="0" lang="en-US" sz="880" spc="-1" strike="noStrike">
                <a:solidFill>
                  <a:srgbClr val="a8b2d8"/>
                </a:solidFill>
                <a:latin typeface="Calibri"/>
              </a:rPr>
              <a:t>Azure DevOps · YAML pipeline · build-ID tagging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>
              <a:lnSpc>
                <a:spcPct val="11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5a623"/>
                </a:solidFill>
                <a:latin typeface="Calibri"/>
              </a:rPr>
              <a:t>Full Pipeline  </a:t>
            </a:r>
            <a:r>
              <a:rPr b="0" lang="en-US" sz="880" spc="-1" strike="noStrike">
                <a:solidFill>
                  <a:srgbClr val="a8b2d8"/>
                </a:solidFill>
                <a:latin typeface="Calibri"/>
              </a:rPr>
              <a:t>git push → Docker build → ACR → AKS auto-deploy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>
              <a:lnSpc>
                <a:spcPct val="11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5a623"/>
                </a:solidFill>
                <a:latin typeface="Calibri"/>
              </a:rPr>
              <a:t>Monitoring  </a:t>
            </a:r>
            <a:r>
              <a:rPr b="0" lang="en-US" sz="880" spc="-1" strike="noStrike">
                <a:solidFill>
                  <a:srgbClr val="a8b2d8"/>
                </a:solidFill>
                <a:latin typeface="Calibri"/>
              </a:rPr>
              <a:t>Azure Monitor · Log Analytics · KQL · metric alerts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>
              <a:lnSpc>
                <a:spcPct val="11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5a623"/>
                </a:solidFill>
                <a:latin typeface="Calibri"/>
              </a:rPr>
              <a:t>Security  </a:t>
            </a:r>
            <a:r>
              <a:rPr b="0" lang="en-US" sz="880" spc="-1" strike="noStrike">
                <a:solidFill>
                  <a:srgbClr val="a8b2d8"/>
                </a:solidFill>
                <a:latin typeface="Calibri"/>
              </a:rPr>
              <a:t>RBAC roles · Key Vault secrets · Microsoft Defender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Week3Box"/>
          <p:cNvSpPr/>
          <p:nvPr/>
        </p:nvSpPr>
        <p:spPr>
          <a:xfrm>
            <a:off x="5119920" y="3514320"/>
            <a:ext cx="3808800" cy="1438920"/>
          </a:xfrm>
          <a:prstGeom prst="roundRect">
            <a:avLst>
              <a:gd name="adj" fmla="val 16667"/>
            </a:avLst>
          </a:prstGeom>
          <a:solidFill>
            <a:srgbClr val="1e2a5e"/>
          </a:solidFill>
          <a:ln w="1905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159840" bIns="11988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92" strike="noStrike">
                <a:solidFill>
                  <a:srgbClr val="f5a623"/>
                </a:solidFill>
                <a:latin typeface="Cambria"/>
              </a:rPr>
              <a:t>Week 3  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AI Services + ML + OpenAI + Capstone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60000"/>
              </a:lnSpc>
            </a:pPr>
            <a:r>
              <a:rPr b="0" lang="en-US" sz="200" spc="-1" strike="noStrike">
                <a:solidFill>
                  <a:srgbClr val="f5a623"/>
                </a:solidFill>
                <a:latin typeface="Calibri"/>
              </a:rPr>
              <a:t> </a:t>
            </a:r>
            <a:endParaRPr b="0" lang="en-US" sz="20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>
              <a:lnSpc>
                <a:spcPct val="11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5a623"/>
                </a:solidFill>
                <a:latin typeface="Calibri"/>
              </a:rPr>
              <a:t>AI Services  </a:t>
            </a:r>
            <a:r>
              <a:rPr b="0" lang="en-US" sz="880" spc="-1" strike="noStrike">
                <a:solidFill>
                  <a:srgbClr val="a8b2d8"/>
                </a:solidFill>
                <a:latin typeface="Calibri"/>
              </a:rPr>
              <a:t>Text Analytics · Translator · Computer Vision APIs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>
              <a:lnSpc>
                <a:spcPct val="11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5a623"/>
                </a:solidFill>
                <a:latin typeface="Calibri"/>
              </a:rPr>
              <a:t>Azure ML  </a:t>
            </a:r>
            <a:r>
              <a:rPr b="0" lang="en-US" sz="880" spc="-1" strike="noStrike">
                <a:solidFill>
                  <a:srgbClr val="a8b2d8"/>
                </a:solidFill>
                <a:latin typeface="Calibri"/>
              </a:rPr>
              <a:t>Workspace · compute instance · scikit-learn + MLflow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>
              <a:lnSpc>
                <a:spcPct val="11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5a623"/>
                </a:solidFill>
                <a:latin typeface="Calibri"/>
              </a:rPr>
              <a:t>AutoML  </a:t>
            </a:r>
            <a:r>
              <a:rPr b="0" lang="en-US" sz="880" spc="-1" strike="noStrike">
                <a:solidFill>
                  <a:srgbClr val="a8b2d8"/>
                </a:solidFill>
                <a:latin typeface="Calibri"/>
              </a:rPr>
              <a:t>Binary classification · model registry · online endpoint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>
              <a:lnSpc>
                <a:spcPct val="11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5a623"/>
                </a:solidFill>
                <a:latin typeface="Calibri"/>
              </a:rPr>
              <a:t>Vision/Language  </a:t>
            </a:r>
            <a:r>
              <a:rPr b="0" lang="en-US" sz="880" spc="-1" strike="noStrike">
                <a:solidFill>
                  <a:srgbClr val="a8b2d8"/>
                </a:solidFill>
                <a:latin typeface="Calibri"/>
              </a:rPr>
              <a:t>OCR · named entities · Document Intelligence PDF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>
              <a:lnSpc>
                <a:spcPct val="11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5a623"/>
                </a:solidFill>
                <a:latin typeface="Calibri"/>
              </a:rPr>
              <a:t>Azure OpenAI  </a:t>
            </a:r>
            <a:r>
              <a:rPr b="0" lang="en-US" sz="880" spc="-1" strike="noStrike">
                <a:solidFill>
                  <a:srgbClr val="a8b2d8"/>
                </a:solidFill>
                <a:latin typeface="Calibri"/>
              </a:rPr>
              <a:t>gpt-5-mini · Chat Completions · embeddings · RAG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>
              <a:lnSpc>
                <a:spcPct val="115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5a623"/>
                </a:solidFill>
                <a:latin typeface="Calibri"/>
              </a:rPr>
              <a:t>Capstone  </a:t>
            </a:r>
            <a:r>
              <a:rPr b="0" lang="en-US" sz="880" spc="-1" strike="noStrike">
                <a:solidFill>
                  <a:srgbClr val="a8b2d8"/>
                </a:solidFill>
                <a:latin typeface="Calibri"/>
              </a:rPr>
              <a:t>FastAPI AI log analyser live on AKS — HTTP 200 verified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0" y="0"/>
            <a:ext cx="52560" cy="514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274320" y="228600"/>
            <a:ext cx="8593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333" strike="noStrike">
                <a:solidFill>
                  <a:srgbClr val="f5a623"/>
                </a:solidFill>
                <a:latin typeface="Calibri"/>
                <a:ea typeface="Calibri"/>
              </a:rPr>
              <a:t>OVERVIEW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274320" y="457200"/>
            <a:ext cx="63986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e4f"/>
                </a:solidFill>
                <a:latin typeface="Cambria"/>
                <a:ea typeface="Cambria"/>
              </a:rPr>
              <a:t>The Week 1 Learning Arc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237600" y="1115640"/>
            <a:ext cx="2759400" cy="1698480"/>
          </a:xfrm>
          <a:prstGeom prst="roundRect">
            <a:avLst>
              <a:gd name="adj" fmla="val 5376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4"/>
          <p:cNvSpPr/>
          <p:nvPr/>
        </p:nvSpPr>
        <p:spPr>
          <a:xfrm>
            <a:off x="365760" y="1234440"/>
            <a:ext cx="308880" cy="30888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5"/>
          <p:cNvSpPr/>
          <p:nvPr/>
        </p:nvSpPr>
        <p:spPr>
          <a:xfrm>
            <a:off x="365760" y="123444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f1035"/>
                </a:solidFill>
                <a:latin typeface="Calibri"/>
                <a:ea typeface="Calibri"/>
              </a:rPr>
              <a:t>01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" name="Image 0" descr="preencoded.png"/>
          <p:cNvPicPr/>
          <p:nvPr/>
        </p:nvPicPr>
        <p:blipFill>
          <a:blip r:embed="rId1"/>
          <a:stretch/>
        </p:blipFill>
        <p:spPr>
          <a:xfrm>
            <a:off x="2597040" y="1225440"/>
            <a:ext cx="253800" cy="253800"/>
          </a:xfrm>
          <a:prstGeom prst="rect">
            <a:avLst/>
          </a:prstGeom>
          <a:ln w="0">
            <a:noFill/>
          </a:ln>
        </p:spPr>
      </p:pic>
      <p:sp>
        <p:nvSpPr>
          <p:cNvPr id="40" name="Text 6"/>
          <p:cNvSpPr/>
          <p:nvPr/>
        </p:nvSpPr>
        <p:spPr>
          <a:xfrm>
            <a:off x="365760" y="1591200"/>
            <a:ext cx="25034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Azure Orientation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7"/>
          <p:cNvSpPr/>
          <p:nvPr/>
        </p:nvSpPr>
        <p:spPr>
          <a:xfrm>
            <a:off x="365760" y="1883520"/>
            <a:ext cx="2503440" cy="8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Free account + student credits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az login + resource group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Portal vs CLI parity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Script: azure_setup.sh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8"/>
          <p:cNvSpPr/>
          <p:nvPr/>
        </p:nvSpPr>
        <p:spPr>
          <a:xfrm>
            <a:off x="3182040" y="1115640"/>
            <a:ext cx="2759400" cy="1698480"/>
          </a:xfrm>
          <a:prstGeom prst="roundRect">
            <a:avLst>
              <a:gd name="adj" fmla="val 5376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3310200" y="1234440"/>
            <a:ext cx="308880" cy="30888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0"/>
          <p:cNvSpPr/>
          <p:nvPr/>
        </p:nvSpPr>
        <p:spPr>
          <a:xfrm>
            <a:off x="3310200" y="123444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f1035"/>
                </a:solidFill>
                <a:latin typeface="Calibri"/>
                <a:ea typeface="Calibri"/>
              </a:rPr>
              <a:t>02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" name="Image 1" descr="preencoded.png"/>
          <p:cNvPicPr/>
          <p:nvPr/>
        </p:nvPicPr>
        <p:blipFill>
          <a:blip r:embed="rId2"/>
          <a:stretch/>
        </p:blipFill>
        <p:spPr>
          <a:xfrm>
            <a:off x="5541120" y="1225440"/>
            <a:ext cx="253800" cy="253800"/>
          </a:xfrm>
          <a:prstGeom prst="rect">
            <a:avLst/>
          </a:prstGeom>
          <a:ln w="0">
            <a:noFill/>
          </a:ln>
        </p:spPr>
      </p:pic>
      <p:sp>
        <p:nvSpPr>
          <p:cNvPr id="46" name="Text 11"/>
          <p:cNvSpPr/>
          <p:nvPr/>
        </p:nvSpPr>
        <p:spPr>
          <a:xfrm>
            <a:off x="3310200" y="1591200"/>
            <a:ext cx="25034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VMs &amp; Networking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3310200" y="1883520"/>
            <a:ext cx="2503440" cy="8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VNet + Subnet via CLI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Ubuntu VM + SSH key auth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NSG rules · Nginx on port 80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Script: vm_manager.sh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3"/>
          <p:cNvSpPr/>
          <p:nvPr/>
        </p:nvSpPr>
        <p:spPr>
          <a:xfrm>
            <a:off x="6126480" y="1115640"/>
            <a:ext cx="2759400" cy="1698480"/>
          </a:xfrm>
          <a:prstGeom prst="roundRect">
            <a:avLst>
              <a:gd name="adj" fmla="val 5376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14"/>
          <p:cNvSpPr/>
          <p:nvPr/>
        </p:nvSpPr>
        <p:spPr>
          <a:xfrm>
            <a:off x="6254640" y="1234440"/>
            <a:ext cx="308880" cy="30888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6254640" y="123444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f1035"/>
                </a:solidFill>
                <a:latin typeface="Calibri"/>
                <a:ea typeface="Calibri"/>
              </a:rPr>
              <a:t>03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Image 2" descr="preencoded.png"/>
          <p:cNvPicPr/>
          <p:nvPr/>
        </p:nvPicPr>
        <p:blipFill>
          <a:blip r:embed="rId3"/>
          <a:stretch/>
        </p:blipFill>
        <p:spPr>
          <a:xfrm>
            <a:off x="8485560" y="1225440"/>
            <a:ext cx="253800" cy="253800"/>
          </a:xfrm>
          <a:prstGeom prst="rect">
            <a:avLst/>
          </a:prstGeom>
          <a:ln w="0">
            <a:noFill/>
          </a:ln>
        </p:spPr>
      </p:pic>
      <p:sp>
        <p:nvSpPr>
          <p:cNvPr id="52" name="Text 16"/>
          <p:cNvSpPr/>
          <p:nvPr/>
        </p:nvSpPr>
        <p:spPr>
          <a:xfrm>
            <a:off x="6254640" y="1591200"/>
            <a:ext cx="25034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Azure Storage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6254640" y="1883520"/>
            <a:ext cx="2503440" cy="8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Blob container + file upload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SAS URL generation + browser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Azure File Share CIFS mount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Script: storage_ops.sh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18"/>
          <p:cNvSpPr/>
          <p:nvPr/>
        </p:nvSpPr>
        <p:spPr>
          <a:xfrm>
            <a:off x="237600" y="2944440"/>
            <a:ext cx="2759400" cy="1698480"/>
          </a:xfrm>
          <a:prstGeom prst="roundRect">
            <a:avLst>
              <a:gd name="adj" fmla="val 5376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19"/>
          <p:cNvSpPr/>
          <p:nvPr/>
        </p:nvSpPr>
        <p:spPr>
          <a:xfrm>
            <a:off x="365760" y="3063240"/>
            <a:ext cx="308880" cy="30888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20"/>
          <p:cNvSpPr/>
          <p:nvPr/>
        </p:nvSpPr>
        <p:spPr>
          <a:xfrm>
            <a:off x="365760" y="306324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f1035"/>
                </a:solidFill>
                <a:latin typeface="Calibri"/>
                <a:ea typeface="Calibri"/>
              </a:rPr>
              <a:t>04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" name="Image 3" descr="preencoded.png"/>
          <p:cNvPicPr/>
          <p:nvPr/>
        </p:nvPicPr>
        <p:blipFill>
          <a:blip r:embed="rId4"/>
          <a:stretch/>
        </p:blipFill>
        <p:spPr>
          <a:xfrm>
            <a:off x="2597040" y="3054240"/>
            <a:ext cx="253800" cy="253800"/>
          </a:xfrm>
          <a:prstGeom prst="rect">
            <a:avLst/>
          </a:prstGeom>
          <a:ln w="0">
            <a:noFill/>
          </a:ln>
        </p:spPr>
      </p:pic>
      <p:sp>
        <p:nvSpPr>
          <p:cNvPr id="58" name="Text 21"/>
          <p:cNvSpPr/>
          <p:nvPr/>
        </p:nvSpPr>
        <p:spPr>
          <a:xfrm>
            <a:off x="365760" y="3420000"/>
            <a:ext cx="25034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Container Instances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22"/>
          <p:cNvSpPr/>
          <p:nvPr/>
        </p:nvSpPr>
        <p:spPr>
          <a:xfrm>
            <a:off x="365760" y="3712320"/>
            <a:ext cx="2503440" cy="8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Deploy Nginx via ACI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Log streaming + env var injection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Azure Files persistent volume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Ephemeral vs persistent storage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23"/>
          <p:cNvSpPr/>
          <p:nvPr/>
        </p:nvSpPr>
        <p:spPr>
          <a:xfrm>
            <a:off x="3182040" y="2944440"/>
            <a:ext cx="2759400" cy="1698480"/>
          </a:xfrm>
          <a:prstGeom prst="roundRect">
            <a:avLst>
              <a:gd name="adj" fmla="val 5376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24"/>
          <p:cNvSpPr/>
          <p:nvPr/>
        </p:nvSpPr>
        <p:spPr>
          <a:xfrm>
            <a:off x="3310200" y="3063240"/>
            <a:ext cx="308880" cy="30888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25"/>
          <p:cNvSpPr/>
          <p:nvPr/>
        </p:nvSpPr>
        <p:spPr>
          <a:xfrm>
            <a:off x="3310200" y="306324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f1035"/>
                </a:solidFill>
                <a:latin typeface="Calibri"/>
                <a:ea typeface="Calibri"/>
              </a:rPr>
              <a:t>05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Image 4" descr="preencoded.png"/>
          <p:cNvPicPr/>
          <p:nvPr/>
        </p:nvPicPr>
        <p:blipFill>
          <a:blip r:embed="rId5"/>
          <a:stretch/>
        </p:blipFill>
        <p:spPr>
          <a:xfrm>
            <a:off x="5541120" y="3054240"/>
            <a:ext cx="253800" cy="253800"/>
          </a:xfrm>
          <a:prstGeom prst="rect">
            <a:avLst/>
          </a:prstGeom>
          <a:ln w="0">
            <a:noFill/>
          </a:ln>
        </p:spPr>
      </p:pic>
      <p:sp>
        <p:nvSpPr>
          <p:cNvPr id="64" name="Text 26"/>
          <p:cNvSpPr/>
          <p:nvPr/>
        </p:nvSpPr>
        <p:spPr>
          <a:xfrm>
            <a:off x="3310200" y="3420000"/>
            <a:ext cx="25034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Container Registry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27"/>
          <p:cNvSpPr/>
          <p:nvPr/>
        </p:nvSpPr>
        <p:spPr>
          <a:xfrm>
            <a:off x="3310200" y="3712320"/>
            <a:ext cx="2503440" cy="8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Create ACR (Basic SKU)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Custom Dockerfile + docker build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Tag → login → push to ACR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Script: acr_deploy.sh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28"/>
          <p:cNvSpPr/>
          <p:nvPr/>
        </p:nvSpPr>
        <p:spPr>
          <a:xfrm>
            <a:off x="6126480" y="2944440"/>
            <a:ext cx="2759400" cy="1698480"/>
          </a:xfrm>
          <a:prstGeom prst="roundRect">
            <a:avLst>
              <a:gd name="adj" fmla="val 5376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29"/>
          <p:cNvSpPr/>
          <p:nvPr/>
        </p:nvSpPr>
        <p:spPr>
          <a:xfrm>
            <a:off x="6254640" y="3063240"/>
            <a:ext cx="308880" cy="30888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30"/>
          <p:cNvSpPr/>
          <p:nvPr/>
        </p:nvSpPr>
        <p:spPr>
          <a:xfrm>
            <a:off x="6254640" y="306324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f1035"/>
                </a:solidFill>
                <a:latin typeface="Calibri"/>
                <a:ea typeface="Calibri"/>
              </a:rPr>
              <a:t>06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Image 5" descr="preencoded.png"/>
          <p:cNvPicPr/>
          <p:nvPr/>
        </p:nvPicPr>
        <p:blipFill>
          <a:blip r:embed="rId6"/>
          <a:stretch/>
        </p:blipFill>
        <p:spPr>
          <a:xfrm>
            <a:off x="8485560" y="3054240"/>
            <a:ext cx="253800" cy="253800"/>
          </a:xfrm>
          <a:prstGeom prst="rect">
            <a:avLst/>
          </a:prstGeom>
          <a:ln w="0">
            <a:noFill/>
          </a:ln>
        </p:spPr>
      </p:pic>
      <p:sp>
        <p:nvSpPr>
          <p:cNvPr id="70" name="Text 31"/>
          <p:cNvSpPr/>
          <p:nvPr/>
        </p:nvSpPr>
        <p:spPr>
          <a:xfrm>
            <a:off x="6254640" y="3420000"/>
            <a:ext cx="25034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Week 1 Project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32"/>
          <p:cNvSpPr/>
          <p:nvPr/>
        </p:nvSpPr>
        <p:spPr>
          <a:xfrm>
            <a:off x="6254640" y="3712320"/>
            <a:ext cx="2503440" cy="8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ACR → ACI full pipeline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Azure Files storage mount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Public URL verified live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Script: week1_project.sh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52560" cy="514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274320" y="228600"/>
            <a:ext cx="8593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333" strike="noStrike">
                <a:solidFill>
                  <a:srgbClr val="f5a623"/>
                </a:solidFill>
                <a:latin typeface="Calibri"/>
                <a:ea typeface="Calibri"/>
              </a:rPr>
              <a:t>WEEK 1  ·  DAYS 1–3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274320" y="457200"/>
            <a:ext cx="56671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Azure Foundations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3"/>
          <p:cNvSpPr/>
          <p:nvPr/>
        </p:nvSpPr>
        <p:spPr>
          <a:xfrm>
            <a:off x="274320" y="1005840"/>
            <a:ext cx="6398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8892b8"/>
                </a:solidFill>
                <a:latin typeface="Calibri"/>
                <a:ea typeface="Calibri"/>
              </a:rPr>
              <a:t>"How production cloud environments are structured and accessed."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4"/>
          <p:cNvSpPr/>
          <p:nvPr/>
        </p:nvSpPr>
        <p:spPr>
          <a:xfrm>
            <a:off x="7644240" y="274320"/>
            <a:ext cx="1113480" cy="802440"/>
          </a:xfrm>
          <a:prstGeom prst="roundRect">
            <a:avLst>
              <a:gd name="adj" fmla="val 9091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7644240" y="292680"/>
            <a:ext cx="11134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5a623"/>
                </a:solidFill>
                <a:latin typeface="Cambria"/>
                <a:ea typeface="Cambria"/>
              </a:rPr>
              <a:t>3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7644240" y="768240"/>
            <a:ext cx="111348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Scripts Built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8"/>
          <p:cNvSpPr/>
          <p:nvPr/>
        </p:nvSpPr>
        <p:spPr>
          <a:xfrm>
            <a:off x="7644240" y="1261800"/>
            <a:ext cx="11134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5a623"/>
                </a:solidFill>
                <a:latin typeface="Cambria"/>
                <a:ea typeface="Cambria"/>
              </a:rPr>
              <a:t>5+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9"/>
          <p:cNvSpPr/>
          <p:nvPr/>
        </p:nvSpPr>
        <p:spPr>
          <a:xfrm>
            <a:off x="7644240" y="1737360"/>
            <a:ext cx="111348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Azure Services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10"/>
          <p:cNvSpPr/>
          <p:nvPr/>
        </p:nvSpPr>
        <p:spPr>
          <a:xfrm>
            <a:off x="237600" y="1389960"/>
            <a:ext cx="2777760" cy="3509280"/>
          </a:xfrm>
          <a:prstGeom prst="roundRect">
            <a:avLst>
              <a:gd name="adj" fmla="val 3289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2" name="Image 0" descr="preencoded.png"/>
          <p:cNvPicPr/>
          <p:nvPr/>
        </p:nvPicPr>
        <p:blipFill>
          <a:blip r:embed="rId1"/>
          <a:stretch/>
        </p:blipFill>
        <p:spPr>
          <a:xfrm>
            <a:off x="402480" y="1536120"/>
            <a:ext cx="363960" cy="363960"/>
          </a:xfrm>
          <a:prstGeom prst="rect">
            <a:avLst/>
          </a:prstGeom>
          <a:ln w="0">
            <a:noFill/>
          </a:ln>
        </p:spPr>
      </p:pic>
      <p:sp>
        <p:nvSpPr>
          <p:cNvPr id="83" name="Text 11"/>
          <p:cNvSpPr/>
          <p:nvPr/>
        </p:nvSpPr>
        <p:spPr>
          <a:xfrm>
            <a:off x="402480" y="1901880"/>
            <a:ext cx="9122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Day 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12"/>
          <p:cNvSpPr/>
          <p:nvPr/>
        </p:nvSpPr>
        <p:spPr>
          <a:xfrm>
            <a:off x="402480" y="2103120"/>
            <a:ext cx="2448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Azure Orientation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Shape 13"/>
          <p:cNvSpPr/>
          <p:nvPr/>
        </p:nvSpPr>
        <p:spPr>
          <a:xfrm>
            <a:off x="394920" y="2515320"/>
            <a:ext cx="2448360" cy="180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4"/>
          <p:cNvSpPr/>
          <p:nvPr/>
        </p:nvSpPr>
        <p:spPr>
          <a:xfrm>
            <a:off x="394920" y="2675880"/>
            <a:ext cx="2448360" cy="19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Created free account + activated student credits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Installed azure-cli, ran az login, az account show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Created resource group: devops-lab-rg via portal AND CLI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Listed all Azure regions: az account list-locations -o table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Script creates RG in eastus automatically on run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15"/>
          <p:cNvSpPr/>
          <p:nvPr/>
        </p:nvSpPr>
        <p:spPr>
          <a:xfrm>
            <a:off x="402480" y="4480560"/>
            <a:ext cx="2448360" cy="290520"/>
          </a:xfrm>
          <a:prstGeom prst="roundRect">
            <a:avLst>
              <a:gd name="adj" fmla="val 18750"/>
            </a:avLst>
          </a:prstGeom>
          <a:solidFill>
            <a:srgbClr val="1418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16"/>
          <p:cNvSpPr/>
          <p:nvPr/>
        </p:nvSpPr>
        <p:spPr>
          <a:xfrm>
            <a:off x="402480" y="4480560"/>
            <a:ext cx="244836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5a623"/>
                </a:solidFill>
                <a:latin typeface="Courier New"/>
                <a:ea typeface="Courier New"/>
              </a:rPr>
              <a:t>$ azure_setup.sh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17"/>
          <p:cNvSpPr/>
          <p:nvPr/>
        </p:nvSpPr>
        <p:spPr>
          <a:xfrm>
            <a:off x="3182040" y="1389960"/>
            <a:ext cx="2777760" cy="3509280"/>
          </a:xfrm>
          <a:prstGeom prst="roundRect">
            <a:avLst>
              <a:gd name="adj" fmla="val 3289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0" name="Image 1" descr="preencoded.png"/>
          <p:cNvPicPr/>
          <p:nvPr/>
        </p:nvPicPr>
        <p:blipFill>
          <a:blip r:embed="rId2"/>
          <a:stretch/>
        </p:blipFill>
        <p:spPr>
          <a:xfrm>
            <a:off x="3346560" y="1536120"/>
            <a:ext cx="363960" cy="363960"/>
          </a:xfrm>
          <a:prstGeom prst="rect">
            <a:avLst/>
          </a:prstGeom>
          <a:ln w="0">
            <a:noFill/>
          </a:ln>
        </p:spPr>
      </p:pic>
      <p:sp>
        <p:nvSpPr>
          <p:cNvPr id="91" name="Text 18"/>
          <p:cNvSpPr/>
          <p:nvPr/>
        </p:nvSpPr>
        <p:spPr>
          <a:xfrm>
            <a:off x="3346560" y="1902240"/>
            <a:ext cx="9122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Day 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19"/>
          <p:cNvSpPr/>
          <p:nvPr/>
        </p:nvSpPr>
        <p:spPr>
          <a:xfrm>
            <a:off x="3346560" y="2103120"/>
            <a:ext cx="2448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VMs &amp; Networking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20"/>
          <p:cNvSpPr/>
          <p:nvPr/>
        </p:nvSpPr>
        <p:spPr>
          <a:xfrm>
            <a:off x="3346560" y="2512440"/>
            <a:ext cx="2448360" cy="180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21"/>
          <p:cNvSpPr/>
          <p:nvPr/>
        </p:nvSpPr>
        <p:spPr>
          <a:xfrm>
            <a:off x="3331440" y="2697840"/>
            <a:ext cx="2448360" cy="19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Created VNet + subnet via CLI in Central India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Provisioned Ubuntu 22.04 VM with SSH key authentication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Created NSG rule to allow SSH on port 22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Installed Nginx on VM, opened port 80 in NSG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Verified Nginx welcome page at VM public IP:80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22"/>
          <p:cNvSpPr/>
          <p:nvPr/>
        </p:nvSpPr>
        <p:spPr>
          <a:xfrm>
            <a:off x="3346560" y="4480560"/>
            <a:ext cx="2448360" cy="290520"/>
          </a:xfrm>
          <a:prstGeom prst="roundRect">
            <a:avLst>
              <a:gd name="adj" fmla="val 18750"/>
            </a:avLst>
          </a:prstGeom>
          <a:solidFill>
            <a:srgbClr val="1418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23"/>
          <p:cNvSpPr/>
          <p:nvPr/>
        </p:nvSpPr>
        <p:spPr>
          <a:xfrm>
            <a:off x="3346560" y="4480560"/>
            <a:ext cx="244836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5a623"/>
                </a:solidFill>
                <a:latin typeface="Courier New"/>
                <a:ea typeface="Courier New"/>
              </a:rPr>
              <a:t>$ vm_manager.sh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24"/>
          <p:cNvSpPr/>
          <p:nvPr/>
        </p:nvSpPr>
        <p:spPr>
          <a:xfrm>
            <a:off x="6126480" y="1389960"/>
            <a:ext cx="2777760" cy="3509280"/>
          </a:xfrm>
          <a:prstGeom prst="roundRect">
            <a:avLst>
              <a:gd name="adj" fmla="val 3289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8" name="Image 2" descr="preencoded.png"/>
          <p:cNvPicPr/>
          <p:nvPr/>
        </p:nvPicPr>
        <p:blipFill>
          <a:blip r:embed="rId3"/>
          <a:stretch/>
        </p:blipFill>
        <p:spPr>
          <a:xfrm>
            <a:off x="6291000" y="1536120"/>
            <a:ext cx="363960" cy="363960"/>
          </a:xfrm>
          <a:prstGeom prst="rect">
            <a:avLst/>
          </a:prstGeom>
          <a:ln w="0">
            <a:noFill/>
          </a:ln>
        </p:spPr>
      </p:pic>
      <p:sp>
        <p:nvSpPr>
          <p:cNvPr id="99" name="Text 25"/>
          <p:cNvSpPr/>
          <p:nvPr/>
        </p:nvSpPr>
        <p:spPr>
          <a:xfrm>
            <a:off x="6291000" y="1917000"/>
            <a:ext cx="9122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Day 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26"/>
          <p:cNvSpPr/>
          <p:nvPr/>
        </p:nvSpPr>
        <p:spPr>
          <a:xfrm>
            <a:off x="6291000" y="2103120"/>
            <a:ext cx="2448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Azure Storage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27"/>
          <p:cNvSpPr/>
          <p:nvPr/>
        </p:nvSpPr>
        <p:spPr>
          <a:xfrm>
            <a:off x="6291000" y="2500200"/>
            <a:ext cx="2448360" cy="180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28"/>
          <p:cNvSpPr/>
          <p:nvPr/>
        </p:nvSpPr>
        <p:spPr>
          <a:xfrm>
            <a:off x="6275880" y="2649960"/>
            <a:ext cx="2448360" cy="19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Created storage account: vkstorage1781011715 (Standard_LRS)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Created blob container, uploaded sample.txt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Generated SAS token, opened URL in browser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Mounted Azure File Share via CIFS on VM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Explored Hot · Cool · Archive storage tier trade-offs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29"/>
          <p:cNvSpPr/>
          <p:nvPr/>
        </p:nvSpPr>
        <p:spPr>
          <a:xfrm>
            <a:off x="6291000" y="4480560"/>
            <a:ext cx="2448360" cy="290520"/>
          </a:xfrm>
          <a:prstGeom prst="roundRect">
            <a:avLst>
              <a:gd name="adj" fmla="val 18750"/>
            </a:avLst>
          </a:prstGeom>
          <a:solidFill>
            <a:srgbClr val="1418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30"/>
          <p:cNvSpPr/>
          <p:nvPr/>
        </p:nvSpPr>
        <p:spPr>
          <a:xfrm>
            <a:off x="6291000" y="4480560"/>
            <a:ext cx="244836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5a623"/>
                </a:solidFill>
                <a:latin typeface="Courier New"/>
                <a:ea typeface="Courier New"/>
              </a:rPr>
              <a:t>$ storage_ops.sh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0"/>
          <p:cNvSpPr/>
          <p:nvPr/>
        </p:nvSpPr>
        <p:spPr>
          <a:xfrm>
            <a:off x="0" y="0"/>
            <a:ext cx="52560" cy="514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274320" y="228600"/>
            <a:ext cx="8593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333" strike="noStrike">
                <a:solidFill>
                  <a:srgbClr val="f5a623"/>
                </a:solidFill>
                <a:latin typeface="Calibri"/>
                <a:ea typeface="Calibri"/>
              </a:rPr>
              <a:t>WEEK 1  ·  DAYS 4–5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2"/>
          <p:cNvSpPr/>
          <p:nvPr/>
        </p:nvSpPr>
        <p:spPr>
          <a:xfrm>
            <a:off x="274320" y="457200"/>
            <a:ext cx="63986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e4f"/>
                </a:solidFill>
                <a:latin typeface="Cambria"/>
                <a:ea typeface="Cambria"/>
              </a:rPr>
              <a:t>Containers on Azure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3"/>
          <p:cNvSpPr/>
          <p:nvPr/>
        </p:nvSpPr>
        <p:spPr>
          <a:xfrm>
            <a:off x="237600" y="1115640"/>
            <a:ext cx="4222440" cy="3911760"/>
          </a:xfrm>
          <a:prstGeom prst="roundRect">
            <a:avLst>
              <a:gd name="adj" fmla="val 2913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9" name="Image 0" descr="preencoded.png"/>
          <p:cNvPicPr/>
          <p:nvPr/>
        </p:nvPicPr>
        <p:blipFill>
          <a:blip r:embed="rId1"/>
          <a:stretch/>
        </p:blipFill>
        <p:spPr>
          <a:xfrm>
            <a:off x="420480" y="1261800"/>
            <a:ext cx="326880" cy="326880"/>
          </a:xfrm>
          <a:prstGeom prst="rect">
            <a:avLst/>
          </a:prstGeom>
          <a:ln w="0">
            <a:noFill/>
          </a:ln>
        </p:spPr>
      </p:pic>
      <p:sp>
        <p:nvSpPr>
          <p:cNvPr id="110" name="Text 4"/>
          <p:cNvSpPr/>
          <p:nvPr/>
        </p:nvSpPr>
        <p:spPr>
          <a:xfrm>
            <a:off x="822960" y="1280160"/>
            <a:ext cx="9122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5a623"/>
                </a:solidFill>
                <a:latin typeface="Calibri"/>
                <a:ea typeface="Calibri"/>
              </a:rPr>
              <a:t>Day 4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420480" y="1627560"/>
            <a:ext cx="385668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alibri"/>
                <a:ea typeface="Calibri"/>
              </a:rPr>
              <a:t>Azure Container Instances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6"/>
          <p:cNvSpPr/>
          <p:nvPr/>
        </p:nvSpPr>
        <p:spPr>
          <a:xfrm>
            <a:off x="420480" y="1938600"/>
            <a:ext cx="385668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892b8"/>
                </a:solidFill>
                <a:latin typeface="Calibri"/>
                <a:ea typeface="Calibri"/>
              </a:rPr>
              <a:t>"Run containers without managing any infrastructure."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7"/>
          <p:cNvSpPr/>
          <p:nvPr/>
        </p:nvSpPr>
        <p:spPr>
          <a:xfrm>
            <a:off x="420480" y="2286000"/>
            <a:ext cx="3856680" cy="400320"/>
          </a:xfrm>
          <a:prstGeom prst="roundRect">
            <a:avLst>
              <a:gd name="adj" fmla="val 15909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8"/>
          <p:cNvSpPr/>
          <p:nvPr/>
        </p:nvSpPr>
        <p:spPr>
          <a:xfrm>
            <a:off x="420480" y="2286000"/>
            <a:ext cx="52560" cy="4003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9"/>
          <p:cNvSpPr/>
          <p:nvPr/>
        </p:nvSpPr>
        <p:spPr>
          <a:xfrm>
            <a:off x="548640" y="2304360"/>
            <a:ext cx="3655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  <a:ea typeface="Calibri"/>
              </a:rPr>
              <a:t>Deploy Nginx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0"/>
          <p:cNvSpPr/>
          <p:nvPr/>
        </p:nvSpPr>
        <p:spPr>
          <a:xfrm>
            <a:off x="548640" y="2487240"/>
            <a:ext cx="3655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az container create · --dns-name-label · --ports 80 · public IP + DNS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11"/>
          <p:cNvSpPr/>
          <p:nvPr/>
        </p:nvSpPr>
        <p:spPr>
          <a:xfrm>
            <a:off x="420480" y="2788920"/>
            <a:ext cx="3856680" cy="400320"/>
          </a:xfrm>
          <a:prstGeom prst="roundRect">
            <a:avLst>
              <a:gd name="adj" fmla="val 15909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12"/>
          <p:cNvSpPr/>
          <p:nvPr/>
        </p:nvSpPr>
        <p:spPr>
          <a:xfrm>
            <a:off x="420480" y="2788920"/>
            <a:ext cx="52560" cy="4003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13"/>
          <p:cNvSpPr/>
          <p:nvPr/>
        </p:nvSpPr>
        <p:spPr>
          <a:xfrm>
            <a:off x="548640" y="2807280"/>
            <a:ext cx="3655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  <a:ea typeface="Calibri"/>
              </a:rPr>
              <a:t>Log Streaming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4"/>
          <p:cNvSpPr/>
          <p:nvPr/>
        </p:nvSpPr>
        <p:spPr>
          <a:xfrm>
            <a:off x="548640" y="2990160"/>
            <a:ext cx="3655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az container logs · core cloud-native ops pattern replacing SSH log tailing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5"/>
          <p:cNvSpPr/>
          <p:nvPr/>
        </p:nvSpPr>
        <p:spPr>
          <a:xfrm>
            <a:off x="420480" y="3291840"/>
            <a:ext cx="3856680" cy="400320"/>
          </a:xfrm>
          <a:prstGeom prst="roundRect">
            <a:avLst>
              <a:gd name="adj" fmla="val 15909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16"/>
          <p:cNvSpPr/>
          <p:nvPr/>
        </p:nvSpPr>
        <p:spPr>
          <a:xfrm>
            <a:off x="420480" y="3291840"/>
            <a:ext cx="52560" cy="4003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7"/>
          <p:cNvSpPr/>
          <p:nvPr/>
        </p:nvSpPr>
        <p:spPr>
          <a:xfrm>
            <a:off x="548640" y="3310200"/>
            <a:ext cx="3655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  <a:ea typeface="Calibri"/>
              </a:rPr>
              <a:t>Env Var Injection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8"/>
          <p:cNvSpPr/>
          <p:nvPr/>
        </p:nvSpPr>
        <p:spPr>
          <a:xfrm>
            <a:off x="548640" y="3493080"/>
            <a:ext cx="3655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APP_ENV=training · STUDENT=Vibhav · immutable image, dynamic config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9"/>
          <p:cNvSpPr/>
          <p:nvPr/>
        </p:nvSpPr>
        <p:spPr>
          <a:xfrm>
            <a:off x="420480" y="3794760"/>
            <a:ext cx="3856680" cy="400320"/>
          </a:xfrm>
          <a:prstGeom prst="roundRect">
            <a:avLst>
              <a:gd name="adj" fmla="val 15909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20"/>
          <p:cNvSpPr/>
          <p:nvPr/>
        </p:nvSpPr>
        <p:spPr>
          <a:xfrm>
            <a:off x="420480" y="3794760"/>
            <a:ext cx="52560" cy="4003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21"/>
          <p:cNvSpPr/>
          <p:nvPr/>
        </p:nvSpPr>
        <p:spPr>
          <a:xfrm>
            <a:off x="548640" y="3813120"/>
            <a:ext cx="3655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  <a:ea typeface="Calibri"/>
              </a:rPr>
              <a:t>Azure Files Mount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22"/>
          <p:cNvSpPr/>
          <p:nvPr/>
        </p:nvSpPr>
        <p:spPr>
          <a:xfrm>
            <a:off x="548640" y="3996000"/>
            <a:ext cx="3655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training-share → /mnt/share · test.txt survived container deletion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23"/>
          <p:cNvSpPr/>
          <p:nvPr/>
        </p:nvSpPr>
        <p:spPr>
          <a:xfrm>
            <a:off x="420480" y="4297680"/>
            <a:ext cx="3856680" cy="400320"/>
          </a:xfrm>
          <a:prstGeom prst="roundRect">
            <a:avLst>
              <a:gd name="adj" fmla="val 15909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24"/>
          <p:cNvSpPr/>
          <p:nvPr/>
        </p:nvSpPr>
        <p:spPr>
          <a:xfrm>
            <a:off x="420480" y="4297680"/>
            <a:ext cx="52560" cy="4003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25"/>
          <p:cNvSpPr/>
          <p:nvPr/>
        </p:nvSpPr>
        <p:spPr>
          <a:xfrm>
            <a:off x="548640" y="4316040"/>
            <a:ext cx="3655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  <a:ea typeface="Calibri"/>
              </a:rPr>
              <a:t>Container Groups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26"/>
          <p:cNvSpPr/>
          <p:nvPr/>
        </p:nvSpPr>
        <p:spPr>
          <a:xfrm>
            <a:off x="548640" y="4498920"/>
            <a:ext cx="3655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Sidecar pattern · main + helper containers · equivalent to K8s Pods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27"/>
          <p:cNvSpPr/>
          <p:nvPr/>
        </p:nvSpPr>
        <p:spPr>
          <a:xfrm>
            <a:off x="4626720" y="1115640"/>
            <a:ext cx="4286880" cy="3911760"/>
          </a:xfrm>
          <a:prstGeom prst="roundRect">
            <a:avLst>
              <a:gd name="adj" fmla="val 2913"/>
            </a:avLst>
          </a:prstGeom>
          <a:solidFill>
            <a:srgbClr val="e8ecff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Image 1" descr="preencoded.png"/>
          <p:cNvPicPr/>
          <p:nvPr/>
        </p:nvPicPr>
        <p:blipFill>
          <a:blip r:embed="rId2"/>
          <a:stretch/>
        </p:blipFill>
        <p:spPr>
          <a:xfrm>
            <a:off x="4809600" y="1261800"/>
            <a:ext cx="326880" cy="326880"/>
          </a:xfrm>
          <a:prstGeom prst="rect">
            <a:avLst/>
          </a:prstGeom>
          <a:ln w="0">
            <a:noFill/>
          </a:ln>
        </p:spPr>
      </p:pic>
      <p:sp>
        <p:nvSpPr>
          <p:cNvPr id="135" name="Text 28"/>
          <p:cNvSpPr/>
          <p:nvPr/>
        </p:nvSpPr>
        <p:spPr>
          <a:xfrm>
            <a:off x="5212080" y="1280160"/>
            <a:ext cx="9122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5a623"/>
                </a:solidFill>
                <a:latin typeface="Calibri"/>
                <a:ea typeface="Calibri"/>
              </a:rPr>
              <a:t>Day 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29"/>
          <p:cNvSpPr/>
          <p:nvPr/>
        </p:nvSpPr>
        <p:spPr>
          <a:xfrm>
            <a:off x="4809600" y="1627560"/>
            <a:ext cx="391140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a1e4f"/>
                </a:solidFill>
                <a:latin typeface="Calibri"/>
                <a:ea typeface="Calibri"/>
              </a:rPr>
              <a:t>Azure Container Registry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30"/>
          <p:cNvSpPr/>
          <p:nvPr/>
        </p:nvSpPr>
        <p:spPr>
          <a:xfrm>
            <a:off x="4809600" y="1938600"/>
            <a:ext cx="391140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"Build once. Store privately. Deploy anywhere."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31"/>
          <p:cNvSpPr/>
          <p:nvPr/>
        </p:nvSpPr>
        <p:spPr>
          <a:xfrm>
            <a:off x="4809600" y="2249280"/>
            <a:ext cx="391140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5a623"/>
                </a:solidFill>
                <a:latin typeface="Calibri"/>
                <a:ea typeface="Calibri"/>
              </a:rPr>
              <a:t>Deployment Pipeline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32"/>
          <p:cNvSpPr/>
          <p:nvPr/>
        </p:nvSpPr>
        <p:spPr>
          <a:xfrm>
            <a:off x="4809600" y="2560320"/>
            <a:ext cx="867600" cy="43668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33"/>
          <p:cNvSpPr/>
          <p:nvPr/>
        </p:nvSpPr>
        <p:spPr>
          <a:xfrm>
            <a:off x="4809600" y="2560320"/>
            <a:ext cx="86760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Source Code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34"/>
          <p:cNvSpPr/>
          <p:nvPr/>
        </p:nvSpPr>
        <p:spPr>
          <a:xfrm>
            <a:off x="5696640" y="2633400"/>
            <a:ext cx="89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35"/>
          <p:cNvSpPr/>
          <p:nvPr/>
        </p:nvSpPr>
        <p:spPr>
          <a:xfrm>
            <a:off x="5833800" y="2560320"/>
            <a:ext cx="867600" cy="43668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36"/>
          <p:cNvSpPr/>
          <p:nvPr/>
        </p:nvSpPr>
        <p:spPr>
          <a:xfrm>
            <a:off x="5833800" y="2560320"/>
            <a:ext cx="86760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Dockerfile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37"/>
          <p:cNvSpPr/>
          <p:nvPr/>
        </p:nvSpPr>
        <p:spPr>
          <a:xfrm>
            <a:off x="6720840" y="2633400"/>
            <a:ext cx="89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38"/>
          <p:cNvSpPr/>
          <p:nvPr/>
        </p:nvSpPr>
        <p:spPr>
          <a:xfrm>
            <a:off x="6858000" y="2560320"/>
            <a:ext cx="867600" cy="43668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39"/>
          <p:cNvSpPr/>
          <p:nvPr/>
        </p:nvSpPr>
        <p:spPr>
          <a:xfrm>
            <a:off x="6858000" y="2560320"/>
            <a:ext cx="86760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docker build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40"/>
          <p:cNvSpPr/>
          <p:nvPr/>
        </p:nvSpPr>
        <p:spPr>
          <a:xfrm>
            <a:off x="7745040" y="2633400"/>
            <a:ext cx="89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41"/>
          <p:cNvSpPr/>
          <p:nvPr/>
        </p:nvSpPr>
        <p:spPr>
          <a:xfrm>
            <a:off x="7882200" y="2560320"/>
            <a:ext cx="867600" cy="43668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42"/>
          <p:cNvSpPr/>
          <p:nvPr/>
        </p:nvSpPr>
        <p:spPr>
          <a:xfrm>
            <a:off x="7882200" y="2560320"/>
            <a:ext cx="86760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docker tag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43"/>
          <p:cNvSpPr/>
          <p:nvPr/>
        </p:nvSpPr>
        <p:spPr>
          <a:xfrm>
            <a:off x="4809600" y="3163680"/>
            <a:ext cx="867600" cy="43668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44"/>
          <p:cNvSpPr/>
          <p:nvPr/>
        </p:nvSpPr>
        <p:spPr>
          <a:xfrm>
            <a:off x="4809600" y="3163680"/>
            <a:ext cx="86760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az acr login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45"/>
          <p:cNvSpPr/>
          <p:nvPr/>
        </p:nvSpPr>
        <p:spPr>
          <a:xfrm>
            <a:off x="5696640" y="3237120"/>
            <a:ext cx="89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46"/>
          <p:cNvSpPr/>
          <p:nvPr/>
        </p:nvSpPr>
        <p:spPr>
          <a:xfrm>
            <a:off x="5833800" y="3163680"/>
            <a:ext cx="867600" cy="43668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47"/>
          <p:cNvSpPr/>
          <p:nvPr/>
        </p:nvSpPr>
        <p:spPr>
          <a:xfrm>
            <a:off x="5833800" y="3163680"/>
            <a:ext cx="86760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docker push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48"/>
          <p:cNvSpPr/>
          <p:nvPr/>
        </p:nvSpPr>
        <p:spPr>
          <a:xfrm>
            <a:off x="6720840" y="3237120"/>
            <a:ext cx="89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49"/>
          <p:cNvSpPr/>
          <p:nvPr/>
        </p:nvSpPr>
        <p:spPr>
          <a:xfrm>
            <a:off x="6858000" y="3163680"/>
            <a:ext cx="867600" cy="43668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50"/>
          <p:cNvSpPr/>
          <p:nvPr/>
        </p:nvSpPr>
        <p:spPr>
          <a:xfrm>
            <a:off x="6858000" y="3163680"/>
            <a:ext cx="86760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az container create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51"/>
          <p:cNvSpPr/>
          <p:nvPr/>
        </p:nvSpPr>
        <p:spPr>
          <a:xfrm>
            <a:off x="7745040" y="3237120"/>
            <a:ext cx="89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52"/>
          <p:cNvSpPr/>
          <p:nvPr/>
        </p:nvSpPr>
        <p:spPr>
          <a:xfrm>
            <a:off x="7882200" y="3163680"/>
            <a:ext cx="867600" cy="436680"/>
          </a:xfrm>
          <a:prstGeom prst="roundRect">
            <a:avLst>
              <a:gd name="adj" fmla="val 14583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53"/>
          <p:cNvSpPr/>
          <p:nvPr/>
        </p:nvSpPr>
        <p:spPr>
          <a:xfrm>
            <a:off x="7882200" y="3163680"/>
            <a:ext cx="86760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f1035"/>
                </a:solidFill>
                <a:latin typeface="Calibri"/>
                <a:ea typeface="Calibri"/>
              </a:rPr>
              <a:t>Public URL 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54"/>
          <p:cNvSpPr/>
          <p:nvPr/>
        </p:nvSpPr>
        <p:spPr>
          <a:xfrm>
            <a:off x="4809600" y="3877200"/>
            <a:ext cx="39114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5a623"/>
                </a:solidFill>
                <a:latin typeface="Calibri"/>
                <a:ea typeface="Calibri"/>
              </a:rPr>
              <a:t>Registry Details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55"/>
          <p:cNvSpPr/>
          <p:nvPr/>
        </p:nvSpPr>
        <p:spPr>
          <a:xfrm>
            <a:off x="4809600" y="4133160"/>
            <a:ext cx="8208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a1e4f"/>
                </a:solidFill>
                <a:latin typeface="Calibri"/>
                <a:ea typeface="Calibri"/>
              </a:rPr>
              <a:t>Registry: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56"/>
          <p:cNvSpPr/>
          <p:nvPr/>
        </p:nvSpPr>
        <p:spPr>
          <a:xfrm>
            <a:off x="5486400" y="4151880"/>
            <a:ext cx="30520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ourier New"/>
                <a:ea typeface="Courier New"/>
              </a:rPr>
              <a:t>vibhavacr001 (Basic SKU)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57"/>
          <p:cNvSpPr/>
          <p:nvPr/>
        </p:nvSpPr>
        <p:spPr>
          <a:xfrm>
            <a:off x="4809600" y="4334400"/>
            <a:ext cx="8208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a1e4f"/>
                </a:solidFill>
                <a:latin typeface="Calibri"/>
                <a:ea typeface="Calibri"/>
              </a:rPr>
              <a:t>Image: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58"/>
          <p:cNvSpPr/>
          <p:nvPr/>
        </p:nvSpPr>
        <p:spPr>
          <a:xfrm>
            <a:off x="5486400" y="4334400"/>
            <a:ext cx="30520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ourier New"/>
                <a:ea typeface="Courier New"/>
              </a:rPr>
              <a:t>mywebapp:v1 → week1-project:v1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59"/>
          <p:cNvSpPr/>
          <p:nvPr/>
        </p:nvSpPr>
        <p:spPr>
          <a:xfrm>
            <a:off x="4809600" y="4535280"/>
            <a:ext cx="8208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a1e4f"/>
                </a:solidFill>
                <a:latin typeface="Calibri"/>
                <a:ea typeface="Calibri"/>
              </a:rPr>
              <a:t>Auth: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60"/>
          <p:cNvSpPr/>
          <p:nvPr/>
        </p:nvSpPr>
        <p:spPr>
          <a:xfrm>
            <a:off x="5486400" y="4554000"/>
            <a:ext cx="30520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ourier New"/>
                <a:ea typeface="Courier New"/>
              </a:rPr>
              <a:t>Managed Identity (no passwords)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61"/>
          <p:cNvSpPr/>
          <p:nvPr/>
        </p:nvSpPr>
        <p:spPr>
          <a:xfrm>
            <a:off x="4809600" y="4736520"/>
            <a:ext cx="8208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a1e4f"/>
                </a:solidFill>
                <a:latin typeface="Calibri"/>
                <a:ea typeface="Calibri"/>
              </a:rPr>
              <a:t>Endpoint: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62"/>
          <p:cNvSpPr/>
          <p:nvPr/>
        </p:nvSpPr>
        <p:spPr>
          <a:xfrm>
            <a:off x="5486400" y="4791240"/>
            <a:ext cx="34272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ourier New"/>
                <a:ea typeface="Courier New"/>
              </a:rPr>
              <a:t>http://mywebapp-vibhav-aci.centralindia.azurecontainer.io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63"/>
          <p:cNvSpPr/>
          <p:nvPr/>
        </p:nvSpPr>
        <p:spPr>
          <a:xfrm>
            <a:off x="4628160" y="530280"/>
            <a:ext cx="4285800" cy="473400"/>
          </a:xfrm>
          <a:prstGeom prst="roundRect">
            <a:avLst>
              <a:gd name="adj" fmla="val 13462"/>
            </a:avLst>
          </a:prstGeom>
          <a:solidFill>
            <a:srgbClr val="0f10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64"/>
          <p:cNvSpPr/>
          <p:nvPr/>
        </p:nvSpPr>
        <p:spPr>
          <a:xfrm>
            <a:off x="4800600" y="530280"/>
            <a:ext cx="411336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Advanced: Vulnerability Scanning → Trivy scans image CVEs before push. Severe findings can auto-fail the pipeline.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0" y="0"/>
            <a:ext cx="52560" cy="514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274320" y="228600"/>
            <a:ext cx="8593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333" strike="noStrike">
                <a:solidFill>
                  <a:srgbClr val="f5a623"/>
                </a:solidFill>
                <a:latin typeface="Calibri"/>
                <a:ea typeface="Calibri"/>
              </a:rPr>
              <a:t>WEEK 1  ·  CAPSTONE PROJECT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274320" y="457200"/>
            <a:ext cx="73130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End-to-End Cloud Deploy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3"/>
          <p:cNvSpPr/>
          <p:nvPr/>
        </p:nvSpPr>
        <p:spPr>
          <a:xfrm>
            <a:off x="274320" y="1005840"/>
            <a:ext cx="841032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8892b8"/>
                </a:solidFill>
                <a:latin typeface="Calibri"/>
                <a:ea typeface="Calibri"/>
              </a:rPr>
              <a:t>A single Bash script that provisions infrastructure, builds a custom image, deploys to ACI, mounts Azure Files, and verifies public access.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4"/>
          <p:cNvSpPr/>
          <p:nvPr/>
        </p:nvSpPr>
        <p:spPr>
          <a:xfrm>
            <a:off x="255960" y="1444680"/>
            <a:ext cx="1515960" cy="1332720"/>
          </a:xfrm>
          <a:prstGeom prst="roundRect">
            <a:avLst>
              <a:gd name="adj" fmla="val 6410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7" name="Image 0" descr="preencoded.png"/>
          <p:cNvPicPr/>
          <p:nvPr/>
        </p:nvPicPr>
        <p:blipFill>
          <a:blip r:embed="rId1"/>
          <a:stretch/>
        </p:blipFill>
        <p:spPr>
          <a:xfrm>
            <a:off x="868680" y="1572840"/>
            <a:ext cx="345240" cy="345240"/>
          </a:xfrm>
          <a:prstGeom prst="rect">
            <a:avLst/>
          </a:prstGeom>
          <a:ln w="0">
            <a:noFill/>
          </a:ln>
        </p:spPr>
      </p:pic>
      <p:sp>
        <p:nvSpPr>
          <p:cNvPr id="178" name="Text 5"/>
          <p:cNvSpPr/>
          <p:nvPr/>
        </p:nvSpPr>
        <p:spPr>
          <a:xfrm>
            <a:off x="255960" y="1993320"/>
            <a:ext cx="157104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Local Build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6"/>
          <p:cNvSpPr/>
          <p:nvPr/>
        </p:nvSpPr>
        <p:spPr>
          <a:xfrm>
            <a:off x="255960" y="2249280"/>
            <a:ext cx="151596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docker build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docker tag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7"/>
          <p:cNvSpPr/>
          <p:nvPr/>
        </p:nvSpPr>
        <p:spPr>
          <a:xfrm>
            <a:off x="1828800" y="1993320"/>
            <a:ext cx="16272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8"/>
          <p:cNvSpPr/>
          <p:nvPr/>
        </p:nvSpPr>
        <p:spPr>
          <a:xfrm>
            <a:off x="2048400" y="1444680"/>
            <a:ext cx="1515600" cy="1332720"/>
          </a:xfrm>
          <a:prstGeom prst="roundRect">
            <a:avLst>
              <a:gd name="adj" fmla="val 6410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2" name="Image 1" descr="preencoded.png"/>
          <p:cNvPicPr/>
          <p:nvPr/>
        </p:nvPicPr>
        <p:blipFill>
          <a:blip r:embed="rId2"/>
          <a:stretch/>
        </p:blipFill>
        <p:spPr>
          <a:xfrm>
            <a:off x="2624760" y="1572840"/>
            <a:ext cx="345240" cy="345240"/>
          </a:xfrm>
          <a:prstGeom prst="rect">
            <a:avLst/>
          </a:prstGeom>
          <a:ln w="0">
            <a:noFill/>
          </a:ln>
        </p:spPr>
      </p:pic>
      <p:sp>
        <p:nvSpPr>
          <p:cNvPr id="183" name="Text 9"/>
          <p:cNvSpPr/>
          <p:nvPr/>
        </p:nvSpPr>
        <p:spPr>
          <a:xfrm>
            <a:off x="2030400" y="1993320"/>
            <a:ext cx="153360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ACR Push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0"/>
          <p:cNvSpPr/>
          <p:nvPr/>
        </p:nvSpPr>
        <p:spPr>
          <a:xfrm>
            <a:off x="2048400" y="2249280"/>
            <a:ext cx="151560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vibhavacr001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week1-project:v1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11"/>
          <p:cNvSpPr/>
          <p:nvPr/>
        </p:nvSpPr>
        <p:spPr>
          <a:xfrm>
            <a:off x="3602880" y="1993320"/>
            <a:ext cx="18108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12"/>
          <p:cNvSpPr/>
          <p:nvPr/>
        </p:nvSpPr>
        <p:spPr>
          <a:xfrm>
            <a:off x="3886200" y="1444680"/>
            <a:ext cx="1415160" cy="1332720"/>
          </a:xfrm>
          <a:prstGeom prst="roundRect">
            <a:avLst>
              <a:gd name="adj" fmla="val 6410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7" name="Image 2" descr="preencoded.png"/>
          <p:cNvPicPr/>
          <p:nvPr/>
        </p:nvPicPr>
        <p:blipFill>
          <a:blip r:embed="rId3"/>
          <a:stretch/>
        </p:blipFill>
        <p:spPr>
          <a:xfrm>
            <a:off x="4343400" y="1572840"/>
            <a:ext cx="345240" cy="345240"/>
          </a:xfrm>
          <a:prstGeom prst="rect">
            <a:avLst/>
          </a:prstGeom>
          <a:ln w="0">
            <a:noFill/>
          </a:ln>
        </p:spPr>
      </p:pic>
      <p:sp>
        <p:nvSpPr>
          <p:cNvPr id="188" name="Text 13"/>
          <p:cNvSpPr/>
          <p:nvPr/>
        </p:nvSpPr>
        <p:spPr>
          <a:xfrm>
            <a:off x="3785760" y="2012040"/>
            <a:ext cx="157068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ACI Deploy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14"/>
          <p:cNvSpPr/>
          <p:nvPr/>
        </p:nvSpPr>
        <p:spPr>
          <a:xfrm>
            <a:off x="3785760" y="2249280"/>
            <a:ext cx="151560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week1-project-aci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centralindia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15"/>
          <p:cNvSpPr/>
          <p:nvPr/>
        </p:nvSpPr>
        <p:spPr>
          <a:xfrm>
            <a:off x="5340240" y="1993320"/>
            <a:ext cx="1260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16"/>
          <p:cNvSpPr/>
          <p:nvPr/>
        </p:nvSpPr>
        <p:spPr>
          <a:xfrm>
            <a:off x="5554080" y="1444680"/>
            <a:ext cx="1521720" cy="1332720"/>
          </a:xfrm>
          <a:prstGeom prst="roundRect">
            <a:avLst>
              <a:gd name="adj" fmla="val 6410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2" name="Image 3" descr="preencoded.png"/>
          <p:cNvPicPr/>
          <p:nvPr/>
        </p:nvPicPr>
        <p:blipFill>
          <a:blip r:embed="rId4"/>
          <a:stretch/>
        </p:blipFill>
        <p:spPr>
          <a:xfrm>
            <a:off x="6172200" y="1572840"/>
            <a:ext cx="345240" cy="345240"/>
          </a:xfrm>
          <a:prstGeom prst="rect">
            <a:avLst/>
          </a:prstGeom>
          <a:ln w="0">
            <a:noFill/>
          </a:ln>
        </p:spPr>
      </p:pic>
      <p:sp>
        <p:nvSpPr>
          <p:cNvPr id="193" name="Text 17"/>
          <p:cNvSpPr/>
          <p:nvPr/>
        </p:nvSpPr>
        <p:spPr>
          <a:xfrm>
            <a:off x="5554080" y="1993320"/>
            <a:ext cx="155232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Azure Files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18"/>
          <p:cNvSpPr/>
          <p:nvPr/>
        </p:nvSpPr>
        <p:spPr>
          <a:xfrm>
            <a:off x="5614920" y="2249280"/>
            <a:ext cx="146088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training-share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/mnt/azurefiles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19"/>
          <p:cNvSpPr/>
          <p:nvPr/>
        </p:nvSpPr>
        <p:spPr>
          <a:xfrm>
            <a:off x="7108200" y="1993320"/>
            <a:ext cx="2052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20"/>
          <p:cNvSpPr/>
          <p:nvPr/>
        </p:nvSpPr>
        <p:spPr>
          <a:xfrm>
            <a:off x="7315200" y="1444680"/>
            <a:ext cx="1460880" cy="1332720"/>
          </a:xfrm>
          <a:prstGeom prst="roundRect">
            <a:avLst>
              <a:gd name="adj" fmla="val 6410"/>
            </a:avLst>
          </a:prstGeom>
          <a:solidFill>
            <a:srgbClr val="f5a623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7" name="Image 4" descr="preencoded.png"/>
          <p:cNvPicPr/>
          <p:nvPr/>
        </p:nvPicPr>
        <p:blipFill>
          <a:blip r:embed="rId5"/>
          <a:stretch/>
        </p:blipFill>
        <p:spPr>
          <a:xfrm>
            <a:off x="7818120" y="1572840"/>
            <a:ext cx="345240" cy="345240"/>
          </a:xfrm>
          <a:prstGeom prst="rect">
            <a:avLst/>
          </a:prstGeom>
          <a:ln w="0">
            <a:noFill/>
          </a:ln>
        </p:spPr>
      </p:pic>
      <p:sp>
        <p:nvSpPr>
          <p:cNvPr id="198" name="Text 21"/>
          <p:cNvSpPr/>
          <p:nvPr/>
        </p:nvSpPr>
        <p:spPr>
          <a:xfrm>
            <a:off x="7205400" y="1993320"/>
            <a:ext cx="157068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35"/>
                </a:solidFill>
                <a:latin typeface="Calibri"/>
                <a:ea typeface="Calibri"/>
              </a:rPr>
              <a:t>Public URL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22"/>
          <p:cNvSpPr/>
          <p:nvPr/>
        </p:nvSpPr>
        <p:spPr>
          <a:xfrm>
            <a:off x="7260480" y="2249280"/>
            <a:ext cx="146088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c2057"/>
                </a:solidFill>
                <a:latin typeface="Calibri"/>
                <a:ea typeface="Calibri"/>
              </a:rPr>
              <a:t>week1-vibhav-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c2057"/>
                </a:solidFill>
                <a:latin typeface="Calibri"/>
                <a:ea typeface="Calibri"/>
              </a:rPr>
              <a:t>project.azurecontainer.io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23"/>
          <p:cNvSpPr/>
          <p:nvPr/>
        </p:nvSpPr>
        <p:spPr>
          <a:xfrm>
            <a:off x="237600" y="3054240"/>
            <a:ext cx="2795760" cy="1789920"/>
          </a:xfrm>
          <a:prstGeom prst="roundRect">
            <a:avLst>
              <a:gd name="adj" fmla="val 5102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24"/>
          <p:cNvSpPr/>
          <p:nvPr/>
        </p:nvSpPr>
        <p:spPr>
          <a:xfrm>
            <a:off x="365760" y="3173040"/>
            <a:ext cx="308880" cy="30888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25"/>
          <p:cNvSpPr/>
          <p:nvPr/>
        </p:nvSpPr>
        <p:spPr>
          <a:xfrm>
            <a:off x="365760" y="317304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35"/>
                </a:solidFill>
                <a:latin typeface="Calibri"/>
                <a:ea typeface="Calibri"/>
              </a:rPr>
              <a:t>01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26"/>
          <p:cNvSpPr/>
          <p:nvPr/>
        </p:nvSpPr>
        <p:spPr>
          <a:xfrm>
            <a:off x="768240" y="3182040"/>
            <a:ext cx="21376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Infrastructure Provisioned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27"/>
          <p:cNvSpPr/>
          <p:nvPr/>
        </p:nvSpPr>
        <p:spPr>
          <a:xfrm>
            <a:off x="365760" y="3529440"/>
            <a:ext cx="2539800" cy="144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28"/>
          <p:cNvSpPr/>
          <p:nvPr/>
        </p:nvSpPr>
        <p:spPr>
          <a:xfrm>
            <a:off x="365760" y="3666960"/>
            <a:ext cx="2539800" cy="11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devops-lab-rg resource group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vkstorage1781011715 storage account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vibhavacr001 container registry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training-share Azure File Share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29"/>
          <p:cNvSpPr/>
          <p:nvPr/>
        </p:nvSpPr>
        <p:spPr>
          <a:xfrm>
            <a:off x="3218760" y="3054240"/>
            <a:ext cx="2795760" cy="1789920"/>
          </a:xfrm>
          <a:prstGeom prst="roundRect">
            <a:avLst>
              <a:gd name="adj" fmla="val 5102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30"/>
          <p:cNvSpPr/>
          <p:nvPr/>
        </p:nvSpPr>
        <p:spPr>
          <a:xfrm>
            <a:off x="3346560" y="3173040"/>
            <a:ext cx="308880" cy="30888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31"/>
          <p:cNvSpPr/>
          <p:nvPr/>
        </p:nvSpPr>
        <p:spPr>
          <a:xfrm>
            <a:off x="3346560" y="317304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35"/>
                </a:solidFill>
                <a:latin typeface="Calibri"/>
                <a:ea typeface="Calibri"/>
              </a:rPr>
              <a:t>02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32"/>
          <p:cNvSpPr/>
          <p:nvPr/>
        </p:nvSpPr>
        <p:spPr>
          <a:xfrm>
            <a:off x="3749040" y="3182040"/>
            <a:ext cx="21376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Automation Script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33"/>
          <p:cNvSpPr/>
          <p:nvPr/>
        </p:nvSpPr>
        <p:spPr>
          <a:xfrm>
            <a:off x="3346560" y="3529440"/>
            <a:ext cx="2539800" cy="144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34"/>
          <p:cNvSpPr/>
          <p:nvPr/>
        </p:nvSpPr>
        <p:spPr>
          <a:xfrm>
            <a:off x="3346560" y="3657600"/>
            <a:ext cx="2539800" cy="11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docker build + tag + ACR push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az storage account keys list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az container create with file mount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Verification: curl public URL in loop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Shape 35"/>
          <p:cNvSpPr/>
          <p:nvPr/>
        </p:nvSpPr>
        <p:spPr>
          <a:xfrm>
            <a:off x="6199560" y="3054240"/>
            <a:ext cx="2795760" cy="1789920"/>
          </a:xfrm>
          <a:prstGeom prst="roundRect">
            <a:avLst>
              <a:gd name="adj" fmla="val 5102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Shape 36"/>
          <p:cNvSpPr/>
          <p:nvPr/>
        </p:nvSpPr>
        <p:spPr>
          <a:xfrm>
            <a:off x="6327720" y="3173040"/>
            <a:ext cx="308880" cy="30888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37"/>
          <p:cNvSpPr/>
          <p:nvPr/>
        </p:nvSpPr>
        <p:spPr>
          <a:xfrm>
            <a:off x="6327720" y="317304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35"/>
                </a:solidFill>
                <a:latin typeface="Calibri"/>
                <a:ea typeface="Calibri"/>
              </a:rPr>
              <a:t>03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38"/>
          <p:cNvSpPr/>
          <p:nvPr/>
        </p:nvSpPr>
        <p:spPr>
          <a:xfrm>
            <a:off x="6729840" y="3182040"/>
            <a:ext cx="21376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Live Verification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Shape 39"/>
          <p:cNvSpPr/>
          <p:nvPr/>
        </p:nvSpPr>
        <p:spPr>
          <a:xfrm>
            <a:off x="6327720" y="3529440"/>
            <a:ext cx="2539800" cy="144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40"/>
          <p:cNvSpPr/>
          <p:nvPr/>
        </p:nvSpPr>
        <p:spPr>
          <a:xfrm>
            <a:off x="6327720" y="3657600"/>
            <a:ext cx="2539800" cy="10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week1-project-aci container running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/mnt/azurefiles mounted + writable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HTML page served at public URL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Zero manual steps after $ ./week1_project.sh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0"/>
          <p:cNvSpPr/>
          <p:nvPr/>
        </p:nvSpPr>
        <p:spPr>
          <a:xfrm>
            <a:off x="0" y="0"/>
            <a:ext cx="52560" cy="514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"/>
          <p:cNvSpPr/>
          <p:nvPr/>
        </p:nvSpPr>
        <p:spPr>
          <a:xfrm>
            <a:off x="274320" y="228600"/>
            <a:ext cx="8593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333" strike="noStrike">
                <a:solidFill>
                  <a:srgbClr val="f5a623"/>
                </a:solidFill>
                <a:latin typeface="Calibri"/>
                <a:ea typeface="Calibri"/>
              </a:rPr>
              <a:t>KEY CONCEPTS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2"/>
          <p:cNvSpPr/>
          <p:nvPr/>
        </p:nvSpPr>
        <p:spPr>
          <a:xfrm>
            <a:off x="274320" y="457200"/>
            <a:ext cx="639864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e4f"/>
                </a:solidFill>
                <a:latin typeface="Cambria"/>
                <a:ea typeface="Cambria"/>
              </a:rPr>
              <a:t>Production Concepts Introduced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3"/>
          <p:cNvSpPr/>
          <p:nvPr/>
        </p:nvSpPr>
        <p:spPr>
          <a:xfrm>
            <a:off x="237600" y="1078920"/>
            <a:ext cx="42040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a1e4f"/>
                </a:solidFill>
                <a:latin typeface="Calibri"/>
                <a:ea typeface="Calibri"/>
              </a:rPr>
              <a:t>Docker  vs  Azure Container Instances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22" name="Table 0"/>
          <p:cNvGraphicFramePr/>
          <p:nvPr/>
        </p:nvGraphicFramePr>
        <p:xfrm>
          <a:off x="237600" y="1389960"/>
          <a:ext cx="4223880" cy="2366280"/>
        </p:xfrm>
        <a:graphic>
          <a:graphicData uri="http://schemas.openxmlformats.org/drawingml/2006/table">
            <a:tbl>
              <a:tblPr/>
              <a:tblGrid>
                <a:gridCol w="786240"/>
                <a:gridCol w="1719000"/>
                <a:gridCol w="1719000"/>
              </a:tblGrid>
              <a:tr h="338040">
                <a:tc>
                  <a:txBody>
                    <a:bodyPr anchor="t">
                      <a:noAutofit/>
                    </a:bodyPr>
                    <a:p>
                      <a:endParaRPr b="0" lang="en-US" sz="950" spc="-1" strike="noStrike">
                        <a:solidFill>
                          <a:schemeClr val="dk1"/>
                        </a:solidFill>
                        <a:latin typeface="Calibri"/>
                        <a:ea typeface="Calibri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1c205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Docker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1c205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0f1035"/>
                          </a:solidFill>
                          <a:latin typeface="Calibri"/>
                          <a:ea typeface="Calibri"/>
                        </a:rPr>
                        <a:t>ACI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5a623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Command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docker run -d -p 80:80 nginx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az container create ...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Runtime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Docker Engine (local host)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Azure Managed Runtime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Logs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docker logs &lt;ctr&gt;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az container logs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Inspect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docker inspect &lt;ctr&gt;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az container show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Storage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docker volume / bind mount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Azure Files Mount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Config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-e ENV_VAR=value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--environment-variables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</a:tr>
            </a:tbl>
          </a:graphicData>
        </a:graphic>
      </p:graphicFrame>
      <p:sp>
        <p:nvSpPr>
          <p:cNvPr id="223" name="Shape 4"/>
          <p:cNvSpPr/>
          <p:nvPr/>
        </p:nvSpPr>
        <p:spPr>
          <a:xfrm>
            <a:off x="4681800" y="1078920"/>
            <a:ext cx="4222440" cy="1149840"/>
          </a:xfrm>
          <a:prstGeom prst="roundRect">
            <a:avLst>
              <a:gd name="adj" fmla="val 7937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4" name="Image 0" descr="preencoded.png"/>
          <p:cNvPicPr/>
          <p:nvPr/>
        </p:nvPicPr>
        <p:blipFill>
          <a:blip r:embed="rId1"/>
          <a:stretch/>
        </p:blipFill>
        <p:spPr>
          <a:xfrm>
            <a:off x="4846320" y="1207080"/>
            <a:ext cx="326880" cy="326880"/>
          </a:xfrm>
          <a:prstGeom prst="rect">
            <a:avLst/>
          </a:prstGeom>
          <a:ln w="0">
            <a:noFill/>
          </a:ln>
        </p:spPr>
      </p:pic>
      <p:sp>
        <p:nvSpPr>
          <p:cNvPr id="225" name="Text 5"/>
          <p:cNvSpPr/>
          <p:nvPr/>
        </p:nvSpPr>
        <p:spPr>
          <a:xfrm>
            <a:off x="5266800" y="1188720"/>
            <a:ext cx="34725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Ephemeral vs Persistent Storage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6"/>
          <p:cNvSpPr/>
          <p:nvPr/>
        </p:nvSpPr>
        <p:spPr>
          <a:xfrm>
            <a:off x="5266800" y="1463040"/>
            <a:ext cx="347256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b8"/>
                </a:solidFill>
                <a:latin typeface="Calibri"/>
                <a:ea typeface="Calibri"/>
              </a:rPr>
              <a:t>Container data vanishes on deletion. Azure Files volumes survive — critical production pattern that maps directly to Kubernetes PVCs.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7"/>
          <p:cNvSpPr/>
          <p:nvPr/>
        </p:nvSpPr>
        <p:spPr>
          <a:xfrm>
            <a:off x="4681800" y="2340720"/>
            <a:ext cx="4222440" cy="1149840"/>
          </a:xfrm>
          <a:prstGeom prst="roundRect">
            <a:avLst>
              <a:gd name="adj" fmla="val 7937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8" name="Image 1" descr="preencoded.png"/>
          <p:cNvPicPr/>
          <p:nvPr/>
        </p:nvPicPr>
        <p:blipFill>
          <a:blip r:embed="rId2"/>
          <a:stretch/>
        </p:blipFill>
        <p:spPr>
          <a:xfrm>
            <a:off x="4846320" y="2468880"/>
            <a:ext cx="326880" cy="326880"/>
          </a:xfrm>
          <a:prstGeom prst="rect">
            <a:avLst/>
          </a:prstGeom>
          <a:ln w="0">
            <a:noFill/>
          </a:ln>
        </p:spPr>
      </p:pic>
      <p:sp>
        <p:nvSpPr>
          <p:cNvPr id="229" name="Text 8"/>
          <p:cNvSpPr/>
          <p:nvPr/>
        </p:nvSpPr>
        <p:spPr>
          <a:xfrm>
            <a:off x="5266800" y="2450520"/>
            <a:ext cx="34725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Managed Identity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9"/>
          <p:cNvSpPr/>
          <p:nvPr/>
        </p:nvSpPr>
        <p:spPr>
          <a:xfrm>
            <a:off x="5266800" y="2724840"/>
            <a:ext cx="347256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b8"/>
                </a:solidFill>
                <a:latin typeface="Calibri"/>
                <a:ea typeface="Calibri"/>
              </a:rPr>
              <a:t>ACI authenticates to ACR without storing passwords. Azure handles credentials transparently — the production-preferred approach.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0"/>
          <p:cNvSpPr/>
          <p:nvPr/>
        </p:nvSpPr>
        <p:spPr>
          <a:xfrm>
            <a:off x="4681800" y="3602880"/>
            <a:ext cx="4222440" cy="1149840"/>
          </a:xfrm>
          <a:prstGeom prst="roundRect">
            <a:avLst>
              <a:gd name="adj" fmla="val 7937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2" name="Image 2" descr="preencoded.png"/>
          <p:cNvPicPr/>
          <p:nvPr/>
        </p:nvPicPr>
        <p:blipFill>
          <a:blip r:embed="rId3"/>
          <a:stretch/>
        </p:blipFill>
        <p:spPr>
          <a:xfrm>
            <a:off x="4846320" y="3730680"/>
            <a:ext cx="326880" cy="326880"/>
          </a:xfrm>
          <a:prstGeom prst="rect">
            <a:avLst/>
          </a:prstGeom>
          <a:ln w="0">
            <a:noFill/>
          </a:ln>
        </p:spPr>
      </p:pic>
      <p:sp>
        <p:nvSpPr>
          <p:cNvPr id="233" name="Text 11"/>
          <p:cNvSpPr/>
          <p:nvPr/>
        </p:nvSpPr>
        <p:spPr>
          <a:xfrm>
            <a:off x="5266800" y="3712320"/>
            <a:ext cx="34725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Idempotent Bash Scripts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12"/>
          <p:cNvSpPr/>
          <p:nvPr/>
        </p:nvSpPr>
        <p:spPr>
          <a:xfrm>
            <a:off x="5266800" y="3986640"/>
            <a:ext cx="347256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b8"/>
                </a:solidFill>
                <a:latin typeface="Calibri"/>
                <a:ea typeface="Calibri"/>
              </a:rPr>
              <a:t>All 4 scripts can be re-run safely. The Infrastructure-as-Code mindset means deployments are repeatable, predictable, and reviewable.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13"/>
          <p:cNvSpPr/>
          <p:nvPr/>
        </p:nvSpPr>
        <p:spPr>
          <a:xfrm>
            <a:off x="237600" y="3885840"/>
            <a:ext cx="45698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Production Concepts Shipped This Week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14"/>
          <p:cNvSpPr/>
          <p:nvPr/>
        </p:nvSpPr>
        <p:spPr>
          <a:xfrm>
            <a:off x="237600" y="4187880"/>
            <a:ext cx="1242000" cy="30888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15"/>
          <p:cNvSpPr/>
          <p:nvPr/>
        </p:nvSpPr>
        <p:spPr>
          <a:xfrm>
            <a:off x="237600" y="4187880"/>
            <a:ext cx="1242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Container Lifecycle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16"/>
          <p:cNvSpPr/>
          <p:nvPr/>
        </p:nvSpPr>
        <p:spPr>
          <a:xfrm>
            <a:off x="1670400" y="4187880"/>
            <a:ext cx="1141200" cy="30888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17"/>
          <p:cNvSpPr/>
          <p:nvPr/>
        </p:nvSpPr>
        <p:spPr>
          <a:xfrm>
            <a:off x="1670400" y="4187880"/>
            <a:ext cx="11412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Image Registries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18"/>
          <p:cNvSpPr/>
          <p:nvPr/>
        </p:nvSpPr>
        <p:spPr>
          <a:xfrm>
            <a:off x="2971800" y="4187880"/>
            <a:ext cx="1369800" cy="30888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19"/>
          <p:cNvSpPr/>
          <p:nvPr/>
        </p:nvSpPr>
        <p:spPr>
          <a:xfrm>
            <a:off x="2971800" y="4187880"/>
            <a:ext cx="13784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Persistent Storage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20"/>
          <p:cNvSpPr/>
          <p:nvPr/>
        </p:nvSpPr>
        <p:spPr>
          <a:xfrm>
            <a:off x="228600" y="4572000"/>
            <a:ext cx="1251000" cy="30888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21"/>
          <p:cNvSpPr/>
          <p:nvPr/>
        </p:nvSpPr>
        <p:spPr>
          <a:xfrm>
            <a:off x="228600" y="4572000"/>
            <a:ext cx="1251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Infra Automation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22"/>
          <p:cNvSpPr/>
          <p:nvPr/>
        </p:nvSpPr>
        <p:spPr>
          <a:xfrm>
            <a:off x="2971800" y="4572000"/>
            <a:ext cx="1369800" cy="30888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23"/>
          <p:cNvSpPr/>
          <p:nvPr/>
        </p:nvSpPr>
        <p:spPr>
          <a:xfrm>
            <a:off x="1481400" y="4572000"/>
            <a:ext cx="11498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Cloud Deployments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24"/>
          <p:cNvSpPr/>
          <p:nvPr/>
        </p:nvSpPr>
        <p:spPr>
          <a:xfrm>
            <a:off x="1670400" y="4572000"/>
            <a:ext cx="1141200" cy="30888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25"/>
          <p:cNvSpPr/>
          <p:nvPr/>
        </p:nvSpPr>
        <p:spPr>
          <a:xfrm>
            <a:off x="2971800" y="4572000"/>
            <a:ext cx="13698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Resource Reuse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27"/>
          <p:cNvSpPr/>
          <p:nvPr/>
        </p:nvSpPr>
        <p:spPr>
          <a:xfrm>
            <a:off x="1670400" y="4572000"/>
            <a:ext cx="11412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Idempotent Scripts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0"/>
          <p:cNvSpPr/>
          <p:nvPr/>
        </p:nvSpPr>
        <p:spPr>
          <a:xfrm>
            <a:off x="0" y="0"/>
            <a:ext cx="52560" cy="514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1"/>
          <p:cNvSpPr/>
          <p:nvPr/>
        </p:nvSpPr>
        <p:spPr>
          <a:xfrm>
            <a:off x="274320" y="228600"/>
            <a:ext cx="8593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333" strike="noStrike">
                <a:solidFill>
                  <a:srgbClr val="f5a623"/>
                </a:solidFill>
                <a:latin typeface="Calibri"/>
                <a:ea typeface="Calibri"/>
              </a:rPr>
              <a:t>WEEK 1  ·  CONCLUSION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2"/>
          <p:cNvSpPr/>
          <p:nvPr/>
        </p:nvSpPr>
        <p:spPr>
          <a:xfrm>
            <a:off x="274320" y="567000"/>
            <a:ext cx="8410320" cy="69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mbria"/>
                <a:ea typeface="Cambria"/>
              </a:rPr>
              <a:t>Week 1 Completed.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3"/>
          <p:cNvSpPr/>
          <p:nvPr/>
        </p:nvSpPr>
        <p:spPr>
          <a:xfrm>
            <a:off x="274320" y="1280160"/>
            <a:ext cx="84103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ffd580"/>
                </a:solidFill>
                <a:latin typeface="Cambria"/>
                <a:ea typeface="Cambria"/>
              </a:rPr>
              <a:t>"You did not just move a container to the cloud. You learned where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ffd580"/>
                </a:solidFill>
                <a:latin typeface="Cambria"/>
                <a:ea typeface="Cambria"/>
              </a:rPr>
              <a:t>your responsibility ends and the cloud's begins."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4"/>
          <p:cNvSpPr/>
          <p:nvPr/>
        </p:nvSpPr>
        <p:spPr>
          <a:xfrm>
            <a:off x="293040" y="1974960"/>
            <a:ext cx="1533960" cy="1789920"/>
          </a:xfrm>
          <a:prstGeom prst="roundRect">
            <a:avLst>
              <a:gd name="adj" fmla="val 7143"/>
            </a:avLst>
          </a:prstGeom>
          <a:solidFill>
            <a:srgbClr val="252a6b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5"/>
          <p:cNvSpPr/>
          <p:nvPr/>
        </p:nvSpPr>
        <p:spPr>
          <a:xfrm>
            <a:off x="293040" y="2066400"/>
            <a:ext cx="153396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5a623"/>
                </a:solidFill>
                <a:latin typeface="Cambria"/>
                <a:ea typeface="Cambria"/>
              </a:rPr>
              <a:t>C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6"/>
          <p:cNvSpPr/>
          <p:nvPr/>
        </p:nvSpPr>
        <p:spPr>
          <a:xfrm>
            <a:off x="293040" y="2716200"/>
            <a:ext cx="15339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Cloud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7"/>
          <p:cNvSpPr/>
          <p:nvPr/>
        </p:nvSpPr>
        <p:spPr>
          <a:xfrm>
            <a:off x="503280" y="2999160"/>
            <a:ext cx="1095120" cy="144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8"/>
          <p:cNvSpPr/>
          <p:nvPr/>
        </p:nvSpPr>
        <p:spPr>
          <a:xfrm>
            <a:off x="293040" y="3026160"/>
            <a:ext cx="1533960" cy="62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Resource Groups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Subscriptions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Azure CLI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Shape 9"/>
          <p:cNvSpPr/>
          <p:nvPr/>
        </p:nvSpPr>
        <p:spPr>
          <a:xfrm>
            <a:off x="2057400" y="1974960"/>
            <a:ext cx="1533960" cy="1789920"/>
          </a:xfrm>
          <a:prstGeom prst="roundRect">
            <a:avLst>
              <a:gd name="adj" fmla="val 7143"/>
            </a:avLst>
          </a:prstGeom>
          <a:solidFill>
            <a:srgbClr val="252a6b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10"/>
          <p:cNvSpPr/>
          <p:nvPr/>
        </p:nvSpPr>
        <p:spPr>
          <a:xfrm>
            <a:off x="2057400" y="2066400"/>
            <a:ext cx="153396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5a623"/>
                </a:solidFill>
                <a:latin typeface="Cambria"/>
                <a:ea typeface="Cambria"/>
              </a:rPr>
              <a:t>N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11"/>
          <p:cNvSpPr/>
          <p:nvPr/>
        </p:nvSpPr>
        <p:spPr>
          <a:xfrm>
            <a:off x="2057400" y="2724840"/>
            <a:ext cx="15339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Networking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Shape 12"/>
          <p:cNvSpPr/>
          <p:nvPr/>
        </p:nvSpPr>
        <p:spPr>
          <a:xfrm>
            <a:off x="2247840" y="2999160"/>
            <a:ext cx="1095120" cy="144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13"/>
          <p:cNvSpPr/>
          <p:nvPr/>
        </p:nvSpPr>
        <p:spPr>
          <a:xfrm>
            <a:off x="2057400" y="3035880"/>
            <a:ext cx="153396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VNet · NSG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Subnets · Public IP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SSH hardening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Shape 14"/>
          <p:cNvSpPr/>
          <p:nvPr/>
        </p:nvSpPr>
        <p:spPr>
          <a:xfrm>
            <a:off x="3821760" y="1974960"/>
            <a:ext cx="1533960" cy="1789920"/>
          </a:xfrm>
          <a:prstGeom prst="roundRect">
            <a:avLst>
              <a:gd name="adj" fmla="val 7143"/>
            </a:avLst>
          </a:prstGeom>
          <a:solidFill>
            <a:srgbClr val="252a6b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15"/>
          <p:cNvSpPr/>
          <p:nvPr/>
        </p:nvSpPr>
        <p:spPr>
          <a:xfrm>
            <a:off x="3840480" y="2066400"/>
            <a:ext cx="151524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5a623"/>
                </a:solidFill>
                <a:latin typeface="Cambria"/>
                <a:ea typeface="Cambria"/>
              </a:rPr>
              <a:t>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16"/>
          <p:cNvSpPr/>
          <p:nvPr/>
        </p:nvSpPr>
        <p:spPr>
          <a:xfrm>
            <a:off x="3840480" y="2724840"/>
            <a:ext cx="15152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Storage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Shape 17"/>
          <p:cNvSpPr/>
          <p:nvPr/>
        </p:nvSpPr>
        <p:spPr>
          <a:xfrm>
            <a:off x="4060080" y="2999160"/>
            <a:ext cx="1095120" cy="144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18"/>
          <p:cNvSpPr/>
          <p:nvPr/>
        </p:nvSpPr>
        <p:spPr>
          <a:xfrm>
            <a:off x="3821760" y="3035880"/>
            <a:ext cx="153396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Blob · SAS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Azure Files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Storage Tiers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19"/>
          <p:cNvSpPr/>
          <p:nvPr/>
        </p:nvSpPr>
        <p:spPr>
          <a:xfrm>
            <a:off x="5550840" y="1974960"/>
            <a:ext cx="1533960" cy="1789920"/>
          </a:xfrm>
          <a:prstGeom prst="roundRect">
            <a:avLst>
              <a:gd name="adj" fmla="val 7143"/>
            </a:avLst>
          </a:prstGeom>
          <a:solidFill>
            <a:srgbClr val="252a6b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20"/>
          <p:cNvSpPr/>
          <p:nvPr/>
        </p:nvSpPr>
        <p:spPr>
          <a:xfrm>
            <a:off x="5550840" y="2066400"/>
            <a:ext cx="153396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5a623"/>
                </a:solidFill>
                <a:latin typeface="Cambria"/>
                <a:ea typeface="Cambria"/>
              </a:rPr>
              <a:t>R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21"/>
          <p:cNvSpPr/>
          <p:nvPr/>
        </p:nvSpPr>
        <p:spPr>
          <a:xfrm>
            <a:off x="5550840" y="2724840"/>
            <a:ext cx="15339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Registry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Shape 22"/>
          <p:cNvSpPr/>
          <p:nvPr/>
        </p:nvSpPr>
        <p:spPr>
          <a:xfrm>
            <a:off x="5724000" y="2999160"/>
            <a:ext cx="1095120" cy="144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23"/>
          <p:cNvSpPr/>
          <p:nvPr/>
        </p:nvSpPr>
        <p:spPr>
          <a:xfrm>
            <a:off x="5577840" y="3035880"/>
            <a:ext cx="150696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ACR · Image Tags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Private Registry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Managed Identity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Shape 24"/>
          <p:cNvSpPr/>
          <p:nvPr/>
        </p:nvSpPr>
        <p:spPr>
          <a:xfrm>
            <a:off x="7315200" y="1974960"/>
            <a:ext cx="1533960" cy="1789920"/>
          </a:xfrm>
          <a:prstGeom prst="roundRect">
            <a:avLst>
              <a:gd name="adj" fmla="val 7143"/>
            </a:avLst>
          </a:prstGeom>
          <a:solidFill>
            <a:srgbClr val="252a6b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25"/>
          <p:cNvSpPr/>
          <p:nvPr/>
        </p:nvSpPr>
        <p:spPr>
          <a:xfrm>
            <a:off x="7315200" y="2066400"/>
            <a:ext cx="153396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5a623"/>
                </a:solidFill>
                <a:latin typeface="Cambria"/>
                <a:ea typeface="Cambria"/>
              </a:rPr>
              <a:t>D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26"/>
          <p:cNvSpPr/>
          <p:nvPr/>
        </p:nvSpPr>
        <p:spPr>
          <a:xfrm>
            <a:off x="7315200" y="2724840"/>
            <a:ext cx="15339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Deploy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Shape 27"/>
          <p:cNvSpPr/>
          <p:nvPr/>
        </p:nvSpPr>
        <p:spPr>
          <a:xfrm>
            <a:off x="7589880" y="2999160"/>
            <a:ext cx="1095120" cy="144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28"/>
          <p:cNvSpPr/>
          <p:nvPr/>
        </p:nvSpPr>
        <p:spPr>
          <a:xfrm>
            <a:off x="7315200" y="3035880"/>
            <a:ext cx="153396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ACI · Public URL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Persistent Volume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Automation Scripts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Shape 29"/>
          <p:cNvSpPr/>
          <p:nvPr/>
        </p:nvSpPr>
        <p:spPr>
          <a:xfrm>
            <a:off x="237600" y="3968640"/>
            <a:ext cx="8666280" cy="875520"/>
          </a:xfrm>
          <a:prstGeom prst="roundRect">
            <a:avLst>
              <a:gd name="adj" fmla="val 1041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30"/>
          <p:cNvSpPr/>
          <p:nvPr/>
        </p:nvSpPr>
        <p:spPr>
          <a:xfrm>
            <a:off x="420480" y="4041720"/>
            <a:ext cx="1186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185" strike="noStrike">
                <a:solidFill>
                  <a:srgbClr val="f5a623"/>
                </a:solidFill>
                <a:latin typeface="Calibri"/>
                <a:ea typeface="Calibri"/>
              </a:rPr>
              <a:t>WHAT'S NEXT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31"/>
          <p:cNvSpPr/>
          <p:nvPr/>
        </p:nvSpPr>
        <p:spPr>
          <a:xfrm>
            <a:off x="420480" y="4242960"/>
            <a:ext cx="1186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Week 2 →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Shape 32"/>
          <p:cNvSpPr/>
          <p:nvPr/>
        </p:nvSpPr>
        <p:spPr>
          <a:xfrm>
            <a:off x="1719000" y="4078080"/>
            <a:ext cx="18000" cy="65628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33"/>
          <p:cNvSpPr/>
          <p:nvPr/>
        </p:nvSpPr>
        <p:spPr>
          <a:xfrm>
            <a:off x="1883520" y="4060080"/>
            <a:ext cx="1296360" cy="674640"/>
          </a:xfrm>
          <a:prstGeom prst="roundRect">
            <a:avLst>
              <a:gd name="adj" fmla="val 9459"/>
            </a:avLst>
          </a:prstGeom>
          <a:solidFill>
            <a:srgbClr val="1a1e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34"/>
          <p:cNvSpPr/>
          <p:nvPr/>
        </p:nvSpPr>
        <p:spPr>
          <a:xfrm>
            <a:off x="1938600" y="4078080"/>
            <a:ext cx="118656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AKS — Kubernetes on Azure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Shape 35"/>
          <p:cNvSpPr/>
          <p:nvPr/>
        </p:nvSpPr>
        <p:spPr>
          <a:xfrm>
            <a:off x="3273480" y="4060080"/>
            <a:ext cx="1296360" cy="674640"/>
          </a:xfrm>
          <a:prstGeom prst="roundRect">
            <a:avLst>
              <a:gd name="adj" fmla="val 9459"/>
            </a:avLst>
          </a:prstGeom>
          <a:solidFill>
            <a:srgbClr val="1a1e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36"/>
          <p:cNvSpPr/>
          <p:nvPr/>
        </p:nvSpPr>
        <p:spPr>
          <a:xfrm>
            <a:off x="3328560" y="4078080"/>
            <a:ext cx="118656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Azure DevOps CI/CD Pipelines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37"/>
          <p:cNvSpPr/>
          <p:nvPr/>
        </p:nvSpPr>
        <p:spPr>
          <a:xfrm>
            <a:off x="4663440" y="4060080"/>
            <a:ext cx="1296360" cy="674640"/>
          </a:xfrm>
          <a:prstGeom prst="roundRect">
            <a:avLst>
              <a:gd name="adj" fmla="val 9459"/>
            </a:avLst>
          </a:prstGeom>
          <a:solidFill>
            <a:srgbClr val="1a1e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38"/>
          <p:cNvSpPr/>
          <p:nvPr/>
        </p:nvSpPr>
        <p:spPr>
          <a:xfrm>
            <a:off x="4718160" y="4078080"/>
            <a:ext cx="118656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commit → build → deploy (auto)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Shape 39"/>
          <p:cNvSpPr/>
          <p:nvPr/>
        </p:nvSpPr>
        <p:spPr>
          <a:xfrm>
            <a:off x="6053400" y="4060080"/>
            <a:ext cx="1296360" cy="674640"/>
          </a:xfrm>
          <a:prstGeom prst="roundRect">
            <a:avLst>
              <a:gd name="adj" fmla="val 9459"/>
            </a:avLst>
          </a:prstGeom>
          <a:solidFill>
            <a:srgbClr val="1a1e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40"/>
          <p:cNvSpPr/>
          <p:nvPr/>
        </p:nvSpPr>
        <p:spPr>
          <a:xfrm>
            <a:off x="6108120" y="4078080"/>
            <a:ext cx="118656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Container Insights + Monitoring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Shape 41"/>
          <p:cNvSpPr/>
          <p:nvPr/>
        </p:nvSpPr>
        <p:spPr>
          <a:xfrm>
            <a:off x="7443360" y="4060080"/>
            <a:ext cx="1296360" cy="674640"/>
          </a:xfrm>
          <a:prstGeom prst="roundRect">
            <a:avLst>
              <a:gd name="adj" fmla="val 9459"/>
            </a:avLst>
          </a:prstGeom>
          <a:solidFill>
            <a:srgbClr val="1a1e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42"/>
          <p:cNvSpPr/>
          <p:nvPr/>
        </p:nvSpPr>
        <p:spPr>
          <a:xfrm>
            <a:off x="7498080" y="4078080"/>
            <a:ext cx="118656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RBAC + Key Vault Secrets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43"/>
          <p:cNvSpPr/>
          <p:nvPr/>
        </p:nvSpPr>
        <p:spPr>
          <a:xfrm>
            <a:off x="7022520" y="4352400"/>
            <a:ext cx="18266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1"/>
          <p:cNvSpPr/>
          <p:nvPr/>
        </p:nvSpPr>
        <p:spPr>
          <a:xfrm>
            <a:off x="0" y="0"/>
            <a:ext cx="52560" cy="5141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4" name="TextBox 2"/>
          <p:cNvSpPr/>
          <p:nvPr/>
        </p:nvSpPr>
        <p:spPr>
          <a:xfrm>
            <a:off x="274320" y="228600"/>
            <a:ext cx="8593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850" spc="333" strike="noStrike">
                <a:solidFill>
                  <a:srgbClr val="f5a623"/>
                </a:solidFill>
                <a:latin typeface="Calibri"/>
              </a:rPr>
              <a:t>OVERVIEW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Box 3"/>
          <p:cNvSpPr/>
          <p:nvPr/>
        </p:nvSpPr>
        <p:spPr>
          <a:xfrm>
            <a:off x="274320" y="457200"/>
            <a:ext cx="63986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a1e4f"/>
                </a:solidFill>
                <a:latin typeface="Cambria"/>
              </a:rPr>
              <a:t>The Week 2 Learning Arc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Rounded Rectangle 4"/>
          <p:cNvSpPr/>
          <p:nvPr/>
        </p:nvSpPr>
        <p:spPr>
          <a:xfrm>
            <a:off x="237600" y="1115640"/>
            <a:ext cx="2759400" cy="1698480"/>
          </a:xfrm>
          <a:prstGeom prst="roundRect">
            <a:avLst>
              <a:gd name="adj" fmla="val 3000"/>
            </a:avLst>
          </a:prstGeom>
          <a:solidFill>
            <a:srgbClr val="0f1035"/>
          </a:solidFill>
          <a:ln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7" name="Rounded Rectangle 5"/>
          <p:cNvSpPr/>
          <p:nvPr/>
        </p:nvSpPr>
        <p:spPr>
          <a:xfrm>
            <a:off x="365760" y="123480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98" name="Picture 6" descr="k8s_wheel_white.png"/>
          <p:cNvPicPr/>
          <p:nvPr/>
        </p:nvPicPr>
        <p:blipFill>
          <a:blip r:embed="rId1"/>
          <a:stretch/>
        </p:blipFill>
        <p:spPr>
          <a:xfrm>
            <a:off x="424800" y="1293840"/>
            <a:ext cx="190800" cy="190800"/>
          </a:xfrm>
          <a:prstGeom prst="rect">
            <a:avLst/>
          </a:prstGeom>
          <a:ln w="0">
            <a:noFill/>
          </a:ln>
        </p:spPr>
      </p:pic>
      <p:sp>
        <p:nvSpPr>
          <p:cNvPr id="299" name="Rounded Rectangle 7"/>
          <p:cNvSpPr/>
          <p:nvPr/>
        </p:nvSpPr>
        <p:spPr>
          <a:xfrm>
            <a:off x="2590560" y="1234800"/>
            <a:ext cx="278280" cy="278280"/>
          </a:xfrm>
          <a:prstGeom prst="roundRect">
            <a:avLst>
              <a:gd name="adj" fmla="val 3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a8b2d8"/>
                </a:solidFill>
                <a:latin typeface="Calibri"/>
              </a:rPr>
              <a:t>01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Box 8"/>
          <p:cNvSpPr/>
          <p:nvPr/>
        </p:nvSpPr>
        <p:spPr>
          <a:xfrm>
            <a:off x="365760" y="1591200"/>
            <a:ext cx="25030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AKS Fundamentals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Box 9"/>
          <p:cNvSpPr/>
          <p:nvPr/>
        </p:nvSpPr>
        <p:spPr>
          <a:xfrm>
            <a:off x="365760" y="1883520"/>
            <a:ext cx="2503080" cy="8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Cluster + node pool provisioned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kubectl connected via az aks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ACR attached — no imagePullSecrets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Script: aks_cluster.sh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Rounded Rectangle 10"/>
          <p:cNvSpPr/>
          <p:nvPr/>
        </p:nvSpPr>
        <p:spPr>
          <a:xfrm>
            <a:off x="3098520" y="1115640"/>
            <a:ext cx="2759400" cy="1698480"/>
          </a:xfrm>
          <a:prstGeom prst="roundRect">
            <a:avLst>
              <a:gd name="adj" fmla="val 3000"/>
            </a:avLst>
          </a:prstGeom>
          <a:solidFill>
            <a:srgbClr val="0f1035"/>
          </a:solidFill>
          <a:ln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3" name="Rounded Rectangle 11"/>
          <p:cNvSpPr/>
          <p:nvPr/>
        </p:nvSpPr>
        <p:spPr>
          <a:xfrm>
            <a:off x="3226680" y="123480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04" name="Picture 12" descr="scale_white.png"/>
          <p:cNvPicPr/>
          <p:nvPr/>
        </p:nvPicPr>
        <p:blipFill>
          <a:blip r:embed="rId2"/>
          <a:stretch/>
        </p:blipFill>
        <p:spPr>
          <a:xfrm>
            <a:off x="3285720" y="1293840"/>
            <a:ext cx="190800" cy="190800"/>
          </a:xfrm>
          <a:prstGeom prst="rect">
            <a:avLst/>
          </a:prstGeom>
          <a:ln w="0">
            <a:noFill/>
          </a:ln>
        </p:spPr>
      </p:pic>
      <p:sp>
        <p:nvSpPr>
          <p:cNvPr id="305" name="Rounded Rectangle 13"/>
          <p:cNvSpPr/>
          <p:nvPr/>
        </p:nvSpPr>
        <p:spPr>
          <a:xfrm>
            <a:off x="5451480" y="1234800"/>
            <a:ext cx="278280" cy="278280"/>
          </a:xfrm>
          <a:prstGeom prst="roundRect">
            <a:avLst>
              <a:gd name="adj" fmla="val 3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a8b2d8"/>
                </a:solidFill>
                <a:latin typeface="Calibri"/>
              </a:rPr>
              <a:t>02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Box 14"/>
          <p:cNvSpPr/>
          <p:nvPr/>
        </p:nvSpPr>
        <p:spPr>
          <a:xfrm>
            <a:off x="3226680" y="1591200"/>
            <a:ext cx="25030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AKS Workloads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Box 15"/>
          <p:cNvSpPr/>
          <p:nvPr/>
        </p:nvSpPr>
        <p:spPr>
          <a:xfrm>
            <a:off x="3226680" y="1883520"/>
            <a:ext cx="2503080" cy="8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Deployment → ReplicaSet → Pods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Azure LoadBalancer Service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NGINX Ingress + HPA scaling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Manual scale: 2 → 3 replicas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Rounded Rectangle 16"/>
          <p:cNvSpPr/>
          <p:nvPr/>
        </p:nvSpPr>
        <p:spPr>
          <a:xfrm>
            <a:off x="5959440" y="1115640"/>
            <a:ext cx="2759400" cy="1698480"/>
          </a:xfrm>
          <a:prstGeom prst="roundRect">
            <a:avLst>
              <a:gd name="adj" fmla="val 3000"/>
            </a:avLst>
          </a:prstGeom>
          <a:solidFill>
            <a:srgbClr val="0f1035"/>
          </a:solidFill>
          <a:ln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9" name="Rounded Rectangle 17"/>
          <p:cNvSpPr/>
          <p:nvPr/>
        </p:nvSpPr>
        <p:spPr>
          <a:xfrm>
            <a:off x="6087600" y="123480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10" name="Picture 18" descr="pipeline_white.png"/>
          <p:cNvPicPr/>
          <p:nvPr/>
        </p:nvPicPr>
        <p:blipFill>
          <a:blip r:embed="rId3"/>
          <a:stretch/>
        </p:blipFill>
        <p:spPr>
          <a:xfrm>
            <a:off x="6146640" y="1293840"/>
            <a:ext cx="190800" cy="190800"/>
          </a:xfrm>
          <a:prstGeom prst="rect">
            <a:avLst/>
          </a:prstGeom>
          <a:ln w="0">
            <a:noFill/>
          </a:ln>
        </p:spPr>
      </p:pic>
      <p:sp>
        <p:nvSpPr>
          <p:cNvPr id="311" name="Rounded Rectangle 19"/>
          <p:cNvSpPr/>
          <p:nvPr/>
        </p:nvSpPr>
        <p:spPr>
          <a:xfrm>
            <a:off x="8312400" y="1234800"/>
            <a:ext cx="278280" cy="278280"/>
          </a:xfrm>
          <a:prstGeom prst="roundRect">
            <a:avLst>
              <a:gd name="adj" fmla="val 3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a8b2d8"/>
                </a:solidFill>
                <a:latin typeface="Calibri"/>
              </a:rPr>
              <a:t>03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Box 20"/>
          <p:cNvSpPr/>
          <p:nvPr/>
        </p:nvSpPr>
        <p:spPr>
          <a:xfrm>
            <a:off x="6087600" y="1591200"/>
            <a:ext cx="25030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DevOps Repos &amp; Pipelines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Box 21"/>
          <p:cNvSpPr/>
          <p:nvPr/>
        </p:nvSpPr>
        <p:spPr>
          <a:xfrm>
            <a:off x="6087600" y="1883520"/>
            <a:ext cx="2503080" cy="8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Azure DevOps org + project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Repo pushed, YAML pipeline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Build step + automated tests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Triggered on every commit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Rounded Rectangle 22"/>
          <p:cNvSpPr/>
          <p:nvPr/>
        </p:nvSpPr>
        <p:spPr>
          <a:xfrm>
            <a:off x="237600" y="2945880"/>
            <a:ext cx="2759400" cy="1698480"/>
          </a:xfrm>
          <a:prstGeom prst="roundRect">
            <a:avLst>
              <a:gd name="adj" fmla="val 3000"/>
            </a:avLst>
          </a:prstGeom>
          <a:solidFill>
            <a:srgbClr val="0f1035"/>
          </a:solidFill>
          <a:ln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5" name="Rounded Rectangle 23"/>
          <p:cNvSpPr/>
          <p:nvPr/>
        </p:nvSpPr>
        <p:spPr>
          <a:xfrm>
            <a:off x="365760" y="306504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16" name="Picture 24" descr="cycle_white.png"/>
          <p:cNvPicPr/>
          <p:nvPr/>
        </p:nvPicPr>
        <p:blipFill>
          <a:blip r:embed="rId4"/>
          <a:stretch/>
        </p:blipFill>
        <p:spPr>
          <a:xfrm>
            <a:off x="424800" y="3124080"/>
            <a:ext cx="190800" cy="190800"/>
          </a:xfrm>
          <a:prstGeom prst="rect">
            <a:avLst/>
          </a:prstGeom>
          <a:ln w="0">
            <a:noFill/>
          </a:ln>
        </p:spPr>
      </p:pic>
      <p:sp>
        <p:nvSpPr>
          <p:cNvPr id="317" name="Rounded Rectangle 25"/>
          <p:cNvSpPr/>
          <p:nvPr/>
        </p:nvSpPr>
        <p:spPr>
          <a:xfrm>
            <a:off x="2590560" y="3065040"/>
            <a:ext cx="278280" cy="278280"/>
          </a:xfrm>
          <a:prstGeom prst="roundRect">
            <a:avLst>
              <a:gd name="adj" fmla="val 3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a8b2d8"/>
                </a:solidFill>
                <a:latin typeface="Calibri"/>
              </a:rPr>
              <a:t>04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Box 26"/>
          <p:cNvSpPr/>
          <p:nvPr/>
        </p:nvSpPr>
        <p:spPr>
          <a:xfrm>
            <a:off x="365760" y="3421440"/>
            <a:ext cx="25030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Full CI/CD Pipeline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Box 27"/>
          <p:cNvSpPr/>
          <p:nvPr/>
        </p:nvSpPr>
        <p:spPr>
          <a:xfrm>
            <a:off x="365760" y="3713760"/>
            <a:ext cx="2503080" cy="8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Docker build → ACR → AKS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Build-ID image tagging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Multi-arch buildx fix (ARM64)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Script: azure-pipelines.yml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Rounded Rectangle 28"/>
          <p:cNvSpPr/>
          <p:nvPr/>
        </p:nvSpPr>
        <p:spPr>
          <a:xfrm>
            <a:off x="3098520" y="2945880"/>
            <a:ext cx="2759400" cy="1698480"/>
          </a:xfrm>
          <a:prstGeom prst="roundRect">
            <a:avLst>
              <a:gd name="adj" fmla="val 3000"/>
            </a:avLst>
          </a:prstGeom>
          <a:solidFill>
            <a:srgbClr val="0f1035"/>
          </a:solidFill>
          <a:ln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1" name="Rounded Rectangle 29"/>
          <p:cNvSpPr/>
          <p:nvPr/>
        </p:nvSpPr>
        <p:spPr>
          <a:xfrm>
            <a:off x="3226680" y="306504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22" name="Picture 30" descr="monitor_white.png"/>
          <p:cNvPicPr/>
          <p:nvPr/>
        </p:nvPicPr>
        <p:blipFill>
          <a:blip r:embed="rId5"/>
          <a:stretch/>
        </p:blipFill>
        <p:spPr>
          <a:xfrm>
            <a:off x="3285720" y="3124080"/>
            <a:ext cx="190800" cy="190800"/>
          </a:xfrm>
          <a:prstGeom prst="rect">
            <a:avLst/>
          </a:prstGeom>
          <a:ln w="0">
            <a:noFill/>
          </a:ln>
        </p:spPr>
      </p:pic>
      <p:sp>
        <p:nvSpPr>
          <p:cNvPr id="323" name="Rounded Rectangle 31"/>
          <p:cNvSpPr/>
          <p:nvPr/>
        </p:nvSpPr>
        <p:spPr>
          <a:xfrm>
            <a:off x="5451480" y="3065040"/>
            <a:ext cx="278280" cy="278280"/>
          </a:xfrm>
          <a:prstGeom prst="roundRect">
            <a:avLst>
              <a:gd name="adj" fmla="val 3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a8b2d8"/>
                </a:solidFill>
                <a:latin typeface="Calibri"/>
              </a:rPr>
              <a:t>05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Box 32"/>
          <p:cNvSpPr/>
          <p:nvPr/>
        </p:nvSpPr>
        <p:spPr>
          <a:xfrm>
            <a:off x="3226680" y="3421440"/>
            <a:ext cx="25030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Monitoring &amp; Alerts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Box 33"/>
          <p:cNvSpPr/>
          <p:nvPr/>
        </p:nvSpPr>
        <p:spPr>
          <a:xfrm>
            <a:off x="3226680" y="3713760"/>
            <a:ext cx="2503080" cy="8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Azure Monitor + Log Analytics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KQL queries on pod restarts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CPU threshold metric alerts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Script: monitoring_setup.sh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Rounded Rectangle 34"/>
          <p:cNvSpPr/>
          <p:nvPr/>
        </p:nvSpPr>
        <p:spPr>
          <a:xfrm>
            <a:off x="5959440" y="2945880"/>
            <a:ext cx="2759400" cy="1698480"/>
          </a:xfrm>
          <a:prstGeom prst="roundRect">
            <a:avLst>
              <a:gd name="adj" fmla="val 3000"/>
            </a:avLst>
          </a:prstGeom>
          <a:solidFill>
            <a:srgbClr val="0f1035"/>
          </a:solidFill>
          <a:ln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7" name="Rounded Rectangle 35"/>
          <p:cNvSpPr/>
          <p:nvPr/>
        </p:nvSpPr>
        <p:spPr>
          <a:xfrm>
            <a:off x="6087600" y="306504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28" name="Picture 36" descr="shield_white.png"/>
          <p:cNvPicPr/>
          <p:nvPr/>
        </p:nvPicPr>
        <p:blipFill>
          <a:blip r:embed="rId6"/>
          <a:stretch/>
        </p:blipFill>
        <p:spPr>
          <a:xfrm>
            <a:off x="6146640" y="3124080"/>
            <a:ext cx="190800" cy="190800"/>
          </a:xfrm>
          <a:prstGeom prst="rect">
            <a:avLst/>
          </a:prstGeom>
          <a:ln w="0">
            <a:noFill/>
          </a:ln>
        </p:spPr>
      </p:pic>
      <p:sp>
        <p:nvSpPr>
          <p:cNvPr id="329" name="Rounded Rectangle 37"/>
          <p:cNvSpPr/>
          <p:nvPr/>
        </p:nvSpPr>
        <p:spPr>
          <a:xfrm>
            <a:off x="8312400" y="3065040"/>
            <a:ext cx="278280" cy="278280"/>
          </a:xfrm>
          <a:prstGeom prst="roundRect">
            <a:avLst>
              <a:gd name="adj" fmla="val 3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a8b2d8"/>
                </a:solidFill>
                <a:latin typeface="Calibri"/>
              </a:rPr>
              <a:t>06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Box 38"/>
          <p:cNvSpPr/>
          <p:nvPr/>
        </p:nvSpPr>
        <p:spPr>
          <a:xfrm>
            <a:off x="6087600" y="3421440"/>
            <a:ext cx="25030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Security &amp; RBAC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Box 39"/>
          <p:cNvSpPr/>
          <p:nvPr/>
        </p:nvSpPr>
        <p:spPr>
          <a:xfrm>
            <a:off x="6087600" y="3713760"/>
            <a:ext cx="2503080" cy="8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RBAC roles — Reader vs Contributor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Key Vault secret storage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Microsoft Defender enabled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Script: security_hardening.sh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Rectangle 1"/>
          <p:cNvSpPr/>
          <p:nvPr/>
        </p:nvSpPr>
        <p:spPr>
          <a:xfrm>
            <a:off x="0" y="0"/>
            <a:ext cx="52560" cy="5141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3" name="TextBox 2"/>
          <p:cNvSpPr/>
          <p:nvPr/>
        </p:nvSpPr>
        <p:spPr>
          <a:xfrm>
            <a:off x="274320" y="228600"/>
            <a:ext cx="8593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850" spc="333" strike="noStrike">
                <a:solidFill>
                  <a:srgbClr val="f5a623"/>
                </a:solidFill>
                <a:latin typeface="Calibri"/>
              </a:rPr>
              <a:t>WEEK 2  ·  DAY 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Box 3"/>
          <p:cNvSpPr/>
          <p:nvPr/>
        </p:nvSpPr>
        <p:spPr>
          <a:xfrm>
            <a:off x="274320" y="457200"/>
            <a:ext cx="63986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a1e4f"/>
                </a:solidFill>
                <a:latin typeface="Cambria"/>
              </a:rPr>
              <a:t>AKS Fundamentals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Rounded Rectangle 4"/>
          <p:cNvSpPr/>
          <p:nvPr/>
        </p:nvSpPr>
        <p:spPr>
          <a:xfrm>
            <a:off x="4928760" y="4001400"/>
            <a:ext cx="3930840" cy="798120"/>
          </a:xfrm>
          <a:prstGeom prst="roundRect">
            <a:avLst>
              <a:gd name="adj" fmla="val 10000"/>
            </a:avLst>
          </a:prstGeom>
          <a:solidFill>
            <a:srgbClr val="14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6" name="TextBox 5"/>
          <p:cNvSpPr/>
          <p:nvPr/>
        </p:nvSpPr>
        <p:spPr>
          <a:xfrm>
            <a:off x="5120640" y="3982680"/>
            <a:ext cx="3656520" cy="79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050" spc="-1" strike="noStrike">
                <a:solidFill>
                  <a:srgbClr val="f5a623"/>
                </a:solidFill>
                <a:latin typeface="Calibri"/>
              </a:rPr>
              <a:t>Cluster: aks-bootcamp · Central India · K8s v1.34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050" spc="-1" strike="noStrike">
                <a:solidFill>
                  <a:srgbClr val="f5a623"/>
                </a:solidFill>
                <a:latin typeface="Calibri"/>
              </a:rPr>
              <a:t>Node count: 1 · VM size: Standard_B2pls_v2 · Tier: Free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Rounded Rectangle 6"/>
          <p:cNvSpPr/>
          <p:nvPr/>
        </p:nvSpPr>
        <p:spPr>
          <a:xfrm>
            <a:off x="237600" y="1180080"/>
            <a:ext cx="4478040" cy="3698280"/>
          </a:xfrm>
          <a:prstGeom prst="roundRect">
            <a:avLst>
              <a:gd name="adj" fmla="val 10000"/>
            </a:avLst>
          </a:prstGeom>
          <a:solidFill>
            <a:srgbClr val="0f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38" name="Picture 7" descr="k8s_wheel_white.png"/>
          <p:cNvPicPr/>
          <p:nvPr/>
        </p:nvPicPr>
        <p:blipFill>
          <a:blip r:embed="rId1"/>
          <a:stretch/>
        </p:blipFill>
        <p:spPr>
          <a:xfrm>
            <a:off x="367560" y="131004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339" name="TextBox 8"/>
          <p:cNvSpPr/>
          <p:nvPr/>
        </p:nvSpPr>
        <p:spPr>
          <a:xfrm>
            <a:off x="797760" y="1310040"/>
            <a:ext cx="37882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Managed Kubernetes on Azure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Box 9"/>
          <p:cNvSpPr/>
          <p:nvPr/>
        </p:nvSpPr>
        <p:spPr>
          <a:xfrm>
            <a:off x="367560" y="1720080"/>
            <a:ext cx="4218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i="1" lang="en-US" sz="1000" spc="-1" strike="noStrike">
                <a:solidFill>
                  <a:srgbClr val="a8b2d8"/>
                </a:solidFill>
                <a:latin typeface="Calibri"/>
              </a:rPr>
              <a:t>“</a:t>
            </a:r>
            <a:r>
              <a:rPr b="0" i="1" lang="en-US" sz="1000" spc="-1" strike="noStrike">
                <a:solidFill>
                  <a:srgbClr val="a8b2d8"/>
                </a:solidFill>
                <a:latin typeface="Calibri"/>
              </a:rPr>
              <a:t>Azure runs the control plane. You only manage workloads.”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Rounded Rectangle 10"/>
          <p:cNvSpPr/>
          <p:nvPr/>
        </p:nvSpPr>
        <p:spPr>
          <a:xfrm>
            <a:off x="367560" y="2049840"/>
            <a:ext cx="4218120" cy="400320"/>
          </a:xfrm>
          <a:prstGeom prst="roundRect">
            <a:avLst>
              <a:gd name="adj" fmla="val 8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2" name="Rounded Rectangle 11"/>
          <p:cNvSpPr/>
          <p:nvPr/>
        </p:nvSpPr>
        <p:spPr>
          <a:xfrm>
            <a:off x="367560" y="2049840"/>
            <a:ext cx="52560" cy="400320"/>
          </a:xfrm>
          <a:prstGeom prst="roundRect">
            <a:avLst>
              <a:gd name="adj" fmla="val 4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3" name="TextBox 12"/>
          <p:cNvSpPr/>
          <p:nvPr/>
        </p:nvSpPr>
        <p:spPr>
          <a:xfrm>
            <a:off x="495720" y="2068200"/>
            <a:ext cx="39618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</a:rPr>
              <a:t>Connect kubectl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Box 13"/>
          <p:cNvSpPr/>
          <p:nvPr/>
        </p:nvSpPr>
        <p:spPr>
          <a:xfrm>
            <a:off x="495720" y="2251080"/>
            <a:ext cx="39618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860" spc="-1" strike="noStrike">
                <a:solidFill>
                  <a:srgbClr val="a8b2d8"/>
                </a:solidFill>
                <a:latin typeface="Calibri"/>
              </a:rPr>
              <a:t>az aks get-credentials → merges AKS into local kubeconfig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Rounded Rectangle 14"/>
          <p:cNvSpPr/>
          <p:nvPr/>
        </p:nvSpPr>
        <p:spPr>
          <a:xfrm>
            <a:off x="367560" y="2560320"/>
            <a:ext cx="4218120" cy="400320"/>
          </a:xfrm>
          <a:prstGeom prst="roundRect">
            <a:avLst>
              <a:gd name="adj" fmla="val 8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6" name="Rounded Rectangle 15"/>
          <p:cNvSpPr/>
          <p:nvPr/>
        </p:nvSpPr>
        <p:spPr>
          <a:xfrm>
            <a:off x="367560" y="2560320"/>
            <a:ext cx="52560" cy="400320"/>
          </a:xfrm>
          <a:prstGeom prst="roundRect">
            <a:avLst>
              <a:gd name="adj" fmla="val 4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7" name="TextBox 16"/>
          <p:cNvSpPr/>
          <p:nvPr/>
        </p:nvSpPr>
        <p:spPr>
          <a:xfrm>
            <a:off x="495720" y="2579400"/>
            <a:ext cx="39618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</a:rPr>
              <a:t>MC_ Resource Group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Box 17"/>
          <p:cNvSpPr/>
          <p:nvPr/>
        </p:nvSpPr>
        <p:spPr>
          <a:xfrm>
            <a:off x="495720" y="2779920"/>
            <a:ext cx="39618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860" spc="-1" strike="noStrike">
                <a:solidFill>
                  <a:srgbClr val="a8b2d8"/>
                </a:solidFill>
                <a:latin typeface="Calibri"/>
              </a:rPr>
              <a:t>MC_aks-bootcamp-rg_aks-bootcamp_centralindia — auto-created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Rounded Rectangle 18"/>
          <p:cNvSpPr/>
          <p:nvPr/>
        </p:nvSpPr>
        <p:spPr>
          <a:xfrm>
            <a:off x="367560" y="3072240"/>
            <a:ext cx="4218120" cy="400320"/>
          </a:xfrm>
          <a:prstGeom prst="roundRect">
            <a:avLst>
              <a:gd name="adj" fmla="val 8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0" name="Rounded Rectangle 19"/>
          <p:cNvSpPr/>
          <p:nvPr/>
        </p:nvSpPr>
        <p:spPr>
          <a:xfrm>
            <a:off x="367560" y="3072240"/>
            <a:ext cx="52560" cy="400320"/>
          </a:xfrm>
          <a:prstGeom prst="roundRect">
            <a:avLst>
              <a:gd name="adj" fmla="val 4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1" name="TextBox 20"/>
          <p:cNvSpPr/>
          <p:nvPr/>
        </p:nvSpPr>
        <p:spPr>
          <a:xfrm>
            <a:off x="495720" y="3090600"/>
            <a:ext cx="39618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</a:rPr>
              <a:t>Auto-Provisioned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Box 21"/>
          <p:cNvSpPr/>
          <p:nvPr/>
        </p:nvSpPr>
        <p:spPr>
          <a:xfrm>
            <a:off x="495720" y="3291840"/>
            <a:ext cx="39618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860" spc="-1" strike="noStrike">
                <a:solidFill>
                  <a:srgbClr val="a8b2d8"/>
                </a:solidFill>
                <a:latin typeface="Calibri"/>
              </a:rPr>
              <a:t>VMSS · Load Balancer · VNet · NSG · Public IP · Managed Identity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Rounded Rectangle 22"/>
          <p:cNvSpPr/>
          <p:nvPr/>
        </p:nvSpPr>
        <p:spPr>
          <a:xfrm>
            <a:off x="352440" y="3584520"/>
            <a:ext cx="4218120" cy="400320"/>
          </a:xfrm>
          <a:prstGeom prst="roundRect">
            <a:avLst>
              <a:gd name="adj" fmla="val 8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4" name="Rounded Rectangle 23"/>
          <p:cNvSpPr/>
          <p:nvPr/>
        </p:nvSpPr>
        <p:spPr>
          <a:xfrm>
            <a:off x="367560" y="3584520"/>
            <a:ext cx="52560" cy="400320"/>
          </a:xfrm>
          <a:prstGeom prst="roundRect">
            <a:avLst>
              <a:gd name="adj" fmla="val 4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5" name="TextBox 24"/>
          <p:cNvSpPr/>
          <p:nvPr/>
        </p:nvSpPr>
        <p:spPr>
          <a:xfrm>
            <a:off x="495720" y="3602880"/>
            <a:ext cx="39618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</a:rPr>
              <a:t>Worker Node Reality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Box 25"/>
          <p:cNvSpPr/>
          <p:nvPr/>
        </p:nvSpPr>
        <p:spPr>
          <a:xfrm>
            <a:off x="495720" y="3803760"/>
            <a:ext cx="39618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860" spc="-1" strike="noStrike">
                <a:solidFill>
                  <a:srgbClr val="a8b2d8"/>
                </a:solidFill>
                <a:latin typeface="Calibri"/>
              </a:rPr>
              <a:t>kubectl node = a real Azure VM inside a VM Scale Set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Rounded Rectangle 26"/>
          <p:cNvSpPr/>
          <p:nvPr/>
        </p:nvSpPr>
        <p:spPr>
          <a:xfrm>
            <a:off x="367560" y="4096440"/>
            <a:ext cx="4218120" cy="400320"/>
          </a:xfrm>
          <a:prstGeom prst="roundRect">
            <a:avLst>
              <a:gd name="adj" fmla="val 8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8" name="Rounded Rectangle 27"/>
          <p:cNvSpPr/>
          <p:nvPr/>
        </p:nvSpPr>
        <p:spPr>
          <a:xfrm>
            <a:off x="367560" y="4096440"/>
            <a:ext cx="52560" cy="400320"/>
          </a:xfrm>
          <a:prstGeom prst="roundRect">
            <a:avLst>
              <a:gd name="adj" fmla="val 4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9" name="TextBox 28"/>
          <p:cNvSpPr/>
          <p:nvPr/>
        </p:nvSpPr>
        <p:spPr>
          <a:xfrm>
            <a:off x="495720" y="4114800"/>
            <a:ext cx="39618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</a:rPr>
              <a:t>ACR Integration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Box 29"/>
          <p:cNvSpPr/>
          <p:nvPr/>
        </p:nvSpPr>
        <p:spPr>
          <a:xfrm>
            <a:off x="495720" y="4316040"/>
            <a:ext cx="39618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860" spc="-1" strike="noStrike">
                <a:solidFill>
                  <a:srgbClr val="a8b2d8"/>
                </a:solidFill>
                <a:latin typeface="Calibri"/>
              </a:rPr>
              <a:t>az aks update --attach-acr → AcrPull granted, no imagePullSecrets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Rounded Rectangle 30"/>
          <p:cNvSpPr/>
          <p:nvPr/>
        </p:nvSpPr>
        <p:spPr>
          <a:xfrm>
            <a:off x="4896000" y="1180080"/>
            <a:ext cx="3970080" cy="2705040"/>
          </a:xfrm>
          <a:prstGeom prst="roundRect">
            <a:avLst>
              <a:gd name="adj" fmla="val 10000"/>
            </a:avLst>
          </a:prstGeom>
          <a:solidFill>
            <a:srgbClr val="e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2" name="TextBox 31"/>
          <p:cNvSpPr/>
          <p:nvPr/>
        </p:nvSpPr>
        <p:spPr>
          <a:xfrm>
            <a:off x="5029200" y="1289880"/>
            <a:ext cx="3710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1a1e4f"/>
                </a:solidFill>
                <a:latin typeface="Calibri"/>
              </a:rPr>
              <a:t>Running Before You Deploy Anything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Rounded Rectangle 32"/>
          <p:cNvSpPr/>
          <p:nvPr/>
        </p:nvSpPr>
        <p:spPr>
          <a:xfrm>
            <a:off x="4989960" y="1599840"/>
            <a:ext cx="3710160" cy="308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4" name="TextBox 33"/>
          <p:cNvSpPr/>
          <p:nvPr/>
        </p:nvSpPr>
        <p:spPr>
          <a:xfrm>
            <a:off x="5040000" y="1599840"/>
            <a:ext cx="144828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80" spc="-1" strike="noStrike">
                <a:solidFill>
                  <a:srgbClr val="1a1e4f"/>
                </a:solidFill>
                <a:latin typeface="Calibri"/>
              </a:rPr>
              <a:t>CoreDNS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Box 34"/>
          <p:cNvSpPr/>
          <p:nvPr/>
        </p:nvSpPr>
        <p:spPr>
          <a:xfrm>
            <a:off x="6509880" y="1599840"/>
            <a:ext cx="2000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55c80"/>
                </a:solidFill>
                <a:latin typeface="Calibri"/>
              </a:rPr>
              <a:t>In-cluster DNS resolution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Rounded Rectangle 35"/>
          <p:cNvSpPr/>
          <p:nvPr/>
        </p:nvSpPr>
        <p:spPr>
          <a:xfrm>
            <a:off x="4989960" y="1959840"/>
            <a:ext cx="3710160" cy="308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7" name="TextBox 36"/>
          <p:cNvSpPr/>
          <p:nvPr/>
        </p:nvSpPr>
        <p:spPr>
          <a:xfrm>
            <a:off x="5040000" y="1959840"/>
            <a:ext cx="144828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80" spc="-1" strike="noStrike">
                <a:solidFill>
                  <a:srgbClr val="1a1e4f"/>
                </a:solidFill>
                <a:latin typeface="Calibri"/>
              </a:rPr>
              <a:t>Metrics Server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Box 37"/>
          <p:cNvSpPr/>
          <p:nvPr/>
        </p:nvSpPr>
        <p:spPr>
          <a:xfrm>
            <a:off x="6509880" y="1959840"/>
            <a:ext cx="2000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55c80"/>
                </a:solidFill>
                <a:latin typeface="Calibri"/>
              </a:rPr>
              <a:t>Powers kubectl top + HPA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Rounded Rectangle 38"/>
          <p:cNvSpPr/>
          <p:nvPr/>
        </p:nvSpPr>
        <p:spPr>
          <a:xfrm>
            <a:off x="4989960" y="2319840"/>
            <a:ext cx="3710160" cy="308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0" name="TextBox 39"/>
          <p:cNvSpPr/>
          <p:nvPr/>
        </p:nvSpPr>
        <p:spPr>
          <a:xfrm>
            <a:off x="5040000" y="2319840"/>
            <a:ext cx="144828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80" spc="-1" strike="noStrike">
                <a:solidFill>
                  <a:srgbClr val="1a1e4f"/>
                </a:solidFill>
                <a:latin typeface="Calibri"/>
              </a:rPr>
              <a:t>Azure CNS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Box 40"/>
          <p:cNvSpPr/>
          <p:nvPr/>
        </p:nvSpPr>
        <p:spPr>
          <a:xfrm>
            <a:off x="6509880" y="2319840"/>
            <a:ext cx="2000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55c80"/>
                </a:solidFill>
                <a:latin typeface="Calibri"/>
              </a:rPr>
              <a:t>Pod networking integration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Rounded Rectangle 41"/>
          <p:cNvSpPr/>
          <p:nvPr/>
        </p:nvSpPr>
        <p:spPr>
          <a:xfrm>
            <a:off x="4989960" y="2679840"/>
            <a:ext cx="3710160" cy="308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3" name="TextBox 42"/>
          <p:cNvSpPr/>
          <p:nvPr/>
        </p:nvSpPr>
        <p:spPr>
          <a:xfrm>
            <a:off x="5040000" y="2679840"/>
            <a:ext cx="144828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80" spc="-1" strike="noStrike">
                <a:solidFill>
                  <a:srgbClr val="1a1e4f"/>
                </a:solidFill>
                <a:latin typeface="Calibri"/>
              </a:rPr>
              <a:t>Azure File / Disk CSI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Box 43"/>
          <p:cNvSpPr/>
          <p:nvPr/>
        </p:nvSpPr>
        <p:spPr>
          <a:xfrm>
            <a:off x="6509880" y="2679840"/>
            <a:ext cx="2000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55c80"/>
                </a:solidFill>
                <a:latin typeface="Calibri"/>
              </a:rPr>
              <a:t>Persistent Volume drivers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Rounded Rectangle 44"/>
          <p:cNvSpPr/>
          <p:nvPr/>
        </p:nvSpPr>
        <p:spPr>
          <a:xfrm>
            <a:off x="4989960" y="3039840"/>
            <a:ext cx="3710160" cy="308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6" name="TextBox 45"/>
          <p:cNvSpPr/>
          <p:nvPr/>
        </p:nvSpPr>
        <p:spPr>
          <a:xfrm>
            <a:off x="5040000" y="3039840"/>
            <a:ext cx="144828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80" spc="-1" strike="noStrike">
                <a:solidFill>
                  <a:srgbClr val="1a1e4f"/>
                </a:solidFill>
                <a:latin typeface="Calibri"/>
              </a:rPr>
              <a:t>Kube Proxy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Box 46"/>
          <p:cNvSpPr/>
          <p:nvPr/>
        </p:nvSpPr>
        <p:spPr>
          <a:xfrm>
            <a:off x="6509880" y="3039840"/>
            <a:ext cx="2000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55c80"/>
                </a:solidFill>
                <a:latin typeface="Calibri"/>
              </a:rPr>
              <a:t>Service networking &amp; routing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78" name="Connector 47"/>
          <p:cNvCxnSpPr/>
          <p:nvPr/>
        </p:nvCxnSpPr>
        <p:spPr>
          <a:xfrm>
            <a:off x="4989960" y="3439800"/>
            <a:ext cx="3713760" cy="1800"/>
          </a:xfrm>
          <a:prstGeom prst="straightConnector1">
            <a:avLst/>
          </a:prstGeom>
          <a:ln w="9525">
            <a:solidFill>
              <a:srgbClr val="c8cdee"/>
            </a:solidFill>
            <a:round/>
          </a:ln>
        </p:spPr>
      </p:cxnSp>
      <p:sp>
        <p:nvSpPr>
          <p:cNvPr id="379" name="TextBox 48"/>
          <p:cNvSpPr/>
          <p:nvPr/>
        </p:nvSpPr>
        <p:spPr>
          <a:xfrm>
            <a:off x="5025960" y="3489840"/>
            <a:ext cx="3710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30" spc="-1" strike="noStrike">
                <a:solidFill>
                  <a:srgbClr val="555c80"/>
                </a:solidFill>
                <a:latin typeface="Calibri"/>
              </a:rPr>
              <a:t>Script: aks_cluster.sh — provision, connect, validate, repeat safely.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Rectangle 1"/>
          <p:cNvSpPr/>
          <p:nvPr/>
        </p:nvSpPr>
        <p:spPr>
          <a:xfrm>
            <a:off x="0" y="0"/>
            <a:ext cx="52560" cy="5141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1" name="TextBox 2"/>
          <p:cNvSpPr/>
          <p:nvPr/>
        </p:nvSpPr>
        <p:spPr>
          <a:xfrm>
            <a:off x="274320" y="228600"/>
            <a:ext cx="8593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850" spc="333" strike="noStrike">
                <a:solidFill>
                  <a:srgbClr val="f5a623"/>
                </a:solidFill>
                <a:latin typeface="Calibri"/>
              </a:rPr>
              <a:t>WEEK 2  ·  DAY 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Box 3"/>
          <p:cNvSpPr/>
          <p:nvPr/>
        </p:nvSpPr>
        <p:spPr>
          <a:xfrm>
            <a:off x="274320" y="457200"/>
            <a:ext cx="47988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a1e4f"/>
                </a:solidFill>
                <a:latin typeface="Cambria"/>
              </a:rPr>
              <a:t>AKS Workloads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Rounded Rectangle 4"/>
          <p:cNvSpPr/>
          <p:nvPr/>
        </p:nvSpPr>
        <p:spPr>
          <a:xfrm>
            <a:off x="4800600" y="228600"/>
            <a:ext cx="4029840" cy="798120"/>
          </a:xfrm>
          <a:prstGeom prst="roundRect">
            <a:avLst>
              <a:gd name="adj" fmla="val 10000"/>
            </a:avLst>
          </a:prstGeom>
          <a:solidFill>
            <a:srgbClr val="14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4" name="TextBox 5"/>
          <p:cNvSpPr/>
          <p:nvPr/>
        </p:nvSpPr>
        <p:spPr>
          <a:xfrm>
            <a:off x="4800600" y="228600"/>
            <a:ext cx="3899520" cy="79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0" lang="en-US" sz="1200" spc="-1" strike="noStrike">
                <a:solidFill>
                  <a:srgbClr val="f5a623"/>
                </a:solidFill>
                <a:latin typeface="Calibri"/>
              </a:rPr>
              <a:t>Verified live: BusyBox load generator drove pod CPU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30000"/>
              </a:lnSpc>
            </a:pPr>
            <a:r>
              <a:rPr b="0" lang="en-US" sz="1200" spc="-1" strike="noStrike">
                <a:solidFill>
                  <a:srgbClr val="f5a623"/>
                </a:solidFill>
                <a:latin typeface="Calibri"/>
              </a:rPr>
              <a:t>from 1% → 32% — HPA evaluated real metrics.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Rounded Rectangle 6"/>
          <p:cNvSpPr/>
          <p:nvPr/>
        </p:nvSpPr>
        <p:spPr>
          <a:xfrm>
            <a:off x="237600" y="1180080"/>
            <a:ext cx="4218120" cy="3698280"/>
          </a:xfrm>
          <a:prstGeom prst="roundRect">
            <a:avLst>
              <a:gd name="adj" fmla="val 10000"/>
            </a:avLst>
          </a:prstGeom>
          <a:solidFill>
            <a:srgbClr val="0f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86" name="Picture 7" descr="scale_white.png"/>
          <p:cNvPicPr/>
          <p:nvPr/>
        </p:nvPicPr>
        <p:blipFill>
          <a:blip r:embed="rId1"/>
          <a:stretch/>
        </p:blipFill>
        <p:spPr>
          <a:xfrm>
            <a:off x="367560" y="131004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387" name="TextBox 8"/>
          <p:cNvSpPr/>
          <p:nvPr/>
        </p:nvSpPr>
        <p:spPr>
          <a:xfrm>
            <a:off x="367560" y="1720080"/>
            <a:ext cx="39582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5a623"/>
                </a:solidFill>
                <a:latin typeface="Calibri"/>
              </a:rPr>
              <a:t>Day 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Box 9"/>
          <p:cNvSpPr/>
          <p:nvPr/>
        </p:nvSpPr>
        <p:spPr>
          <a:xfrm>
            <a:off x="367560" y="1929960"/>
            <a:ext cx="39582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Deployment → Live Traffic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Box 10"/>
          <p:cNvSpPr/>
          <p:nvPr/>
        </p:nvSpPr>
        <p:spPr>
          <a:xfrm>
            <a:off x="367560" y="2250000"/>
            <a:ext cx="395820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i="1" lang="en-US" sz="1100" spc="-1" strike="noStrike">
                <a:solidFill>
                  <a:srgbClr val="a8b2d8"/>
                </a:solidFill>
                <a:latin typeface="Calibri"/>
              </a:rPr>
              <a:t>“</a:t>
            </a:r>
            <a:r>
              <a:rPr b="0" i="1" lang="en-US" sz="1100" spc="-1" strike="noStrike">
                <a:solidFill>
                  <a:srgbClr val="a8b2d8"/>
                </a:solidFill>
                <a:latin typeface="Calibri"/>
              </a:rPr>
              <a:t>Azure networking takes over where Minikube stopped.”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Box 11"/>
          <p:cNvSpPr/>
          <p:nvPr/>
        </p:nvSpPr>
        <p:spPr>
          <a:xfrm>
            <a:off x="367560" y="2570040"/>
            <a:ext cx="3958200" cy="14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3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Deployment → ReplicaSet → 2 Pods (10.244.0.x)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3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type: LoadBalancer → Azure assigns a Public IP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3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NGINX Ingress Controller installed via Helm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3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Scaled manually: 2 → 3 replicas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3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HPA: min 3 / max 10 pods @ 50% target CPU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Rounded Rectangle 12"/>
          <p:cNvSpPr/>
          <p:nvPr/>
        </p:nvSpPr>
        <p:spPr>
          <a:xfrm>
            <a:off x="384120" y="4114800"/>
            <a:ext cx="3958200" cy="478080"/>
          </a:xfrm>
          <a:prstGeom prst="roundRect">
            <a:avLst>
              <a:gd name="adj" fmla="val 10000"/>
            </a:avLst>
          </a:prstGeom>
          <a:solidFill>
            <a:srgbClr val="14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2" name="TextBox 13"/>
          <p:cNvSpPr/>
          <p:nvPr/>
        </p:nvSpPr>
        <p:spPr>
          <a:xfrm>
            <a:off x="457200" y="4114800"/>
            <a:ext cx="3885120" cy="47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2000"/>
              </a:lnSpc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</a:rPr>
              <a:t>One Ingress + routing rules replaces one Public IP per service — lower cost, lower complexity.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Rounded Rectangle 14"/>
          <p:cNvSpPr/>
          <p:nvPr/>
        </p:nvSpPr>
        <p:spPr>
          <a:xfrm>
            <a:off x="4700160" y="1180080"/>
            <a:ext cx="4130280" cy="3698280"/>
          </a:xfrm>
          <a:prstGeom prst="roundRect">
            <a:avLst>
              <a:gd name="adj" fmla="val 10000"/>
            </a:avLst>
          </a:prstGeom>
          <a:solidFill>
            <a:srgbClr val="e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94" name="Picture 15" descr="k8s_wheel_orange.png"/>
          <p:cNvPicPr/>
          <p:nvPr/>
        </p:nvPicPr>
        <p:blipFill>
          <a:blip r:embed="rId2"/>
          <a:stretch/>
        </p:blipFill>
        <p:spPr>
          <a:xfrm>
            <a:off x="4830120" y="1289880"/>
            <a:ext cx="278280" cy="278280"/>
          </a:xfrm>
          <a:prstGeom prst="rect">
            <a:avLst/>
          </a:prstGeom>
          <a:ln w="0">
            <a:noFill/>
          </a:ln>
        </p:spPr>
      </p:pic>
      <p:sp>
        <p:nvSpPr>
          <p:cNvPr id="395" name="TextBox 16"/>
          <p:cNvSpPr/>
          <p:nvPr/>
        </p:nvSpPr>
        <p:spPr>
          <a:xfrm>
            <a:off x="5159880" y="1289880"/>
            <a:ext cx="354024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1a1e4f"/>
                </a:solidFill>
                <a:latin typeface="Calibri"/>
              </a:rPr>
              <a:t>Azure Networking Service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Box 17"/>
          <p:cNvSpPr/>
          <p:nvPr/>
        </p:nvSpPr>
        <p:spPr>
          <a:xfrm>
            <a:off x="4830120" y="1620000"/>
            <a:ext cx="3870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i="1" lang="en-US" sz="1000" spc="-1" strike="noStrike">
                <a:solidFill>
                  <a:srgbClr val="555c80"/>
                </a:solidFill>
                <a:latin typeface="Calibri"/>
              </a:rPr>
              <a:t>“</a:t>
            </a:r>
            <a:r>
              <a:rPr b="0" i="1" lang="en-US" sz="1000" spc="-1" strike="noStrike">
                <a:solidFill>
                  <a:srgbClr val="555c80"/>
                </a:solidFill>
                <a:latin typeface="Calibri"/>
              </a:rPr>
              <a:t>From Pod to public traffic in five hops.”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Box 18"/>
          <p:cNvSpPr/>
          <p:nvPr/>
        </p:nvSpPr>
        <p:spPr>
          <a:xfrm>
            <a:off x="4830120" y="1940040"/>
            <a:ext cx="38703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5a623"/>
                </a:solidFill>
                <a:latin typeface="Calibri"/>
              </a:rPr>
              <a:t>Traffic Flow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Rounded Rectangle 19"/>
          <p:cNvSpPr/>
          <p:nvPr/>
        </p:nvSpPr>
        <p:spPr>
          <a:xfrm>
            <a:off x="4830120" y="2189880"/>
            <a:ext cx="1096200" cy="418320"/>
          </a:xfrm>
          <a:prstGeom prst="roundRect">
            <a:avLst>
              <a:gd name="adj" fmla="val 1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9" name="TextBox 20"/>
          <p:cNvSpPr/>
          <p:nvPr/>
        </p:nvSpPr>
        <p:spPr>
          <a:xfrm>
            <a:off x="4830120" y="2330640"/>
            <a:ext cx="11124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160" rIns="2016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Pod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Box 21"/>
          <p:cNvSpPr/>
          <p:nvPr/>
        </p:nvSpPr>
        <p:spPr>
          <a:xfrm>
            <a:off x="5970960" y="2286000"/>
            <a:ext cx="1641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5a623"/>
                </a:solidFill>
                <a:latin typeface="Arial"/>
              </a:rPr>
              <a:t>→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Rounded Rectangle 22"/>
          <p:cNvSpPr/>
          <p:nvPr/>
        </p:nvSpPr>
        <p:spPr>
          <a:xfrm>
            <a:off x="6172200" y="2189880"/>
            <a:ext cx="1096200" cy="418320"/>
          </a:xfrm>
          <a:prstGeom prst="roundRect">
            <a:avLst>
              <a:gd name="adj" fmla="val 1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2" name="TextBox 23"/>
          <p:cNvSpPr/>
          <p:nvPr/>
        </p:nvSpPr>
        <p:spPr>
          <a:xfrm>
            <a:off x="6172200" y="2330640"/>
            <a:ext cx="11419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160" rIns="2016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Service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Box 24"/>
          <p:cNvSpPr/>
          <p:nvPr/>
        </p:nvSpPr>
        <p:spPr>
          <a:xfrm>
            <a:off x="7324200" y="2286000"/>
            <a:ext cx="1641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5a623"/>
                </a:solidFill>
                <a:latin typeface="Arial"/>
              </a:rPr>
              <a:t>→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Rounded Rectangle 25"/>
          <p:cNvSpPr/>
          <p:nvPr/>
        </p:nvSpPr>
        <p:spPr>
          <a:xfrm>
            <a:off x="7543800" y="2189880"/>
            <a:ext cx="1096920" cy="418320"/>
          </a:xfrm>
          <a:prstGeom prst="roundRect">
            <a:avLst>
              <a:gd name="adj" fmla="val 1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5" name="TextBox 26"/>
          <p:cNvSpPr/>
          <p:nvPr/>
        </p:nvSpPr>
        <p:spPr>
          <a:xfrm>
            <a:off x="7543800" y="2330640"/>
            <a:ext cx="10969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160" rIns="2016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Endpoints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Rounded Rectangle 27"/>
          <p:cNvSpPr/>
          <p:nvPr/>
        </p:nvSpPr>
        <p:spPr>
          <a:xfrm>
            <a:off x="4830120" y="2720160"/>
            <a:ext cx="1096200" cy="418320"/>
          </a:xfrm>
          <a:prstGeom prst="roundRect">
            <a:avLst>
              <a:gd name="adj" fmla="val 1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7" name="TextBox 28"/>
          <p:cNvSpPr/>
          <p:nvPr/>
        </p:nvSpPr>
        <p:spPr>
          <a:xfrm>
            <a:off x="4830120" y="2860920"/>
            <a:ext cx="11124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160" rIns="2016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Azure LB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Box 29"/>
          <p:cNvSpPr/>
          <p:nvPr/>
        </p:nvSpPr>
        <p:spPr>
          <a:xfrm>
            <a:off x="5970960" y="2788920"/>
            <a:ext cx="1641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5a623"/>
                </a:solidFill>
                <a:latin typeface="Arial"/>
              </a:rPr>
              <a:t>→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Rounded Rectangle 30"/>
          <p:cNvSpPr/>
          <p:nvPr/>
        </p:nvSpPr>
        <p:spPr>
          <a:xfrm>
            <a:off x="6172200" y="2720160"/>
            <a:ext cx="1096200" cy="418320"/>
          </a:xfrm>
          <a:prstGeom prst="roundRect">
            <a:avLst>
              <a:gd name="adj" fmla="val 1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0" name="TextBox 31"/>
          <p:cNvSpPr/>
          <p:nvPr/>
        </p:nvSpPr>
        <p:spPr>
          <a:xfrm>
            <a:off x="6172200" y="2860920"/>
            <a:ext cx="10969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160" rIns="2016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Public IP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Box 32"/>
          <p:cNvSpPr/>
          <p:nvPr/>
        </p:nvSpPr>
        <p:spPr>
          <a:xfrm>
            <a:off x="7324200" y="2788920"/>
            <a:ext cx="1641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5a623"/>
                </a:solidFill>
                <a:latin typeface="Arial"/>
              </a:rPr>
              <a:t>→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Rounded Rectangle 33"/>
          <p:cNvSpPr/>
          <p:nvPr/>
        </p:nvSpPr>
        <p:spPr>
          <a:xfrm>
            <a:off x="7543800" y="2720160"/>
            <a:ext cx="1096200" cy="418320"/>
          </a:xfrm>
          <a:prstGeom prst="roundRect">
            <a:avLst>
              <a:gd name="adj" fmla="val 12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3" name="TextBox 34"/>
          <p:cNvSpPr/>
          <p:nvPr/>
        </p:nvSpPr>
        <p:spPr>
          <a:xfrm>
            <a:off x="7543800" y="2860920"/>
            <a:ext cx="1096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160" rIns="2016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0f1035"/>
                </a:solidFill>
                <a:latin typeface="Calibri"/>
              </a:rPr>
              <a:t>Browser 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Box 35"/>
          <p:cNvSpPr/>
          <p:nvPr/>
        </p:nvSpPr>
        <p:spPr>
          <a:xfrm>
            <a:off x="4830120" y="3340080"/>
            <a:ext cx="38703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5a623"/>
                </a:solidFill>
                <a:latin typeface="Calibri"/>
              </a:rPr>
              <a:t>Service Details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Box 36"/>
          <p:cNvSpPr/>
          <p:nvPr/>
        </p:nvSpPr>
        <p:spPr>
          <a:xfrm>
            <a:off x="4830120" y="3620160"/>
            <a:ext cx="81828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1a1e4f"/>
                </a:solidFill>
                <a:latin typeface="Calibri"/>
              </a:rPr>
              <a:t>Service: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Box 37"/>
          <p:cNvSpPr/>
          <p:nvPr/>
        </p:nvSpPr>
        <p:spPr>
          <a:xfrm>
            <a:off x="5649840" y="3620160"/>
            <a:ext cx="305028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555c80"/>
                </a:solidFill>
                <a:latin typeface="Courier New"/>
              </a:rPr>
              <a:t>type: LoadBalancer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Box 38"/>
          <p:cNvSpPr/>
          <p:nvPr/>
        </p:nvSpPr>
        <p:spPr>
          <a:xfrm>
            <a:off x="4830120" y="3899880"/>
            <a:ext cx="81828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1a1e4f"/>
                </a:solidFill>
                <a:latin typeface="Calibri"/>
              </a:rPr>
              <a:t>Selector: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Box 39"/>
          <p:cNvSpPr/>
          <p:nvPr/>
        </p:nvSpPr>
        <p:spPr>
          <a:xfrm>
            <a:off x="5649840" y="3899880"/>
            <a:ext cx="305028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555c80"/>
                </a:solidFill>
                <a:latin typeface="Courier New"/>
              </a:rPr>
              <a:t>app=nginx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Box 40"/>
          <p:cNvSpPr/>
          <p:nvPr/>
        </p:nvSpPr>
        <p:spPr>
          <a:xfrm>
            <a:off x="4830120" y="4179960"/>
            <a:ext cx="81828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1a1e4f"/>
                </a:solidFill>
                <a:latin typeface="Calibri"/>
              </a:rPr>
              <a:t>Ingress: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Box 41"/>
          <p:cNvSpPr/>
          <p:nvPr/>
        </p:nvSpPr>
        <p:spPr>
          <a:xfrm>
            <a:off x="5649840" y="4179960"/>
            <a:ext cx="305028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555c80"/>
                </a:solidFill>
                <a:latin typeface="Courier New"/>
              </a:rPr>
              <a:t>nginx-ingress (Helm)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Box 42"/>
          <p:cNvSpPr/>
          <p:nvPr/>
        </p:nvSpPr>
        <p:spPr>
          <a:xfrm>
            <a:off x="4830120" y="4460040"/>
            <a:ext cx="81828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1a1e4f"/>
                </a:solidFill>
                <a:latin typeface="Calibri"/>
              </a:rPr>
              <a:t>HPA: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Box 43"/>
          <p:cNvSpPr/>
          <p:nvPr/>
        </p:nvSpPr>
        <p:spPr>
          <a:xfrm>
            <a:off x="5649840" y="4460040"/>
            <a:ext cx="305028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555c80"/>
                </a:solidFill>
                <a:latin typeface="Courier New"/>
              </a:rPr>
              <a:t>min 3 · max 10 · 50% CPU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Rectangle 1"/>
          <p:cNvSpPr/>
          <p:nvPr/>
        </p:nvSpPr>
        <p:spPr>
          <a:xfrm>
            <a:off x="0" y="0"/>
            <a:ext cx="52560" cy="5141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4" name="TextBox 2"/>
          <p:cNvSpPr/>
          <p:nvPr/>
        </p:nvSpPr>
        <p:spPr>
          <a:xfrm>
            <a:off x="274320" y="228600"/>
            <a:ext cx="8593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850" spc="333" strike="noStrike">
                <a:solidFill>
                  <a:srgbClr val="f5a623"/>
                </a:solidFill>
                <a:latin typeface="Calibri"/>
              </a:rPr>
              <a:t>WEEK 2  ·  DAYS 3–4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Box 3"/>
          <p:cNvSpPr/>
          <p:nvPr/>
        </p:nvSpPr>
        <p:spPr>
          <a:xfrm>
            <a:off x="274320" y="457200"/>
            <a:ext cx="66985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</a:rPr>
              <a:t>CI/CD Pipeline &amp; Delivery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TextBox 4"/>
          <p:cNvSpPr/>
          <p:nvPr/>
        </p:nvSpPr>
        <p:spPr>
          <a:xfrm>
            <a:off x="274320" y="1019880"/>
            <a:ext cx="859320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Day 3 wired Azure DevOps repos and a first pipeline. Day 4 made every git push deploy itself to AKS.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Rounded Rectangle 5"/>
          <p:cNvSpPr/>
          <p:nvPr/>
        </p:nvSpPr>
        <p:spPr>
          <a:xfrm>
            <a:off x="237600" y="1479960"/>
            <a:ext cx="1557360" cy="97812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8" name="TextBox 6"/>
          <p:cNvSpPr/>
          <p:nvPr/>
        </p:nvSpPr>
        <p:spPr>
          <a:xfrm>
            <a:off x="237600" y="1569960"/>
            <a:ext cx="1557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Git Push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TextBox 7"/>
          <p:cNvSpPr/>
          <p:nvPr/>
        </p:nvSpPr>
        <p:spPr>
          <a:xfrm>
            <a:off x="277560" y="1829880"/>
            <a:ext cx="1477080" cy="58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18000"/>
              </a:lnSpc>
            </a:pPr>
            <a:r>
              <a:rPr b="0" lang="en-US" sz="870" spc="-1" strike="noStrike">
                <a:solidFill>
                  <a:srgbClr val="a8b2d8"/>
                </a:solidFill>
                <a:latin typeface="Courier New"/>
              </a:rPr>
              <a:t>main branch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18000"/>
              </a:lnSpc>
            </a:pPr>
            <a:r>
              <a:rPr b="0" lang="en-US" sz="870" spc="-1" strike="noStrike">
                <a:solidFill>
                  <a:srgbClr val="a8b2d8"/>
                </a:solidFill>
                <a:latin typeface="Courier New"/>
              </a:rPr>
              <a:t>azure-pipelines.yml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Box 8"/>
          <p:cNvSpPr/>
          <p:nvPr/>
        </p:nvSpPr>
        <p:spPr>
          <a:xfrm>
            <a:off x="1795320" y="1848240"/>
            <a:ext cx="202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5a623"/>
                </a:solidFill>
                <a:latin typeface="Arial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Rounded Rectangle 9"/>
          <p:cNvSpPr/>
          <p:nvPr/>
        </p:nvSpPr>
        <p:spPr>
          <a:xfrm>
            <a:off x="1996560" y="1479960"/>
            <a:ext cx="1557360" cy="97812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2" name="TextBox 10"/>
          <p:cNvSpPr/>
          <p:nvPr/>
        </p:nvSpPr>
        <p:spPr>
          <a:xfrm>
            <a:off x="1996560" y="1569960"/>
            <a:ext cx="1557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Build Image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Box 11"/>
          <p:cNvSpPr/>
          <p:nvPr/>
        </p:nvSpPr>
        <p:spPr>
          <a:xfrm>
            <a:off x="2036520" y="1829880"/>
            <a:ext cx="1477080" cy="58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18000"/>
              </a:lnSpc>
            </a:pPr>
            <a:r>
              <a:rPr b="0" lang="en-US" sz="870" spc="-1" strike="noStrike">
                <a:solidFill>
                  <a:srgbClr val="a8b2d8"/>
                </a:solidFill>
                <a:latin typeface="Courier New"/>
              </a:rPr>
              <a:t>Docker@2 task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18000"/>
              </a:lnSpc>
            </a:pPr>
            <a:r>
              <a:rPr b="0" lang="en-US" sz="870" spc="-1" strike="noStrike">
                <a:solidFill>
                  <a:srgbClr val="a8b2d8"/>
                </a:solidFill>
                <a:latin typeface="Courier New"/>
              </a:rPr>
              <a:t>multi-arch buildx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TextBox 12"/>
          <p:cNvSpPr/>
          <p:nvPr/>
        </p:nvSpPr>
        <p:spPr>
          <a:xfrm>
            <a:off x="3554280" y="1848240"/>
            <a:ext cx="202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5a623"/>
                </a:solidFill>
                <a:latin typeface="Arial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Rounded Rectangle 13"/>
          <p:cNvSpPr/>
          <p:nvPr/>
        </p:nvSpPr>
        <p:spPr>
          <a:xfrm>
            <a:off x="3755520" y="1479960"/>
            <a:ext cx="1557360" cy="97812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6" name="TextBox 14"/>
          <p:cNvSpPr/>
          <p:nvPr/>
        </p:nvSpPr>
        <p:spPr>
          <a:xfrm>
            <a:off x="3755520" y="1569960"/>
            <a:ext cx="1557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Push to ACR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Box 15"/>
          <p:cNvSpPr/>
          <p:nvPr/>
        </p:nvSpPr>
        <p:spPr>
          <a:xfrm>
            <a:off x="3795480" y="1829880"/>
            <a:ext cx="1477080" cy="58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18000"/>
              </a:lnSpc>
            </a:pPr>
            <a:r>
              <a:rPr b="0" lang="en-US" sz="870" spc="-1" strike="noStrike">
                <a:solidFill>
                  <a:srgbClr val="a8b2d8"/>
                </a:solidFill>
                <a:latin typeface="Courier New"/>
              </a:rPr>
              <a:t>acr-connection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18000"/>
              </a:lnSpc>
            </a:pPr>
            <a:r>
              <a:rPr b="0" lang="en-US" sz="870" spc="-1" strike="noStrike">
                <a:solidFill>
                  <a:srgbClr val="a8b2d8"/>
                </a:solidFill>
                <a:latin typeface="Courier New"/>
              </a:rPr>
              <a:t>tag: $(Build.BuildId)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TextBox 16"/>
          <p:cNvSpPr/>
          <p:nvPr/>
        </p:nvSpPr>
        <p:spPr>
          <a:xfrm>
            <a:off x="5313600" y="1848240"/>
            <a:ext cx="202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5a623"/>
                </a:solidFill>
                <a:latin typeface="Arial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Rounded Rectangle 17"/>
          <p:cNvSpPr/>
          <p:nvPr/>
        </p:nvSpPr>
        <p:spPr>
          <a:xfrm>
            <a:off x="5514480" y="1479960"/>
            <a:ext cx="1557360" cy="97812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0" name="TextBox 18"/>
          <p:cNvSpPr/>
          <p:nvPr/>
        </p:nvSpPr>
        <p:spPr>
          <a:xfrm>
            <a:off x="5514480" y="1569960"/>
            <a:ext cx="1557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Deploy to AKS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TextBox 19"/>
          <p:cNvSpPr/>
          <p:nvPr/>
        </p:nvSpPr>
        <p:spPr>
          <a:xfrm>
            <a:off x="5554440" y="1829880"/>
            <a:ext cx="1477080" cy="58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18000"/>
              </a:lnSpc>
            </a:pPr>
            <a:r>
              <a:rPr b="0" lang="en-US" sz="870" spc="-1" strike="noStrike">
                <a:solidFill>
                  <a:srgbClr val="a8b2d8"/>
                </a:solidFill>
                <a:latin typeface="Courier New"/>
              </a:rPr>
              <a:t>kubectl set image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18000"/>
              </a:lnSpc>
            </a:pPr>
            <a:r>
              <a:rPr b="0" lang="en-US" sz="870" spc="-1" strike="noStrike">
                <a:solidFill>
                  <a:srgbClr val="a8b2d8"/>
                </a:solidFill>
                <a:latin typeface="Courier New"/>
              </a:rPr>
              <a:t>flask-app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Box 20"/>
          <p:cNvSpPr/>
          <p:nvPr/>
        </p:nvSpPr>
        <p:spPr>
          <a:xfrm>
            <a:off x="7072560" y="1848240"/>
            <a:ext cx="202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5a623"/>
                </a:solidFill>
                <a:latin typeface="Arial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Rounded Rectangle 21"/>
          <p:cNvSpPr/>
          <p:nvPr/>
        </p:nvSpPr>
        <p:spPr>
          <a:xfrm>
            <a:off x="7273440" y="1479960"/>
            <a:ext cx="1557360" cy="9781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4" name="TextBox 22"/>
          <p:cNvSpPr/>
          <p:nvPr/>
        </p:nvSpPr>
        <p:spPr>
          <a:xfrm>
            <a:off x="7273440" y="1569960"/>
            <a:ext cx="1557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0f1035"/>
                </a:solidFill>
                <a:latin typeface="Calibri"/>
              </a:rPr>
              <a:t>Live App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Box 23"/>
          <p:cNvSpPr/>
          <p:nvPr/>
        </p:nvSpPr>
        <p:spPr>
          <a:xfrm>
            <a:off x="7313760" y="1829880"/>
            <a:ext cx="1477080" cy="58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18000"/>
              </a:lnSpc>
            </a:pPr>
            <a:r>
              <a:rPr b="0" lang="en-US" sz="870" spc="-1" strike="noStrike">
                <a:solidFill>
                  <a:srgbClr val="3a3310"/>
                </a:solidFill>
                <a:latin typeface="Courier New"/>
              </a:rPr>
              <a:t>RollingUpdate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18000"/>
              </a:lnSpc>
            </a:pPr>
            <a:r>
              <a:rPr b="0" lang="en-US" sz="870" spc="-1" strike="noStrike">
                <a:solidFill>
                  <a:srgbClr val="3a3310"/>
                </a:solidFill>
                <a:latin typeface="Courier New"/>
              </a:rPr>
              <a:t>maxUnavailable: 0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Rounded Rectangle 24"/>
          <p:cNvSpPr/>
          <p:nvPr/>
        </p:nvSpPr>
        <p:spPr>
          <a:xfrm>
            <a:off x="237600" y="2700000"/>
            <a:ext cx="2759400" cy="217836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7" name="Rounded Rectangle 25"/>
          <p:cNvSpPr/>
          <p:nvPr/>
        </p:nvSpPr>
        <p:spPr>
          <a:xfrm>
            <a:off x="367560" y="2829960"/>
            <a:ext cx="268200" cy="26820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0f1035"/>
                </a:solidFill>
                <a:latin typeface="Calibri"/>
              </a:rPr>
              <a:t>01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Box 26"/>
          <p:cNvSpPr/>
          <p:nvPr/>
        </p:nvSpPr>
        <p:spPr>
          <a:xfrm>
            <a:off x="717480" y="2829960"/>
            <a:ext cx="214956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Repos &amp; Pipeline Basics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49" name="Connector 27"/>
          <p:cNvCxnSpPr/>
          <p:nvPr/>
        </p:nvCxnSpPr>
        <p:spPr>
          <a:xfrm>
            <a:off x="367560" y="3159720"/>
            <a:ext cx="2502720" cy="1800"/>
          </a:xfrm>
          <a:prstGeom prst="straightConnector1">
            <a:avLst/>
          </a:prstGeom>
          <a:ln w="9525">
            <a:solidFill>
              <a:srgbClr val="3a3f7a"/>
            </a:solidFill>
            <a:round/>
          </a:ln>
        </p:spPr>
      </p:cxnSp>
      <p:sp>
        <p:nvSpPr>
          <p:cNvPr id="450" name="TextBox 28"/>
          <p:cNvSpPr/>
          <p:nvPr/>
        </p:nvSpPr>
        <p:spPr>
          <a:xfrm>
            <a:off x="367560" y="3269880"/>
            <a:ext cx="2499480" cy="15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Azure DevOps org + project created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Repo pushed, remote added to main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azure-pipelines.yml: echo + build step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Auto-triggered on every commit to main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Rounded Rectangle 29"/>
          <p:cNvSpPr/>
          <p:nvPr/>
        </p:nvSpPr>
        <p:spPr>
          <a:xfrm>
            <a:off x="3128760" y="2700000"/>
            <a:ext cx="2759400" cy="217836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2" name="Rounded Rectangle 30"/>
          <p:cNvSpPr/>
          <p:nvPr/>
        </p:nvSpPr>
        <p:spPr>
          <a:xfrm>
            <a:off x="3258720" y="2829960"/>
            <a:ext cx="268200" cy="26820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0f1035"/>
                </a:solidFill>
                <a:latin typeface="Calibri"/>
              </a:rPr>
              <a:t>02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Box 31"/>
          <p:cNvSpPr/>
          <p:nvPr/>
        </p:nvSpPr>
        <p:spPr>
          <a:xfrm>
            <a:off x="3608640" y="2829960"/>
            <a:ext cx="214956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Secure Build &amp; Push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54" name="Connector 32"/>
          <p:cNvCxnSpPr/>
          <p:nvPr/>
        </p:nvCxnSpPr>
        <p:spPr>
          <a:xfrm>
            <a:off x="3258720" y="3159720"/>
            <a:ext cx="2503080" cy="1800"/>
          </a:xfrm>
          <a:prstGeom prst="straightConnector1">
            <a:avLst/>
          </a:prstGeom>
          <a:ln w="9525">
            <a:solidFill>
              <a:srgbClr val="3a3f7a"/>
            </a:solidFill>
            <a:round/>
          </a:ln>
        </p:spPr>
      </p:cxnSp>
      <p:sp>
        <p:nvSpPr>
          <p:cNvPr id="455" name="TextBox 33"/>
          <p:cNvSpPr/>
          <p:nvPr/>
        </p:nvSpPr>
        <p:spPr>
          <a:xfrm>
            <a:off x="3258720" y="3269880"/>
            <a:ext cx="2499480" cy="15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Docker@2 build stage on every push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Service Connection acr-connection — no passwords in YAML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Image tagged by $(Build.BuildId)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vibhavacrday4.azurecr.io/flask-app:9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Rounded Rectangle 34"/>
          <p:cNvSpPr/>
          <p:nvPr/>
        </p:nvSpPr>
        <p:spPr>
          <a:xfrm>
            <a:off x="6019920" y="2700000"/>
            <a:ext cx="2759400" cy="217836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7" name="Rounded Rectangle 35"/>
          <p:cNvSpPr/>
          <p:nvPr/>
        </p:nvSpPr>
        <p:spPr>
          <a:xfrm>
            <a:off x="6149880" y="2829960"/>
            <a:ext cx="268200" cy="26820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0f1035"/>
                </a:solidFill>
                <a:latin typeface="Calibri"/>
              </a:rPr>
              <a:t>03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TextBox 36"/>
          <p:cNvSpPr/>
          <p:nvPr/>
        </p:nvSpPr>
        <p:spPr>
          <a:xfrm>
            <a:off x="6500160" y="2829960"/>
            <a:ext cx="214956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Production Debugging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59" name="Connector 37"/>
          <p:cNvCxnSpPr/>
          <p:nvPr/>
        </p:nvCxnSpPr>
        <p:spPr>
          <a:xfrm>
            <a:off x="6149880" y="3159720"/>
            <a:ext cx="2503080" cy="1800"/>
          </a:xfrm>
          <a:prstGeom prst="straightConnector1">
            <a:avLst/>
          </a:prstGeom>
          <a:ln w="9525">
            <a:solidFill>
              <a:srgbClr val="3a3f7a"/>
            </a:solidFill>
            <a:round/>
          </a:ln>
        </p:spPr>
      </p:cxnSp>
      <p:sp>
        <p:nvSpPr>
          <p:cNvPr id="460" name="TextBox 38"/>
          <p:cNvSpPr/>
          <p:nvPr/>
        </p:nvSpPr>
        <p:spPr>
          <a:xfrm>
            <a:off x="6149880" y="3269880"/>
            <a:ext cx="2499480" cy="15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Hit: ImagePullBackOff on deploy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AKS nodes were ARM64, image was AMD64-only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Fixed with docker buildx --platform linux/amd64,linux/arm64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RollingUpdate: maxSurge 1, zero downtime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Rectangle 1"/>
          <p:cNvSpPr/>
          <p:nvPr/>
        </p:nvSpPr>
        <p:spPr>
          <a:xfrm>
            <a:off x="0" y="0"/>
            <a:ext cx="52560" cy="5141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2" name="TextBox 2"/>
          <p:cNvSpPr/>
          <p:nvPr/>
        </p:nvSpPr>
        <p:spPr>
          <a:xfrm>
            <a:off x="274320" y="228600"/>
            <a:ext cx="8593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850" spc="333" strike="noStrike">
                <a:solidFill>
                  <a:srgbClr val="f5a623"/>
                </a:solidFill>
                <a:latin typeface="Calibri"/>
              </a:rPr>
              <a:t>WEEK 2  ·  DAYS 5–6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Box 3"/>
          <p:cNvSpPr/>
          <p:nvPr/>
        </p:nvSpPr>
        <p:spPr>
          <a:xfrm>
            <a:off x="274320" y="457200"/>
            <a:ext cx="63986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a1e4f"/>
                </a:solidFill>
                <a:latin typeface="Cambria"/>
              </a:rPr>
              <a:t>Observability &amp; Hardening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Rounded Rectangle 4"/>
          <p:cNvSpPr/>
          <p:nvPr/>
        </p:nvSpPr>
        <p:spPr>
          <a:xfrm>
            <a:off x="237600" y="1180080"/>
            <a:ext cx="4218120" cy="3698280"/>
          </a:xfrm>
          <a:prstGeom prst="roundRect">
            <a:avLst>
              <a:gd name="adj" fmla="val 1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65" name="Picture 5" descr="monitor_white.png"/>
          <p:cNvPicPr/>
          <p:nvPr/>
        </p:nvPicPr>
        <p:blipFill>
          <a:blip r:embed="rId1"/>
          <a:stretch/>
        </p:blipFill>
        <p:spPr>
          <a:xfrm>
            <a:off x="367560" y="131004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466" name="TextBox 6"/>
          <p:cNvSpPr/>
          <p:nvPr/>
        </p:nvSpPr>
        <p:spPr>
          <a:xfrm>
            <a:off x="367560" y="1720080"/>
            <a:ext cx="39582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5a623"/>
                </a:solidFill>
                <a:latin typeface="Calibri"/>
              </a:rPr>
              <a:t>Day 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Box 7"/>
          <p:cNvSpPr/>
          <p:nvPr/>
        </p:nvSpPr>
        <p:spPr>
          <a:xfrm>
            <a:off x="367560" y="1929960"/>
            <a:ext cx="39582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Monitoring &amp; Alerts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Box 8"/>
          <p:cNvSpPr/>
          <p:nvPr/>
        </p:nvSpPr>
        <p:spPr>
          <a:xfrm>
            <a:off x="367560" y="2250000"/>
            <a:ext cx="395820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i="1" lang="en-US" sz="1100" spc="-1" strike="noStrike">
                <a:solidFill>
                  <a:srgbClr val="a8b2d8"/>
                </a:solidFill>
                <a:latin typeface="Calibri"/>
              </a:rPr>
              <a:t>“</a:t>
            </a:r>
            <a:r>
              <a:rPr b="0" i="1" lang="en-US" sz="1100" spc="-1" strike="noStrike">
                <a:solidFill>
                  <a:srgbClr val="a8b2d8"/>
                </a:solidFill>
                <a:latin typeface="Calibri"/>
              </a:rPr>
              <a:t>See what the cluster is doing before it tells you something broke.”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Box 9"/>
          <p:cNvSpPr/>
          <p:nvPr/>
        </p:nvSpPr>
        <p:spPr>
          <a:xfrm>
            <a:off x="367560" y="2570040"/>
            <a:ext cx="3958200" cy="19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a8b2d8"/>
                </a:solidFill>
                <a:latin typeface="Calibri"/>
              </a:rPr>
              <a:t>Azure Monitor + Container Insights enabled on AKS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a8b2d8"/>
                </a:solidFill>
                <a:latin typeface="Calibri"/>
              </a:rPr>
              <a:t>Log Analytics workspace linked to the cluster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a8b2d8"/>
                </a:solidFill>
                <a:latin typeface="Calibri"/>
              </a:rPr>
              <a:t>KQL query: pod restarts in the last 24 hours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a8b2d8"/>
                </a:solidFill>
                <a:latin typeface="Calibri"/>
              </a:rPr>
              <a:t>Metric alert: fires when pod CPU exceeds 80%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a8b2d8"/>
                </a:solidFill>
                <a:latin typeface="Calibri"/>
              </a:rPr>
              <a:t>Verified by artificially spiking CPU with stress tool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Rounded Rectangle 10"/>
          <p:cNvSpPr/>
          <p:nvPr/>
        </p:nvSpPr>
        <p:spPr>
          <a:xfrm>
            <a:off x="367560" y="3887640"/>
            <a:ext cx="3958200" cy="478080"/>
          </a:xfrm>
          <a:prstGeom prst="roundRect">
            <a:avLst>
              <a:gd name="adj" fmla="val 10000"/>
            </a:avLst>
          </a:prstGeom>
          <a:solidFill>
            <a:srgbClr val="14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1" name="TextBox 11"/>
          <p:cNvSpPr/>
          <p:nvPr/>
        </p:nvSpPr>
        <p:spPr>
          <a:xfrm>
            <a:off x="477720" y="3887640"/>
            <a:ext cx="3738240" cy="47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2000"/>
              </a:lnSpc>
            </a:pPr>
            <a:r>
              <a:rPr b="0" lang="en-US" sz="1150" spc="-1" strike="noStrike">
                <a:solidFill>
                  <a:srgbClr val="f5a623"/>
                </a:solidFill>
                <a:latin typeface="Calibri"/>
              </a:rPr>
              <a:t>Dashboards and alert rules turn “is something wrong?” into a notification, not a guess.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Rounded Rectangle 12"/>
          <p:cNvSpPr/>
          <p:nvPr/>
        </p:nvSpPr>
        <p:spPr>
          <a:xfrm>
            <a:off x="367560" y="4487760"/>
            <a:ext cx="3958200" cy="290520"/>
          </a:xfrm>
          <a:prstGeom prst="roundRect">
            <a:avLst>
              <a:gd name="adj" fmla="val 45000"/>
            </a:avLst>
          </a:prstGeom>
          <a:solidFill>
            <a:srgbClr val="14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000" rIns="4500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f5a623"/>
                </a:solidFill>
                <a:latin typeface="Courier New"/>
              </a:rPr>
              <a:t>$ monitoring_setup.sh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Rounded Rectangle 13"/>
          <p:cNvSpPr/>
          <p:nvPr/>
        </p:nvSpPr>
        <p:spPr>
          <a:xfrm>
            <a:off x="4637520" y="1180080"/>
            <a:ext cx="4218120" cy="3698280"/>
          </a:xfrm>
          <a:prstGeom prst="roundRect">
            <a:avLst>
              <a:gd name="adj" fmla="val 1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74" name="Picture 14" descr="shield_white.png"/>
          <p:cNvPicPr/>
          <p:nvPr/>
        </p:nvPicPr>
        <p:blipFill>
          <a:blip r:embed="rId2"/>
          <a:stretch/>
        </p:blipFill>
        <p:spPr>
          <a:xfrm>
            <a:off x="4767480" y="131004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475" name="TextBox 15"/>
          <p:cNvSpPr/>
          <p:nvPr/>
        </p:nvSpPr>
        <p:spPr>
          <a:xfrm>
            <a:off x="4767480" y="1720080"/>
            <a:ext cx="39582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5a623"/>
                </a:solidFill>
                <a:latin typeface="Calibri"/>
              </a:rPr>
              <a:t>Day 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Box 16"/>
          <p:cNvSpPr/>
          <p:nvPr/>
        </p:nvSpPr>
        <p:spPr>
          <a:xfrm>
            <a:off x="4767480" y="1929960"/>
            <a:ext cx="39582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Security &amp; RBAC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Box 17"/>
          <p:cNvSpPr/>
          <p:nvPr/>
        </p:nvSpPr>
        <p:spPr>
          <a:xfrm>
            <a:off x="4767480" y="2250000"/>
            <a:ext cx="395820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i="1" lang="en-US" sz="1100" spc="-1" strike="noStrike">
                <a:solidFill>
                  <a:srgbClr val="a8b2d8"/>
                </a:solidFill>
                <a:latin typeface="Calibri"/>
              </a:rPr>
              <a:t>“</a:t>
            </a:r>
            <a:r>
              <a:rPr b="0" i="1" lang="en-US" sz="1100" spc="-1" strike="noStrike">
                <a:solidFill>
                  <a:srgbClr val="a8b2d8"/>
                </a:solidFill>
                <a:latin typeface="Calibri"/>
              </a:rPr>
              <a:t>Least privilege, and no secrets left lying in YAML.”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Box 18"/>
          <p:cNvSpPr/>
          <p:nvPr/>
        </p:nvSpPr>
        <p:spPr>
          <a:xfrm>
            <a:off x="4767480" y="2570040"/>
            <a:ext cx="3958200" cy="19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a8b2d8"/>
                </a:solidFill>
                <a:latin typeface="Calibri"/>
              </a:rPr>
              <a:t>RBAC roles scoped to the resource group: Reader vs Contributor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a8b2d8"/>
                </a:solidFill>
                <a:latin typeface="Calibri"/>
              </a:rPr>
              <a:t>Role assignment via az role assignment create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a8b2d8"/>
                </a:solidFill>
                <a:latin typeface="Calibri"/>
              </a:rPr>
              <a:t>Azure Key Vault stores the database password as a secret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a8b2d8"/>
                </a:solidFill>
                <a:latin typeface="Calibri"/>
              </a:rPr>
              <a:t>Secrets Store CSI driver pulls the secret into AKS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a8b2d8"/>
                </a:solidFill>
                <a:latin typeface="Calibri"/>
              </a:rPr>
              <a:t>Microsoft Defender for Containers enabled on the cluster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Rounded Rectangle 19"/>
          <p:cNvSpPr/>
          <p:nvPr/>
        </p:nvSpPr>
        <p:spPr>
          <a:xfrm>
            <a:off x="4767480" y="3887640"/>
            <a:ext cx="3958200" cy="478080"/>
          </a:xfrm>
          <a:prstGeom prst="roundRect">
            <a:avLst>
              <a:gd name="adj" fmla="val 10000"/>
            </a:avLst>
          </a:prstGeom>
          <a:solidFill>
            <a:srgbClr val="14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0" name="TextBox 20"/>
          <p:cNvSpPr/>
          <p:nvPr/>
        </p:nvSpPr>
        <p:spPr>
          <a:xfrm>
            <a:off x="4877640" y="3887640"/>
            <a:ext cx="3738240" cy="47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2000"/>
              </a:lnSpc>
            </a:pPr>
            <a:r>
              <a:rPr b="0" lang="en-US" sz="1150" spc="-1" strike="noStrike">
                <a:solidFill>
                  <a:srgbClr val="f5a623"/>
                </a:solidFill>
                <a:latin typeface="Calibri"/>
              </a:rPr>
              <a:t>App reads its DB password from Key Vault at runtime — nothing sensitive ships in the image or manifest.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Rounded Rectangle 21"/>
          <p:cNvSpPr/>
          <p:nvPr/>
        </p:nvSpPr>
        <p:spPr>
          <a:xfrm>
            <a:off x="4767480" y="4487760"/>
            <a:ext cx="3958200" cy="290520"/>
          </a:xfrm>
          <a:prstGeom prst="roundRect">
            <a:avLst>
              <a:gd name="adj" fmla="val 45000"/>
            </a:avLst>
          </a:prstGeom>
          <a:solidFill>
            <a:srgbClr val="14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000" rIns="4500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f5a623"/>
                </a:solidFill>
                <a:latin typeface="Courier New"/>
              </a:rPr>
              <a:t>$ security_hardening.sh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Rectangle 1"/>
          <p:cNvSpPr/>
          <p:nvPr/>
        </p:nvSpPr>
        <p:spPr>
          <a:xfrm>
            <a:off x="0" y="0"/>
            <a:ext cx="52560" cy="5141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3" name="TextBox 2"/>
          <p:cNvSpPr/>
          <p:nvPr/>
        </p:nvSpPr>
        <p:spPr>
          <a:xfrm>
            <a:off x="274320" y="228600"/>
            <a:ext cx="8593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850" spc="333" strike="noStrike">
                <a:solidFill>
                  <a:srgbClr val="f5a623"/>
                </a:solidFill>
                <a:latin typeface="Calibri"/>
              </a:rPr>
              <a:t>KEY CONCEPTS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Box 3"/>
          <p:cNvSpPr/>
          <p:nvPr/>
        </p:nvSpPr>
        <p:spPr>
          <a:xfrm>
            <a:off x="274320" y="457200"/>
            <a:ext cx="85932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a1e4f"/>
                </a:solidFill>
                <a:latin typeface="Cambria"/>
              </a:rPr>
              <a:t>Production Concepts Introduced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Box 4"/>
          <p:cNvSpPr/>
          <p:nvPr/>
        </p:nvSpPr>
        <p:spPr>
          <a:xfrm>
            <a:off x="237600" y="1149840"/>
            <a:ext cx="44780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1a1e4f"/>
                </a:solidFill>
                <a:latin typeface="Calibri"/>
              </a:rPr>
              <a:t>Minikube  vs  Azure Kubernetes Service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Rounded Rectangle 5"/>
          <p:cNvSpPr/>
          <p:nvPr/>
        </p:nvSpPr>
        <p:spPr>
          <a:xfrm>
            <a:off x="237600" y="1469880"/>
            <a:ext cx="1498320" cy="253080"/>
          </a:xfrm>
          <a:prstGeom prst="roundRect">
            <a:avLst>
              <a:gd name="adj" fmla="val 1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7" name="Rounded Rectangle 6"/>
          <p:cNvSpPr/>
          <p:nvPr/>
        </p:nvSpPr>
        <p:spPr>
          <a:xfrm>
            <a:off x="1737720" y="1469880"/>
            <a:ext cx="1488240" cy="253080"/>
          </a:xfrm>
          <a:prstGeom prst="roundRect">
            <a:avLst>
              <a:gd name="adj" fmla="val 10000"/>
            </a:avLst>
          </a:prstGeom>
          <a:solidFill>
            <a:srgbClr val="14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8" name="TextBox 7"/>
          <p:cNvSpPr/>
          <p:nvPr/>
        </p:nvSpPr>
        <p:spPr>
          <a:xfrm>
            <a:off x="1737720" y="1469880"/>
            <a:ext cx="148824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Minikube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Rounded Rectangle 8"/>
          <p:cNvSpPr/>
          <p:nvPr/>
        </p:nvSpPr>
        <p:spPr>
          <a:xfrm>
            <a:off x="3227760" y="1469880"/>
            <a:ext cx="1488240" cy="25308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0" name="TextBox 9"/>
          <p:cNvSpPr/>
          <p:nvPr/>
        </p:nvSpPr>
        <p:spPr>
          <a:xfrm>
            <a:off x="3227760" y="1469880"/>
            <a:ext cx="148824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0f1035"/>
                </a:solidFill>
                <a:latin typeface="Calibri"/>
              </a:rPr>
              <a:t>AKS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Rectangle 10"/>
          <p:cNvSpPr/>
          <p:nvPr/>
        </p:nvSpPr>
        <p:spPr>
          <a:xfrm>
            <a:off x="237600" y="1744920"/>
            <a:ext cx="4478040" cy="253080"/>
          </a:xfrm>
          <a:prstGeom prst="rect">
            <a:avLst/>
          </a:prstGeom>
          <a:solidFill>
            <a:srgbClr val="e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2" name="TextBox 11"/>
          <p:cNvSpPr/>
          <p:nvPr/>
        </p:nvSpPr>
        <p:spPr>
          <a:xfrm>
            <a:off x="297720" y="1744920"/>
            <a:ext cx="143820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80" spc="-1" strike="noStrike">
                <a:solidFill>
                  <a:srgbClr val="1a1e4f"/>
                </a:solidFill>
                <a:latin typeface="Calibri"/>
              </a:rPr>
              <a:t>Control Plane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Box 12"/>
          <p:cNvSpPr/>
          <p:nvPr/>
        </p:nvSpPr>
        <p:spPr>
          <a:xfrm>
            <a:off x="1797480" y="1744920"/>
            <a:ext cx="138816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User Managed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Box 13"/>
          <p:cNvSpPr/>
          <p:nvPr/>
        </p:nvSpPr>
        <p:spPr>
          <a:xfrm>
            <a:off x="3287520" y="1744920"/>
            <a:ext cx="138816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Azure Managed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TextBox 14"/>
          <p:cNvSpPr/>
          <p:nvPr/>
        </p:nvSpPr>
        <p:spPr>
          <a:xfrm>
            <a:off x="297720" y="2000160"/>
            <a:ext cx="143820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80" spc="-1" strike="noStrike">
                <a:solidFill>
                  <a:srgbClr val="1a1e4f"/>
                </a:solidFill>
                <a:latin typeface="Calibri"/>
              </a:rPr>
              <a:t>Nodes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TextBox 15"/>
          <p:cNvSpPr/>
          <p:nvPr/>
        </p:nvSpPr>
        <p:spPr>
          <a:xfrm>
            <a:off x="1797480" y="2000160"/>
            <a:ext cx="138816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Local VM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Box 16"/>
          <p:cNvSpPr/>
          <p:nvPr/>
        </p:nvSpPr>
        <p:spPr>
          <a:xfrm>
            <a:off x="3287520" y="2000160"/>
            <a:ext cx="138816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Azure VMs (VMSS)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Rectangle 17"/>
          <p:cNvSpPr/>
          <p:nvPr/>
        </p:nvSpPr>
        <p:spPr>
          <a:xfrm>
            <a:off x="237600" y="2255040"/>
            <a:ext cx="4478040" cy="253080"/>
          </a:xfrm>
          <a:prstGeom prst="rect">
            <a:avLst/>
          </a:prstGeom>
          <a:solidFill>
            <a:srgbClr val="e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9" name="TextBox 18"/>
          <p:cNvSpPr/>
          <p:nvPr/>
        </p:nvSpPr>
        <p:spPr>
          <a:xfrm>
            <a:off x="297720" y="2255040"/>
            <a:ext cx="143820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80" spc="-1" strike="noStrike">
                <a:solidFill>
                  <a:srgbClr val="1a1e4f"/>
                </a:solidFill>
                <a:latin typeface="Calibri"/>
              </a:rPr>
              <a:t>Scaling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Box 19"/>
          <p:cNvSpPr/>
          <p:nvPr/>
        </p:nvSpPr>
        <p:spPr>
          <a:xfrm>
            <a:off x="1797480" y="2255040"/>
            <a:ext cx="138816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Manual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Box 20"/>
          <p:cNvSpPr/>
          <p:nvPr/>
        </p:nvSpPr>
        <p:spPr>
          <a:xfrm>
            <a:off x="3287520" y="2255040"/>
            <a:ext cx="138816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HPA + Managed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Box 21"/>
          <p:cNvSpPr/>
          <p:nvPr/>
        </p:nvSpPr>
        <p:spPr>
          <a:xfrm>
            <a:off x="297720" y="2509920"/>
            <a:ext cx="143820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80" spc="-1" strike="noStrike">
                <a:solidFill>
                  <a:srgbClr val="1a1e4f"/>
                </a:solidFill>
                <a:latin typeface="Calibri"/>
              </a:rPr>
              <a:t>Load Balancer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TextBox 22"/>
          <p:cNvSpPr/>
          <p:nvPr/>
        </p:nvSpPr>
        <p:spPr>
          <a:xfrm>
            <a:off x="1797480" y="2509920"/>
            <a:ext cx="138816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Limited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TextBox 23"/>
          <p:cNvSpPr/>
          <p:nvPr/>
        </p:nvSpPr>
        <p:spPr>
          <a:xfrm>
            <a:off x="3287520" y="2509920"/>
            <a:ext cx="138816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Native Azure LB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Rectangle 24"/>
          <p:cNvSpPr/>
          <p:nvPr/>
        </p:nvSpPr>
        <p:spPr>
          <a:xfrm>
            <a:off x="237600" y="2765160"/>
            <a:ext cx="4478040" cy="253080"/>
          </a:xfrm>
          <a:prstGeom prst="rect">
            <a:avLst/>
          </a:prstGeom>
          <a:solidFill>
            <a:srgbClr val="e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6" name="TextBox 25"/>
          <p:cNvSpPr/>
          <p:nvPr/>
        </p:nvSpPr>
        <p:spPr>
          <a:xfrm>
            <a:off x="297720" y="2765160"/>
            <a:ext cx="143820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80" spc="-1" strike="noStrike">
                <a:solidFill>
                  <a:srgbClr val="1a1e4f"/>
                </a:solidFill>
                <a:latin typeface="Calibri"/>
              </a:rPr>
              <a:t>Identity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Box 26"/>
          <p:cNvSpPr/>
          <p:nvPr/>
        </p:nvSpPr>
        <p:spPr>
          <a:xfrm>
            <a:off x="1797480" y="2765160"/>
            <a:ext cx="138816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None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Box 27"/>
          <p:cNvSpPr/>
          <p:nvPr/>
        </p:nvSpPr>
        <p:spPr>
          <a:xfrm>
            <a:off x="3287520" y="2765160"/>
            <a:ext cx="138816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Managed Identity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Box 28"/>
          <p:cNvSpPr/>
          <p:nvPr/>
        </p:nvSpPr>
        <p:spPr>
          <a:xfrm>
            <a:off x="297720" y="3020040"/>
            <a:ext cx="143820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80" spc="-1" strike="noStrike">
                <a:solidFill>
                  <a:srgbClr val="1a1e4f"/>
                </a:solidFill>
                <a:latin typeface="Calibri"/>
              </a:rPr>
              <a:t>Registry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TextBox 29"/>
          <p:cNvSpPr/>
          <p:nvPr/>
        </p:nvSpPr>
        <p:spPr>
          <a:xfrm>
            <a:off x="1797480" y="3020040"/>
            <a:ext cx="138816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Manual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Box 30"/>
          <p:cNvSpPr/>
          <p:nvPr/>
        </p:nvSpPr>
        <p:spPr>
          <a:xfrm>
            <a:off x="3287520" y="3020040"/>
            <a:ext cx="138816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ACR Integration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Rounded Rectangle 31"/>
          <p:cNvSpPr/>
          <p:nvPr/>
        </p:nvSpPr>
        <p:spPr>
          <a:xfrm>
            <a:off x="5050080" y="1149840"/>
            <a:ext cx="3853080" cy="555840"/>
          </a:xfrm>
          <a:prstGeom prst="roundRect">
            <a:avLst>
              <a:gd name="adj" fmla="val 10000"/>
            </a:avLst>
          </a:prstGeom>
          <a:solidFill>
            <a:srgbClr val="0f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3" name="Rounded Rectangle 32"/>
          <p:cNvSpPr/>
          <p:nvPr/>
        </p:nvSpPr>
        <p:spPr>
          <a:xfrm>
            <a:off x="5140080" y="1298880"/>
            <a:ext cx="258120" cy="2581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14" name="Picture 33" descr="k8s_wheel_orange.png"/>
          <p:cNvPicPr/>
          <p:nvPr/>
        </p:nvPicPr>
        <p:blipFill>
          <a:blip r:embed="rId1"/>
          <a:stretch/>
        </p:blipFill>
        <p:spPr>
          <a:xfrm>
            <a:off x="5191920" y="1350720"/>
            <a:ext cx="154080" cy="154080"/>
          </a:xfrm>
          <a:prstGeom prst="rect">
            <a:avLst/>
          </a:prstGeom>
          <a:ln w="0">
            <a:noFill/>
          </a:ln>
        </p:spPr>
      </p:pic>
      <p:sp>
        <p:nvSpPr>
          <p:cNvPr id="515" name="TextBox 34"/>
          <p:cNvSpPr/>
          <p:nvPr/>
        </p:nvSpPr>
        <p:spPr>
          <a:xfrm>
            <a:off x="5510160" y="1220040"/>
            <a:ext cx="33033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Managed Control Plane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TextBox 35"/>
          <p:cNvSpPr/>
          <p:nvPr/>
        </p:nvSpPr>
        <p:spPr>
          <a:xfrm>
            <a:off x="5510160" y="1431720"/>
            <a:ext cx="33033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2000"/>
              </a:lnSpc>
            </a:pPr>
            <a:r>
              <a:rPr b="0" lang="en-US" sz="830" spc="-1" strike="noStrike">
                <a:solidFill>
                  <a:srgbClr val="a8b2d8"/>
                </a:solidFill>
                <a:latin typeface="Calibri"/>
              </a:rPr>
              <a:t>Azure runs the API server, scheduler, and etcd — you manage workloads, not infra.</a:t>
            </a:r>
            <a:endParaRPr b="0" lang="en-US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Rounded Rectangle 36"/>
          <p:cNvSpPr/>
          <p:nvPr/>
        </p:nvSpPr>
        <p:spPr>
          <a:xfrm>
            <a:off x="5050080" y="1797480"/>
            <a:ext cx="3853080" cy="555840"/>
          </a:xfrm>
          <a:prstGeom prst="roundRect">
            <a:avLst>
              <a:gd name="adj" fmla="val 10000"/>
            </a:avLst>
          </a:prstGeom>
          <a:solidFill>
            <a:srgbClr val="0f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8" name="Rounded Rectangle 37"/>
          <p:cNvSpPr/>
          <p:nvPr/>
        </p:nvSpPr>
        <p:spPr>
          <a:xfrm>
            <a:off x="5140080" y="1946160"/>
            <a:ext cx="258120" cy="2581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19" name="Picture 38" descr="cycle_orange.png"/>
          <p:cNvPicPr/>
          <p:nvPr/>
        </p:nvPicPr>
        <p:blipFill>
          <a:blip r:embed="rId2"/>
          <a:stretch/>
        </p:blipFill>
        <p:spPr>
          <a:xfrm>
            <a:off x="5191920" y="1998360"/>
            <a:ext cx="154080" cy="154080"/>
          </a:xfrm>
          <a:prstGeom prst="rect">
            <a:avLst/>
          </a:prstGeom>
          <a:ln w="0">
            <a:noFill/>
          </a:ln>
        </p:spPr>
      </p:pic>
      <p:sp>
        <p:nvSpPr>
          <p:cNvPr id="520" name="TextBox 39"/>
          <p:cNvSpPr/>
          <p:nvPr/>
        </p:nvSpPr>
        <p:spPr>
          <a:xfrm>
            <a:off x="5510160" y="1867680"/>
            <a:ext cx="33033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Pipeline-Driven Delivery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Box 40"/>
          <p:cNvSpPr/>
          <p:nvPr/>
        </p:nvSpPr>
        <p:spPr>
          <a:xfrm>
            <a:off x="5510160" y="2079360"/>
            <a:ext cx="33033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2000"/>
              </a:lnSpc>
            </a:pPr>
            <a:r>
              <a:rPr b="0" lang="en-US" sz="830" spc="-1" strike="noStrike">
                <a:solidFill>
                  <a:srgbClr val="a8b2d8"/>
                </a:solidFill>
                <a:latin typeface="Calibri"/>
              </a:rPr>
              <a:t>Every git push builds, tags by Build ID, and deploys to AKS automatically.</a:t>
            </a:r>
            <a:endParaRPr b="0" lang="en-US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Rounded Rectangle 41"/>
          <p:cNvSpPr/>
          <p:nvPr/>
        </p:nvSpPr>
        <p:spPr>
          <a:xfrm>
            <a:off x="5050080" y="2445120"/>
            <a:ext cx="3853080" cy="555840"/>
          </a:xfrm>
          <a:prstGeom prst="roundRect">
            <a:avLst>
              <a:gd name="adj" fmla="val 10000"/>
            </a:avLst>
          </a:prstGeom>
          <a:solidFill>
            <a:srgbClr val="0f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3" name="Rounded Rectangle 42"/>
          <p:cNvSpPr/>
          <p:nvPr/>
        </p:nvSpPr>
        <p:spPr>
          <a:xfrm>
            <a:off x="5140080" y="2593800"/>
            <a:ext cx="258120" cy="2581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24" name="Picture 43" descr="monitor_orange.png"/>
          <p:cNvPicPr/>
          <p:nvPr/>
        </p:nvPicPr>
        <p:blipFill>
          <a:blip r:embed="rId3"/>
          <a:stretch/>
        </p:blipFill>
        <p:spPr>
          <a:xfrm>
            <a:off x="5191920" y="2645640"/>
            <a:ext cx="154080" cy="154080"/>
          </a:xfrm>
          <a:prstGeom prst="rect">
            <a:avLst/>
          </a:prstGeom>
          <a:ln w="0">
            <a:noFill/>
          </a:ln>
        </p:spPr>
      </p:pic>
      <p:sp>
        <p:nvSpPr>
          <p:cNvPr id="525" name="TextBox 44"/>
          <p:cNvSpPr/>
          <p:nvPr/>
        </p:nvSpPr>
        <p:spPr>
          <a:xfrm>
            <a:off x="5510160" y="2514960"/>
            <a:ext cx="33033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Observability by Default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TextBox 45"/>
          <p:cNvSpPr/>
          <p:nvPr/>
        </p:nvSpPr>
        <p:spPr>
          <a:xfrm>
            <a:off x="5510160" y="2727000"/>
            <a:ext cx="33033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2000"/>
              </a:lnSpc>
            </a:pPr>
            <a:r>
              <a:rPr b="0" lang="en-US" sz="830" spc="-1" strike="noStrike">
                <a:solidFill>
                  <a:srgbClr val="a8b2d8"/>
                </a:solidFill>
                <a:latin typeface="Calibri"/>
              </a:rPr>
              <a:t>Azure Monitor and KQL turn cluster health into alerts, not guesswork.</a:t>
            </a:r>
            <a:endParaRPr b="0" lang="en-US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Rounded Rectangle 46"/>
          <p:cNvSpPr/>
          <p:nvPr/>
        </p:nvSpPr>
        <p:spPr>
          <a:xfrm>
            <a:off x="5050080" y="3092400"/>
            <a:ext cx="3853080" cy="555840"/>
          </a:xfrm>
          <a:prstGeom prst="roundRect">
            <a:avLst>
              <a:gd name="adj" fmla="val 10000"/>
            </a:avLst>
          </a:prstGeom>
          <a:solidFill>
            <a:srgbClr val="0f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8" name="Rounded Rectangle 47"/>
          <p:cNvSpPr/>
          <p:nvPr/>
        </p:nvSpPr>
        <p:spPr>
          <a:xfrm>
            <a:off x="5140080" y="3241080"/>
            <a:ext cx="258120" cy="2581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29" name="Picture 48" descr="shield_orange.png"/>
          <p:cNvPicPr/>
          <p:nvPr/>
        </p:nvPicPr>
        <p:blipFill>
          <a:blip r:embed="rId4"/>
          <a:stretch/>
        </p:blipFill>
        <p:spPr>
          <a:xfrm>
            <a:off x="5191920" y="3293280"/>
            <a:ext cx="154080" cy="154080"/>
          </a:xfrm>
          <a:prstGeom prst="rect">
            <a:avLst/>
          </a:prstGeom>
          <a:ln w="0">
            <a:noFill/>
          </a:ln>
        </p:spPr>
      </p:pic>
      <p:sp>
        <p:nvSpPr>
          <p:cNvPr id="530" name="TextBox 49"/>
          <p:cNvSpPr/>
          <p:nvPr/>
        </p:nvSpPr>
        <p:spPr>
          <a:xfrm>
            <a:off x="5510160" y="3162600"/>
            <a:ext cx="33033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Least-Privilege by Default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Box 50"/>
          <p:cNvSpPr/>
          <p:nvPr/>
        </p:nvSpPr>
        <p:spPr>
          <a:xfrm>
            <a:off x="5510160" y="3374280"/>
            <a:ext cx="33033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2000"/>
              </a:lnSpc>
            </a:pPr>
            <a:r>
              <a:rPr b="0" lang="en-US" sz="830" spc="-1" strike="noStrike">
                <a:solidFill>
                  <a:srgbClr val="a8b2d8"/>
                </a:solidFill>
                <a:latin typeface="Calibri"/>
              </a:rPr>
              <a:t>RBAC scoping and Key Vault remove passwords from YAML entirely.</a:t>
            </a:r>
            <a:endParaRPr b="0" lang="en-US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Box 51"/>
          <p:cNvSpPr/>
          <p:nvPr/>
        </p:nvSpPr>
        <p:spPr>
          <a:xfrm>
            <a:off x="321480" y="3650040"/>
            <a:ext cx="44780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8892b8"/>
                </a:solidFill>
                <a:latin typeface="Calibri"/>
              </a:rPr>
              <a:t>Production Concepts Shipped This Week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Rounded Rectangle 52"/>
          <p:cNvSpPr/>
          <p:nvPr/>
        </p:nvSpPr>
        <p:spPr>
          <a:xfrm>
            <a:off x="255960" y="3970080"/>
            <a:ext cx="1516680" cy="358200"/>
          </a:xfrm>
          <a:prstGeom prst="roundRect">
            <a:avLst>
              <a:gd name="adj" fmla="val 2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0120" rIns="6012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</a:rPr>
              <a:t>Managed Kubernetes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Rounded Rectangle 53"/>
          <p:cNvSpPr/>
          <p:nvPr/>
        </p:nvSpPr>
        <p:spPr>
          <a:xfrm>
            <a:off x="2030040" y="3970080"/>
            <a:ext cx="1516680" cy="358200"/>
          </a:xfrm>
          <a:prstGeom prst="roundRect">
            <a:avLst>
              <a:gd name="adj" fmla="val 2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0120" rIns="6012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</a:rPr>
              <a:t>Service Discovery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Rounded Rectangle 54"/>
          <p:cNvSpPr/>
          <p:nvPr/>
        </p:nvSpPr>
        <p:spPr>
          <a:xfrm>
            <a:off x="3803760" y="3970080"/>
            <a:ext cx="1516680" cy="358200"/>
          </a:xfrm>
          <a:prstGeom prst="roundRect">
            <a:avLst>
              <a:gd name="adj" fmla="val 2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0120" rIns="6012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</a:rPr>
              <a:t>Ingress Routing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Rounded Rectangle 55"/>
          <p:cNvSpPr/>
          <p:nvPr/>
        </p:nvSpPr>
        <p:spPr>
          <a:xfrm>
            <a:off x="5577840" y="3970080"/>
            <a:ext cx="1516680" cy="358200"/>
          </a:xfrm>
          <a:prstGeom prst="roundRect">
            <a:avLst>
              <a:gd name="adj" fmla="val 2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0120" rIns="6012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</a:rPr>
              <a:t>Autoscaling (HPA)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Rounded Rectangle 56"/>
          <p:cNvSpPr/>
          <p:nvPr/>
        </p:nvSpPr>
        <p:spPr>
          <a:xfrm>
            <a:off x="7351920" y="3970080"/>
            <a:ext cx="1516680" cy="358200"/>
          </a:xfrm>
          <a:prstGeom prst="roundRect">
            <a:avLst>
              <a:gd name="adj" fmla="val 2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0120" rIns="6012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</a:rPr>
              <a:t>CI/CD Automation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Rounded Rectangle 57"/>
          <p:cNvSpPr/>
          <p:nvPr/>
        </p:nvSpPr>
        <p:spPr>
          <a:xfrm>
            <a:off x="255960" y="4420080"/>
            <a:ext cx="1516680" cy="358200"/>
          </a:xfrm>
          <a:prstGeom prst="roundRect">
            <a:avLst>
              <a:gd name="adj" fmla="val 2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0120" rIns="6012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</a:rPr>
              <a:t>Multi-Arch Builds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Rounded Rectangle 58"/>
          <p:cNvSpPr/>
          <p:nvPr/>
        </p:nvSpPr>
        <p:spPr>
          <a:xfrm>
            <a:off x="3803760" y="4441320"/>
            <a:ext cx="1516680" cy="358200"/>
          </a:xfrm>
          <a:prstGeom prst="roundRect">
            <a:avLst>
              <a:gd name="adj" fmla="val 2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0120" rIns="6012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</a:rPr>
              <a:t>Observability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Rounded Rectangle 59"/>
          <p:cNvSpPr/>
          <p:nvPr/>
        </p:nvSpPr>
        <p:spPr>
          <a:xfrm>
            <a:off x="5577840" y="4441320"/>
            <a:ext cx="1516680" cy="358200"/>
          </a:xfrm>
          <a:prstGeom prst="roundRect">
            <a:avLst>
              <a:gd name="adj" fmla="val 2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0120" rIns="6012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</a:rPr>
              <a:t>RBAC 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Rounded Rectangle 1"/>
          <p:cNvSpPr/>
          <p:nvPr/>
        </p:nvSpPr>
        <p:spPr>
          <a:xfrm>
            <a:off x="7351920" y="4441320"/>
            <a:ext cx="1516680" cy="358200"/>
          </a:xfrm>
          <a:prstGeom prst="roundRect">
            <a:avLst>
              <a:gd name="adj" fmla="val 2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0120" rIns="6012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</a:rPr>
              <a:t>Secrets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Rounded Rectangle 2"/>
          <p:cNvSpPr/>
          <p:nvPr/>
        </p:nvSpPr>
        <p:spPr>
          <a:xfrm>
            <a:off x="2030040" y="4441320"/>
            <a:ext cx="1516680" cy="358200"/>
          </a:xfrm>
          <a:prstGeom prst="roundRect">
            <a:avLst>
              <a:gd name="adj" fmla="val 2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0120" rIns="6012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</a:rPr>
              <a:t>Multi-Arch Builds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Rectangle 1"/>
          <p:cNvSpPr/>
          <p:nvPr/>
        </p:nvSpPr>
        <p:spPr>
          <a:xfrm>
            <a:off x="0" y="0"/>
            <a:ext cx="52560" cy="5141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4" name="TextBox 2"/>
          <p:cNvSpPr/>
          <p:nvPr/>
        </p:nvSpPr>
        <p:spPr>
          <a:xfrm>
            <a:off x="274320" y="228600"/>
            <a:ext cx="8593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850" spc="333" strike="noStrike">
                <a:solidFill>
                  <a:srgbClr val="f5a623"/>
                </a:solidFill>
                <a:latin typeface="Calibri"/>
              </a:rPr>
              <a:t>WEEK 2  ·  CONCLUSION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TextBox 3"/>
          <p:cNvSpPr/>
          <p:nvPr/>
        </p:nvSpPr>
        <p:spPr>
          <a:xfrm>
            <a:off x="274320" y="479880"/>
            <a:ext cx="859320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3800" spc="-1" strike="noStrike">
                <a:solidFill>
                  <a:srgbClr val="ffffff"/>
                </a:solidFill>
                <a:latin typeface="Cambria"/>
              </a:rPr>
              <a:t>Week 2 Completed.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Box 4"/>
          <p:cNvSpPr/>
          <p:nvPr/>
        </p:nvSpPr>
        <p:spPr>
          <a:xfrm>
            <a:off x="274320" y="1230120"/>
            <a:ext cx="85932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8000"/>
              </a:lnSpc>
            </a:pPr>
            <a:r>
              <a:rPr b="0" i="1" lang="en-US" sz="1300" spc="-1" strike="noStrike">
                <a:solidFill>
                  <a:srgbClr val="f5a623"/>
                </a:solidFill>
                <a:latin typeface="Calibri"/>
              </a:rPr>
              <a:t>“</a:t>
            </a:r>
            <a:r>
              <a:rPr b="0" i="1" lang="en-US" sz="1300" spc="-1" strike="noStrike">
                <a:solidFill>
                  <a:srgbClr val="f5a623"/>
                </a:solidFill>
                <a:latin typeface="Calibri"/>
              </a:rPr>
              <a:t>You did not just deploy to Kubernetes. You learned what Azure quietly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8000"/>
              </a:lnSpc>
            </a:pPr>
            <a:r>
              <a:rPr b="0" i="1" lang="en-US" sz="1300" spc="-1" strike="noStrike">
                <a:solidFill>
                  <a:srgbClr val="f5a623"/>
                </a:solidFill>
                <a:latin typeface="Calibri"/>
              </a:rPr>
              <a:t>automates — and built the pipeline that gets your code there.”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Rounded Rectangle 5"/>
          <p:cNvSpPr/>
          <p:nvPr/>
        </p:nvSpPr>
        <p:spPr>
          <a:xfrm>
            <a:off x="237600" y="1919880"/>
            <a:ext cx="1637280" cy="239832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8" name="TextBox 6"/>
          <p:cNvSpPr/>
          <p:nvPr/>
        </p:nvSpPr>
        <p:spPr>
          <a:xfrm>
            <a:off x="237600" y="2070000"/>
            <a:ext cx="163728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f5a623"/>
                </a:solidFill>
                <a:latin typeface="Cambria"/>
              </a:rPr>
              <a:t>C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Box 7"/>
          <p:cNvSpPr/>
          <p:nvPr/>
        </p:nvSpPr>
        <p:spPr>
          <a:xfrm>
            <a:off x="237600" y="2800080"/>
            <a:ext cx="16372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Cluster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50" name="Connector 8"/>
          <p:cNvCxnSpPr/>
          <p:nvPr/>
        </p:nvCxnSpPr>
        <p:spPr>
          <a:xfrm>
            <a:off x="532440" y="3109680"/>
            <a:ext cx="1050840" cy="1800"/>
          </a:xfrm>
          <a:prstGeom prst="straightConnector1">
            <a:avLst/>
          </a:prstGeom>
          <a:ln w="9525">
            <a:solidFill>
              <a:srgbClr val="4a4f8a"/>
            </a:solidFill>
            <a:round/>
          </a:ln>
        </p:spPr>
      </p:cxnSp>
      <p:sp>
        <p:nvSpPr>
          <p:cNvPr id="551" name="TextBox 9"/>
          <p:cNvSpPr/>
          <p:nvPr/>
        </p:nvSpPr>
        <p:spPr>
          <a:xfrm>
            <a:off x="307440" y="3200040"/>
            <a:ext cx="1497240" cy="10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AKS · Node Pools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Managed Identity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ACR Integration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Rounded Rectangle 10"/>
          <p:cNvSpPr/>
          <p:nvPr/>
        </p:nvSpPr>
        <p:spPr>
          <a:xfrm>
            <a:off x="1976760" y="1919880"/>
            <a:ext cx="1637280" cy="239832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3" name="TextBox 11"/>
          <p:cNvSpPr/>
          <p:nvPr/>
        </p:nvSpPr>
        <p:spPr>
          <a:xfrm>
            <a:off x="1976760" y="2070000"/>
            <a:ext cx="163728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f5a623"/>
                </a:solidFill>
                <a:latin typeface="Cambria"/>
              </a:rPr>
              <a:t>D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TextBox 12"/>
          <p:cNvSpPr/>
          <p:nvPr/>
        </p:nvSpPr>
        <p:spPr>
          <a:xfrm>
            <a:off x="1976760" y="2800080"/>
            <a:ext cx="16372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Deploy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55" name="Connector 13"/>
          <p:cNvCxnSpPr/>
          <p:nvPr/>
        </p:nvCxnSpPr>
        <p:spPr>
          <a:xfrm>
            <a:off x="2271600" y="3109680"/>
            <a:ext cx="1050480" cy="1800"/>
          </a:xfrm>
          <a:prstGeom prst="straightConnector1">
            <a:avLst/>
          </a:prstGeom>
          <a:ln w="9525">
            <a:solidFill>
              <a:srgbClr val="4a4f8a"/>
            </a:solidFill>
            <a:round/>
          </a:ln>
        </p:spPr>
      </p:cxnSp>
      <p:sp>
        <p:nvSpPr>
          <p:cNvPr id="556" name="TextBox 14"/>
          <p:cNvSpPr/>
          <p:nvPr/>
        </p:nvSpPr>
        <p:spPr>
          <a:xfrm>
            <a:off x="2046600" y="3200040"/>
            <a:ext cx="1497240" cy="10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LoadBalancer · Ingress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HPA Autoscaling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Rolling Updates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Rounded Rectangle 15"/>
          <p:cNvSpPr/>
          <p:nvPr/>
        </p:nvSpPr>
        <p:spPr>
          <a:xfrm>
            <a:off x="3715560" y="1919880"/>
            <a:ext cx="1637280" cy="239832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8" name="TextBox 16"/>
          <p:cNvSpPr/>
          <p:nvPr/>
        </p:nvSpPr>
        <p:spPr>
          <a:xfrm>
            <a:off x="3715560" y="2070000"/>
            <a:ext cx="163728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f5a623"/>
                </a:solidFill>
                <a:latin typeface="Cambria"/>
              </a:rPr>
              <a:t>P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Box 17"/>
          <p:cNvSpPr/>
          <p:nvPr/>
        </p:nvSpPr>
        <p:spPr>
          <a:xfrm>
            <a:off x="3715560" y="2800080"/>
            <a:ext cx="16372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Pipeline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60" name="Connector 18"/>
          <p:cNvCxnSpPr/>
          <p:nvPr/>
        </p:nvCxnSpPr>
        <p:spPr>
          <a:xfrm>
            <a:off x="4010400" y="3109680"/>
            <a:ext cx="1050840" cy="1800"/>
          </a:xfrm>
          <a:prstGeom prst="straightConnector1">
            <a:avLst/>
          </a:prstGeom>
          <a:ln w="9525">
            <a:solidFill>
              <a:srgbClr val="4a4f8a"/>
            </a:solidFill>
            <a:round/>
          </a:ln>
        </p:spPr>
      </p:cxnSp>
      <p:sp>
        <p:nvSpPr>
          <p:cNvPr id="561" name="TextBox 19"/>
          <p:cNvSpPr/>
          <p:nvPr/>
        </p:nvSpPr>
        <p:spPr>
          <a:xfrm>
            <a:off x="3785760" y="3200040"/>
            <a:ext cx="1497240" cy="10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Azure DevOps Repos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YAML Pipelines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Build-ID Tagging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Rounded Rectangle 20"/>
          <p:cNvSpPr/>
          <p:nvPr/>
        </p:nvSpPr>
        <p:spPr>
          <a:xfrm>
            <a:off x="5454720" y="1919880"/>
            <a:ext cx="1637280" cy="239832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3" name="TextBox 21"/>
          <p:cNvSpPr/>
          <p:nvPr/>
        </p:nvSpPr>
        <p:spPr>
          <a:xfrm>
            <a:off x="5454720" y="2070000"/>
            <a:ext cx="163728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f5a623"/>
                </a:solidFill>
                <a:latin typeface="Cambria"/>
              </a:rPr>
              <a:t>O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TextBox 22"/>
          <p:cNvSpPr/>
          <p:nvPr/>
        </p:nvSpPr>
        <p:spPr>
          <a:xfrm>
            <a:off x="5454720" y="2800080"/>
            <a:ext cx="16372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Observe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65" name="Connector 23"/>
          <p:cNvCxnSpPr/>
          <p:nvPr/>
        </p:nvCxnSpPr>
        <p:spPr>
          <a:xfrm>
            <a:off x="5749560" y="3109680"/>
            <a:ext cx="1050480" cy="1800"/>
          </a:xfrm>
          <a:prstGeom prst="straightConnector1">
            <a:avLst/>
          </a:prstGeom>
          <a:ln w="9525">
            <a:solidFill>
              <a:srgbClr val="4a4f8a"/>
            </a:solidFill>
            <a:round/>
          </a:ln>
        </p:spPr>
      </p:cxnSp>
      <p:sp>
        <p:nvSpPr>
          <p:cNvPr id="566" name="TextBox 24"/>
          <p:cNvSpPr/>
          <p:nvPr/>
        </p:nvSpPr>
        <p:spPr>
          <a:xfrm>
            <a:off x="5524560" y="3200040"/>
            <a:ext cx="1497240" cy="10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Azure Monitor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Log Analytics · KQL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Metric Alerts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Rounded Rectangle 25"/>
          <p:cNvSpPr/>
          <p:nvPr/>
        </p:nvSpPr>
        <p:spPr>
          <a:xfrm>
            <a:off x="7193520" y="1919880"/>
            <a:ext cx="1637280" cy="239832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8" name="TextBox 26"/>
          <p:cNvSpPr/>
          <p:nvPr/>
        </p:nvSpPr>
        <p:spPr>
          <a:xfrm>
            <a:off x="7193520" y="2070000"/>
            <a:ext cx="163728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f5a623"/>
                </a:solidFill>
                <a:latin typeface="Cambria"/>
              </a:rPr>
              <a:t>S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Box 27"/>
          <p:cNvSpPr/>
          <p:nvPr/>
        </p:nvSpPr>
        <p:spPr>
          <a:xfrm>
            <a:off x="7193520" y="2800080"/>
            <a:ext cx="16372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Secure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70" name="Connector 28"/>
          <p:cNvCxnSpPr/>
          <p:nvPr/>
        </p:nvCxnSpPr>
        <p:spPr>
          <a:xfrm>
            <a:off x="7488360" y="3109680"/>
            <a:ext cx="1050840" cy="1800"/>
          </a:xfrm>
          <a:prstGeom prst="straightConnector1">
            <a:avLst/>
          </a:prstGeom>
          <a:ln w="9525">
            <a:solidFill>
              <a:srgbClr val="4a4f8a"/>
            </a:solidFill>
            <a:round/>
          </a:ln>
        </p:spPr>
      </p:cxnSp>
      <p:sp>
        <p:nvSpPr>
          <p:cNvPr id="571" name="TextBox 29"/>
          <p:cNvSpPr/>
          <p:nvPr/>
        </p:nvSpPr>
        <p:spPr>
          <a:xfrm>
            <a:off x="7263720" y="3200040"/>
            <a:ext cx="1497240" cy="10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RBAC Roles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Key Vault Secrets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Microsoft Defender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Rounded Rectangle 30"/>
          <p:cNvSpPr/>
          <p:nvPr/>
        </p:nvSpPr>
        <p:spPr>
          <a:xfrm>
            <a:off x="237600" y="4470120"/>
            <a:ext cx="8593200" cy="598320"/>
          </a:xfrm>
          <a:prstGeom prst="roundRect">
            <a:avLst>
              <a:gd name="adj" fmla="val 1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3" name="TextBox 31"/>
          <p:cNvSpPr/>
          <p:nvPr/>
        </p:nvSpPr>
        <p:spPr>
          <a:xfrm>
            <a:off x="349920" y="4470120"/>
            <a:ext cx="14983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900" spc="236" strike="noStrike">
                <a:solidFill>
                  <a:srgbClr val="f5a623"/>
                </a:solidFill>
                <a:latin typeface="Calibri"/>
              </a:rPr>
              <a:t>WHAT'S NEXT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TextBox 32"/>
          <p:cNvSpPr/>
          <p:nvPr/>
        </p:nvSpPr>
        <p:spPr>
          <a:xfrm>
            <a:off x="349920" y="4749840"/>
            <a:ext cx="14983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Week 3 →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TextBox 33"/>
          <p:cNvSpPr/>
          <p:nvPr/>
        </p:nvSpPr>
        <p:spPr>
          <a:xfrm>
            <a:off x="1917720" y="4470120"/>
            <a:ext cx="130932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Azure AI Services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(Vision, Language)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TextBox 34"/>
          <p:cNvSpPr/>
          <p:nvPr/>
        </p:nvSpPr>
        <p:spPr>
          <a:xfrm>
            <a:off x="3308760" y="4470120"/>
            <a:ext cx="130932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Azure ML +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AutoML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TextBox 35"/>
          <p:cNvSpPr/>
          <p:nvPr/>
        </p:nvSpPr>
        <p:spPr>
          <a:xfrm>
            <a:off x="4699440" y="4470120"/>
            <a:ext cx="130932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Azure OpenAI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GPT-4o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TextBox 36"/>
          <p:cNvSpPr/>
          <p:nvPr/>
        </p:nvSpPr>
        <p:spPr>
          <a:xfrm>
            <a:off x="6090480" y="4470120"/>
            <a:ext cx="130932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RAG + Embeddings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TextBox 37"/>
          <p:cNvSpPr/>
          <p:nvPr/>
        </p:nvSpPr>
        <p:spPr>
          <a:xfrm>
            <a:off x="7481520" y="4470120"/>
            <a:ext cx="130932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AI-Powered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DevOps App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Rectangle 1"/>
          <p:cNvSpPr/>
          <p:nvPr/>
        </p:nvSpPr>
        <p:spPr>
          <a:xfrm>
            <a:off x="0" y="0"/>
            <a:ext cx="52560" cy="5141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1" name="TextBox 2"/>
          <p:cNvSpPr/>
          <p:nvPr/>
        </p:nvSpPr>
        <p:spPr>
          <a:xfrm>
            <a:off x="274320" y="228600"/>
            <a:ext cx="8593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850" spc="333" strike="noStrike">
                <a:solidFill>
                  <a:srgbClr val="f5a623"/>
                </a:solidFill>
                <a:latin typeface="Calibri"/>
              </a:rPr>
              <a:t>OVERVIEW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TextBox 3"/>
          <p:cNvSpPr/>
          <p:nvPr/>
        </p:nvSpPr>
        <p:spPr>
          <a:xfrm>
            <a:off x="274320" y="457200"/>
            <a:ext cx="63986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a1e4f"/>
                </a:solidFill>
                <a:latin typeface="Cambria"/>
              </a:rPr>
              <a:t>The Week 3 Learning Arc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Rounded Rectangle 4"/>
          <p:cNvSpPr/>
          <p:nvPr/>
        </p:nvSpPr>
        <p:spPr>
          <a:xfrm>
            <a:off x="237600" y="1115640"/>
            <a:ext cx="2759400" cy="1698480"/>
          </a:xfrm>
          <a:prstGeom prst="roundRect">
            <a:avLst>
              <a:gd name="adj" fmla="val 3000"/>
            </a:avLst>
          </a:prstGeom>
          <a:solidFill>
            <a:srgbClr val="0f1035"/>
          </a:solidFill>
          <a:ln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4" name="Rounded Rectangle 5"/>
          <p:cNvSpPr/>
          <p:nvPr/>
        </p:nvSpPr>
        <p:spPr>
          <a:xfrm>
            <a:off x="365760" y="123480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85" name="Picture 6" descr="k8s_wheel_white.png"/>
          <p:cNvPicPr/>
          <p:nvPr/>
        </p:nvPicPr>
        <p:blipFill>
          <a:blip r:embed="rId1"/>
          <a:stretch/>
        </p:blipFill>
        <p:spPr>
          <a:xfrm>
            <a:off x="424800" y="1293840"/>
            <a:ext cx="190800" cy="190800"/>
          </a:xfrm>
          <a:prstGeom prst="rect">
            <a:avLst/>
          </a:prstGeom>
          <a:ln w="0">
            <a:noFill/>
          </a:ln>
        </p:spPr>
      </p:pic>
      <p:sp>
        <p:nvSpPr>
          <p:cNvPr id="586" name="Rounded Rectangle 7"/>
          <p:cNvSpPr/>
          <p:nvPr/>
        </p:nvSpPr>
        <p:spPr>
          <a:xfrm>
            <a:off x="2590560" y="1234800"/>
            <a:ext cx="278280" cy="278280"/>
          </a:xfrm>
          <a:prstGeom prst="roundRect">
            <a:avLst>
              <a:gd name="adj" fmla="val 3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a8b2d8"/>
                </a:solidFill>
                <a:latin typeface="Calibri"/>
              </a:rPr>
              <a:t>01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Box 8"/>
          <p:cNvSpPr/>
          <p:nvPr/>
        </p:nvSpPr>
        <p:spPr>
          <a:xfrm>
            <a:off x="365760" y="1591200"/>
            <a:ext cx="25030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Azure AI Services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TextBox 9"/>
          <p:cNvSpPr/>
          <p:nvPr/>
        </p:nvSpPr>
        <p:spPr>
          <a:xfrm>
            <a:off x="365760" y="1883520"/>
            <a:ext cx="2503080" cy="8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Text Analytics + Sentiment API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Computer Vision + Translator APIs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REST calls via curl + Python SDK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Script: ai_services_demo.sh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Rounded Rectangle 10"/>
          <p:cNvSpPr/>
          <p:nvPr/>
        </p:nvSpPr>
        <p:spPr>
          <a:xfrm>
            <a:off x="3098520" y="1115640"/>
            <a:ext cx="2759400" cy="1698480"/>
          </a:xfrm>
          <a:prstGeom prst="roundRect">
            <a:avLst>
              <a:gd name="adj" fmla="val 3000"/>
            </a:avLst>
          </a:prstGeom>
          <a:solidFill>
            <a:srgbClr val="0f1035"/>
          </a:solidFill>
          <a:ln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0" name="Rounded Rectangle 11"/>
          <p:cNvSpPr/>
          <p:nvPr/>
        </p:nvSpPr>
        <p:spPr>
          <a:xfrm>
            <a:off x="3226680" y="123480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91" name="Picture 12" descr="scale_white.png"/>
          <p:cNvPicPr/>
          <p:nvPr/>
        </p:nvPicPr>
        <p:blipFill>
          <a:blip r:embed="rId2"/>
          <a:stretch/>
        </p:blipFill>
        <p:spPr>
          <a:xfrm>
            <a:off x="3285720" y="1293840"/>
            <a:ext cx="190800" cy="190800"/>
          </a:xfrm>
          <a:prstGeom prst="rect">
            <a:avLst/>
          </a:prstGeom>
          <a:ln w="0">
            <a:noFill/>
          </a:ln>
        </p:spPr>
      </p:pic>
      <p:sp>
        <p:nvSpPr>
          <p:cNvPr id="592" name="Rounded Rectangle 13"/>
          <p:cNvSpPr/>
          <p:nvPr/>
        </p:nvSpPr>
        <p:spPr>
          <a:xfrm>
            <a:off x="5451480" y="1234800"/>
            <a:ext cx="278280" cy="278280"/>
          </a:xfrm>
          <a:prstGeom prst="roundRect">
            <a:avLst>
              <a:gd name="adj" fmla="val 3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a8b2d8"/>
                </a:solidFill>
                <a:latin typeface="Calibri"/>
              </a:rPr>
              <a:t>02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TextBox 14"/>
          <p:cNvSpPr/>
          <p:nvPr/>
        </p:nvSpPr>
        <p:spPr>
          <a:xfrm>
            <a:off x="3226680" y="1591200"/>
            <a:ext cx="25030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Azure ML Workspace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TextBox 15"/>
          <p:cNvSpPr/>
          <p:nvPr/>
        </p:nvSpPr>
        <p:spPr>
          <a:xfrm>
            <a:off x="3226680" y="1883520"/>
            <a:ext cx="2503080" cy="8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ML workspace + compute instance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CSV dataset registered + experiment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scikit-learn training tracked in MLflow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Script: ml_workspace_setup.sh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Rounded Rectangle 16"/>
          <p:cNvSpPr/>
          <p:nvPr/>
        </p:nvSpPr>
        <p:spPr>
          <a:xfrm>
            <a:off x="5959440" y="1115640"/>
            <a:ext cx="2759400" cy="1698480"/>
          </a:xfrm>
          <a:prstGeom prst="roundRect">
            <a:avLst>
              <a:gd name="adj" fmla="val 3000"/>
            </a:avLst>
          </a:prstGeom>
          <a:solidFill>
            <a:srgbClr val="0f1035"/>
          </a:solidFill>
          <a:ln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6" name="Rounded Rectangle 17"/>
          <p:cNvSpPr/>
          <p:nvPr/>
        </p:nvSpPr>
        <p:spPr>
          <a:xfrm>
            <a:off x="6087600" y="123480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97" name="Picture 18" descr="pipeline_white.png"/>
          <p:cNvPicPr/>
          <p:nvPr/>
        </p:nvPicPr>
        <p:blipFill>
          <a:blip r:embed="rId3"/>
          <a:stretch/>
        </p:blipFill>
        <p:spPr>
          <a:xfrm>
            <a:off x="6146640" y="1293840"/>
            <a:ext cx="190800" cy="190800"/>
          </a:xfrm>
          <a:prstGeom prst="rect">
            <a:avLst/>
          </a:prstGeom>
          <a:ln w="0">
            <a:noFill/>
          </a:ln>
        </p:spPr>
      </p:pic>
      <p:sp>
        <p:nvSpPr>
          <p:cNvPr id="598" name="Rounded Rectangle 19"/>
          <p:cNvSpPr/>
          <p:nvPr/>
        </p:nvSpPr>
        <p:spPr>
          <a:xfrm>
            <a:off x="8312400" y="1234800"/>
            <a:ext cx="278280" cy="278280"/>
          </a:xfrm>
          <a:prstGeom prst="roundRect">
            <a:avLst>
              <a:gd name="adj" fmla="val 3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a8b2d8"/>
                </a:solidFill>
                <a:latin typeface="Calibri"/>
              </a:rPr>
              <a:t>03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TextBox 20"/>
          <p:cNvSpPr/>
          <p:nvPr/>
        </p:nvSpPr>
        <p:spPr>
          <a:xfrm>
            <a:off x="6087600" y="1591200"/>
            <a:ext cx="25030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Training &amp; AutoML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TextBox 21"/>
          <p:cNvSpPr/>
          <p:nvPr/>
        </p:nvSpPr>
        <p:spPr>
          <a:xfrm>
            <a:off x="6087600" y="1883520"/>
            <a:ext cx="2503080" cy="8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AutoML binary classification run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Best model registered + deployed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Managed Online Endpoint live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Script: model_deploy.sh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Rounded Rectangle 22"/>
          <p:cNvSpPr/>
          <p:nvPr/>
        </p:nvSpPr>
        <p:spPr>
          <a:xfrm>
            <a:off x="237600" y="2945880"/>
            <a:ext cx="2759400" cy="1698480"/>
          </a:xfrm>
          <a:prstGeom prst="roundRect">
            <a:avLst>
              <a:gd name="adj" fmla="val 3000"/>
            </a:avLst>
          </a:prstGeom>
          <a:solidFill>
            <a:srgbClr val="0f1035"/>
          </a:solidFill>
          <a:ln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2" name="Rounded Rectangle 23"/>
          <p:cNvSpPr/>
          <p:nvPr/>
        </p:nvSpPr>
        <p:spPr>
          <a:xfrm>
            <a:off x="365760" y="306504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03" name="Picture 24" descr="cycle_white.png"/>
          <p:cNvPicPr/>
          <p:nvPr/>
        </p:nvPicPr>
        <p:blipFill>
          <a:blip r:embed="rId4"/>
          <a:stretch/>
        </p:blipFill>
        <p:spPr>
          <a:xfrm>
            <a:off x="424800" y="3124080"/>
            <a:ext cx="190800" cy="190800"/>
          </a:xfrm>
          <a:prstGeom prst="rect">
            <a:avLst/>
          </a:prstGeom>
          <a:ln w="0">
            <a:noFill/>
          </a:ln>
        </p:spPr>
      </p:pic>
      <p:sp>
        <p:nvSpPr>
          <p:cNvPr id="604" name="Rounded Rectangle 25"/>
          <p:cNvSpPr/>
          <p:nvPr/>
        </p:nvSpPr>
        <p:spPr>
          <a:xfrm>
            <a:off x="2590560" y="3065040"/>
            <a:ext cx="278280" cy="278280"/>
          </a:xfrm>
          <a:prstGeom prst="roundRect">
            <a:avLst>
              <a:gd name="adj" fmla="val 3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a8b2d8"/>
                </a:solidFill>
                <a:latin typeface="Calibri"/>
              </a:rPr>
              <a:t>04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TextBox 26"/>
          <p:cNvSpPr/>
          <p:nvPr/>
        </p:nvSpPr>
        <p:spPr>
          <a:xfrm>
            <a:off x="365760" y="3421440"/>
            <a:ext cx="25030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Vision &amp; Language APIs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TextBox 27"/>
          <p:cNvSpPr/>
          <p:nvPr/>
        </p:nvSpPr>
        <p:spPr>
          <a:xfrm>
            <a:off x="365760" y="3713760"/>
            <a:ext cx="2503080" cy="8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OCR printed + handwritten text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Key phrases + named entities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Document Intelligence PDF parsing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Python: OCR → structured output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Rounded Rectangle 28"/>
          <p:cNvSpPr/>
          <p:nvPr/>
        </p:nvSpPr>
        <p:spPr>
          <a:xfrm>
            <a:off x="3098520" y="2945880"/>
            <a:ext cx="2759400" cy="1698480"/>
          </a:xfrm>
          <a:prstGeom prst="roundRect">
            <a:avLst>
              <a:gd name="adj" fmla="val 3000"/>
            </a:avLst>
          </a:prstGeom>
          <a:solidFill>
            <a:srgbClr val="0f1035"/>
          </a:solidFill>
          <a:ln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8" name="Rounded Rectangle 29"/>
          <p:cNvSpPr/>
          <p:nvPr/>
        </p:nvSpPr>
        <p:spPr>
          <a:xfrm>
            <a:off x="3226680" y="306504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09" name="Picture 30" descr="monitor_white.png"/>
          <p:cNvPicPr/>
          <p:nvPr/>
        </p:nvPicPr>
        <p:blipFill>
          <a:blip r:embed="rId5"/>
          <a:stretch/>
        </p:blipFill>
        <p:spPr>
          <a:xfrm>
            <a:off x="3285720" y="3124080"/>
            <a:ext cx="190800" cy="190800"/>
          </a:xfrm>
          <a:prstGeom prst="rect">
            <a:avLst/>
          </a:prstGeom>
          <a:ln w="0">
            <a:noFill/>
          </a:ln>
        </p:spPr>
      </p:pic>
      <p:sp>
        <p:nvSpPr>
          <p:cNvPr id="610" name="Rounded Rectangle 31"/>
          <p:cNvSpPr/>
          <p:nvPr/>
        </p:nvSpPr>
        <p:spPr>
          <a:xfrm>
            <a:off x="5451480" y="3065040"/>
            <a:ext cx="278280" cy="278280"/>
          </a:xfrm>
          <a:prstGeom prst="roundRect">
            <a:avLst>
              <a:gd name="adj" fmla="val 3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a8b2d8"/>
                </a:solidFill>
                <a:latin typeface="Calibri"/>
              </a:rPr>
              <a:t>05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TextBox 32"/>
          <p:cNvSpPr/>
          <p:nvPr/>
        </p:nvSpPr>
        <p:spPr>
          <a:xfrm>
            <a:off x="3226680" y="3421440"/>
            <a:ext cx="25030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Azure OpenAI Service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TextBox 33"/>
          <p:cNvSpPr/>
          <p:nvPr/>
        </p:nvSpPr>
        <p:spPr>
          <a:xfrm>
            <a:off x="3226680" y="3713760"/>
            <a:ext cx="2503080" cy="8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gpt-5-mini deployed in Azure OpenAI Studio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Chat Completions API via curl + SDK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Embeddings + cosine similarity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RAG Q&amp;A app using README + GPT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Rounded Rectangle 34"/>
          <p:cNvSpPr/>
          <p:nvPr/>
        </p:nvSpPr>
        <p:spPr>
          <a:xfrm>
            <a:off x="5959440" y="2945880"/>
            <a:ext cx="2759400" cy="1698480"/>
          </a:xfrm>
          <a:prstGeom prst="roundRect">
            <a:avLst>
              <a:gd name="adj" fmla="val 3000"/>
            </a:avLst>
          </a:prstGeom>
          <a:solidFill>
            <a:srgbClr val="0f1035"/>
          </a:solidFill>
          <a:ln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4" name="Rounded Rectangle 35"/>
          <p:cNvSpPr/>
          <p:nvPr/>
        </p:nvSpPr>
        <p:spPr>
          <a:xfrm>
            <a:off x="6087600" y="306504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15" name="Picture 36" descr="shield_white.png"/>
          <p:cNvPicPr/>
          <p:nvPr/>
        </p:nvPicPr>
        <p:blipFill>
          <a:blip r:embed="rId6"/>
          <a:stretch/>
        </p:blipFill>
        <p:spPr>
          <a:xfrm>
            <a:off x="6146640" y="3124080"/>
            <a:ext cx="190800" cy="190800"/>
          </a:xfrm>
          <a:prstGeom prst="rect">
            <a:avLst/>
          </a:prstGeom>
          <a:ln w="0">
            <a:noFill/>
          </a:ln>
        </p:spPr>
      </p:pic>
      <p:sp>
        <p:nvSpPr>
          <p:cNvPr id="616" name="Rounded Rectangle 37"/>
          <p:cNvSpPr/>
          <p:nvPr/>
        </p:nvSpPr>
        <p:spPr>
          <a:xfrm>
            <a:off x="8312400" y="3065040"/>
            <a:ext cx="278280" cy="278280"/>
          </a:xfrm>
          <a:prstGeom prst="roundRect">
            <a:avLst>
              <a:gd name="adj" fmla="val 3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a8b2d8"/>
                </a:solidFill>
                <a:latin typeface="Calibri"/>
              </a:rPr>
              <a:t>06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7" name="TextBox 38"/>
          <p:cNvSpPr/>
          <p:nvPr/>
        </p:nvSpPr>
        <p:spPr>
          <a:xfrm>
            <a:off x="6087600" y="3421440"/>
            <a:ext cx="25030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Week 3 Capstone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TextBox 39"/>
          <p:cNvSpPr/>
          <p:nvPr/>
        </p:nvSpPr>
        <p:spPr>
          <a:xfrm>
            <a:off x="6087600" y="3713760"/>
            <a:ext cx="2503080" cy="8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FastAPI app → AI log analyser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Dockerised + deployed to AKS via CI/CD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Key Vault secrets → CSI driver → pods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Live at public IP — HTTP 200 verified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Shape 0"/>
          <p:cNvSpPr/>
          <p:nvPr/>
        </p:nvSpPr>
        <p:spPr>
          <a:xfrm>
            <a:off x="0" y="0"/>
            <a:ext cx="52560" cy="514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Text 1"/>
          <p:cNvSpPr/>
          <p:nvPr/>
        </p:nvSpPr>
        <p:spPr>
          <a:xfrm>
            <a:off x="274320" y="228600"/>
            <a:ext cx="8593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333" strike="noStrike">
                <a:solidFill>
                  <a:srgbClr val="f5a623"/>
                </a:solidFill>
                <a:latin typeface="Calibri"/>
                <a:ea typeface="Calibri"/>
              </a:rPr>
              <a:t>WEEK 3  ·  DAYS 1–3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1" name="Text 2"/>
          <p:cNvSpPr/>
          <p:nvPr/>
        </p:nvSpPr>
        <p:spPr>
          <a:xfrm>
            <a:off x="274320" y="457200"/>
            <a:ext cx="56671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ffffff"/>
                </a:solidFill>
                <a:latin typeface="Cambria"/>
                <a:ea typeface="Cambria"/>
              </a:rPr>
              <a:t>Azure AI Services + ML Platform</a:t>
            </a:r>
            <a:endParaRPr b="0" lang="en-US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Text 3"/>
          <p:cNvSpPr/>
          <p:nvPr/>
        </p:nvSpPr>
        <p:spPr>
          <a:xfrm>
            <a:off x="274320" y="1005840"/>
            <a:ext cx="6398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8892b8"/>
                </a:solidFill>
                <a:latin typeface="Calibri"/>
                <a:ea typeface="Calibri"/>
              </a:rPr>
              <a:t>"Pre-trained APIs, ML workspaces, AutoML — AI without building models from scratch."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Shape 4"/>
          <p:cNvSpPr/>
          <p:nvPr/>
        </p:nvSpPr>
        <p:spPr>
          <a:xfrm>
            <a:off x="7644240" y="274320"/>
            <a:ext cx="1113480" cy="802440"/>
          </a:xfrm>
          <a:prstGeom prst="roundRect">
            <a:avLst>
              <a:gd name="adj" fmla="val 9091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4" name="Text 5"/>
          <p:cNvSpPr/>
          <p:nvPr/>
        </p:nvSpPr>
        <p:spPr>
          <a:xfrm>
            <a:off x="7644240" y="292680"/>
            <a:ext cx="11134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5a623"/>
                </a:solidFill>
                <a:latin typeface="Cambria"/>
                <a:ea typeface="Cambria"/>
              </a:rPr>
              <a:t>4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Text 6"/>
          <p:cNvSpPr/>
          <p:nvPr/>
        </p:nvSpPr>
        <p:spPr>
          <a:xfrm>
            <a:off x="7644240" y="768240"/>
            <a:ext cx="111348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Scripts Built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Text 8"/>
          <p:cNvSpPr/>
          <p:nvPr/>
        </p:nvSpPr>
        <p:spPr>
          <a:xfrm>
            <a:off x="7644240" y="1261800"/>
            <a:ext cx="11134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5a623"/>
                </a:solidFill>
                <a:latin typeface="Cambria"/>
                <a:ea typeface="Cambria"/>
              </a:rPr>
              <a:t>8+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7" name="Text 9"/>
          <p:cNvSpPr/>
          <p:nvPr/>
        </p:nvSpPr>
        <p:spPr>
          <a:xfrm>
            <a:off x="7644240" y="1737360"/>
            <a:ext cx="111348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Azure Services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8" name="Shape 10"/>
          <p:cNvSpPr/>
          <p:nvPr/>
        </p:nvSpPr>
        <p:spPr>
          <a:xfrm>
            <a:off x="237600" y="1389960"/>
            <a:ext cx="2777760" cy="3509280"/>
          </a:xfrm>
          <a:prstGeom prst="roundRect">
            <a:avLst>
              <a:gd name="adj" fmla="val 3289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29" name="Image 0" descr="preencoded.png"/>
          <p:cNvPicPr/>
          <p:nvPr/>
        </p:nvPicPr>
        <p:blipFill>
          <a:blip r:embed="rId1"/>
          <a:stretch/>
        </p:blipFill>
        <p:spPr>
          <a:xfrm>
            <a:off x="402480" y="1536120"/>
            <a:ext cx="363960" cy="363960"/>
          </a:xfrm>
          <a:prstGeom prst="rect">
            <a:avLst/>
          </a:prstGeom>
          <a:ln w="0">
            <a:noFill/>
          </a:ln>
        </p:spPr>
      </p:pic>
      <p:sp>
        <p:nvSpPr>
          <p:cNvPr id="630" name="Text 11"/>
          <p:cNvSpPr/>
          <p:nvPr/>
        </p:nvSpPr>
        <p:spPr>
          <a:xfrm>
            <a:off x="402480" y="1901880"/>
            <a:ext cx="9122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Day 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1" name="Text 12"/>
          <p:cNvSpPr/>
          <p:nvPr/>
        </p:nvSpPr>
        <p:spPr>
          <a:xfrm>
            <a:off x="402480" y="2103120"/>
            <a:ext cx="2448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Azure AI Services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2" name="Shape 13"/>
          <p:cNvSpPr/>
          <p:nvPr/>
        </p:nvSpPr>
        <p:spPr>
          <a:xfrm>
            <a:off x="394920" y="2515320"/>
            <a:ext cx="2448360" cy="180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3" name="Text 14"/>
          <p:cNvSpPr/>
          <p:nvPr/>
        </p:nvSpPr>
        <p:spPr>
          <a:xfrm>
            <a:off x="394920" y="2675880"/>
            <a:ext cx="2448360" cy="19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Created Azure AI Services multi-service resource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Text Analytics API — language detect + sentiment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Translator API — translated paragraph into 3 languages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Computer Vision API — image URL analysed via JSON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Script runs 3 cognitive API calls in sequence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4" name="Shape 15"/>
          <p:cNvSpPr/>
          <p:nvPr/>
        </p:nvSpPr>
        <p:spPr>
          <a:xfrm>
            <a:off x="402480" y="4480560"/>
            <a:ext cx="2448360" cy="290520"/>
          </a:xfrm>
          <a:prstGeom prst="roundRect">
            <a:avLst>
              <a:gd name="adj" fmla="val 18750"/>
            </a:avLst>
          </a:prstGeom>
          <a:solidFill>
            <a:srgbClr val="1418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5" name="Text 16"/>
          <p:cNvSpPr/>
          <p:nvPr/>
        </p:nvSpPr>
        <p:spPr>
          <a:xfrm>
            <a:off x="402480" y="4480560"/>
            <a:ext cx="244836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5a623"/>
                </a:solidFill>
                <a:latin typeface="Courier New"/>
                <a:ea typeface="Courier New"/>
              </a:rPr>
              <a:t>$ ai_services_demo.sh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6" name="Shape 17"/>
          <p:cNvSpPr/>
          <p:nvPr/>
        </p:nvSpPr>
        <p:spPr>
          <a:xfrm>
            <a:off x="3182040" y="1389960"/>
            <a:ext cx="2777760" cy="3509280"/>
          </a:xfrm>
          <a:prstGeom prst="roundRect">
            <a:avLst>
              <a:gd name="adj" fmla="val 3289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37" name="Image 1" descr="preencoded.png"/>
          <p:cNvPicPr/>
          <p:nvPr/>
        </p:nvPicPr>
        <p:blipFill>
          <a:blip r:embed="rId2"/>
          <a:stretch/>
        </p:blipFill>
        <p:spPr>
          <a:xfrm>
            <a:off x="3346560" y="1536120"/>
            <a:ext cx="363960" cy="363960"/>
          </a:xfrm>
          <a:prstGeom prst="rect">
            <a:avLst/>
          </a:prstGeom>
          <a:ln w="0">
            <a:noFill/>
          </a:ln>
        </p:spPr>
      </p:pic>
      <p:sp>
        <p:nvSpPr>
          <p:cNvPr id="638" name="Text 18"/>
          <p:cNvSpPr/>
          <p:nvPr/>
        </p:nvSpPr>
        <p:spPr>
          <a:xfrm>
            <a:off x="3346560" y="1902240"/>
            <a:ext cx="9122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Day 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Text 19"/>
          <p:cNvSpPr/>
          <p:nvPr/>
        </p:nvSpPr>
        <p:spPr>
          <a:xfrm>
            <a:off x="3346560" y="2103120"/>
            <a:ext cx="2448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Azure ML Workspace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Shape 20"/>
          <p:cNvSpPr/>
          <p:nvPr/>
        </p:nvSpPr>
        <p:spPr>
          <a:xfrm>
            <a:off x="3346560" y="2512440"/>
            <a:ext cx="2448360" cy="180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1" name="Text 21"/>
          <p:cNvSpPr/>
          <p:nvPr/>
        </p:nvSpPr>
        <p:spPr>
          <a:xfrm>
            <a:off x="3331440" y="2697840"/>
            <a:ext cx="2448360" cy="19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Azure ML workspace created via portal + CLI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Compute instance — managed cloud Jupyter env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CSV dataset registered in workspace data catalog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scikit-learn training run tracked via MLflow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Workspace, compute, dataset all provisioned in one run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2" name="Shape 22"/>
          <p:cNvSpPr/>
          <p:nvPr/>
        </p:nvSpPr>
        <p:spPr>
          <a:xfrm>
            <a:off x="3346560" y="4480560"/>
            <a:ext cx="2448360" cy="290520"/>
          </a:xfrm>
          <a:prstGeom prst="roundRect">
            <a:avLst>
              <a:gd name="adj" fmla="val 18750"/>
            </a:avLst>
          </a:prstGeom>
          <a:solidFill>
            <a:srgbClr val="1418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3" name="Text 23"/>
          <p:cNvSpPr/>
          <p:nvPr/>
        </p:nvSpPr>
        <p:spPr>
          <a:xfrm>
            <a:off x="3346560" y="4480560"/>
            <a:ext cx="244836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5a623"/>
                </a:solidFill>
                <a:latin typeface="Courier New"/>
                <a:ea typeface="Courier New"/>
              </a:rPr>
              <a:t>$ ml_workspace_setup.sh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4" name="Shape 24"/>
          <p:cNvSpPr/>
          <p:nvPr/>
        </p:nvSpPr>
        <p:spPr>
          <a:xfrm>
            <a:off x="6126480" y="1389960"/>
            <a:ext cx="2777760" cy="3509280"/>
          </a:xfrm>
          <a:prstGeom prst="roundRect">
            <a:avLst>
              <a:gd name="adj" fmla="val 3289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45" name="Image 2" descr="preencoded.png"/>
          <p:cNvPicPr/>
          <p:nvPr/>
        </p:nvPicPr>
        <p:blipFill>
          <a:blip r:embed="rId3"/>
          <a:stretch/>
        </p:blipFill>
        <p:spPr>
          <a:xfrm>
            <a:off x="6291000" y="1536120"/>
            <a:ext cx="363960" cy="363960"/>
          </a:xfrm>
          <a:prstGeom prst="rect">
            <a:avLst/>
          </a:prstGeom>
          <a:ln w="0">
            <a:noFill/>
          </a:ln>
        </p:spPr>
      </p:pic>
      <p:sp>
        <p:nvSpPr>
          <p:cNvPr id="646" name="Text 25"/>
          <p:cNvSpPr/>
          <p:nvPr/>
        </p:nvSpPr>
        <p:spPr>
          <a:xfrm>
            <a:off x="6291000" y="1917000"/>
            <a:ext cx="9122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Day 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7" name="Text 26"/>
          <p:cNvSpPr/>
          <p:nvPr/>
        </p:nvSpPr>
        <p:spPr>
          <a:xfrm>
            <a:off x="6291000" y="2103120"/>
            <a:ext cx="2448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Training &amp; AutoML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8" name="Shape 27"/>
          <p:cNvSpPr/>
          <p:nvPr/>
        </p:nvSpPr>
        <p:spPr>
          <a:xfrm>
            <a:off x="6291000" y="2500200"/>
            <a:ext cx="2448360" cy="180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Text 28"/>
          <p:cNvSpPr/>
          <p:nvPr/>
        </p:nvSpPr>
        <p:spPr>
          <a:xfrm>
            <a:off x="6275880" y="2649960"/>
            <a:ext cx="2448360" cy="19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AutoML binary classification run on tabular dataset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Reviewed accuracy, confusion matrix, feature importance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Best model registered in Azure ML Model Registry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Deployed to Managed Online Endpoint, tested via curl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Register, deploy, smoke-test endpoint in one run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Shape 29"/>
          <p:cNvSpPr/>
          <p:nvPr/>
        </p:nvSpPr>
        <p:spPr>
          <a:xfrm>
            <a:off x="6291000" y="4480560"/>
            <a:ext cx="2448360" cy="290520"/>
          </a:xfrm>
          <a:prstGeom prst="roundRect">
            <a:avLst>
              <a:gd name="adj" fmla="val 18750"/>
            </a:avLst>
          </a:prstGeom>
          <a:solidFill>
            <a:srgbClr val="1418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1" name="Text 30"/>
          <p:cNvSpPr/>
          <p:nvPr/>
        </p:nvSpPr>
        <p:spPr>
          <a:xfrm>
            <a:off x="6291000" y="4480560"/>
            <a:ext cx="244836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5a623"/>
                </a:solidFill>
                <a:latin typeface="Courier New"/>
                <a:ea typeface="Courier New"/>
              </a:rPr>
              <a:t>$ model_deploy.sh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Shape 0"/>
          <p:cNvSpPr/>
          <p:nvPr/>
        </p:nvSpPr>
        <p:spPr>
          <a:xfrm>
            <a:off x="0" y="0"/>
            <a:ext cx="52560" cy="514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Text 1"/>
          <p:cNvSpPr/>
          <p:nvPr/>
        </p:nvSpPr>
        <p:spPr>
          <a:xfrm>
            <a:off x="274320" y="228600"/>
            <a:ext cx="8593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333" strike="noStrike">
                <a:solidFill>
                  <a:srgbClr val="f5a623"/>
                </a:solidFill>
                <a:latin typeface="Calibri"/>
                <a:ea typeface="Calibri"/>
              </a:rPr>
              <a:t>WEEK 3  ·  DAYS 4–5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Text 2"/>
          <p:cNvSpPr/>
          <p:nvPr/>
        </p:nvSpPr>
        <p:spPr>
          <a:xfrm>
            <a:off x="274320" y="457200"/>
            <a:ext cx="63986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e4f"/>
                </a:solidFill>
                <a:latin typeface="Cambria"/>
                <a:ea typeface="Cambria"/>
              </a:rPr>
              <a:t>Vision, Language &amp; OpenAI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3"/>
          <p:cNvSpPr/>
          <p:nvPr/>
        </p:nvSpPr>
        <p:spPr>
          <a:xfrm>
            <a:off x="237600" y="1115640"/>
            <a:ext cx="4222440" cy="3911760"/>
          </a:xfrm>
          <a:prstGeom prst="roundRect">
            <a:avLst>
              <a:gd name="adj" fmla="val 2913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56" name="Image 0" descr="preencoded.png"/>
          <p:cNvPicPr/>
          <p:nvPr/>
        </p:nvPicPr>
        <p:blipFill>
          <a:blip r:embed="rId1"/>
          <a:stretch/>
        </p:blipFill>
        <p:spPr>
          <a:xfrm>
            <a:off x="420480" y="1261800"/>
            <a:ext cx="326880" cy="326880"/>
          </a:xfrm>
          <a:prstGeom prst="rect">
            <a:avLst/>
          </a:prstGeom>
          <a:ln w="0">
            <a:noFill/>
          </a:ln>
        </p:spPr>
      </p:pic>
      <p:sp>
        <p:nvSpPr>
          <p:cNvPr id="657" name="Text 4"/>
          <p:cNvSpPr/>
          <p:nvPr/>
        </p:nvSpPr>
        <p:spPr>
          <a:xfrm>
            <a:off x="822960" y="1280160"/>
            <a:ext cx="9122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5a623"/>
                </a:solidFill>
                <a:latin typeface="Calibri"/>
                <a:ea typeface="Calibri"/>
              </a:rPr>
              <a:t>Day 4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Text 5"/>
          <p:cNvSpPr/>
          <p:nvPr/>
        </p:nvSpPr>
        <p:spPr>
          <a:xfrm>
            <a:off x="420480" y="1627560"/>
            <a:ext cx="385668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alibri"/>
                <a:ea typeface="Calibri"/>
              </a:rPr>
              <a:t>Computer Vision &amp; Language APIs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Text 6"/>
          <p:cNvSpPr/>
          <p:nvPr/>
        </p:nvSpPr>
        <p:spPr>
          <a:xfrm>
            <a:off x="420480" y="1938600"/>
            <a:ext cx="385668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892b8"/>
                </a:solidFill>
                <a:latin typeface="Calibri"/>
                <a:ea typeface="Calibri"/>
              </a:rPr>
              <a:t>"Pre-trained vision and language models — no model training required."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7"/>
          <p:cNvSpPr/>
          <p:nvPr/>
        </p:nvSpPr>
        <p:spPr>
          <a:xfrm>
            <a:off x="420480" y="2286000"/>
            <a:ext cx="3856680" cy="400320"/>
          </a:xfrm>
          <a:prstGeom prst="roundRect">
            <a:avLst>
              <a:gd name="adj" fmla="val 15909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Shape 8"/>
          <p:cNvSpPr/>
          <p:nvPr/>
        </p:nvSpPr>
        <p:spPr>
          <a:xfrm>
            <a:off x="420480" y="2286000"/>
            <a:ext cx="52560" cy="4003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Text 9"/>
          <p:cNvSpPr/>
          <p:nvPr/>
        </p:nvSpPr>
        <p:spPr>
          <a:xfrm>
            <a:off x="548640" y="2304360"/>
            <a:ext cx="3655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  <a:ea typeface="Calibri"/>
              </a:rPr>
              <a:t>OCR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Text 10"/>
          <p:cNvSpPr/>
          <p:nvPr/>
        </p:nvSpPr>
        <p:spPr>
          <a:xfrm>
            <a:off x="548640" y="2487240"/>
            <a:ext cx="3655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Computer Vision API · printed + handwritten text extraction · structured JSON output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11"/>
          <p:cNvSpPr/>
          <p:nvPr/>
        </p:nvSpPr>
        <p:spPr>
          <a:xfrm>
            <a:off x="420480" y="2788920"/>
            <a:ext cx="3856680" cy="400320"/>
          </a:xfrm>
          <a:prstGeom prst="roundRect">
            <a:avLst>
              <a:gd name="adj" fmla="val 15909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5" name="Shape 12"/>
          <p:cNvSpPr/>
          <p:nvPr/>
        </p:nvSpPr>
        <p:spPr>
          <a:xfrm>
            <a:off x="420480" y="2788920"/>
            <a:ext cx="52560" cy="4003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Text 13"/>
          <p:cNvSpPr/>
          <p:nvPr/>
        </p:nvSpPr>
        <p:spPr>
          <a:xfrm>
            <a:off x="548640" y="2807280"/>
            <a:ext cx="3655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  <a:ea typeface="Calibri"/>
              </a:rPr>
              <a:t>Language Service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Text 14"/>
          <p:cNvSpPr/>
          <p:nvPr/>
        </p:nvSpPr>
        <p:spPr>
          <a:xfrm>
            <a:off x="548640" y="2990160"/>
            <a:ext cx="3655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Key phrase extraction · named entity recognition · paragraph-level NLP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15"/>
          <p:cNvSpPr/>
          <p:nvPr/>
        </p:nvSpPr>
        <p:spPr>
          <a:xfrm>
            <a:off x="420480" y="3291840"/>
            <a:ext cx="3856680" cy="400320"/>
          </a:xfrm>
          <a:prstGeom prst="roundRect">
            <a:avLst>
              <a:gd name="adj" fmla="val 15909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9" name="Shape 16"/>
          <p:cNvSpPr/>
          <p:nvPr/>
        </p:nvSpPr>
        <p:spPr>
          <a:xfrm>
            <a:off x="420480" y="3291840"/>
            <a:ext cx="52560" cy="4003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Text 17"/>
          <p:cNvSpPr/>
          <p:nvPr/>
        </p:nvSpPr>
        <p:spPr>
          <a:xfrm>
            <a:off x="548640" y="3310200"/>
            <a:ext cx="3655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  <a:ea typeface="Calibri"/>
              </a:rPr>
              <a:t>Document Intelligence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Text 18"/>
          <p:cNvSpPr/>
          <p:nvPr/>
        </p:nvSpPr>
        <p:spPr>
          <a:xfrm>
            <a:off x="548640" y="3493080"/>
            <a:ext cx="3655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Form Recognizer · parsed structured fields from PDF invoice · no manual regex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Shape 19"/>
          <p:cNvSpPr/>
          <p:nvPr/>
        </p:nvSpPr>
        <p:spPr>
          <a:xfrm>
            <a:off x="420480" y="3794760"/>
            <a:ext cx="3856680" cy="400320"/>
          </a:xfrm>
          <a:prstGeom prst="roundRect">
            <a:avLst>
              <a:gd name="adj" fmla="val 15909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Shape 20"/>
          <p:cNvSpPr/>
          <p:nvPr/>
        </p:nvSpPr>
        <p:spPr>
          <a:xfrm>
            <a:off x="420480" y="3794760"/>
            <a:ext cx="52560" cy="4003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Text 21"/>
          <p:cNvSpPr/>
          <p:nvPr/>
        </p:nvSpPr>
        <p:spPr>
          <a:xfrm>
            <a:off x="548640" y="3813120"/>
            <a:ext cx="3655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  <a:ea typeface="Calibri"/>
              </a:rPr>
              <a:t>Python Script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Text 22"/>
          <p:cNvSpPr/>
          <p:nvPr/>
        </p:nvSpPr>
        <p:spPr>
          <a:xfrm>
            <a:off x="548640" y="3996000"/>
            <a:ext cx="3655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upload image → OCR via SDK → print structured extracted text fields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Shape 23"/>
          <p:cNvSpPr/>
          <p:nvPr/>
        </p:nvSpPr>
        <p:spPr>
          <a:xfrm>
            <a:off x="420480" y="4297680"/>
            <a:ext cx="3856680" cy="400320"/>
          </a:xfrm>
          <a:prstGeom prst="roundRect">
            <a:avLst>
              <a:gd name="adj" fmla="val 15909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" name="Shape 24"/>
          <p:cNvSpPr/>
          <p:nvPr/>
        </p:nvSpPr>
        <p:spPr>
          <a:xfrm>
            <a:off x="420480" y="4297680"/>
            <a:ext cx="52560" cy="4003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Text 25"/>
          <p:cNvSpPr/>
          <p:nvPr/>
        </p:nvSpPr>
        <p:spPr>
          <a:xfrm>
            <a:off x="548640" y="4316040"/>
            <a:ext cx="3655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  <a:ea typeface="Calibri"/>
              </a:rPr>
              <a:t>Day 4 Built 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Text 26"/>
          <p:cNvSpPr/>
          <p:nvPr/>
        </p:nvSpPr>
        <p:spPr>
          <a:xfrm>
            <a:off x="548640" y="4498920"/>
            <a:ext cx="3655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FastAPI capstone app skeleton built alongside Day 4 — fully locally verified before Day 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27"/>
          <p:cNvSpPr/>
          <p:nvPr/>
        </p:nvSpPr>
        <p:spPr>
          <a:xfrm>
            <a:off x="4626720" y="1115640"/>
            <a:ext cx="4286880" cy="3911760"/>
          </a:xfrm>
          <a:prstGeom prst="roundRect">
            <a:avLst>
              <a:gd name="adj" fmla="val 2913"/>
            </a:avLst>
          </a:prstGeom>
          <a:solidFill>
            <a:srgbClr val="e8ecff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1" name="Image 1" descr="preencoded.png"/>
          <p:cNvPicPr/>
          <p:nvPr/>
        </p:nvPicPr>
        <p:blipFill>
          <a:blip r:embed="rId2"/>
          <a:stretch/>
        </p:blipFill>
        <p:spPr>
          <a:xfrm>
            <a:off x="4809600" y="1261800"/>
            <a:ext cx="326880" cy="326880"/>
          </a:xfrm>
          <a:prstGeom prst="rect">
            <a:avLst/>
          </a:prstGeom>
          <a:ln w="0">
            <a:noFill/>
          </a:ln>
        </p:spPr>
      </p:pic>
      <p:sp>
        <p:nvSpPr>
          <p:cNvPr id="682" name="Text 28"/>
          <p:cNvSpPr/>
          <p:nvPr/>
        </p:nvSpPr>
        <p:spPr>
          <a:xfrm>
            <a:off x="5212080" y="1280160"/>
            <a:ext cx="9122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5a623"/>
                </a:solidFill>
                <a:latin typeface="Calibri"/>
                <a:ea typeface="Calibri"/>
              </a:rPr>
              <a:t>Day 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Text 29"/>
          <p:cNvSpPr/>
          <p:nvPr/>
        </p:nvSpPr>
        <p:spPr>
          <a:xfrm>
            <a:off x="4809600" y="1627560"/>
            <a:ext cx="391140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a1e4f"/>
                </a:solidFill>
                <a:latin typeface="Calibri"/>
                <a:ea typeface="Calibri"/>
              </a:rPr>
              <a:t>Azure OpenAI Service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Text 30"/>
          <p:cNvSpPr/>
          <p:nvPr/>
        </p:nvSpPr>
        <p:spPr>
          <a:xfrm>
            <a:off x="4809600" y="1938600"/>
            <a:ext cx="391140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"GPT-4 and embeddings through Azure — enterprise-grade security and compliance."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Text 31"/>
          <p:cNvSpPr/>
          <p:nvPr/>
        </p:nvSpPr>
        <p:spPr>
          <a:xfrm>
            <a:off x="4809600" y="2249280"/>
            <a:ext cx="391140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5a623"/>
                </a:solidFill>
                <a:latin typeface="Calibri"/>
                <a:ea typeface="Calibri"/>
              </a:rPr>
              <a:t>API Call Flow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32"/>
          <p:cNvSpPr/>
          <p:nvPr/>
        </p:nvSpPr>
        <p:spPr>
          <a:xfrm>
            <a:off x="4809600" y="2560320"/>
            <a:ext cx="867600" cy="43668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7" name="Text 33"/>
          <p:cNvSpPr/>
          <p:nvPr/>
        </p:nvSpPr>
        <p:spPr>
          <a:xfrm>
            <a:off x="4809600" y="2560320"/>
            <a:ext cx="86760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Set API Key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Text 34"/>
          <p:cNvSpPr/>
          <p:nvPr/>
        </p:nvSpPr>
        <p:spPr>
          <a:xfrm>
            <a:off x="5696640" y="2633400"/>
            <a:ext cx="89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35"/>
          <p:cNvSpPr/>
          <p:nvPr/>
        </p:nvSpPr>
        <p:spPr>
          <a:xfrm>
            <a:off x="5833800" y="2560320"/>
            <a:ext cx="867600" cy="43668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0" name="Text 36"/>
          <p:cNvSpPr/>
          <p:nvPr/>
        </p:nvSpPr>
        <p:spPr>
          <a:xfrm>
            <a:off x="5833800" y="2560320"/>
            <a:ext cx="86760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set_env.sh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Text 37"/>
          <p:cNvSpPr/>
          <p:nvPr/>
        </p:nvSpPr>
        <p:spPr>
          <a:xfrm>
            <a:off x="6720840" y="2633400"/>
            <a:ext cx="89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38"/>
          <p:cNvSpPr/>
          <p:nvPr/>
        </p:nvSpPr>
        <p:spPr>
          <a:xfrm>
            <a:off x="6858000" y="2560320"/>
            <a:ext cx="867600" cy="43668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3" name="Text 39"/>
          <p:cNvSpPr/>
          <p:nvPr/>
        </p:nvSpPr>
        <p:spPr>
          <a:xfrm>
            <a:off x="6858000" y="2560320"/>
            <a:ext cx="86760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curl call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Text 40"/>
          <p:cNvSpPr/>
          <p:nvPr/>
        </p:nvSpPr>
        <p:spPr>
          <a:xfrm>
            <a:off x="7745040" y="2633400"/>
            <a:ext cx="89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41"/>
          <p:cNvSpPr/>
          <p:nvPr/>
        </p:nvSpPr>
        <p:spPr>
          <a:xfrm>
            <a:off x="7882200" y="2560320"/>
            <a:ext cx="867600" cy="43668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6" name="Text 42"/>
          <p:cNvSpPr/>
          <p:nvPr/>
        </p:nvSpPr>
        <p:spPr>
          <a:xfrm>
            <a:off x="7882200" y="2560320"/>
            <a:ext cx="86760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Python SDK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43"/>
          <p:cNvSpPr/>
          <p:nvPr/>
        </p:nvSpPr>
        <p:spPr>
          <a:xfrm>
            <a:off x="4809600" y="3163680"/>
            <a:ext cx="867600" cy="43668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8" name="Text 44"/>
          <p:cNvSpPr/>
          <p:nvPr/>
        </p:nvSpPr>
        <p:spPr>
          <a:xfrm>
            <a:off x="4809600" y="3163680"/>
            <a:ext cx="86760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System prompt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Text 45"/>
          <p:cNvSpPr/>
          <p:nvPr/>
        </p:nvSpPr>
        <p:spPr>
          <a:xfrm>
            <a:off x="5696640" y="3237120"/>
            <a:ext cx="89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46"/>
          <p:cNvSpPr/>
          <p:nvPr/>
        </p:nvSpPr>
        <p:spPr>
          <a:xfrm>
            <a:off x="5833800" y="3163680"/>
            <a:ext cx="867600" cy="43668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1" name="Text 47"/>
          <p:cNvSpPr/>
          <p:nvPr/>
        </p:nvSpPr>
        <p:spPr>
          <a:xfrm>
            <a:off x="5833800" y="3163680"/>
            <a:ext cx="86760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Embeddings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Text 48"/>
          <p:cNvSpPr/>
          <p:nvPr/>
        </p:nvSpPr>
        <p:spPr>
          <a:xfrm>
            <a:off x="6720840" y="3237120"/>
            <a:ext cx="89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49"/>
          <p:cNvSpPr/>
          <p:nvPr/>
        </p:nvSpPr>
        <p:spPr>
          <a:xfrm>
            <a:off x="6858000" y="3163680"/>
            <a:ext cx="867600" cy="43668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4" name="Text 50"/>
          <p:cNvSpPr/>
          <p:nvPr/>
        </p:nvSpPr>
        <p:spPr>
          <a:xfrm>
            <a:off x="6858000" y="3163680"/>
            <a:ext cx="86760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RAG Q&amp;A app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Text 51"/>
          <p:cNvSpPr/>
          <p:nvPr/>
        </p:nvSpPr>
        <p:spPr>
          <a:xfrm>
            <a:off x="7745040" y="3237120"/>
            <a:ext cx="89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52"/>
          <p:cNvSpPr/>
          <p:nvPr/>
        </p:nvSpPr>
        <p:spPr>
          <a:xfrm>
            <a:off x="7882200" y="3163680"/>
            <a:ext cx="867600" cy="436680"/>
          </a:xfrm>
          <a:prstGeom prst="roundRect">
            <a:avLst>
              <a:gd name="adj" fmla="val 14583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Text 53"/>
          <p:cNvSpPr/>
          <p:nvPr/>
        </p:nvSpPr>
        <p:spPr>
          <a:xfrm>
            <a:off x="7882200" y="3163680"/>
            <a:ext cx="86760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f1035"/>
                </a:solidFill>
                <a:latin typeface="Calibri"/>
                <a:ea typeface="Calibri"/>
              </a:rPr>
              <a:t>GPT response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Text 54"/>
          <p:cNvSpPr/>
          <p:nvPr/>
        </p:nvSpPr>
        <p:spPr>
          <a:xfrm>
            <a:off x="4809600" y="3877200"/>
            <a:ext cx="39114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5a623"/>
                </a:solidFill>
                <a:latin typeface="Calibri"/>
                <a:ea typeface="Calibri"/>
              </a:rPr>
              <a:t>Deployment Details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Text 55"/>
          <p:cNvSpPr/>
          <p:nvPr/>
        </p:nvSpPr>
        <p:spPr>
          <a:xfrm>
            <a:off x="4809600" y="4133160"/>
            <a:ext cx="8208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a1e4f"/>
                </a:solidFill>
                <a:latin typeface="Calibri"/>
                <a:ea typeface="Calibri"/>
              </a:rPr>
              <a:t>Registry: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Text 56"/>
          <p:cNvSpPr/>
          <p:nvPr/>
        </p:nvSpPr>
        <p:spPr>
          <a:xfrm>
            <a:off x="5486400" y="4133160"/>
            <a:ext cx="30520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ourier New"/>
                <a:ea typeface="Courier New"/>
              </a:rPr>
              <a:t>Resource: vibha-mqyv8dko-eastus2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Text 57"/>
          <p:cNvSpPr/>
          <p:nvPr/>
        </p:nvSpPr>
        <p:spPr>
          <a:xfrm>
            <a:off x="4809600" y="4334400"/>
            <a:ext cx="8208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a1e4f"/>
                </a:solidFill>
                <a:latin typeface="Calibri"/>
                <a:ea typeface="Calibri"/>
              </a:rPr>
              <a:t>Image: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Text 58"/>
          <p:cNvSpPr/>
          <p:nvPr/>
        </p:nvSpPr>
        <p:spPr>
          <a:xfrm>
            <a:off x="5486400" y="4334400"/>
            <a:ext cx="30520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ourier New"/>
                <a:ea typeface="Courier New"/>
              </a:rPr>
              <a:t>Model: gpt-5-mini + text-embedding-3-small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Text 59"/>
          <p:cNvSpPr/>
          <p:nvPr/>
        </p:nvSpPr>
        <p:spPr>
          <a:xfrm>
            <a:off x="4809600" y="4535280"/>
            <a:ext cx="8208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a1e4f"/>
                </a:solidFill>
                <a:latin typeface="Calibri"/>
                <a:ea typeface="Calibri"/>
              </a:rPr>
              <a:t>Auth: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Text 60"/>
          <p:cNvSpPr/>
          <p:nvPr/>
        </p:nvSpPr>
        <p:spPr>
          <a:xfrm>
            <a:off x="5486400" y="4544640"/>
            <a:ext cx="30520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ourier New"/>
                <a:ea typeface="Courier New"/>
              </a:rPr>
              <a:t>Auth: API key stored in Key Vault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Text 61"/>
          <p:cNvSpPr/>
          <p:nvPr/>
        </p:nvSpPr>
        <p:spPr>
          <a:xfrm>
            <a:off x="4809600" y="4736520"/>
            <a:ext cx="8208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a1e4f"/>
                </a:solidFill>
                <a:latin typeface="Calibri"/>
                <a:ea typeface="Calibri"/>
              </a:rPr>
              <a:t>Endpoint: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Text 62"/>
          <p:cNvSpPr/>
          <p:nvPr/>
        </p:nvSpPr>
        <p:spPr>
          <a:xfrm>
            <a:off x="5486400" y="4736520"/>
            <a:ext cx="34272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ourier New"/>
                <a:ea typeface="Courier New"/>
              </a:rPr>
              <a:t>API Version: 2025-04-01-preview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Shape 0"/>
          <p:cNvSpPr/>
          <p:nvPr/>
        </p:nvSpPr>
        <p:spPr>
          <a:xfrm>
            <a:off x="0" y="0"/>
            <a:ext cx="52560" cy="514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Text 1"/>
          <p:cNvSpPr/>
          <p:nvPr/>
        </p:nvSpPr>
        <p:spPr>
          <a:xfrm>
            <a:off x="274320" y="228600"/>
            <a:ext cx="8593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333" strike="noStrike">
                <a:solidFill>
                  <a:srgbClr val="f5a623"/>
                </a:solidFill>
                <a:latin typeface="Calibri"/>
                <a:ea typeface="Calibri"/>
              </a:rPr>
              <a:t>WEEK 3  ·  CAPSTONE PROJECT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9" name="Text 2"/>
          <p:cNvSpPr/>
          <p:nvPr/>
        </p:nvSpPr>
        <p:spPr>
          <a:xfrm>
            <a:off x="274320" y="457200"/>
            <a:ext cx="73130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AI-Powered Log Analyser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0" name="Text 3"/>
          <p:cNvSpPr/>
          <p:nvPr/>
        </p:nvSpPr>
        <p:spPr>
          <a:xfrm>
            <a:off x="274320" y="1005840"/>
            <a:ext cx="841032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8892b8"/>
                </a:solidFill>
                <a:latin typeface="Calibri"/>
                <a:ea typeface="Calibri"/>
              </a:rPr>
              <a:t>FastAPI app that accepts log files, calls Azure OpenAI (gpt-5-mini), and returns AI-generated root-cause analysis — containerised, deployed to AKS via CI/CD, secrets from Key Vault.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1" name="Shape 4"/>
          <p:cNvSpPr/>
          <p:nvPr/>
        </p:nvSpPr>
        <p:spPr>
          <a:xfrm>
            <a:off x="255960" y="1444680"/>
            <a:ext cx="1515960" cy="1332720"/>
          </a:xfrm>
          <a:prstGeom prst="roundRect">
            <a:avLst>
              <a:gd name="adj" fmla="val 6410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22" name="Image 0" descr="preencoded.png"/>
          <p:cNvPicPr/>
          <p:nvPr/>
        </p:nvPicPr>
        <p:blipFill>
          <a:blip r:embed="rId1"/>
          <a:stretch/>
        </p:blipFill>
        <p:spPr>
          <a:xfrm>
            <a:off x="868680" y="1572840"/>
            <a:ext cx="345240" cy="345240"/>
          </a:xfrm>
          <a:prstGeom prst="rect">
            <a:avLst/>
          </a:prstGeom>
          <a:ln w="0">
            <a:noFill/>
          </a:ln>
        </p:spPr>
      </p:pic>
      <p:sp>
        <p:nvSpPr>
          <p:cNvPr id="723" name="Text 5"/>
          <p:cNvSpPr/>
          <p:nvPr/>
        </p:nvSpPr>
        <p:spPr>
          <a:xfrm>
            <a:off x="255960" y="1993320"/>
            <a:ext cx="157104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git push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4" name="Text 6"/>
          <p:cNvSpPr/>
          <p:nvPr/>
        </p:nvSpPr>
        <p:spPr>
          <a:xfrm>
            <a:off x="255960" y="2249280"/>
            <a:ext cx="151596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triggers pipeline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auto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5" name="Text 7"/>
          <p:cNvSpPr/>
          <p:nvPr/>
        </p:nvSpPr>
        <p:spPr>
          <a:xfrm>
            <a:off x="1828800" y="1993320"/>
            <a:ext cx="16272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6" name="Shape 8"/>
          <p:cNvSpPr/>
          <p:nvPr/>
        </p:nvSpPr>
        <p:spPr>
          <a:xfrm>
            <a:off x="2048400" y="1444680"/>
            <a:ext cx="1515600" cy="1332720"/>
          </a:xfrm>
          <a:prstGeom prst="roundRect">
            <a:avLst>
              <a:gd name="adj" fmla="val 6410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27" name="Image 1" descr="preencoded.png"/>
          <p:cNvPicPr/>
          <p:nvPr/>
        </p:nvPicPr>
        <p:blipFill>
          <a:blip r:embed="rId2"/>
          <a:stretch/>
        </p:blipFill>
        <p:spPr>
          <a:xfrm>
            <a:off x="2624760" y="1572840"/>
            <a:ext cx="345240" cy="345240"/>
          </a:xfrm>
          <a:prstGeom prst="rect">
            <a:avLst/>
          </a:prstGeom>
          <a:ln w="0">
            <a:noFill/>
          </a:ln>
        </p:spPr>
      </p:pic>
      <p:sp>
        <p:nvSpPr>
          <p:cNvPr id="728" name="Text 9"/>
          <p:cNvSpPr/>
          <p:nvPr/>
        </p:nvSpPr>
        <p:spPr>
          <a:xfrm>
            <a:off x="2030400" y="1993320"/>
            <a:ext cx="153360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Build Stage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9" name="Text 10"/>
          <p:cNvSpPr/>
          <p:nvPr/>
        </p:nvSpPr>
        <p:spPr>
          <a:xfrm>
            <a:off x="2048400" y="2249280"/>
            <a:ext cx="151560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docker buildx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multi-arch push ACR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0" name="Text 11"/>
          <p:cNvSpPr/>
          <p:nvPr/>
        </p:nvSpPr>
        <p:spPr>
          <a:xfrm>
            <a:off x="3602880" y="1993320"/>
            <a:ext cx="18108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1" name="Shape 12"/>
          <p:cNvSpPr/>
          <p:nvPr/>
        </p:nvSpPr>
        <p:spPr>
          <a:xfrm>
            <a:off x="3886200" y="1444680"/>
            <a:ext cx="1415160" cy="1332720"/>
          </a:xfrm>
          <a:prstGeom prst="roundRect">
            <a:avLst>
              <a:gd name="adj" fmla="val 6410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2" name="Image 2" descr="preencoded.png"/>
          <p:cNvPicPr/>
          <p:nvPr/>
        </p:nvPicPr>
        <p:blipFill>
          <a:blip r:embed="rId3"/>
          <a:stretch/>
        </p:blipFill>
        <p:spPr>
          <a:xfrm>
            <a:off x="4343400" y="1572840"/>
            <a:ext cx="345240" cy="345240"/>
          </a:xfrm>
          <a:prstGeom prst="rect">
            <a:avLst/>
          </a:prstGeom>
          <a:ln w="0">
            <a:noFill/>
          </a:ln>
        </p:spPr>
      </p:pic>
      <p:sp>
        <p:nvSpPr>
          <p:cNvPr id="733" name="Text 13"/>
          <p:cNvSpPr/>
          <p:nvPr/>
        </p:nvSpPr>
        <p:spPr>
          <a:xfrm>
            <a:off x="3785760" y="2012040"/>
            <a:ext cx="157068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Deploy Stage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4" name="Text 14"/>
          <p:cNvSpPr/>
          <p:nvPr/>
        </p:nvSpPr>
        <p:spPr>
          <a:xfrm>
            <a:off x="3785760" y="2249280"/>
            <a:ext cx="151560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kubectl apply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set image + rollout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5" name="Text 15"/>
          <p:cNvSpPr/>
          <p:nvPr/>
        </p:nvSpPr>
        <p:spPr>
          <a:xfrm>
            <a:off x="5340240" y="1993320"/>
            <a:ext cx="1260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6" name="Shape 16"/>
          <p:cNvSpPr/>
          <p:nvPr/>
        </p:nvSpPr>
        <p:spPr>
          <a:xfrm>
            <a:off x="5554080" y="1444680"/>
            <a:ext cx="1521720" cy="1332720"/>
          </a:xfrm>
          <a:prstGeom prst="roundRect">
            <a:avLst>
              <a:gd name="adj" fmla="val 6410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7" name="Image 3" descr="preencoded.png"/>
          <p:cNvPicPr/>
          <p:nvPr/>
        </p:nvPicPr>
        <p:blipFill>
          <a:blip r:embed="rId4"/>
          <a:stretch/>
        </p:blipFill>
        <p:spPr>
          <a:xfrm>
            <a:off x="6172200" y="1572840"/>
            <a:ext cx="345240" cy="345240"/>
          </a:xfrm>
          <a:prstGeom prst="rect">
            <a:avLst/>
          </a:prstGeom>
          <a:ln w="0">
            <a:noFill/>
          </a:ln>
        </p:spPr>
      </p:pic>
      <p:sp>
        <p:nvSpPr>
          <p:cNvPr id="738" name="Text 17"/>
          <p:cNvSpPr/>
          <p:nvPr/>
        </p:nvSpPr>
        <p:spPr>
          <a:xfrm>
            <a:off x="5554080" y="1993320"/>
            <a:ext cx="155232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Key Vault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9" name="Text 18"/>
          <p:cNvSpPr/>
          <p:nvPr/>
        </p:nvSpPr>
        <p:spPr>
          <a:xfrm>
            <a:off x="5614920" y="2249280"/>
            <a:ext cx="146088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CSI driver syncs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3 secrets → env vars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0" name="Text 19"/>
          <p:cNvSpPr/>
          <p:nvPr/>
        </p:nvSpPr>
        <p:spPr>
          <a:xfrm>
            <a:off x="7108200" y="1993320"/>
            <a:ext cx="2052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1" name="Shape 20"/>
          <p:cNvSpPr/>
          <p:nvPr/>
        </p:nvSpPr>
        <p:spPr>
          <a:xfrm>
            <a:off x="7315200" y="1444680"/>
            <a:ext cx="1460880" cy="1332720"/>
          </a:xfrm>
          <a:prstGeom prst="roundRect">
            <a:avLst>
              <a:gd name="adj" fmla="val 6410"/>
            </a:avLst>
          </a:prstGeom>
          <a:solidFill>
            <a:srgbClr val="f5a623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2" name="Image 4" descr="preencoded.png"/>
          <p:cNvPicPr/>
          <p:nvPr/>
        </p:nvPicPr>
        <p:blipFill>
          <a:blip r:embed="rId5"/>
          <a:stretch/>
        </p:blipFill>
        <p:spPr>
          <a:xfrm>
            <a:off x="7818120" y="1572840"/>
            <a:ext cx="345240" cy="345240"/>
          </a:xfrm>
          <a:prstGeom prst="rect">
            <a:avLst/>
          </a:prstGeom>
          <a:ln w="0">
            <a:noFill/>
          </a:ln>
        </p:spPr>
      </p:pic>
      <p:sp>
        <p:nvSpPr>
          <p:cNvPr id="743" name="Text 21"/>
          <p:cNvSpPr/>
          <p:nvPr/>
        </p:nvSpPr>
        <p:spPr>
          <a:xfrm>
            <a:off x="7205400" y="1993320"/>
            <a:ext cx="157068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35"/>
                </a:solidFill>
                <a:latin typeface="Calibri"/>
                <a:ea typeface="Calibri"/>
              </a:rPr>
              <a:t>Live App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4" name="Text 22"/>
          <p:cNvSpPr/>
          <p:nvPr/>
        </p:nvSpPr>
        <p:spPr>
          <a:xfrm>
            <a:off x="7260480" y="2249280"/>
            <a:ext cx="146088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c2057"/>
                </a:solidFill>
                <a:latin typeface="Calibri"/>
                <a:ea typeface="Calibri"/>
              </a:rPr>
              <a:t>20.235.193.18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c2057"/>
                </a:solidFill>
                <a:latin typeface="Calibri"/>
                <a:ea typeface="Calibri"/>
              </a:rPr>
              <a:t>HTTP 200 verified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5" name="Shape 23"/>
          <p:cNvSpPr/>
          <p:nvPr/>
        </p:nvSpPr>
        <p:spPr>
          <a:xfrm>
            <a:off x="237600" y="3054240"/>
            <a:ext cx="2795760" cy="1873800"/>
          </a:xfrm>
          <a:prstGeom prst="roundRect">
            <a:avLst>
              <a:gd name="adj" fmla="val 5102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6" name="Shape 24"/>
          <p:cNvSpPr/>
          <p:nvPr/>
        </p:nvSpPr>
        <p:spPr>
          <a:xfrm>
            <a:off x="365760" y="3173040"/>
            <a:ext cx="308880" cy="30888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Text 25"/>
          <p:cNvSpPr/>
          <p:nvPr/>
        </p:nvSpPr>
        <p:spPr>
          <a:xfrm>
            <a:off x="365760" y="317304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35"/>
                </a:solidFill>
                <a:latin typeface="Calibri"/>
                <a:ea typeface="Calibri"/>
              </a:rPr>
              <a:t>01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8" name="Text 26"/>
          <p:cNvSpPr/>
          <p:nvPr/>
        </p:nvSpPr>
        <p:spPr>
          <a:xfrm>
            <a:off x="768240" y="3182040"/>
            <a:ext cx="21376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What Was Built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9" name="Shape 27"/>
          <p:cNvSpPr/>
          <p:nvPr/>
        </p:nvSpPr>
        <p:spPr>
          <a:xfrm>
            <a:off x="365760" y="3529440"/>
            <a:ext cx="2539800" cy="144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0" name="Text 28"/>
          <p:cNvSpPr/>
          <p:nvPr/>
        </p:nvSpPr>
        <p:spPr>
          <a:xfrm>
            <a:off x="365760" y="3666960"/>
            <a:ext cx="2539800" cy="11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FastAPI: /analyse/text + /analyse/upload + /healthz + /readyz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main.py (routes) + analyser.py (OpenAI logic)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Dockerfile: multi-arch buildx, uvicorn CMD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5 core checklist items completed — all verified live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1" name="Shape 29"/>
          <p:cNvSpPr/>
          <p:nvPr/>
        </p:nvSpPr>
        <p:spPr>
          <a:xfrm>
            <a:off x="3218760" y="3054240"/>
            <a:ext cx="2795760" cy="1873800"/>
          </a:xfrm>
          <a:prstGeom prst="roundRect">
            <a:avLst>
              <a:gd name="adj" fmla="val 5102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2" name="Shape 30"/>
          <p:cNvSpPr/>
          <p:nvPr/>
        </p:nvSpPr>
        <p:spPr>
          <a:xfrm>
            <a:off x="3346560" y="3173040"/>
            <a:ext cx="308880" cy="30888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Text 31"/>
          <p:cNvSpPr/>
          <p:nvPr/>
        </p:nvSpPr>
        <p:spPr>
          <a:xfrm>
            <a:off x="3346560" y="317304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35"/>
                </a:solidFill>
                <a:latin typeface="Calibri"/>
                <a:ea typeface="Calibri"/>
              </a:rPr>
              <a:t>02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4" name="Text 32"/>
          <p:cNvSpPr/>
          <p:nvPr/>
        </p:nvSpPr>
        <p:spPr>
          <a:xfrm>
            <a:off x="3749040" y="3182040"/>
            <a:ext cx="21376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Real Bugs Fixed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Shape 33"/>
          <p:cNvSpPr/>
          <p:nvPr/>
        </p:nvSpPr>
        <p:spPr>
          <a:xfrm>
            <a:off x="3346560" y="3529440"/>
            <a:ext cx="2539800" cy="144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6" name="Text 34"/>
          <p:cNvSpPr/>
          <p:nvPr/>
        </p:nvSpPr>
        <p:spPr>
          <a:xfrm>
            <a:off x="3346560" y="3657600"/>
            <a:ext cx="2539800" cy="11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checkout: self missing in deployment job → path not found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gpt-5-mini rejects temperature + max_tokens → raised to 2000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Key Vault ForbiddenByRbac → explicit role assignment required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7" name="Shape 35"/>
          <p:cNvSpPr/>
          <p:nvPr/>
        </p:nvSpPr>
        <p:spPr>
          <a:xfrm>
            <a:off x="6199560" y="3054240"/>
            <a:ext cx="2795760" cy="1873800"/>
          </a:xfrm>
          <a:prstGeom prst="roundRect">
            <a:avLst>
              <a:gd name="adj" fmla="val 5102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8" name="Shape 36"/>
          <p:cNvSpPr/>
          <p:nvPr/>
        </p:nvSpPr>
        <p:spPr>
          <a:xfrm>
            <a:off x="6327720" y="3173040"/>
            <a:ext cx="308880" cy="30888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Text 37"/>
          <p:cNvSpPr/>
          <p:nvPr/>
        </p:nvSpPr>
        <p:spPr>
          <a:xfrm>
            <a:off x="6327720" y="317304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35"/>
                </a:solidFill>
                <a:latin typeface="Calibri"/>
                <a:ea typeface="Calibri"/>
              </a:rPr>
              <a:t>03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0" name="Text 38"/>
          <p:cNvSpPr/>
          <p:nvPr/>
        </p:nvSpPr>
        <p:spPr>
          <a:xfrm>
            <a:off x="6729840" y="3182040"/>
            <a:ext cx="21376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Live Verification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1" name="Shape 39"/>
          <p:cNvSpPr/>
          <p:nvPr/>
        </p:nvSpPr>
        <p:spPr>
          <a:xfrm>
            <a:off x="6327720" y="3529440"/>
            <a:ext cx="2539800" cy="144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2" name="Text 40"/>
          <p:cNvSpPr/>
          <p:nvPr/>
        </p:nvSpPr>
        <p:spPr>
          <a:xfrm>
            <a:off x="6327720" y="3657600"/>
            <a:ext cx="2539800" cy="10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curl /healthz → {"status":"ok"} from AKS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curl /readyz → {"status":"ready"} — Key Vault secrets confirmed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POST /analyse/text → HTTP 200 real AI root-cause summary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UI live at http://20.235.193.18/docs — file upload tested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0"/>
          <p:cNvSpPr/>
          <p:nvPr/>
        </p:nvSpPr>
        <p:spPr>
          <a:xfrm>
            <a:off x="0" y="0"/>
            <a:ext cx="52560" cy="514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Text 1"/>
          <p:cNvSpPr/>
          <p:nvPr/>
        </p:nvSpPr>
        <p:spPr>
          <a:xfrm>
            <a:off x="274320" y="228600"/>
            <a:ext cx="8593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333" strike="noStrike">
                <a:solidFill>
                  <a:srgbClr val="f5a623"/>
                </a:solidFill>
                <a:latin typeface="Calibri"/>
                <a:ea typeface="Calibri"/>
              </a:rPr>
              <a:t>KEY CONCEPTS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Text 2"/>
          <p:cNvSpPr/>
          <p:nvPr/>
        </p:nvSpPr>
        <p:spPr>
          <a:xfrm>
            <a:off x="274320" y="457200"/>
            <a:ext cx="639864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e4f"/>
                </a:solidFill>
                <a:latin typeface="Cambria"/>
                <a:ea typeface="Cambria"/>
              </a:rPr>
              <a:t>AI Integration Concepts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Text 3"/>
          <p:cNvSpPr/>
          <p:nvPr/>
        </p:nvSpPr>
        <p:spPr>
          <a:xfrm>
            <a:off x="237600" y="1033200"/>
            <a:ext cx="42040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a1e4f"/>
                </a:solidFill>
                <a:latin typeface="Calibri"/>
                <a:ea typeface="Calibri"/>
              </a:rPr>
              <a:t>FastAPI app — endpoint design decisions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67" name="Table 0"/>
          <p:cNvGraphicFramePr/>
          <p:nvPr/>
        </p:nvGraphicFramePr>
        <p:xfrm>
          <a:off x="237600" y="1389960"/>
          <a:ext cx="4223880" cy="2720160"/>
        </p:xfrm>
        <a:graphic>
          <a:graphicData uri="http://schemas.openxmlformats.org/drawingml/2006/table">
            <a:tbl>
              <a:tblPr/>
              <a:tblGrid>
                <a:gridCol w="786240"/>
                <a:gridCol w="1719000"/>
                <a:gridCol w="1719000"/>
              </a:tblGrid>
              <a:tr h="338040">
                <a:tc>
                  <a:txBody>
                    <a:bodyPr anchor="t">
                      <a:noAutofit/>
                    </a:bodyPr>
                    <a:p>
                      <a:endParaRPr b="0" lang="en-US" sz="950" spc="-1" strike="noStrike">
                        <a:solidFill>
                          <a:schemeClr val="dk1"/>
                        </a:solidFill>
                        <a:latin typeface="Calibri"/>
                        <a:ea typeface="Calibri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1c205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/healthz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1c205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0f1035"/>
                          </a:solidFill>
                          <a:latin typeface="Calibri"/>
                          <a:ea typeface="Calibri"/>
                        </a:rPr>
                        <a:t>/readyz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5a623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Purpose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Liveness probe — is process alive?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Readiness probe — are secrets present?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Failure mode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Pod restart (wrong response to config issues)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Traffic paused (correct — no restart)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Returns 200 when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Process is running (always)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All 3 OpenAI env vars present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Kubernetes action on fail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Kill + restart pod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Stop routing traffic only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Used for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Liveness probe target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Readiness probe target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Split because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Config outage ≠ process crash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Different Kubernetes response needed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</a:tr>
            </a:tbl>
          </a:graphicData>
        </a:graphic>
      </p:graphicFrame>
      <p:sp>
        <p:nvSpPr>
          <p:cNvPr id="768" name="Shape 4"/>
          <p:cNvSpPr/>
          <p:nvPr/>
        </p:nvSpPr>
        <p:spPr>
          <a:xfrm>
            <a:off x="4681800" y="1078920"/>
            <a:ext cx="4222440" cy="1149840"/>
          </a:xfrm>
          <a:prstGeom prst="roundRect">
            <a:avLst>
              <a:gd name="adj" fmla="val 7937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69" name="Image 0" descr="preencoded.png"/>
          <p:cNvPicPr/>
          <p:nvPr/>
        </p:nvPicPr>
        <p:blipFill>
          <a:blip r:embed="rId1"/>
          <a:stretch/>
        </p:blipFill>
        <p:spPr>
          <a:xfrm>
            <a:off x="4846320" y="1207080"/>
            <a:ext cx="326880" cy="326880"/>
          </a:xfrm>
          <a:prstGeom prst="rect">
            <a:avLst/>
          </a:prstGeom>
          <a:ln w="0">
            <a:noFill/>
          </a:ln>
        </p:spPr>
      </p:pic>
      <p:sp>
        <p:nvSpPr>
          <p:cNvPr id="770" name="Text 5"/>
          <p:cNvSpPr/>
          <p:nvPr/>
        </p:nvSpPr>
        <p:spPr>
          <a:xfrm>
            <a:off x="5266800" y="1188720"/>
            <a:ext cx="34725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gpt-5-mini Reasoning Model Behaviour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Text 6"/>
          <p:cNvSpPr/>
          <p:nvPr/>
        </p:nvSpPr>
        <p:spPr>
          <a:xfrm>
            <a:off x="5266800" y="1463040"/>
            <a:ext cx="347256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b8"/>
                </a:solidFill>
                <a:latin typeface="Calibri"/>
                <a:ea typeface="Calibri"/>
              </a:rPr>
              <a:t>Rejects temperature + max_tokens outright (400). Uses max_completion_tokens. Hidden reasoning tokens consume budget before visible output — set to 2000 minimum. Empty response = token exhaustion, not an API error.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Shape 7"/>
          <p:cNvSpPr/>
          <p:nvPr/>
        </p:nvSpPr>
        <p:spPr>
          <a:xfrm>
            <a:off x="4681800" y="2340720"/>
            <a:ext cx="4222440" cy="1149840"/>
          </a:xfrm>
          <a:prstGeom prst="roundRect">
            <a:avLst>
              <a:gd name="adj" fmla="val 7937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3" name="Image 1" descr="preencoded.png"/>
          <p:cNvPicPr/>
          <p:nvPr/>
        </p:nvPicPr>
        <p:blipFill>
          <a:blip r:embed="rId2"/>
          <a:stretch/>
        </p:blipFill>
        <p:spPr>
          <a:xfrm>
            <a:off x="4846320" y="2468880"/>
            <a:ext cx="326880" cy="326880"/>
          </a:xfrm>
          <a:prstGeom prst="rect">
            <a:avLst/>
          </a:prstGeom>
          <a:ln w="0">
            <a:noFill/>
          </a:ln>
        </p:spPr>
      </p:pic>
      <p:sp>
        <p:nvSpPr>
          <p:cNvPr id="774" name="Text 8"/>
          <p:cNvSpPr/>
          <p:nvPr/>
        </p:nvSpPr>
        <p:spPr>
          <a:xfrm>
            <a:off x="5266800" y="2450520"/>
            <a:ext cx="34725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Key Vault → CSI Driver → Pod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Text 9"/>
          <p:cNvSpPr/>
          <p:nvPr/>
        </p:nvSpPr>
        <p:spPr>
          <a:xfrm>
            <a:off x="5266800" y="2724840"/>
            <a:ext cx="347256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b8"/>
                </a:solidFill>
                <a:latin typeface="Calibri"/>
                <a:ea typeface="Calibri"/>
              </a:rPr>
              <a:t>Secrets stored in Key Vault. CSI driver add-on authenticates via AKS managed identity. secretObjects block syncs KV secrets → K8s Secret → env vars. Optional: false means pod fails to start if any secret is missing — fail-fast by design.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hape 10"/>
          <p:cNvSpPr/>
          <p:nvPr/>
        </p:nvSpPr>
        <p:spPr>
          <a:xfrm>
            <a:off x="4681800" y="3602880"/>
            <a:ext cx="4222440" cy="1149840"/>
          </a:xfrm>
          <a:prstGeom prst="roundRect">
            <a:avLst>
              <a:gd name="adj" fmla="val 7937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7" name="Image 2" descr="preencoded.png"/>
          <p:cNvPicPr/>
          <p:nvPr/>
        </p:nvPicPr>
        <p:blipFill>
          <a:blip r:embed="rId3"/>
          <a:stretch/>
        </p:blipFill>
        <p:spPr>
          <a:xfrm>
            <a:off x="4846320" y="3730680"/>
            <a:ext cx="326880" cy="326880"/>
          </a:xfrm>
          <a:prstGeom prst="rect">
            <a:avLst/>
          </a:prstGeom>
          <a:ln w="0">
            <a:noFill/>
          </a:ln>
        </p:spPr>
      </p:pic>
      <p:sp>
        <p:nvSpPr>
          <p:cNvPr id="778" name="Text 11"/>
          <p:cNvSpPr/>
          <p:nvPr/>
        </p:nvSpPr>
        <p:spPr>
          <a:xfrm>
            <a:off x="5266800" y="3712320"/>
            <a:ext cx="34725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Build Once, Promote Everywhere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Text 12"/>
          <p:cNvSpPr/>
          <p:nvPr/>
        </p:nvSpPr>
        <p:spPr>
          <a:xfrm>
            <a:off x="5266800" y="3986640"/>
            <a:ext cx="347256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b8"/>
                </a:solidFill>
                <a:latin typeface="Calibri"/>
                <a:ea typeface="Calibri"/>
              </a:rPr>
              <a:t>Image built once in CI with Build.BuildId tag. Same image promoted dev → staging → prod — never rebuilt. Guarantees what was tested is exactly what runs in production. Rollback = kubectl rollout undo to a specific known-good Build.BuildId.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Text 13"/>
          <p:cNvSpPr/>
          <p:nvPr/>
        </p:nvSpPr>
        <p:spPr>
          <a:xfrm>
            <a:off x="228600" y="4144320"/>
            <a:ext cx="45698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Concepts Shipped This Week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14"/>
          <p:cNvSpPr/>
          <p:nvPr/>
        </p:nvSpPr>
        <p:spPr>
          <a:xfrm>
            <a:off x="237600" y="4389120"/>
            <a:ext cx="1242000" cy="30888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2" name="Text 15"/>
          <p:cNvSpPr/>
          <p:nvPr/>
        </p:nvSpPr>
        <p:spPr>
          <a:xfrm>
            <a:off x="237600" y="4389120"/>
            <a:ext cx="1242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Reasoning Models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16"/>
          <p:cNvSpPr/>
          <p:nvPr/>
        </p:nvSpPr>
        <p:spPr>
          <a:xfrm>
            <a:off x="1719000" y="4389120"/>
            <a:ext cx="1188360" cy="30888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Text 17"/>
          <p:cNvSpPr/>
          <p:nvPr/>
        </p:nvSpPr>
        <p:spPr>
          <a:xfrm>
            <a:off x="1719000" y="4389120"/>
            <a:ext cx="118836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Key Vault + CSI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18"/>
          <p:cNvSpPr/>
          <p:nvPr/>
        </p:nvSpPr>
        <p:spPr>
          <a:xfrm>
            <a:off x="3108960" y="4389120"/>
            <a:ext cx="1325520" cy="30888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6" name="Text 19"/>
          <p:cNvSpPr/>
          <p:nvPr/>
        </p:nvSpPr>
        <p:spPr>
          <a:xfrm>
            <a:off x="3108960" y="4389120"/>
            <a:ext cx="13255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Probe Split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20"/>
          <p:cNvSpPr/>
          <p:nvPr/>
        </p:nvSpPr>
        <p:spPr>
          <a:xfrm>
            <a:off x="228600" y="4754880"/>
            <a:ext cx="1251000" cy="30888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Text 21"/>
          <p:cNvSpPr/>
          <p:nvPr/>
        </p:nvSpPr>
        <p:spPr>
          <a:xfrm>
            <a:off x="228600" y="4754880"/>
            <a:ext cx="1251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Build Once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Shape 22"/>
          <p:cNvSpPr/>
          <p:nvPr/>
        </p:nvSpPr>
        <p:spPr>
          <a:xfrm>
            <a:off x="3108960" y="4754880"/>
            <a:ext cx="1325520" cy="30888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0" name="Text 23"/>
          <p:cNvSpPr/>
          <p:nvPr/>
        </p:nvSpPr>
        <p:spPr>
          <a:xfrm>
            <a:off x="1481400" y="4754880"/>
            <a:ext cx="11498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Env Promotion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Shape 24"/>
          <p:cNvSpPr/>
          <p:nvPr/>
        </p:nvSpPr>
        <p:spPr>
          <a:xfrm>
            <a:off x="1719000" y="4754880"/>
            <a:ext cx="1188360" cy="30888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" name="Text 25"/>
          <p:cNvSpPr/>
          <p:nvPr/>
        </p:nvSpPr>
        <p:spPr>
          <a:xfrm>
            <a:off x="3108960" y="4754880"/>
            <a:ext cx="13255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Secrets RBAC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Text 27"/>
          <p:cNvSpPr/>
          <p:nvPr/>
        </p:nvSpPr>
        <p:spPr>
          <a:xfrm>
            <a:off x="1719000" y="4754880"/>
            <a:ext cx="118836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Fail Fast Design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Rectangle 1"/>
          <p:cNvSpPr/>
          <p:nvPr/>
        </p:nvSpPr>
        <p:spPr>
          <a:xfrm>
            <a:off x="0" y="0"/>
            <a:ext cx="52560" cy="5141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5" name="TextBox 2"/>
          <p:cNvSpPr/>
          <p:nvPr/>
        </p:nvSpPr>
        <p:spPr>
          <a:xfrm>
            <a:off x="274320" y="228600"/>
            <a:ext cx="8593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850" spc="333" strike="noStrike">
                <a:solidFill>
                  <a:srgbClr val="f5a623"/>
                </a:solidFill>
                <a:latin typeface="Calibri"/>
              </a:rPr>
              <a:t>WEEK 3  ·  CONCLUSION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6" name="TextBox 3"/>
          <p:cNvSpPr/>
          <p:nvPr/>
        </p:nvSpPr>
        <p:spPr>
          <a:xfrm>
            <a:off x="274320" y="479880"/>
            <a:ext cx="859320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3800" spc="-1" strike="noStrike">
                <a:solidFill>
                  <a:srgbClr val="ffffff"/>
                </a:solidFill>
                <a:latin typeface="Cambria"/>
              </a:rPr>
              <a:t>Week 3 Completed.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7" name="TextBox 4"/>
          <p:cNvSpPr/>
          <p:nvPr/>
        </p:nvSpPr>
        <p:spPr>
          <a:xfrm>
            <a:off x="274320" y="1230120"/>
            <a:ext cx="85932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8000"/>
              </a:lnSpc>
            </a:pPr>
            <a:r>
              <a:rPr b="0" i="1" lang="en-US" sz="1300" spc="-1" strike="noStrike">
                <a:solidFill>
                  <a:srgbClr val="f5a623"/>
                </a:solidFill>
                <a:latin typeface="Calibri"/>
              </a:rPr>
              <a:t>“</a:t>
            </a:r>
            <a:r>
              <a:rPr b="0" i="1" lang="en-US" sz="1300" spc="-1" strike="noStrike">
                <a:solidFill>
                  <a:srgbClr val="f5a623"/>
                </a:solidFill>
                <a:latin typeface="Calibri"/>
              </a:rPr>
              <a:t>You did not just deploy to Kubernetes. You learned what Azure quietly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8000"/>
              </a:lnSpc>
            </a:pPr>
            <a:r>
              <a:rPr b="0" i="1" lang="en-US" sz="1300" spc="-1" strike="noStrike">
                <a:solidFill>
                  <a:srgbClr val="f5a623"/>
                </a:solidFill>
                <a:latin typeface="Calibri"/>
              </a:rPr>
              <a:t>automates — and built the pipeline that gets your code there.”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8" name="Rounded Rectangle 5"/>
          <p:cNvSpPr/>
          <p:nvPr/>
        </p:nvSpPr>
        <p:spPr>
          <a:xfrm>
            <a:off x="237600" y="1919880"/>
            <a:ext cx="1637280" cy="239832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9" name="TextBox 6"/>
          <p:cNvSpPr/>
          <p:nvPr/>
        </p:nvSpPr>
        <p:spPr>
          <a:xfrm>
            <a:off x="237600" y="2070000"/>
            <a:ext cx="163728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f5a623"/>
                </a:solidFill>
                <a:latin typeface="Cambria"/>
              </a:rPr>
              <a:t>A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0" name="TextBox 7"/>
          <p:cNvSpPr/>
          <p:nvPr/>
        </p:nvSpPr>
        <p:spPr>
          <a:xfrm>
            <a:off x="237600" y="2800080"/>
            <a:ext cx="16372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AI Services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01" name="Connector 8"/>
          <p:cNvCxnSpPr/>
          <p:nvPr/>
        </p:nvCxnSpPr>
        <p:spPr>
          <a:xfrm>
            <a:off x="532440" y="3109680"/>
            <a:ext cx="1050840" cy="1800"/>
          </a:xfrm>
          <a:prstGeom prst="straightConnector1">
            <a:avLst/>
          </a:prstGeom>
          <a:ln w="9525">
            <a:solidFill>
              <a:srgbClr val="4a4f8a"/>
            </a:solidFill>
            <a:round/>
          </a:ln>
        </p:spPr>
      </p:cxnSp>
      <p:sp>
        <p:nvSpPr>
          <p:cNvPr id="802" name="TextBox 9"/>
          <p:cNvSpPr/>
          <p:nvPr/>
        </p:nvSpPr>
        <p:spPr>
          <a:xfrm>
            <a:off x="307440" y="3200040"/>
            <a:ext cx="1497240" cy="10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Cognitive APIs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Vision · Language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Translator · OCR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3" name="Rounded Rectangle 10"/>
          <p:cNvSpPr/>
          <p:nvPr/>
        </p:nvSpPr>
        <p:spPr>
          <a:xfrm>
            <a:off x="1976760" y="1919880"/>
            <a:ext cx="1637280" cy="239832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4" name="TextBox 11"/>
          <p:cNvSpPr/>
          <p:nvPr/>
        </p:nvSpPr>
        <p:spPr>
          <a:xfrm>
            <a:off x="1976760" y="2070000"/>
            <a:ext cx="163728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f5a623"/>
                </a:solidFill>
                <a:latin typeface="Cambria"/>
              </a:rPr>
              <a:t>M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5" name="TextBox 12"/>
          <p:cNvSpPr/>
          <p:nvPr/>
        </p:nvSpPr>
        <p:spPr>
          <a:xfrm>
            <a:off x="1976760" y="2800080"/>
            <a:ext cx="16372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ML Platform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06" name="Connector 13"/>
          <p:cNvCxnSpPr/>
          <p:nvPr/>
        </p:nvCxnSpPr>
        <p:spPr>
          <a:xfrm>
            <a:off x="2271600" y="3109680"/>
            <a:ext cx="1050480" cy="1800"/>
          </a:xfrm>
          <a:prstGeom prst="straightConnector1">
            <a:avLst/>
          </a:prstGeom>
          <a:ln w="9525">
            <a:solidFill>
              <a:srgbClr val="4a4f8a"/>
            </a:solidFill>
            <a:round/>
          </a:ln>
        </p:spPr>
      </p:cxnSp>
      <p:sp>
        <p:nvSpPr>
          <p:cNvPr id="807" name="TextBox 14"/>
          <p:cNvSpPr/>
          <p:nvPr/>
        </p:nvSpPr>
        <p:spPr>
          <a:xfrm>
            <a:off x="2046600" y="3200040"/>
            <a:ext cx="1497240" cy="10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Azure ML Workspace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AutoML + Registry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Online Endpoints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8" name="Rounded Rectangle 15"/>
          <p:cNvSpPr/>
          <p:nvPr/>
        </p:nvSpPr>
        <p:spPr>
          <a:xfrm>
            <a:off x="3715560" y="1919880"/>
            <a:ext cx="1637280" cy="239832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9" name="TextBox 16"/>
          <p:cNvSpPr/>
          <p:nvPr/>
        </p:nvSpPr>
        <p:spPr>
          <a:xfrm>
            <a:off x="3715560" y="2070000"/>
            <a:ext cx="163728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f5a623"/>
                </a:solidFill>
                <a:latin typeface="Cambria"/>
              </a:rPr>
              <a:t>C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0" name="TextBox 17"/>
          <p:cNvSpPr/>
          <p:nvPr/>
        </p:nvSpPr>
        <p:spPr>
          <a:xfrm>
            <a:off x="3715560" y="2800080"/>
            <a:ext cx="16372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OpenAI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11" name="Connector 18"/>
          <p:cNvCxnSpPr/>
          <p:nvPr/>
        </p:nvCxnSpPr>
        <p:spPr>
          <a:xfrm>
            <a:off x="4010400" y="3109680"/>
            <a:ext cx="1050840" cy="1800"/>
          </a:xfrm>
          <a:prstGeom prst="straightConnector1">
            <a:avLst/>
          </a:prstGeom>
          <a:ln w="9525">
            <a:solidFill>
              <a:srgbClr val="4a4f8a"/>
            </a:solidFill>
            <a:round/>
          </a:ln>
        </p:spPr>
      </p:cxnSp>
      <p:sp>
        <p:nvSpPr>
          <p:cNvPr id="812" name="TextBox 19"/>
          <p:cNvSpPr/>
          <p:nvPr/>
        </p:nvSpPr>
        <p:spPr>
          <a:xfrm>
            <a:off x="3785760" y="3200040"/>
            <a:ext cx="1497240" cy="10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gpt-5-mini deployed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Chat Completions API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Embeddings + RAG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3" name="Rounded Rectangle 20"/>
          <p:cNvSpPr/>
          <p:nvPr/>
        </p:nvSpPr>
        <p:spPr>
          <a:xfrm>
            <a:off x="5454720" y="1919880"/>
            <a:ext cx="1637280" cy="239832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4" name="TextBox 21"/>
          <p:cNvSpPr/>
          <p:nvPr/>
        </p:nvSpPr>
        <p:spPr>
          <a:xfrm>
            <a:off x="5454720" y="2070000"/>
            <a:ext cx="163728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f5a623"/>
                </a:solidFill>
                <a:latin typeface="Cambria"/>
              </a:rPr>
              <a:t>O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5" name="TextBox 22"/>
          <p:cNvSpPr/>
          <p:nvPr/>
        </p:nvSpPr>
        <p:spPr>
          <a:xfrm>
            <a:off x="5454720" y="2800080"/>
            <a:ext cx="16372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Capstone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16" name="Connector 23"/>
          <p:cNvCxnSpPr/>
          <p:nvPr/>
        </p:nvCxnSpPr>
        <p:spPr>
          <a:xfrm>
            <a:off x="5749560" y="3109680"/>
            <a:ext cx="1050480" cy="1800"/>
          </a:xfrm>
          <a:prstGeom prst="straightConnector1">
            <a:avLst/>
          </a:prstGeom>
          <a:ln w="9525">
            <a:solidFill>
              <a:srgbClr val="4a4f8a"/>
            </a:solidFill>
            <a:round/>
          </a:ln>
        </p:spPr>
      </p:cxnSp>
      <p:sp>
        <p:nvSpPr>
          <p:cNvPr id="817" name="TextBox 24"/>
          <p:cNvSpPr/>
          <p:nvPr/>
        </p:nvSpPr>
        <p:spPr>
          <a:xfrm>
            <a:off x="5524560" y="3200040"/>
            <a:ext cx="1497240" cy="10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FastAPI App live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AKS + CI/CD + Key Vault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HTTP 200 verified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8" name="Rounded Rectangle 25"/>
          <p:cNvSpPr/>
          <p:nvPr/>
        </p:nvSpPr>
        <p:spPr>
          <a:xfrm>
            <a:off x="7193520" y="1919880"/>
            <a:ext cx="1637280" cy="239832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9" name="TextBox 26"/>
          <p:cNvSpPr/>
          <p:nvPr/>
        </p:nvSpPr>
        <p:spPr>
          <a:xfrm>
            <a:off x="7193520" y="2070000"/>
            <a:ext cx="163728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f5a623"/>
                </a:solidFill>
                <a:latin typeface="Cambria"/>
              </a:rPr>
              <a:t>D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0" name="TextBox 27"/>
          <p:cNvSpPr/>
          <p:nvPr/>
        </p:nvSpPr>
        <p:spPr>
          <a:xfrm>
            <a:off x="7193520" y="2800080"/>
            <a:ext cx="16372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DevOps Done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21" name="Connector 28"/>
          <p:cNvCxnSpPr/>
          <p:nvPr/>
        </p:nvCxnSpPr>
        <p:spPr>
          <a:xfrm>
            <a:off x="7488360" y="3109680"/>
            <a:ext cx="1050840" cy="1800"/>
          </a:xfrm>
          <a:prstGeom prst="straightConnector1">
            <a:avLst/>
          </a:prstGeom>
          <a:ln w="9525">
            <a:solidFill>
              <a:srgbClr val="4a4f8a"/>
            </a:solidFill>
            <a:round/>
          </a:ln>
        </p:spPr>
      </p:cxnSp>
      <p:sp>
        <p:nvSpPr>
          <p:cNvPr id="822" name="TextBox 29"/>
          <p:cNvSpPr/>
          <p:nvPr/>
        </p:nvSpPr>
        <p:spPr>
          <a:xfrm>
            <a:off x="7263720" y="3200040"/>
            <a:ext cx="1497240" cy="10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18 days complete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Linux → Cloud-Native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→ </a:t>
            </a: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AI Engineer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3" name="Rounded Rectangle 30"/>
          <p:cNvSpPr/>
          <p:nvPr/>
        </p:nvSpPr>
        <p:spPr>
          <a:xfrm>
            <a:off x="237600" y="4470120"/>
            <a:ext cx="8593200" cy="598320"/>
          </a:xfrm>
          <a:prstGeom prst="roundRect">
            <a:avLst>
              <a:gd name="adj" fmla="val 1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4" name="TextBox 31"/>
          <p:cNvSpPr/>
          <p:nvPr/>
        </p:nvSpPr>
        <p:spPr>
          <a:xfrm>
            <a:off x="349920" y="4470120"/>
            <a:ext cx="21646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900" spc="236" strike="noStrike">
                <a:solidFill>
                  <a:srgbClr val="f5a623"/>
                </a:solidFill>
                <a:latin typeface="Calibri"/>
              </a:rPr>
              <a:t>BOOTCAMP COMPLETE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5" name="TextBox 32"/>
          <p:cNvSpPr/>
          <p:nvPr/>
        </p:nvSpPr>
        <p:spPr>
          <a:xfrm>
            <a:off x="349920" y="4749840"/>
            <a:ext cx="14983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Certifications →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6" name="TextBox 33"/>
          <p:cNvSpPr/>
          <p:nvPr/>
        </p:nvSpPr>
        <p:spPr>
          <a:xfrm>
            <a:off x="1917720" y="4470120"/>
            <a:ext cx="130932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Azure AI Services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(Vision, Language)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7" name="TextBox 34"/>
          <p:cNvSpPr/>
          <p:nvPr/>
        </p:nvSpPr>
        <p:spPr>
          <a:xfrm>
            <a:off x="3308760" y="4470120"/>
            <a:ext cx="130932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Azure ML +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AutoML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8" name="TextBox 35"/>
          <p:cNvSpPr/>
          <p:nvPr/>
        </p:nvSpPr>
        <p:spPr>
          <a:xfrm>
            <a:off x="4699440" y="4470120"/>
            <a:ext cx="130932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Azure OpenAI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GPT-4o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9" name="TextBox 36"/>
          <p:cNvSpPr/>
          <p:nvPr/>
        </p:nvSpPr>
        <p:spPr>
          <a:xfrm>
            <a:off x="6090480" y="4470120"/>
            <a:ext cx="130932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               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AI-102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AI Engineer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0" name="TextBox 37"/>
          <p:cNvSpPr/>
          <p:nvPr/>
        </p:nvSpPr>
        <p:spPr>
          <a:xfrm>
            <a:off x="7481520" y="4470120"/>
            <a:ext cx="130932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AI-Powered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DevOps App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1546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2026-06-12T19:28:29Z</dcterms:created>
  <dc:creator>PptxGenJS</dc:creator>
  <dc:description/>
  <dc:language>en-US</dc:language>
  <cp:lastModifiedBy/>
  <dcterms:modified xsi:type="dcterms:W3CDTF">2026-07-07T12:42:17Z</dcterms:modified>
  <cp:revision>10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