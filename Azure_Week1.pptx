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F854389-B2B9-412D-8B63-F4D2BC21F25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0A1163-AA8E-48CE-B6F5-7E2458E6F7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8DBA76-3911-402F-9AAA-7D7FCF5BB0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CB8A03-4BAD-4F55-8F9C-686DB69B02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E06A1D-DD43-4BC8-9690-4B680B0FCF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0E71AC-65AB-422A-860B-3334CBEF12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193C67-4686-4D46-BB01-7D420BA825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99EB69-D013-41F9-A036-34E2D18FCB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274320" y="228600"/>
            <a:ext cx="859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7" strike="noStrike">
                <a:solidFill>
                  <a:srgbClr val="f5a623"/>
                </a:solidFill>
                <a:latin typeface="Calibri"/>
                <a:ea typeface="Calibri"/>
              </a:rPr>
              <a:t>AZURE LAUNCHPAD  ·  FRESHER TRACK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274320" y="640080"/>
            <a:ext cx="5120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mbria"/>
                <a:ea typeface="Cambria"/>
              </a:rPr>
              <a:t>Azure Bootcamp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274320" y="1334880"/>
            <a:ext cx="5120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5a623"/>
                </a:solidFill>
                <a:latin typeface="Cambria"/>
                <a:ea typeface="Cambria"/>
              </a:rPr>
              <a:t>Week 1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34800" y="2121480"/>
            <a:ext cx="5120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d580"/>
                </a:solidFill>
                <a:latin typeface="Calibri"/>
                <a:ea typeface="Calibri"/>
              </a:rPr>
              <a:t>Vibhav Khaneja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274320" y="246888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2b8"/>
                </a:solidFill>
                <a:latin typeface="Calibri"/>
                <a:ea typeface="Calibri"/>
              </a:rPr>
              <a:t>Cloud Foundations  ·  Storage  ·  Containers  ·  ACR  ·  ACI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74320" y="2944440"/>
            <a:ext cx="1115280" cy="822600"/>
          </a:xfrm>
          <a:prstGeom prst="roundRect">
            <a:avLst>
              <a:gd name="adj" fmla="val 88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274320" y="296280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a623"/>
                </a:solidFill>
                <a:latin typeface="Cambria"/>
                <a:ea typeface="Cambria"/>
              </a:rPr>
              <a:t>6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74320" y="3438000"/>
            <a:ext cx="1115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Days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536120" y="2944440"/>
            <a:ext cx="1115280" cy="822600"/>
          </a:xfrm>
          <a:prstGeom prst="roundRect">
            <a:avLst>
              <a:gd name="adj" fmla="val 88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536120" y="296280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a623"/>
                </a:solidFill>
                <a:latin typeface="Cambria"/>
                <a:ea typeface="Cambria"/>
              </a:rPr>
              <a:t>4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536120" y="3438000"/>
            <a:ext cx="1115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Bash Scripts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2797920" y="2944440"/>
            <a:ext cx="1115280" cy="822600"/>
          </a:xfrm>
          <a:prstGeom prst="roundRect">
            <a:avLst>
              <a:gd name="adj" fmla="val 88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2797920" y="296280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a623"/>
                </a:solidFill>
                <a:latin typeface="Cambria"/>
                <a:ea typeface="Cambria"/>
              </a:rPr>
              <a:t>6+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2797920" y="3438000"/>
            <a:ext cx="1115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4060080" y="2944440"/>
            <a:ext cx="1115280" cy="822600"/>
          </a:xfrm>
          <a:prstGeom prst="roundRect">
            <a:avLst>
              <a:gd name="adj" fmla="val 88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4060080" y="296280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a623"/>
                </a:solidFill>
                <a:latin typeface="Cambria"/>
                <a:ea typeface="Cambria"/>
              </a:rPr>
              <a:t>1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060080" y="3438000"/>
            <a:ext cx="1115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Live Deploy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274320" y="3877200"/>
            <a:ext cx="5047200" cy="22680"/>
          </a:xfrm>
          <a:prstGeom prst="rect">
            <a:avLst/>
          </a:prstGeom>
          <a:solidFill>
            <a:srgbClr val="2a2f6e"/>
          </a:solidFill>
          <a:ln w="12700">
            <a:solidFill>
              <a:srgbClr val="2a2f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274320" y="3931920"/>
            <a:ext cx="5047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2b8"/>
                </a:solidFill>
                <a:latin typeface="Calibri"/>
                <a:ea typeface="Calibri"/>
              </a:rPr>
              <a:t>3-Week Azure Bootcamp  ·  Ubuntu + Docker → Cloud-Native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5742360" y="164520"/>
            <a:ext cx="3145320" cy="4772880"/>
          </a:xfrm>
          <a:prstGeom prst="roundRect">
            <a:avLst>
              <a:gd name="adj" fmla="val 3488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5943600" y="32904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f5a623"/>
                </a:solidFill>
                <a:latin typeface="Calibri"/>
                <a:ea typeface="Calibri"/>
              </a:rPr>
              <a:t>PROGRAMME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5906880" y="694800"/>
            <a:ext cx="2815920" cy="566640"/>
          </a:xfrm>
          <a:prstGeom prst="roundRect">
            <a:avLst>
              <a:gd name="adj" fmla="val 11290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5943600" y="731520"/>
            <a:ext cx="328680" cy="493560"/>
          </a:xfrm>
          <a:prstGeom prst="roundRect">
            <a:avLst>
              <a:gd name="adj" fmla="val 13889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5943600" y="731520"/>
            <a:ext cx="328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035"/>
                </a:solidFill>
                <a:latin typeface="Calibri"/>
                <a:ea typeface="Calibri"/>
              </a:rPr>
              <a:t>01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346080" y="749880"/>
            <a:ext cx="230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Azure Orientation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346080" y="969120"/>
            <a:ext cx="230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8"/>
                </a:solidFill>
                <a:latin typeface="Calibri"/>
                <a:ea typeface="Calibri"/>
              </a:rPr>
              <a:t>CLI · Portal · Resource Groups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5906880" y="1371600"/>
            <a:ext cx="2815920" cy="566640"/>
          </a:xfrm>
          <a:prstGeom prst="roundRect">
            <a:avLst>
              <a:gd name="adj" fmla="val 11290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5943600" y="1408320"/>
            <a:ext cx="328680" cy="493560"/>
          </a:xfrm>
          <a:prstGeom prst="roundRect">
            <a:avLst>
              <a:gd name="adj" fmla="val 13889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5943600" y="1408320"/>
            <a:ext cx="328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035"/>
                </a:solidFill>
                <a:latin typeface="Calibri"/>
                <a:ea typeface="Calibri"/>
              </a:rPr>
              <a:t>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346080" y="1426320"/>
            <a:ext cx="230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VMs &amp; Networking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6346080" y="1645920"/>
            <a:ext cx="230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8"/>
                </a:solidFill>
                <a:latin typeface="Calibri"/>
                <a:ea typeface="Calibri"/>
              </a:rPr>
              <a:t>VNet · NSG · SSH · Nginx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5906880" y="2048400"/>
            <a:ext cx="2815920" cy="566640"/>
          </a:xfrm>
          <a:prstGeom prst="roundRect">
            <a:avLst>
              <a:gd name="adj" fmla="val 11290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5943600" y="2084760"/>
            <a:ext cx="328680" cy="493560"/>
          </a:xfrm>
          <a:prstGeom prst="roundRect">
            <a:avLst>
              <a:gd name="adj" fmla="val 13889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5943600" y="2084760"/>
            <a:ext cx="328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035"/>
                </a:solidFill>
                <a:latin typeface="Calibri"/>
                <a:ea typeface="Calibri"/>
              </a:rPr>
              <a:t>03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6346080" y="2103120"/>
            <a:ext cx="230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Azure Storage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6346080" y="2322720"/>
            <a:ext cx="230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8"/>
                </a:solidFill>
                <a:latin typeface="Calibri"/>
                <a:ea typeface="Calibri"/>
              </a:rPr>
              <a:t>Blobs · SAS · Azure Files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5906880" y="2724840"/>
            <a:ext cx="2815920" cy="566640"/>
          </a:xfrm>
          <a:prstGeom prst="roundRect">
            <a:avLst>
              <a:gd name="adj" fmla="val 11290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5943600" y="2761560"/>
            <a:ext cx="328680" cy="493560"/>
          </a:xfrm>
          <a:prstGeom prst="roundRect">
            <a:avLst>
              <a:gd name="adj" fmla="val 13889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5943600" y="2761560"/>
            <a:ext cx="328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035"/>
                </a:solidFill>
                <a:latin typeface="Calibri"/>
                <a:ea typeface="Calibri"/>
              </a:rPr>
              <a:t>04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6346080" y="2779920"/>
            <a:ext cx="230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ACI – Containers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6346080" y="2999160"/>
            <a:ext cx="230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8"/>
                </a:solidFill>
                <a:latin typeface="Calibri"/>
                <a:ea typeface="Calibri"/>
              </a:rPr>
              <a:t>Deploy · Logs · Env Vars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5906880" y="3401640"/>
            <a:ext cx="2815920" cy="566640"/>
          </a:xfrm>
          <a:prstGeom prst="roundRect">
            <a:avLst>
              <a:gd name="adj" fmla="val 11290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5943600" y="3438000"/>
            <a:ext cx="328680" cy="493560"/>
          </a:xfrm>
          <a:prstGeom prst="roundRect">
            <a:avLst>
              <a:gd name="adj" fmla="val 13889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5943600" y="3438000"/>
            <a:ext cx="328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035"/>
                </a:solidFill>
                <a:latin typeface="Calibri"/>
                <a:ea typeface="Calibri"/>
              </a:rPr>
              <a:t>05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6346080" y="3456360"/>
            <a:ext cx="230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ACR – Registry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6346080" y="3675960"/>
            <a:ext cx="230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8"/>
                </a:solidFill>
                <a:latin typeface="Calibri"/>
                <a:ea typeface="Calibri"/>
              </a:rPr>
              <a:t>Build · Tag · Push · Deploy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5906880" y="4078080"/>
            <a:ext cx="2815920" cy="566640"/>
          </a:xfrm>
          <a:prstGeom prst="roundRect">
            <a:avLst>
              <a:gd name="adj" fmla="val 11290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5943600" y="4114800"/>
            <a:ext cx="328680" cy="493560"/>
          </a:xfrm>
          <a:prstGeom prst="roundRect">
            <a:avLst>
              <a:gd name="adj" fmla="val 13889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49"/>
          <p:cNvSpPr/>
          <p:nvPr/>
        </p:nvSpPr>
        <p:spPr>
          <a:xfrm>
            <a:off x="5943600" y="4114800"/>
            <a:ext cx="3286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035"/>
                </a:solidFill>
                <a:latin typeface="Calibri"/>
                <a:ea typeface="Calibri"/>
              </a:rPr>
              <a:t>06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50"/>
          <p:cNvSpPr/>
          <p:nvPr/>
        </p:nvSpPr>
        <p:spPr>
          <a:xfrm>
            <a:off x="6346080" y="4133160"/>
            <a:ext cx="230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Week 1 Project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51"/>
          <p:cNvSpPr/>
          <p:nvPr/>
        </p:nvSpPr>
        <p:spPr>
          <a:xfrm>
            <a:off x="6346080" y="4352400"/>
            <a:ext cx="230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b8"/>
                </a:solidFill>
                <a:latin typeface="Calibri"/>
                <a:ea typeface="Calibri"/>
              </a:rPr>
              <a:t>End-to-end Live Deploy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274320" y="22860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7" strike="noStrike">
                <a:solidFill>
                  <a:srgbClr val="f5a623"/>
                </a:solidFill>
                <a:latin typeface="Calibri"/>
                <a:ea typeface="Calibri"/>
              </a:rPr>
              <a:t>OVERVIEW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274320" y="45720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The Week 1 Learning Arc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237600" y="1115640"/>
            <a:ext cx="2761200" cy="17002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365760" y="12344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365760" y="123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2597040" y="12254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67" name="Text 6"/>
          <p:cNvSpPr/>
          <p:nvPr/>
        </p:nvSpPr>
        <p:spPr>
          <a:xfrm>
            <a:off x="365760" y="1591200"/>
            <a:ext cx="2505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Azure Orientation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365760" y="1883520"/>
            <a:ext cx="2505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Free account + student credits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 login + resource group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Portal vs CLI parity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azure_setup.sh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3182040" y="1115640"/>
            <a:ext cx="2761200" cy="17002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3310200" y="12344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3310200" y="123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Image 1" descr="preencoded.png"/>
          <p:cNvPicPr/>
          <p:nvPr/>
        </p:nvPicPr>
        <p:blipFill>
          <a:blip r:embed="rId2"/>
          <a:stretch/>
        </p:blipFill>
        <p:spPr>
          <a:xfrm>
            <a:off x="5541120" y="12254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3" name="Text 11"/>
          <p:cNvSpPr/>
          <p:nvPr/>
        </p:nvSpPr>
        <p:spPr>
          <a:xfrm>
            <a:off x="3310200" y="1591200"/>
            <a:ext cx="2505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VMs &amp; Networking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3310200" y="1883520"/>
            <a:ext cx="2505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VNet + Subnet via CLI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Ubuntu VM + SSH key auth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NSG rules · Nginx on port 80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vm_manager.sh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6126480" y="1115640"/>
            <a:ext cx="2761200" cy="17002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6254640" y="12344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6254640" y="123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 2" descr="preencoded.png"/>
          <p:cNvPicPr/>
          <p:nvPr/>
        </p:nvPicPr>
        <p:blipFill>
          <a:blip r:embed="rId3"/>
          <a:stretch/>
        </p:blipFill>
        <p:spPr>
          <a:xfrm>
            <a:off x="8485560" y="12254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9" name="Text 16"/>
          <p:cNvSpPr/>
          <p:nvPr/>
        </p:nvSpPr>
        <p:spPr>
          <a:xfrm>
            <a:off x="6254640" y="1591200"/>
            <a:ext cx="2505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Azure Storage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6254640" y="1883520"/>
            <a:ext cx="2505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Blob container + file upload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SAS URL generation + browser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File Share CIFS mount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storage_ops.sh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237600" y="2944440"/>
            <a:ext cx="2761200" cy="17002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9"/>
          <p:cNvSpPr/>
          <p:nvPr/>
        </p:nvSpPr>
        <p:spPr>
          <a:xfrm>
            <a:off x="365760" y="30632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365760" y="3063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3" descr="preencoded.png"/>
          <p:cNvPicPr/>
          <p:nvPr/>
        </p:nvPicPr>
        <p:blipFill>
          <a:blip r:embed="rId4"/>
          <a:stretch/>
        </p:blipFill>
        <p:spPr>
          <a:xfrm>
            <a:off x="2597040" y="30542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85" name="Text 21"/>
          <p:cNvSpPr/>
          <p:nvPr/>
        </p:nvSpPr>
        <p:spPr>
          <a:xfrm>
            <a:off x="365760" y="3420000"/>
            <a:ext cx="2505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Container Instances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2"/>
          <p:cNvSpPr/>
          <p:nvPr/>
        </p:nvSpPr>
        <p:spPr>
          <a:xfrm>
            <a:off x="365760" y="3712320"/>
            <a:ext cx="2505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Deploy Nginx via ACI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Log streaming + env var injection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Files persistent volume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Ephemeral vs persistent storage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3"/>
          <p:cNvSpPr/>
          <p:nvPr/>
        </p:nvSpPr>
        <p:spPr>
          <a:xfrm>
            <a:off x="3182040" y="2944440"/>
            <a:ext cx="2761200" cy="17002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24"/>
          <p:cNvSpPr/>
          <p:nvPr/>
        </p:nvSpPr>
        <p:spPr>
          <a:xfrm>
            <a:off x="3310200" y="30632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5"/>
          <p:cNvSpPr/>
          <p:nvPr/>
        </p:nvSpPr>
        <p:spPr>
          <a:xfrm>
            <a:off x="3310200" y="3063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Image 4" descr="preencoded.png"/>
          <p:cNvPicPr/>
          <p:nvPr/>
        </p:nvPicPr>
        <p:blipFill>
          <a:blip r:embed="rId5"/>
          <a:stretch/>
        </p:blipFill>
        <p:spPr>
          <a:xfrm>
            <a:off x="5541120" y="30542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91" name="Text 26"/>
          <p:cNvSpPr/>
          <p:nvPr/>
        </p:nvSpPr>
        <p:spPr>
          <a:xfrm>
            <a:off x="3310200" y="3420000"/>
            <a:ext cx="2505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Container Registry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7"/>
          <p:cNvSpPr/>
          <p:nvPr/>
        </p:nvSpPr>
        <p:spPr>
          <a:xfrm>
            <a:off x="3310200" y="3712320"/>
            <a:ext cx="2505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Create ACR (Basic SKU)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Custom Dockerfile + docker build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Tag → login → push to ACR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acr_deploy.sh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28"/>
          <p:cNvSpPr/>
          <p:nvPr/>
        </p:nvSpPr>
        <p:spPr>
          <a:xfrm>
            <a:off x="6126480" y="2944440"/>
            <a:ext cx="2761200" cy="1700280"/>
          </a:xfrm>
          <a:prstGeom prst="roundRect">
            <a:avLst>
              <a:gd name="adj" fmla="val 5376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29"/>
          <p:cNvSpPr/>
          <p:nvPr/>
        </p:nvSpPr>
        <p:spPr>
          <a:xfrm>
            <a:off x="6254640" y="30632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30"/>
          <p:cNvSpPr/>
          <p:nvPr/>
        </p:nvSpPr>
        <p:spPr>
          <a:xfrm>
            <a:off x="6254640" y="3063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f1035"/>
                </a:solidFill>
                <a:latin typeface="Calibri"/>
                <a:ea typeface="Calibri"/>
              </a:rPr>
              <a:t>06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5" descr="preencoded.png"/>
          <p:cNvPicPr/>
          <p:nvPr/>
        </p:nvPicPr>
        <p:blipFill>
          <a:blip r:embed="rId6"/>
          <a:stretch/>
        </p:blipFill>
        <p:spPr>
          <a:xfrm>
            <a:off x="8485560" y="30542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97" name="Text 31"/>
          <p:cNvSpPr/>
          <p:nvPr/>
        </p:nvSpPr>
        <p:spPr>
          <a:xfrm>
            <a:off x="6254640" y="3420000"/>
            <a:ext cx="2505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Week 1 Project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32"/>
          <p:cNvSpPr/>
          <p:nvPr/>
        </p:nvSpPr>
        <p:spPr>
          <a:xfrm>
            <a:off x="6254640" y="3712320"/>
            <a:ext cx="2505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ACR → ACI full pipeline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Azure Files storage mount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Public URL verified live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8892b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8892b8"/>
                </a:solidFill>
                <a:latin typeface="Calibri"/>
                <a:ea typeface="Calibri"/>
              </a:rPr>
              <a:t>Script: week1_project.sh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274320" y="22860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7" strike="noStrike">
                <a:solidFill>
                  <a:srgbClr val="f5a623"/>
                </a:solidFill>
                <a:latin typeface="Calibri"/>
                <a:ea typeface="Calibri"/>
              </a:rPr>
              <a:t>WEEK 1  ·  DAYS 1–3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274320" y="4572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Azure Foundations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274320" y="10058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8892b8"/>
                </a:solidFill>
                <a:latin typeface="Calibri"/>
                <a:ea typeface="Calibri"/>
              </a:rPr>
              <a:t>"How production cloud environments are structured and accessed."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7644240" y="274320"/>
            <a:ext cx="1115280" cy="804240"/>
          </a:xfrm>
          <a:prstGeom prst="roundRect">
            <a:avLst>
              <a:gd name="adj" fmla="val 9091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7644240" y="29268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a623"/>
                </a:solidFill>
                <a:latin typeface="Cambria"/>
                <a:ea typeface="Cambria"/>
              </a:rPr>
              <a:t>3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7644240" y="768240"/>
            <a:ext cx="1115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Scripts Built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7644240" y="1261800"/>
            <a:ext cx="1115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a623"/>
                </a:solidFill>
                <a:latin typeface="Cambria"/>
                <a:ea typeface="Cambria"/>
              </a:rPr>
              <a:t>5+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7644240" y="1737360"/>
            <a:ext cx="1115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Services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237600" y="1389960"/>
            <a:ext cx="2779560" cy="351108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402480" y="1536120"/>
            <a:ext cx="365760" cy="365760"/>
          </a:xfrm>
          <a:prstGeom prst="rect">
            <a:avLst/>
          </a:prstGeom>
          <a:ln w="0">
            <a:noFill/>
          </a:ln>
        </p:spPr>
      </p:pic>
      <p:sp>
        <p:nvSpPr>
          <p:cNvPr id="110" name="Text 11"/>
          <p:cNvSpPr/>
          <p:nvPr/>
        </p:nvSpPr>
        <p:spPr>
          <a:xfrm>
            <a:off x="402480" y="19018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402480" y="2103120"/>
            <a:ext cx="245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Azure Orientation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394920" y="2515320"/>
            <a:ext cx="2450160" cy="198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394920" y="2675880"/>
            <a:ext cx="245016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free account + activated student credits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Installed azure-cli, ran az login, az account show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resource group: devops-lab-rg via portal AND CLI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Listed all Azure regions: az account list-locations -o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Script creates RG in eastus automatically on run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402480" y="4480560"/>
            <a:ext cx="2450160" cy="29232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6"/>
          <p:cNvSpPr/>
          <p:nvPr/>
        </p:nvSpPr>
        <p:spPr>
          <a:xfrm>
            <a:off x="402480" y="448056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azure_setup.sh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7"/>
          <p:cNvSpPr/>
          <p:nvPr/>
        </p:nvSpPr>
        <p:spPr>
          <a:xfrm>
            <a:off x="3182040" y="1389960"/>
            <a:ext cx="2779560" cy="351108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7" name="Image 1" descr="preencoded.png"/>
          <p:cNvPicPr/>
          <p:nvPr/>
        </p:nvPicPr>
        <p:blipFill>
          <a:blip r:embed="rId2"/>
          <a:stretch/>
        </p:blipFill>
        <p:spPr>
          <a:xfrm>
            <a:off x="3346560" y="1536120"/>
            <a:ext cx="365760" cy="365760"/>
          </a:xfrm>
          <a:prstGeom prst="rect">
            <a:avLst/>
          </a:prstGeom>
          <a:ln w="0">
            <a:noFill/>
          </a:ln>
        </p:spPr>
      </p:pic>
      <p:sp>
        <p:nvSpPr>
          <p:cNvPr id="118" name="Text 18"/>
          <p:cNvSpPr/>
          <p:nvPr/>
        </p:nvSpPr>
        <p:spPr>
          <a:xfrm>
            <a:off x="3346560" y="19022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3346560" y="2103120"/>
            <a:ext cx="245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VMs &amp; Networking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20"/>
          <p:cNvSpPr/>
          <p:nvPr/>
        </p:nvSpPr>
        <p:spPr>
          <a:xfrm>
            <a:off x="3346560" y="2512440"/>
            <a:ext cx="2450160" cy="198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21"/>
          <p:cNvSpPr/>
          <p:nvPr/>
        </p:nvSpPr>
        <p:spPr>
          <a:xfrm>
            <a:off x="3331440" y="2697840"/>
            <a:ext cx="245016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VNet + subnet via CLI in Central India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Provisioned Ubuntu 22.04 VM with SSH key authentication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NSG rule to allow SSH on port 22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Installed Nginx on VM, opened port 80 in NSG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Verified Nginx welcome page at VM public IP:80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22"/>
          <p:cNvSpPr/>
          <p:nvPr/>
        </p:nvSpPr>
        <p:spPr>
          <a:xfrm>
            <a:off x="3346560" y="4480560"/>
            <a:ext cx="2450160" cy="29232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23"/>
          <p:cNvSpPr/>
          <p:nvPr/>
        </p:nvSpPr>
        <p:spPr>
          <a:xfrm>
            <a:off x="3346560" y="448056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vm_manager.sh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4"/>
          <p:cNvSpPr/>
          <p:nvPr/>
        </p:nvSpPr>
        <p:spPr>
          <a:xfrm>
            <a:off x="6126480" y="1389960"/>
            <a:ext cx="2779560" cy="3511080"/>
          </a:xfrm>
          <a:prstGeom prst="roundRect">
            <a:avLst>
              <a:gd name="adj" fmla="val 3289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Image 2" descr="preencoded.png"/>
          <p:cNvPicPr/>
          <p:nvPr/>
        </p:nvPicPr>
        <p:blipFill>
          <a:blip r:embed="rId3"/>
          <a:stretch/>
        </p:blipFill>
        <p:spPr>
          <a:xfrm>
            <a:off x="6291000" y="1536120"/>
            <a:ext cx="365760" cy="365760"/>
          </a:xfrm>
          <a:prstGeom prst="rect">
            <a:avLst/>
          </a:prstGeom>
          <a:ln w="0">
            <a:noFill/>
          </a:ln>
        </p:spPr>
      </p:pic>
      <p:sp>
        <p:nvSpPr>
          <p:cNvPr id="126" name="Text 25"/>
          <p:cNvSpPr/>
          <p:nvPr/>
        </p:nvSpPr>
        <p:spPr>
          <a:xfrm>
            <a:off x="6291000" y="191700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Day 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6"/>
          <p:cNvSpPr/>
          <p:nvPr/>
        </p:nvSpPr>
        <p:spPr>
          <a:xfrm>
            <a:off x="6291000" y="2103120"/>
            <a:ext cx="245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Azure Storage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7"/>
          <p:cNvSpPr/>
          <p:nvPr/>
        </p:nvSpPr>
        <p:spPr>
          <a:xfrm>
            <a:off x="6291000" y="2500200"/>
            <a:ext cx="2450160" cy="198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4840" bIns="-24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8"/>
          <p:cNvSpPr/>
          <p:nvPr/>
        </p:nvSpPr>
        <p:spPr>
          <a:xfrm>
            <a:off x="6275880" y="2649960"/>
            <a:ext cx="245016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storage account: vkstorage1781011715 (Standard_LRS)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Created blob container, uploaded sample.txt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Generated SAS token, opened URL in browser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Mounted Azure File Share via CIFS on VM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Explored Hot · Cool · Archive storage tier trade-offs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9"/>
          <p:cNvSpPr/>
          <p:nvPr/>
        </p:nvSpPr>
        <p:spPr>
          <a:xfrm>
            <a:off x="6291000" y="4480560"/>
            <a:ext cx="2450160" cy="292320"/>
          </a:xfrm>
          <a:prstGeom prst="roundRect">
            <a:avLst>
              <a:gd name="adj" fmla="val 18750"/>
            </a:avLst>
          </a:prstGeom>
          <a:solidFill>
            <a:srgbClr val="1418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30"/>
          <p:cNvSpPr/>
          <p:nvPr/>
        </p:nvSpPr>
        <p:spPr>
          <a:xfrm>
            <a:off x="6291000" y="448056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5a623"/>
                </a:solidFill>
                <a:latin typeface="Courier New"/>
                <a:ea typeface="Courier New"/>
              </a:rPr>
              <a:t>$ storage_ops.sh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274320" y="22860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7" strike="noStrike">
                <a:solidFill>
                  <a:srgbClr val="f5a623"/>
                </a:solidFill>
                <a:latin typeface="Calibri"/>
                <a:ea typeface="Calibri"/>
              </a:rPr>
              <a:t>WEEK 1  ·  DAYS 4–5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274320" y="45720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Containers on Azure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237600" y="1115640"/>
            <a:ext cx="4224240" cy="3913560"/>
          </a:xfrm>
          <a:prstGeom prst="roundRect">
            <a:avLst>
              <a:gd name="adj" fmla="val 2913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420480" y="12618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37" name="Text 4"/>
          <p:cNvSpPr/>
          <p:nvPr/>
        </p:nvSpPr>
        <p:spPr>
          <a:xfrm>
            <a:off x="822960" y="128016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Day 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420480" y="1627560"/>
            <a:ext cx="3858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libri"/>
                <a:ea typeface="Calibri"/>
              </a:rPr>
              <a:t>Azure Container Instances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420480" y="1938600"/>
            <a:ext cx="3858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"Run containers without managing any infrastructure."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420480" y="2286000"/>
            <a:ext cx="3858480" cy="4021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420480" y="2286000"/>
            <a:ext cx="54360" cy="4021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548640" y="230436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Deploy Nginx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548640" y="248724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 container create · --dns-name-label · --ports 80 · public IP + DNS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420480" y="2788920"/>
            <a:ext cx="3858480" cy="4021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420480" y="2788920"/>
            <a:ext cx="54360" cy="4021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548640" y="280728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Log Streaming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548640" y="299016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 container logs · core cloud-native ops pattern replacing SSH log tailing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5"/>
          <p:cNvSpPr/>
          <p:nvPr/>
        </p:nvSpPr>
        <p:spPr>
          <a:xfrm>
            <a:off x="420480" y="3291840"/>
            <a:ext cx="3858480" cy="4021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420480" y="3291840"/>
            <a:ext cx="54360" cy="4021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548640" y="331020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Env Var Injection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548640" y="349308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APP_ENV=training · STUDENT=Vibhav · immutable image, dynamic config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9"/>
          <p:cNvSpPr/>
          <p:nvPr/>
        </p:nvSpPr>
        <p:spPr>
          <a:xfrm>
            <a:off x="420480" y="3794760"/>
            <a:ext cx="3858480" cy="4021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20"/>
          <p:cNvSpPr/>
          <p:nvPr/>
        </p:nvSpPr>
        <p:spPr>
          <a:xfrm>
            <a:off x="420480" y="3794760"/>
            <a:ext cx="54360" cy="4021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548640" y="38131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Azure Files Mount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2"/>
          <p:cNvSpPr/>
          <p:nvPr/>
        </p:nvSpPr>
        <p:spPr>
          <a:xfrm>
            <a:off x="548640" y="399600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training-share → /mnt/share · test.txt survived container deletion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3"/>
          <p:cNvSpPr/>
          <p:nvPr/>
        </p:nvSpPr>
        <p:spPr>
          <a:xfrm>
            <a:off x="420480" y="4297680"/>
            <a:ext cx="3858480" cy="402120"/>
          </a:xfrm>
          <a:prstGeom prst="roundRect">
            <a:avLst>
              <a:gd name="adj" fmla="val 15909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24"/>
          <p:cNvSpPr/>
          <p:nvPr/>
        </p:nvSpPr>
        <p:spPr>
          <a:xfrm>
            <a:off x="420480" y="4297680"/>
            <a:ext cx="54360" cy="4021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5"/>
          <p:cNvSpPr/>
          <p:nvPr/>
        </p:nvSpPr>
        <p:spPr>
          <a:xfrm>
            <a:off x="548640" y="431604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d580"/>
                </a:solidFill>
                <a:latin typeface="Calibri"/>
                <a:ea typeface="Calibri"/>
              </a:rPr>
              <a:t>Container Groups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6"/>
          <p:cNvSpPr/>
          <p:nvPr/>
        </p:nvSpPr>
        <p:spPr>
          <a:xfrm>
            <a:off x="548640" y="4498920"/>
            <a:ext cx="3657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Sidecar pattern · main + helper containers · equivalent to K8s Pods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7"/>
          <p:cNvSpPr/>
          <p:nvPr/>
        </p:nvSpPr>
        <p:spPr>
          <a:xfrm>
            <a:off x="4626720" y="1115640"/>
            <a:ext cx="4288680" cy="3913560"/>
          </a:xfrm>
          <a:prstGeom prst="roundRect">
            <a:avLst>
              <a:gd name="adj" fmla="val 2913"/>
            </a:avLst>
          </a:prstGeom>
          <a:solidFill>
            <a:srgbClr val="e8ecff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Image 1" descr="preencoded.png"/>
          <p:cNvPicPr/>
          <p:nvPr/>
        </p:nvPicPr>
        <p:blipFill>
          <a:blip r:embed="rId2"/>
          <a:stretch/>
        </p:blipFill>
        <p:spPr>
          <a:xfrm>
            <a:off x="4809600" y="12618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62" name="Text 28"/>
          <p:cNvSpPr/>
          <p:nvPr/>
        </p:nvSpPr>
        <p:spPr>
          <a:xfrm>
            <a:off x="5212080" y="128016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a623"/>
                </a:solidFill>
                <a:latin typeface="Calibri"/>
                <a:ea typeface="Calibri"/>
              </a:rPr>
              <a:t>Day 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29"/>
          <p:cNvSpPr/>
          <p:nvPr/>
        </p:nvSpPr>
        <p:spPr>
          <a:xfrm>
            <a:off x="4809600" y="1627560"/>
            <a:ext cx="3913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a1e4f"/>
                </a:solidFill>
                <a:latin typeface="Calibri"/>
                <a:ea typeface="Calibri"/>
              </a:rPr>
              <a:t>Azure Container Registry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0"/>
          <p:cNvSpPr/>
          <p:nvPr/>
        </p:nvSpPr>
        <p:spPr>
          <a:xfrm>
            <a:off x="4809600" y="1938600"/>
            <a:ext cx="3913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"Build once. Store privately. Deploy anywhere."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4809600" y="2249280"/>
            <a:ext cx="3913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Deployment Pipeline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32"/>
          <p:cNvSpPr/>
          <p:nvPr/>
        </p:nvSpPr>
        <p:spPr>
          <a:xfrm>
            <a:off x="4809600" y="2560320"/>
            <a:ext cx="932400" cy="4384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33"/>
          <p:cNvSpPr/>
          <p:nvPr/>
        </p:nvSpPr>
        <p:spPr>
          <a:xfrm>
            <a:off x="4809600" y="2560320"/>
            <a:ext cx="932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Source Code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34"/>
          <p:cNvSpPr/>
          <p:nvPr/>
        </p:nvSpPr>
        <p:spPr>
          <a:xfrm>
            <a:off x="5742360" y="2633400"/>
            <a:ext cx="9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35"/>
          <p:cNvSpPr/>
          <p:nvPr/>
        </p:nvSpPr>
        <p:spPr>
          <a:xfrm>
            <a:off x="5833800" y="2560320"/>
            <a:ext cx="932400" cy="4384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36"/>
          <p:cNvSpPr/>
          <p:nvPr/>
        </p:nvSpPr>
        <p:spPr>
          <a:xfrm>
            <a:off x="5833800" y="2560320"/>
            <a:ext cx="932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Dockerfile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37"/>
          <p:cNvSpPr/>
          <p:nvPr/>
        </p:nvSpPr>
        <p:spPr>
          <a:xfrm>
            <a:off x="6766560" y="2633400"/>
            <a:ext cx="9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38"/>
          <p:cNvSpPr/>
          <p:nvPr/>
        </p:nvSpPr>
        <p:spPr>
          <a:xfrm>
            <a:off x="6858000" y="2560320"/>
            <a:ext cx="932400" cy="4384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39"/>
          <p:cNvSpPr/>
          <p:nvPr/>
        </p:nvSpPr>
        <p:spPr>
          <a:xfrm>
            <a:off x="6858000" y="2560320"/>
            <a:ext cx="932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 build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0"/>
          <p:cNvSpPr/>
          <p:nvPr/>
        </p:nvSpPr>
        <p:spPr>
          <a:xfrm>
            <a:off x="7790760" y="2633400"/>
            <a:ext cx="9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41"/>
          <p:cNvSpPr/>
          <p:nvPr/>
        </p:nvSpPr>
        <p:spPr>
          <a:xfrm>
            <a:off x="7882200" y="2560320"/>
            <a:ext cx="932400" cy="4384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42"/>
          <p:cNvSpPr/>
          <p:nvPr/>
        </p:nvSpPr>
        <p:spPr>
          <a:xfrm>
            <a:off x="7882200" y="2560320"/>
            <a:ext cx="932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 tag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43"/>
          <p:cNvSpPr/>
          <p:nvPr/>
        </p:nvSpPr>
        <p:spPr>
          <a:xfrm>
            <a:off x="4809600" y="3163680"/>
            <a:ext cx="932400" cy="4384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44"/>
          <p:cNvSpPr/>
          <p:nvPr/>
        </p:nvSpPr>
        <p:spPr>
          <a:xfrm>
            <a:off x="4809600" y="3163680"/>
            <a:ext cx="932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az acr login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45"/>
          <p:cNvSpPr/>
          <p:nvPr/>
        </p:nvSpPr>
        <p:spPr>
          <a:xfrm>
            <a:off x="5742360" y="3237120"/>
            <a:ext cx="9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46"/>
          <p:cNvSpPr/>
          <p:nvPr/>
        </p:nvSpPr>
        <p:spPr>
          <a:xfrm>
            <a:off x="5833800" y="3163680"/>
            <a:ext cx="932400" cy="4384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47"/>
          <p:cNvSpPr/>
          <p:nvPr/>
        </p:nvSpPr>
        <p:spPr>
          <a:xfrm>
            <a:off x="5833800" y="3163680"/>
            <a:ext cx="932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docker push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48"/>
          <p:cNvSpPr/>
          <p:nvPr/>
        </p:nvSpPr>
        <p:spPr>
          <a:xfrm>
            <a:off x="6766560" y="3237120"/>
            <a:ext cx="9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49"/>
          <p:cNvSpPr/>
          <p:nvPr/>
        </p:nvSpPr>
        <p:spPr>
          <a:xfrm>
            <a:off x="6858000" y="3163680"/>
            <a:ext cx="932400" cy="438480"/>
          </a:xfrm>
          <a:prstGeom prst="roundRect">
            <a:avLst>
              <a:gd name="adj" fmla="val 14583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50"/>
          <p:cNvSpPr/>
          <p:nvPr/>
        </p:nvSpPr>
        <p:spPr>
          <a:xfrm>
            <a:off x="6858000" y="3163680"/>
            <a:ext cx="932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az container create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51"/>
          <p:cNvSpPr/>
          <p:nvPr/>
        </p:nvSpPr>
        <p:spPr>
          <a:xfrm>
            <a:off x="7790760" y="3237120"/>
            <a:ext cx="91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52"/>
          <p:cNvSpPr/>
          <p:nvPr/>
        </p:nvSpPr>
        <p:spPr>
          <a:xfrm>
            <a:off x="7882200" y="3163680"/>
            <a:ext cx="932400" cy="438480"/>
          </a:xfrm>
          <a:prstGeom prst="roundRect">
            <a:avLst>
              <a:gd name="adj" fmla="val 14583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53"/>
          <p:cNvSpPr/>
          <p:nvPr/>
        </p:nvSpPr>
        <p:spPr>
          <a:xfrm>
            <a:off x="7882200" y="3163680"/>
            <a:ext cx="932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35"/>
                </a:solidFill>
                <a:latin typeface="Calibri"/>
                <a:ea typeface="Calibri"/>
              </a:rPr>
              <a:t>Public URL ✓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54"/>
          <p:cNvSpPr/>
          <p:nvPr/>
        </p:nvSpPr>
        <p:spPr>
          <a:xfrm>
            <a:off x="4809600" y="3877200"/>
            <a:ext cx="3913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  <a:ea typeface="Calibri"/>
              </a:rPr>
              <a:t>Registry Details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55"/>
          <p:cNvSpPr/>
          <p:nvPr/>
        </p:nvSpPr>
        <p:spPr>
          <a:xfrm>
            <a:off x="4809600" y="413316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Registry: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56"/>
          <p:cNvSpPr/>
          <p:nvPr/>
        </p:nvSpPr>
        <p:spPr>
          <a:xfrm>
            <a:off x="5486400" y="4151880"/>
            <a:ext cx="3053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vibhavacr001 (Basic SKU)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57"/>
          <p:cNvSpPr/>
          <p:nvPr/>
        </p:nvSpPr>
        <p:spPr>
          <a:xfrm>
            <a:off x="4809600" y="433440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Image: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58"/>
          <p:cNvSpPr/>
          <p:nvPr/>
        </p:nvSpPr>
        <p:spPr>
          <a:xfrm>
            <a:off x="5486400" y="4334400"/>
            <a:ext cx="3053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mywebapp:v1 → week1-project:v1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59"/>
          <p:cNvSpPr/>
          <p:nvPr/>
        </p:nvSpPr>
        <p:spPr>
          <a:xfrm>
            <a:off x="4809600" y="453528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Auth: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60"/>
          <p:cNvSpPr/>
          <p:nvPr/>
        </p:nvSpPr>
        <p:spPr>
          <a:xfrm>
            <a:off x="5486400" y="4554000"/>
            <a:ext cx="3053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Managed Identity (no passwords)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61"/>
          <p:cNvSpPr/>
          <p:nvPr/>
        </p:nvSpPr>
        <p:spPr>
          <a:xfrm>
            <a:off x="4809600" y="473652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a1e4f"/>
                </a:solidFill>
                <a:latin typeface="Calibri"/>
                <a:ea typeface="Calibri"/>
              </a:rPr>
              <a:t>Endpoint: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62"/>
          <p:cNvSpPr/>
          <p:nvPr/>
        </p:nvSpPr>
        <p:spPr>
          <a:xfrm>
            <a:off x="5486400" y="4791240"/>
            <a:ext cx="3429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ourier New"/>
                <a:ea typeface="Courier New"/>
              </a:rPr>
              <a:t>http://mywebapp-vibhav-aci.centralindia.azurecontainer.io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63"/>
          <p:cNvSpPr/>
          <p:nvPr/>
        </p:nvSpPr>
        <p:spPr>
          <a:xfrm>
            <a:off x="4628160" y="530280"/>
            <a:ext cx="4114800" cy="475200"/>
          </a:xfrm>
          <a:prstGeom prst="roundRect">
            <a:avLst>
              <a:gd name="adj" fmla="val 13462"/>
            </a:avLst>
          </a:prstGeom>
          <a:solidFill>
            <a:srgbClr val="0f10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64"/>
          <p:cNvSpPr/>
          <p:nvPr/>
        </p:nvSpPr>
        <p:spPr>
          <a:xfrm>
            <a:off x="4800600" y="530280"/>
            <a:ext cx="3693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Advanced: Vulnerability Scanning → Trivy scans image CVEs before push. Severe findings can auto-fail the pipeline.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274320" y="22860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7" strike="noStrike">
                <a:solidFill>
                  <a:srgbClr val="f5a623"/>
                </a:solidFill>
                <a:latin typeface="Calibri"/>
                <a:ea typeface="Calibri"/>
              </a:rPr>
              <a:t>WEEK 1  ·  CAPSTONE PROJECT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274320" y="45720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End-to-End Cloud Deploy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274320" y="100584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8892b8"/>
                </a:solidFill>
                <a:latin typeface="Calibri"/>
                <a:ea typeface="Calibri"/>
              </a:rPr>
              <a:t>A single Bash script that provisions infrastructure, builds a custom image, deploys to ACI, mounts Azure Files, and verifies public access.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255960" y="1444680"/>
            <a:ext cx="1517760" cy="13345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4" name="Image 0" descr="preencoded.png"/>
          <p:cNvPicPr/>
          <p:nvPr/>
        </p:nvPicPr>
        <p:blipFill>
          <a:blip r:embed="rId1"/>
          <a:stretch/>
        </p:blipFill>
        <p:spPr>
          <a:xfrm>
            <a:off x="868680" y="15728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205" name="Text 5"/>
          <p:cNvSpPr/>
          <p:nvPr/>
        </p:nvSpPr>
        <p:spPr>
          <a:xfrm>
            <a:off x="255960" y="1993320"/>
            <a:ext cx="157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Local Build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255960" y="2249280"/>
            <a:ext cx="1517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docker build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docker tag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1828800" y="1993320"/>
            <a:ext cx="164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2048400" y="1444680"/>
            <a:ext cx="1517400" cy="13345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1" descr="preencoded.png"/>
          <p:cNvPicPr/>
          <p:nvPr/>
        </p:nvPicPr>
        <p:blipFill>
          <a:blip r:embed="rId2"/>
          <a:stretch/>
        </p:blipFill>
        <p:spPr>
          <a:xfrm>
            <a:off x="2624760" y="15728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210" name="Text 9"/>
          <p:cNvSpPr/>
          <p:nvPr/>
        </p:nvSpPr>
        <p:spPr>
          <a:xfrm>
            <a:off x="2030400" y="1993320"/>
            <a:ext cx="1535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ACR Push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2048400" y="2249280"/>
            <a:ext cx="1517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vibhavacr001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week1-project:v1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3602880" y="1993320"/>
            <a:ext cx="182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3886200" y="1444680"/>
            <a:ext cx="1416960" cy="13345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4" name="Image 2" descr="preencoded.png"/>
          <p:cNvPicPr/>
          <p:nvPr/>
        </p:nvPicPr>
        <p:blipFill>
          <a:blip r:embed="rId3"/>
          <a:stretch/>
        </p:blipFill>
        <p:spPr>
          <a:xfrm>
            <a:off x="4343400" y="15728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215" name="Text 13"/>
          <p:cNvSpPr/>
          <p:nvPr/>
        </p:nvSpPr>
        <p:spPr>
          <a:xfrm>
            <a:off x="3785760" y="2012040"/>
            <a:ext cx="1572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ACI Deploy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3785760" y="2249280"/>
            <a:ext cx="1517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week1-project-aci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centralindia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5340240" y="1993320"/>
            <a:ext cx="127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5554080" y="1444680"/>
            <a:ext cx="1523520" cy="1334520"/>
          </a:xfrm>
          <a:prstGeom prst="roundRect">
            <a:avLst>
              <a:gd name="adj" fmla="val 6410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9" name="Image 3" descr="preencoded.png"/>
          <p:cNvPicPr/>
          <p:nvPr/>
        </p:nvPicPr>
        <p:blipFill>
          <a:blip r:embed="rId4"/>
          <a:stretch/>
        </p:blipFill>
        <p:spPr>
          <a:xfrm>
            <a:off x="6172200" y="15728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220" name="Text 17"/>
          <p:cNvSpPr/>
          <p:nvPr/>
        </p:nvSpPr>
        <p:spPr>
          <a:xfrm>
            <a:off x="5554080" y="1993320"/>
            <a:ext cx="1554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Azure Files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8"/>
          <p:cNvSpPr/>
          <p:nvPr/>
        </p:nvSpPr>
        <p:spPr>
          <a:xfrm>
            <a:off x="5614920" y="22492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training-share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b8"/>
                </a:solidFill>
                <a:latin typeface="Calibri"/>
                <a:ea typeface="Calibri"/>
              </a:rPr>
              <a:t>/mnt/azurefiles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9"/>
          <p:cNvSpPr/>
          <p:nvPr/>
        </p:nvSpPr>
        <p:spPr>
          <a:xfrm>
            <a:off x="7108200" y="1993320"/>
            <a:ext cx="207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  <a:ea typeface="Calibri"/>
              </a:rPr>
              <a:t>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20"/>
          <p:cNvSpPr/>
          <p:nvPr/>
        </p:nvSpPr>
        <p:spPr>
          <a:xfrm>
            <a:off x="7315200" y="1444680"/>
            <a:ext cx="1462680" cy="1334520"/>
          </a:xfrm>
          <a:prstGeom prst="roundRect">
            <a:avLst>
              <a:gd name="adj" fmla="val 6410"/>
            </a:avLst>
          </a:prstGeom>
          <a:solidFill>
            <a:srgbClr val="f5a623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Image 4" descr="preencoded.png"/>
          <p:cNvPicPr/>
          <p:nvPr/>
        </p:nvPicPr>
        <p:blipFill>
          <a:blip r:embed="rId5"/>
          <a:stretch/>
        </p:blipFill>
        <p:spPr>
          <a:xfrm>
            <a:off x="7818120" y="15728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225" name="Text 21"/>
          <p:cNvSpPr/>
          <p:nvPr/>
        </p:nvSpPr>
        <p:spPr>
          <a:xfrm>
            <a:off x="7205400" y="1993320"/>
            <a:ext cx="1572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Public URL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22"/>
          <p:cNvSpPr/>
          <p:nvPr/>
        </p:nvSpPr>
        <p:spPr>
          <a:xfrm>
            <a:off x="7260480" y="2249280"/>
            <a:ext cx="1462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c2057"/>
                </a:solidFill>
                <a:latin typeface="Calibri"/>
                <a:ea typeface="Calibri"/>
              </a:rPr>
              <a:t>week1-vibhav-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c2057"/>
                </a:solidFill>
                <a:latin typeface="Calibri"/>
                <a:ea typeface="Calibri"/>
              </a:rPr>
              <a:t>project.azurecontainer.io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23"/>
          <p:cNvSpPr/>
          <p:nvPr/>
        </p:nvSpPr>
        <p:spPr>
          <a:xfrm>
            <a:off x="237600" y="3054240"/>
            <a:ext cx="2797560" cy="179172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24"/>
          <p:cNvSpPr/>
          <p:nvPr/>
        </p:nvSpPr>
        <p:spPr>
          <a:xfrm>
            <a:off x="365760" y="31730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5"/>
          <p:cNvSpPr/>
          <p:nvPr/>
        </p:nvSpPr>
        <p:spPr>
          <a:xfrm>
            <a:off x="365760" y="3173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26"/>
          <p:cNvSpPr/>
          <p:nvPr/>
        </p:nvSpPr>
        <p:spPr>
          <a:xfrm>
            <a:off x="768240" y="3182040"/>
            <a:ext cx="213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Infrastructure Provisioned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27"/>
          <p:cNvSpPr/>
          <p:nvPr/>
        </p:nvSpPr>
        <p:spPr>
          <a:xfrm>
            <a:off x="365760" y="3529440"/>
            <a:ext cx="2541600" cy="162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28"/>
          <p:cNvSpPr/>
          <p:nvPr/>
        </p:nvSpPr>
        <p:spPr>
          <a:xfrm>
            <a:off x="365760" y="3666960"/>
            <a:ext cx="25416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devops-lab-rg resource group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vkstorage1781011715 storage account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vibhavacr001 container registry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training-share Azure File Share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29"/>
          <p:cNvSpPr/>
          <p:nvPr/>
        </p:nvSpPr>
        <p:spPr>
          <a:xfrm>
            <a:off x="3218760" y="3054240"/>
            <a:ext cx="2797560" cy="179172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30"/>
          <p:cNvSpPr/>
          <p:nvPr/>
        </p:nvSpPr>
        <p:spPr>
          <a:xfrm>
            <a:off x="3346560" y="31730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31"/>
          <p:cNvSpPr/>
          <p:nvPr/>
        </p:nvSpPr>
        <p:spPr>
          <a:xfrm>
            <a:off x="3346560" y="3173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32"/>
          <p:cNvSpPr/>
          <p:nvPr/>
        </p:nvSpPr>
        <p:spPr>
          <a:xfrm>
            <a:off x="3749040" y="3182040"/>
            <a:ext cx="213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Automation Script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33"/>
          <p:cNvSpPr/>
          <p:nvPr/>
        </p:nvSpPr>
        <p:spPr>
          <a:xfrm>
            <a:off x="3346560" y="3529440"/>
            <a:ext cx="2541600" cy="162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34"/>
          <p:cNvSpPr/>
          <p:nvPr/>
        </p:nvSpPr>
        <p:spPr>
          <a:xfrm>
            <a:off x="3346560" y="3657600"/>
            <a:ext cx="25416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docker build + tag + ACR push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az storage account keys list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az container create with file mount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Verification: curl public URL in loop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35"/>
          <p:cNvSpPr/>
          <p:nvPr/>
        </p:nvSpPr>
        <p:spPr>
          <a:xfrm>
            <a:off x="6199560" y="3054240"/>
            <a:ext cx="2797560" cy="1791720"/>
          </a:xfrm>
          <a:prstGeom prst="roundRect">
            <a:avLst>
              <a:gd name="adj" fmla="val 5102"/>
            </a:avLst>
          </a:prstGeom>
          <a:solidFill>
            <a:srgbClr val="252a6b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36"/>
          <p:cNvSpPr/>
          <p:nvPr/>
        </p:nvSpPr>
        <p:spPr>
          <a:xfrm>
            <a:off x="6327720" y="3173040"/>
            <a:ext cx="310680" cy="310680"/>
          </a:xfrm>
          <a:prstGeom prst="roundRect">
            <a:avLst>
              <a:gd name="adj" fmla="val 14706"/>
            </a:avLst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37"/>
          <p:cNvSpPr/>
          <p:nvPr/>
        </p:nvSpPr>
        <p:spPr>
          <a:xfrm>
            <a:off x="6327720" y="31730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35"/>
                </a:solidFill>
                <a:latin typeface="Calibri"/>
                <a:ea typeface="Calibri"/>
              </a:rPr>
              <a:t>03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8"/>
          <p:cNvSpPr/>
          <p:nvPr/>
        </p:nvSpPr>
        <p:spPr>
          <a:xfrm>
            <a:off x="6729840" y="3182040"/>
            <a:ext cx="213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Live Verification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39"/>
          <p:cNvSpPr/>
          <p:nvPr/>
        </p:nvSpPr>
        <p:spPr>
          <a:xfrm>
            <a:off x="6327720" y="3529440"/>
            <a:ext cx="2541600" cy="162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40"/>
          <p:cNvSpPr/>
          <p:nvPr/>
        </p:nvSpPr>
        <p:spPr>
          <a:xfrm>
            <a:off x="6327720" y="3657600"/>
            <a:ext cx="2541600" cy="10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week1-project-aci container running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/mnt/azurefiles mounted + writable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HTML page served at public URL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101520" indent="-101520" defTabSz="914400">
              <a:lnSpc>
                <a:spcPct val="100000"/>
              </a:lnSpc>
              <a:buClr>
                <a:srgbClr val="a8b2d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a8b2d8"/>
                </a:solidFill>
                <a:latin typeface="Calibri"/>
                <a:ea typeface="Calibri"/>
              </a:rPr>
              <a:t>Zero manual steps after $ ./week1_project.sh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274320" y="22860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7" strike="noStrike">
                <a:solidFill>
                  <a:srgbClr val="f5a623"/>
                </a:solidFill>
                <a:latin typeface="Calibri"/>
                <a:ea typeface="Calibri"/>
              </a:rPr>
              <a:t>KEY CONCEPTS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274320" y="457200"/>
            <a:ext cx="6400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a1e4f"/>
                </a:solidFill>
                <a:latin typeface="Cambria"/>
                <a:ea typeface="Cambria"/>
              </a:rPr>
              <a:t>Production Concepts Introduced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237600" y="1078920"/>
            <a:ext cx="4205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a1e4f"/>
                </a:solidFill>
                <a:latin typeface="Calibri"/>
                <a:ea typeface="Calibri"/>
              </a:rPr>
              <a:t>Docker  vs  Azure Container Instances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9" name="Table 0"/>
          <p:cNvGraphicFramePr/>
          <p:nvPr/>
        </p:nvGraphicFramePr>
        <p:xfrm>
          <a:off x="237600" y="1389960"/>
          <a:ext cx="4224240" cy="2368080"/>
        </p:xfrm>
        <a:graphic>
          <a:graphicData uri="http://schemas.openxmlformats.org/drawingml/2006/table">
            <a:tbl>
              <a:tblPr/>
              <a:tblGrid>
                <a:gridCol w="786240"/>
                <a:gridCol w="1719000"/>
                <a:gridCol w="1719000"/>
              </a:tblGrid>
              <a:tr h="338040">
                <a:tc>
                  <a:txBody>
                    <a:bodyPr anchor="t">
                      <a:noAutofit/>
                    </a:bodyPr>
                    <a:p>
                      <a:endParaRPr b="0" lang="en-US" sz="950" spc="-1" strike="noStrike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1c20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Docker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1c20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0f1035"/>
                          </a:solidFill>
                          <a:latin typeface="Calibri"/>
                          <a:ea typeface="Calibri"/>
                        </a:rPr>
                        <a:t>ACI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5a623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Command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run -d -p 80:80 nginx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 container create ...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Runtime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Engine (local host)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Azure Managed Runtime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Logs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logs &lt;ctr&gt;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 container logs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Inspect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inspect &lt;ctr&gt;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 container show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Storage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docker volume / bind mount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Azure Files Mount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f2f4ff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1c2057"/>
                          </a:solidFill>
                          <a:latin typeface="Calibri"/>
                          <a:ea typeface="Calibri"/>
                        </a:rPr>
                        <a:t>Config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-e ENV_VAR=value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50" spc="-1" strike="noStrike">
                          <a:solidFill>
                            <a:srgbClr val="1a1e4f"/>
                          </a:solidFill>
                          <a:latin typeface="Courier New"/>
                          <a:ea typeface="Courier New"/>
                        </a:rPr>
                        <a:t>--environment-variables</a:t>
                      </a:r>
                      <a:endParaRPr b="0" lang="en-US" sz="8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0d5ee"/>
                      </a:solidFill>
                      <a:prstDash val="solid"/>
                    </a:lnL>
                    <a:lnR w="6480">
                      <a:solidFill>
                        <a:srgbClr val="d0d5ee"/>
                      </a:solidFill>
                      <a:prstDash val="solid"/>
                    </a:lnR>
                    <a:lnT w="6480">
                      <a:solidFill>
                        <a:srgbClr val="d0d5ee"/>
                      </a:solidFill>
                      <a:prstDash val="solid"/>
                    </a:lnT>
                    <a:lnB w="6480">
                      <a:solidFill>
                        <a:srgbClr val="d0d5ee"/>
                      </a:solidFill>
                      <a:prstDash val="solid"/>
                    </a:lnB>
                    <a:solidFill>
                      <a:srgbClr val="e8ecff"/>
                    </a:solidFill>
                  </a:tcPr>
                </a:tc>
              </a:tr>
            </a:tbl>
          </a:graphicData>
        </a:graphic>
      </p:graphicFrame>
      <p:sp>
        <p:nvSpPr>
          <p:cNvPr id="250" name="Shape 4"/>
          <p:cNvSpPr/>
          <p:nvPr/>
        </p:nvSpPr>
        <p:spPr>
          <a:xfrm>
            <a:off x="4681800" y="1078920"/>
            <a:ext cx="4224240" cy="115164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1" name="Image 0" descr="preencoded.png"/>
          <p:cNvPicPr/>
          <p:nvPr/>
        </p:nvPicPr>
        <p:blipFill>
          <a:blip r:embed="rId1"/>
          <a:stretch/>
        </p:blipFill>
        <p:spPr>
          <a:xfrm>
            <a:off x="4846320" y="12070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52" name="Text 5"/>
          <p:cNvSpPr/>
          <p:nvPr/>
        </p:nvSpPr>
        <p:spPr>
          <a:xfrm>
            <a:off x="5266800" y="11887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Ephemeral vs Persistent Storage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5266800" y="1463040"/>
            <a:ext cx="3474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Container data vanishes on deletion. Azure Files volumes survive — critical production pattern that maps directly to Kubernetes PVCs.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7"/>
          <p:cNvSpPr/>
          <p:nvPr/>
        </p:nvSpPr>
        <p:spPr>
          <a:xfrm>
            <a:off x="4681800" y="2340720"/>
            <a:ext cx="4224240" cy="115164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5" name="Image 1" descr="preencoded.png"/>
          <p:cNvPicPr/>
          <p:nvPr/>
        </p:nvPicPr>
        <p:blipFill>
          <a:blip r:embed="rId2"/>
          <a:stretch/>
        </p:blipFill>
        <p:spPr>
          <a:xfrm>
            <a:off x="4846320" y="2468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56" name="Text 8"/>
          <p:cNvSpPr/>
          <p:nvPr/>
        </p:nvSpPr>
        <p:spPr>
          <a:xfrm>
            <a:off x="5266800" y="24505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Managed Identity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5266800" y="2724840"/>
            <a:ext cx="3474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ACI authenticates to ACR without storing passwords. Azure handles credentials transparently — the production-preferred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4681800" y="3602880"/>
            <a:ext cx="4224240" cy="1151640"/>
          </a:xfrm>
          <a:prstGeom prst="roundRect">
            <a:avLst>
              <a:gd name="adj" fmla="val 7937"/>
            </a:avLst>
          </a:prstGeom>
          <a:solidFill>
            <a:srgbClr val="0f1035"/>
          </a:solidFill>
          <a:ln w="0">
            <a:noFill/>
          </a:ln>
          <a:effectLst>
            <a:outerShdw algn="bl" blurRad="50760" dir="2700000" dist="25455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9" name="Image 2" descr="preencoded.png"/>
          <p:cNvPicPr/>
          <p:nvPr/>
        </p:nvPicPr>
        <p:blipFill>
          <a:blip r:embed="rId3"/>
          <a:stretch/>
        </p:blipFill>
        <p:spPr>
          <a:xfrm>
            <a:off x="4846320" y="37306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60" name="Text 11"/>
          <p:cNvSpPr/>
          <p:nvPr/>
        </p:nvSpPr>
        <p:spPr>
          <a:xfrm>
            <a:off x="5266800" y="37123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Idempotent Bash Scripts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5266800" y="3986640"/>
            <a:ext cx="3474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b8"/>
                </a:solidFill>
                <a:latin typeface="Calibri"/>
                <a:ea typeface="Calibri"/>
              </a:rPr>
              <a:t>All 4 scripts can be re-run safely. The Infrastructure-as-Code mindset means deployments are repeatable, predictable, and reviewable.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3"/>
          <p:cNvSpPr/>
          <p:nvPr/>
        </p:nvSpPr>
        <p:spPr>
          <a:xfrm>
            <a:off x="237600" y="388584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Production Concepts Shipped This Week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4"/>
          <p:cNvSpPr/>
          <p:nvPr/>
        </p:nvSpPr>
        <p:spPr>
          <a:xfrm>
            <a:off x="237600" y="4187880"/>
            <a:ext cx="1243800" cy="3106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5"/>
          <p:cNvSpPr/>
          <p:nvPr/>
        </p:nvSpPr>
        <p:spPr>
          <a:xfrm>
            <a:off x="237600" y="4187880"/>
            <a:ext cx="1243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Container Lifecycle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6"/>
          <p:cNvSpPr/>
          <p:nvPr/>
        </p:nvSpPr>
        <p:spPr>
          <a:xfrm>
            <a:off x="1670400" y="4187880"/>
            <a:ext cx="1143000" cy="3106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1670400" y="4187880"/>
            <a:ext cx="1143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Image Registries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8"/>
          <p:cNvSpPr/>
          <p:nvPr/>
        </p:nvSpPr>
        <p:spPr>
          <a:xfrm>
            <a:off x="2971800" y="4187880"/>
            <a:ext cx="1371600" cy="3106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9"/>
          <p:cNvSpPr/>
          <p:nvPr/>
        </p:nvSpPr>
        <p:spPr>
          <a:xfrm>
            <a:off x="2971800" y="4187880"/>
            <a:ext cx="1380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Persistent Storage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0"/>
          <p:cNvSpPr/>
          <p:nvPr/>
        </p:nvSpPr>
        <p:spPr>
          <a:xfrm>
            <a:off x="228600" y="4572000"/>
            <a:ext cx="1252800" cy="3106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228600" y="4572000"/>
            <a:ext cx="1252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Infra Automation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2"/>
          <p:cNvSpPr/>
          <p:nvPr/>
        </p:nvSpPr>
        <p:spPr>
          <a:xfrm>
            <a:off x="2971800" y="4572000"/>
            <a:ext cx="1371600" cy="3106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3"/>
          <p:cNvSpPr/>
          <p:nvPr/>
        </p:nvSpPr>
        <p:spPr>
          <a:xfrm>
            <a:off x="1481400" y="4572000"/>
            <a:ext cx="115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Cloud Deployments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4"/>
          <p:cNvSpPr/>
          <p:nvPr/>
        </p:nvSpPr>
        <p:spPr>
          <a:xfrm>
            <a:off x="1670400" y="4572000"/>
            <a:ext cx="1143000" cy="310680"/>
          </a:xfrm>
          <a:prstGeom prst="roundRect">
            <a:avLst>
              <a:gd name="adj" fmla="val 1764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25"/>
          <p:cNvSpPr/>
          <p:nvPr/>
        </p:nvSpPr>
        <p:spPr>
          <a:xfrm>
            <a:off x="2971800" y="4572000"/>
            <a:ext cx="137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Resource Reuse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7"/>
          <p:cNvSpPr/>
          <p:nvPr/>
        </p:nvSpPr>
        <p:spPr>
          <a:xfrm>
            <a:off x="1670400" y="4572000"/>
            <a:ext cx="1143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Idempotent Scripts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0" y="0"/>
            <a:ext cx="54360" cy="5143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274320" y="22860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347" strike="noStrike">
                <a:solidFill>
                  <a:srgbClr val="f5a623"/>
                </a:solidFill>
                <a:latin typeface="Calibri"/>
                <a:ea typeface="Calibri"/>
              </a:rPr>
              <a:t>WEEK 1  ·  CONCLUSION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274320" y="567000"/>
            <a:ext cx="841212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mbria"/>
                <a:ea typeface="Cambria"/>
              </a:rPr>
              <a:t>Week 1 Completed.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274320" y="1280160"/>
            <a:ext cx="8412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d580"/>
                </a:solidFill>
                <a:latin typeface="Cambria"/>
                <a:ea typeface="Cambria"/>
              </a:rPr>
              <a:t>"You did not just move a container to the cloud. You learned where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d580"/>
                </a:solidFill>
                <a:latin typeface="Cambria"/>
                <a:ea typeface="Cambria"/>
              </a:rPr>
              <a:t>your responsibility ends and the cloud's begins."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293040" y="1974960"/>
            <a:ext cx="1535760" cy="17917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293040" y="2066400"/>
            <a:ext cx="15357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C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293040" y="271620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Cloud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7"/>
          <p:cNvSpPr/>
          <p:nvPr/>
        </p:nvSpPr>
        <p:spPr>
          <a:xfrm>
            <a:off x="503280" y="2999160"/>
            <a:ext cx="1096920" cy="162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8"/>
          <p:cNvSpPr/>
          <p:nvPr/>
        </p:nvSpPr>
        <p:spPr>
          <a:xfrm>
            <a:off x="293040" y="3026160"/>
            <a:ext cx="153576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Resource Groups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Subscriptions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CLI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9"/>
          <p:cNvSpPr/>
          <p:nvPr/>
        </p:nvSpPr>
        <p:spPr>
          <a:xfrm>
            <a:off x="2057400" y="1974960"/>
            <a:ext cx="1535760" cy="17917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0"/>
          <p:cNvSpPr/>
          <p:nvPr/>
        </p:nvSpPr>
        <p:spPr>
          <a:xfrm>
            <a:off x="2057400" y="2066400"/>
            <a:ext cx="15357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2057400" y="272484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Networking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12"/>
          <p:cNvSpPr/>
          <p:nvPr/>
        </p:nvSpPr>
        <p:spPr>
          <a:xfrm>
            <a:off x="2247840" y="2999160"/>
            <a:ext cx="1096920" cy="162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3"/>
          <p:cNvSpPr/>
          <p:nvPr/>
        </p:nvSpPr>
        <p:spPr>
          <a:xfrm>
            <a:off x="2057400" y="3035880"/>
            <a:ext cx="153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VNet · NSG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Subnets · Public IP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SSH hardening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3821760" y="1974960"/>
            <a:ext cx="1535760" cy="17917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3840480" y="2066400"/>
            <a:ext cx="1517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3840480" y="2724840"/>
            <a:ext cx="151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Storage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17"/>
          <p:cNvSpPr/>
          <p:nvPr/>
        </p:nvSpPr>
        <p:spPr>
          <a:xfrm>
            <a:off x="4060080" y="2999160"/>
            <a:ext cx="1096920" cy="162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8"/>
          <p:cNvSpPr/>
          <p:nvPr/>
        </p:nvSpPr>
        <p:spPr>
          <a:xfrm>
            <a:off x="3821760" y="3035880"/>
            <a:ext cx="153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Blob · SAS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Azure Files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Storage Tiers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19"/>
          <p:cNvSpPr/>
          <p:nvPr/>
        </p:nvSpPr>
        <p:spPr>
          <a:xfrm>
            <a:off x="5550840" y="1974960"/>
            <a:ext cx="1535760" cy="17917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5550840" y="2066400"/>
            <a:ext cx="15357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R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5550840" y="272484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Registry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22"/>
          <p:cNvSpPr/>
          <p:nvPr/>
        </p:nvSpPr>
        <p:spPr>
          <a:xfrm>
            <a:off x="5724000" y="2999160"/>
            <a:ext cx="1096920" cy="162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23"/>
          <p:cNvSpPr/>
          <p:nvPr/>
        </p:nvSpPr>
        <p:spPr>
          <a:xfrm>
            <a:off x="5577840" y="3035880"/>
            <a:ext cx="1508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ACR · Image Tags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Private Registry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Managed Identity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24"/>
          <p:cNvSpPr/>
          <p:nvPr/>
        </p:nvSpPr>
        <p:spPr>
          <a:xfrm>
            <a:off x="7315200" y="1974960"/>
            <a:ext cx="1535760" cy="1791720"/>
          </a:xfrm>
          <a:prstGeom prst="roundRect">
            <a:avLst>
              <a:gd name="adj" fmla="val 7143"/>
            </a:avLst>
          </a:prstGeom>
          <a:solidFill>
            <a:srgbClr val="252a6b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25"/>
          <p:cNvSpPr/>
          <p:nvPr/>
        </p:nvSpPr>
        <p:spPr>
          <a:xfrm>
            <a:off x="7315200" y="2066400"/>
            <a:ext cx="15357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5a623"/>
                </a:solidFill>
                <a:latin typeface="Cambria"/>
                <a:ea typeface="Cambria"/>
              </a:rPr>
              <a:t>D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26"/>
          <p:cNvSpPr/>
          <p:nvPr/>
        </p:nvSpPr>
        <p:spPr>
          <a:xfrm>
            <a:off x="7315200" y="272484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Deploy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27"/>
          <p:cNvSpPr/>
          <p:nvPr/>
        </p:nvSpPr>
        <p:spPr>
          <a:xfrm>
            <a:off x="7589880" y="2999160"/>
            <a:ext cx="1096920" cy="1620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28"/>
          <p:cNvSpPr/>
          <p:nvPr/>
        </p:nvSpPr>
        <p:spPr>
          <a:xfrm>
            <a:off x="7315200" y="3035880"/>
            <a:ext cx="153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ACI · Public URL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Persistent Volume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892b8"/>
                </a:solidFill>
                <a:latin typeface="Calibri"/>
                <a:ea typeface="Calibri"/>
              </a:rPr>
              <a:t>Automation Scripts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29"/>
          <p:cNvSpPr/>
          <p:nvPr/>
        </p:nvSpPr>
        <p:spPr>
          <a:xfrm>
            <a:off x="237600" y="3968640"/>
            <a:ext cx="8668080" cy="877320"/>
          </a:xfrm>
          <a:prstGeom prst="roundRect">
            <a:avLst>
              <a:gd name="adj" fmla="val 10417"/>
            </a:avLst>
          </a:prstGeom>
          <a:solidFill>
            <a:srgbClr val="252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30"/>
          <p:cNvSpPr/>
          <p:nvPr/>
        </p:nvSpPr>
        <p:spPr>
          <a:xfrm>
            <a:off x="420480" y="404172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99" strike="noStrike">
                <a:solidFill>
                  <a:srgbClr val="f5a623"/>
                </a:solidFill>
                <a:latin typeface="Calibri"/>
                <a:ea typeface="Calibri"/>
              </a:rPr>
              <a:t>WHAT'S NEXT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31"/>
          <p:cNvSpPr/>
          <p:nvPr/>
        </p:nvSpPr>
        <p:spPr>
          <a:xfrm>
            <a:off x="420480" y="424296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Week 2 →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32"/>
          <p:cNvSpPr/>
          <p:nvPr/>
        </p:nvSpPr>
        <p:spPr>
          <a:xfrm>
            <a:off x="1719000" y="4078080"/>
            <a:ext cx="19800" cy="658080"/>
          </a:xfrm>
          <a:prstGeom prst="rect">
            <a:avLst/>
          </a:prstGeom>
          <a:solidFill>
            <a:srgbClr val="3a3f7a"/>
          </a:solidFill>
          <a:ln w="12700">
            <a:solidFill>
              <a:srgbClr val="3a3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33"/>
          <p:cNvSpPr/>
          <p:nvPr/>
        </p:nvSpPr>
        <p:spPr>
          <a:xfrm>
            <a:off x="1883520" y="4060080"/>
            <a:ext cx="1298160" cy="6764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34"/>
          <p:cNvSpPr/>
          <p:nvPr/>
        </p:nvSpPr>
        <p:spPr>
          <a:xfrm>
            <a:off x="1938600" y="407808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AKS — Kubernetes on Azure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35"/>
          <p:cNvSpPr/>
          <p:nvPr/>
        </p:nvSpPr>
        <p:spPr>
          <a:xfrm>
            <a:off x="3273480" y="4060080"/>
            <a:ext cx="1298160" cy="6764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36"/>
          <p:cNvSpPr/>
          <p:nvPr/>
        </p:nvSpPr>
        <p:spPr>
          <a:xfrm>
            <a:off x="3328560" y="407808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Azure DevOps CI/CD Pipelines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37"/>
          <p:cNvSpPr/>
          <p:nvPr/>
        </p:nvSpPr>
        <p:spPr>
          <a:xfrm>
            <a:off x="4663440" y="4060080"/>
            <a:ext cx="1298160" cy="6764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38"/>
          <p:cNvSpPr/>
          <p:nvPr/>
        </p:nvSpPr>
        <p:spPr>
          <a:xfrm>
            <a:off x="4718160" y="407808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commit → build → deploy (auto)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39"/>
          <p:cNvSpPr/>
          <p:nvPr/>
        </p:nvSpPr>
        <p:spPr>
          <a:xfrm>
            <a:off x="6053400" y="4060080"/>
            <a:ext cx="1298160" cy="6764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40"/>
          <p:cNvSpPr/>
          <p:nvPr/>
        </p:nvSpPr>
        <p:spPr>
          <a:xfrm>
            <a:off x="6108120" y="407808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Container Insights + Monitoring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41"/>
          <p:cNvSpPr/>
          <p:nvPr/>
        </p:nvSpPr>
        <p:spPr>
          <a:xfrm>
            <a:off x="7443360" y="4060080"/>
            <a:ext cx="1298160" cy="676440"/>
          </a:xfrm>
          <a:prstGeom prst="roundRect">
            <a:avLst>
              <a:gd name="adj" fmla="val 9459"/>
            </a:avLst>
          </a:prstGeom>
          <a:solidFill>
            <a:srgbClr val="1a1e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42"/>
          <p:cNvSpPr/>
          <p:nvPr/>
        </p:nvSpPr>
        <p:spPr>
          <a:xfrm>
            <a:off x="7498080" y="407808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RBAC + Key Vault Secrets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43"/>
          <p:cNvSpPr/>
          <p:nvPr/>
        </p:nvSpPr>
        <p:spPr>
          <a:xfrm>
            <a:off x="7022520" y="43524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2026-06-12T19:28:29Z</dcterms:created>
  <dc:creator>PptxGenJS</dc:creator>
  <dc:description/>
  <dc:language>en-US</dc:language>
  <cp:lastModifiedBy/>
  <dcterms:modified xsi:type="dcterms:W3CDTF">2026-06-13T16:37:32Z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