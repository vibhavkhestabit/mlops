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53F1D00-E588-44DD-8B28-3235D380508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72FA31-CEE5-4AC3-B0D0-791535C0AD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2E0E99-4424-4E8E-AAD8-BB75BB868C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E8CD90-3ACF-44EC-9F24-24E26BE24F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8445B6-32BB-442A-BE6A-0742E4E385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FCD12A-D3FD-479B-8F38-5A0F1B98D7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1BA7BF-0A5C-4EF3-A5DB-E602B4E916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D11E02-F810-4AEB-B248-602DA85803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FD3D27-2205-4674-A74E-71F0490B51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428FAA-48DD-465C-834A-5E7668F600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23F950-BFD2-4476-BAC3-77FBDC604A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F48FED-7F43-46F7-A13B-207067D586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ACB1D8-7DEA-4249-83BB-62D14856E0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E131E2-9C86-481A-87BB-4D0EB9F5E0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77AC48-3A0A-4DB9-95BA-44BA6E8F51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FF37D9-D358-4BAC-A2D8-01CD4D4FB8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39C192-3710-4664-AA36-8B7E0D01D6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761825-FAF0-45AA-BC60-799B8CDB76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220440" y="2520"/>
            <a:ext cx="2923560" cy="5141160"/>
          </a:xfrm>
          <a:prstGeom prst="rect">
            <a:avLst/>
          </a:prstGeom>
          <a:solidFill>
            <a:srgbClr val="0a1e34"/>
          </a:solidFill>
          <a:ln w="127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199560" y="457200"/>
            <a:ext cx="24840" cy="4203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0"/>
            <a:ext cx="9141480" cy="38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27432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891b2"/>
                </a:solidFill>
                <a:latin typeface="Calibri"/>
                <a:ea typeface="Calibri"/>
              </a:rPr>
              <a:t>DEVOPS LAUNCHPAD  ·  4-WEEK BOOTCAMP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603360"/>
            <a:ext cx="54838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DevOps Launchpad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1316880"/>
            <a:ext cx="54838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  <a:ea typeface="Calibri"/>
              </a:rPr>
              <a:t>Vibhav Khaneja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94360" y="2176200"/>
            <a:ext cx="3837960" cy="14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2304360"/>
            <a:ext cx="54838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Linux  ·  Multi-Stack Deployment  ·  Microservices &amp; Docker  ·  Kubernetes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94360" y="2944440"/>
            <a:ext cx="1259280" cy="14788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94360" y="2944440"/>
            <a:ext cx="12592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94360" y="3072240"/>
            <a:ext cx="12592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4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94360" y="3785760"/>
            <a:ext cx="12592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Weeks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984320" y="2944440"/>
            <a:ext cx="1259280" cy="14788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984320" y="2944440"/>
            <a:ext cx="12592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984320" y="3072240"/>
            <a:ext cx="12592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50+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984320" y="3785760"/>
            <a:ext cx="12592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Scripts Built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374280" y="2944440"/>
            <a:ext cx="1259280" cy="14788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3374280" y="2944440"/>
            <a:ext cx="12592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3374280" y="3072240"/>
            <a:ext cx="12592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20+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3374280" y="3785760"/>
            <a:ext cx="12592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Docker Services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63880" y="2944440"/>
            <a:ext cx="1259280" cy="14788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763880" y="2944440"/>
            <a:ext cx="12592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763880" y="3072240"/>
            <a:ext cx="12592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3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4763880" y="3785760"/>
            <a:ext cx="12592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Prod Stacks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446520" y="393120"/>
            <a:ext cx="2466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381" strike="noStrike">
                <a:solidFill>
                  <a:srgbClr val="0891b2"/>
                </a:solidFill>
                <a:latin typeface="Calibri"/>
                <a:ea typeface="Calibri"/>
              </a:rPr>
              <a:t>PROGRAMME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446520" y="640080"/>
            <a:ext cx="2466360" cy="14040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448680" y="777240"/>
            <a:ext cx="500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356"/>
                </a:solidFill>
                <a:latin typeface="Calibri"/>
                <a:ea typeface="Calibri"/>
              </a:rPr>
              <a:t>01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6448680" y="1188720"/>
            <a:ext cx="2466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0891b2"/>
                </a:solidFill>
                <a:latin typeface="Calibri"/>
                <a:ea typeface="Calibri"/>
              </a:rPr>
              <a:t>Week 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446520" y="1371600"/>
            <a:ext cx="246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Linux &amp; Infrastructure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6446520" y="1737360"/>
            <a:ext cx="500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356"/>
                </a:solidFill>
                <a:latin typeface="Calibri"/>
                <a:ea typeface="Calibri"/>
              </a:rPr>
              <a:t>02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448680" y="2148840"/>
            <a:ext cx="2466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0891b2"/>
                </a:solidFill>
                <a:latin typeface="Calibri"/>
                <a:ea typeface="Calibri"/>
              </a:rPr>
              <a:t>Week 2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6448680" y="2286000"/>
            <a:ext cx="18284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App Deployment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6446520" y="2697480"/>
            <a:ext cx="500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356"/>
                </a:solidFill>
                <a:latin typeface="Calibri"/>
                <a:ea typeface="Calibri"/>
              </a:rPr>
              <a:t>03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6448680" y="3136320"/>
            <a:ext cx="2466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0891b2"/>
                </a:solidFill>
                <a:latin typeface="Calibri"/>
                <a:ea typeface="Calibri"/>
              </a:rPr>
              <a:t>Week 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6448680" y="329184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Docker &amp; Microservices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446520" y="3730680"/>
            <a:ext cx="500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356"/>
                </a:solidFill>
                <a:latin typeface="Calibri"/>
                <a:ea typeface="Calibri"/>
              </a:rPr>
              <a:t>04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448680" y="4151520"/>
            <a:ext cx="2466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0891b2"/>
                </a:solidFill>
                <a:latin typeface="Calibri"/>
                <a:ea typeface="Calibri"/>
              </a:rPr>
              <a:t>Week 4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448680" y="428868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Kubernetes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891b2"/>
                </a:solidFill>
                <a:latin typeface="Calibri"/>
                <a:ea typeface="Calibri"/>
              </a:rPr>
              <a:t>OVERVIEW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The 4-Week Learning Arc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100440" y="1097280"/>
            <a:ext cx="8832960" cy="457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100440" y="1234440"/>
            <a:ext cx="1979280" cy="372816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100440" y="1234440"/>
            <a:ext cx="19792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1371600" y="1298520"/>
            <a:ext cx="685800" cy="7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a3356"/>
                </a:solidFill>
                <a:latin typeface="Calibri"/>
                <a:ea typeface="Calibri"/>
              </a:rPr>
              <a:t>01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182880" y="1389960"/>
            <a:ext cx="820440" cy="25344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308520" y="1408320"/>
            <a:ext cx="6271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Week 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182880" y="1874520"/>
            <a:ext cx="18291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Linux &amp;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182880" y="2597040"/>
            <a:ext cx="23932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"How production servers think"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182880" y="2944440"/>
            <a:ext cx="17791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182880" y="31500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320040" y="30448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System monitoring &amp; automation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>
            <a:off x="182880" y="34884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320040" y="33832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User management &amp; permissions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182880" y="38268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320040" y="37216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BIND9 DNS server setup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182880" y="41652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320040" y="40600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UFW, fail2ban, SSH hardening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20"/>
          <p:cNvSpPr/>
          <p:nvPr/>
        </p:nvSpPr>
        <p:spPr>
          <a:xfrm>
            <a:off x="182880" y="45036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320040" y="439812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LVM storage &amp; centralised logging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2364120" y="1234440"/>
            <a:ext cx="1979280" cy="372816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3"/>
          <p:cNvSpPr/>
          <p:nvPr/>
        </p:nvSpPr>
        <p:spPr>
          <a:xfrm>
            <a:off x="2364120" y="1234440"/>
            <a:ext cx="197928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3703320" y="1261800"/>
            <a:ext cx="76932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a3356"/>
                </a:solidFill>
                <a:latin typeface="Calibri"/>
                <a:ea typeface="Calibri"/>
              </a:rPr>
              <a:t>02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5"/>
          <p:cNvSpPr/>
          <p:nvPr/>
        </p:nvSpPr>
        <p:spPr>
          <a:xfrm>
            <a:off x="2496240" y="1389960"/>
            <a:ext cx="820440" cy="25344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2496240" y="1408320"/>
            <a:ext cx="6271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Week 2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2514600" y="1874520"/>
            <a:ext cx="18291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App Deployment &amp;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Web Servers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2538000" y="2597040"/>
            <a:ext cx="23932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"Systems that survive production"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9"/>
          <p:cNvSpPr/>
          <p:nvPr/>
        </p:nvSpPr>
        <p:spPr>
          <a:xfrm>
            <a:off x="2468880" y="2944440"/>
            <a:ext cx="17791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0"/>
          <p:cNvSpPr/>
          <p:nvPr/>
        </p:nvSpPr>
        <p:spPr>
          <a:xfrm>
            <a:off x="2477880" y="315000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1"/>
          <p:cNvSpPr/>
          <p:nvPr/>
        </p:nvSpPr>
        <p:spPr>
          <a:xfrm>
            <a:off x="2615040" y="30448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Node / Python / PHP runtimes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32"/>
          <p:cNvSpPr/>
          <p:nvPr/>
        </p:nvSpPr>
        <p:spPr>
          <a:xfrm>
            <a:off x="2477880" y="348840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33"/>
          <p:cNvSpPr/>
          <p:nvPr/>
        </p:nvSpPr>
        <p:spPr>
          <a:xfrm>
            <a:off x="2615040" y="33832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PostgreSQL, MySQL, MongoDB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34"/>
          <p:cNvSpPr/>
          <p:nvPr/>
        </p:nvSpPr>
        <p:spPr>
          <a:xfrm>
            <a:off x="2477880" y="382680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5"/>
          <p:cNvSpPr/>
          <p:nvPr/>
        </p:nvSpPr>
        <p:spPr>
          <a:xfrm>
            <a:off x="2615040" y="37216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Nginx reverse proxy &amp; SSL/TLS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6"/>
          <p:cNvSpPr/>
          <p:nvPr/>
        </p:nvSpPr>
        <p:spPr>
          <a:xfrm>
            <a:off x="2477880" y="416520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7"/>
          <p:cNvSpPr/>
          <p:nvPr/>
        </p:nvSpPr>
        <p:spPr>
          <a:xfrm>
            <a:off x="2615040" y="40600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3 production stacks deployed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38"/>
          <p:cNvSpPr/>
          <p:nvPr/>
        </p:nvSpPr>
        <p:spPr>
          <a:xfrm>
            <a:off x="2477880" y="450360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9"/>
          <p:cNvSpPr/>
          <p:nvPr/>
        </p:nvSpPr>
        <p:spPr>
          <a:xfrm>
            <a:off x="2615040" y="439812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Zero-downtime blue-green deploy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40"/>
          <p:cNvSpPr/>
          <p:nvPr/>
        </p:nvSpPr>
        <p:spPr>
          <a:xfrm>
            <a:off x="4650120" y="1234440"/>
            <a:ext cx="1979280" cy="372816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41"/>
          <p:cNvSpPr/>
          <p:nvPr/>
        </p:nvSpPr>
        <p:spPr>
          <a:xfrm>
            <a:off x="4650120" y="1234440"/>
            <a:ext cx="197928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2"/>
          <p:cNvSpPr/>
          <p:nvPr/>
        </p:nvSpPr>
        <p:spPr>
          <a:xfrm>
            <a:off x="5961960" y="1271160"/>
            <a:ext cx="76932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a3356"/>
                </a:solidFill>
                <a:latin typeface="Calibri"/>
                <a:ea typeface="Calibri"/>
              </a:rPr>
              <a:t>03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43"/>
          <p:cNvSpPr/>
          <p:nvPr/>
        </p:nvSpPr>
        <p:spPr>
          <a:xfrm>
            <a:off x="4727520" y="1389960"/>
            <a:ext cx="820440" cy="25344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44"/>
          <p:cNvSpPr/>
          <p:nvPr/>
        </p:nvSpPr>
        <p:spPr>
          <a:xfrm>
            <a:off x="4709160" y="1408320"/>
            <a:ext cx="6271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Week 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45"/>
          <p:cNvSpPr/>
          <p:nvPr/>
        </p:nvSpPr>
        <p:spPr>
          <a:xfrm>
            <a:off x="4763880" y="1874520"/>
            <a:ext cx="18291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Docker &amp;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Microservices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46"/>
          <p:cNvSpPr/>
          <p:nvPr/>
        </p:nvSpPr>
        <p:spPr>
          <a:xfrm>
            <a:off x="4763880" y="2597040"/>
            <a:ext cx="23932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"How modern apps ship to prod"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47"/>
          <p:cNvSpPr/>
          <p:nvPr/>
        </p:nvSpPr>
        <p:spPr>
          <a:xfrm>
            <a:off x="4763880" y="2944440"/>
            <a:ext cx="17791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48"/>
          <p:cNvSpPr/>
          <p:nvPr/>
        </p:nvSpPr>
        <p:spPr>
          <a:xfrm>
            <a:off x="4709160" y="315000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9"/>
          <p:cNvSpPr/>
          <p:nvPr/>
        </p:nvSpPr>
        <p:spPr>
          <a:xfrm>
            <a:off x="4837320" y="30448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Multi-stage Docker builds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50"/>
          <p:cNvSpPr/>
          <p:nvPr/>
        </p:nvSpPr>
        <p:spPr>
          <a:xfrm>
            <a:off x="4709160" y="348840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51"/>
          <p:cNvSpPr/>
          <p:nvPr/>
        </p:nvSpPr>
        <p:spPr>
          <a:xfrm>
            <a:off x="4837320" y="33832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Docker Compose orchestration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52"/>
          <p:cNvSpPr/>
          <p:nvPr/>
        </p:nvSpPr>
        <p:spPr>
          <a:xfrm>
            <a:off x="4709160" y="382680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3"/>
          <p:cNvSpPr/>
          <p:nvPr/>
        </p:nvSpPr>
        <p:spPr>
          <a:xfrm>
            <a:off x="4837320" y="37216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Trivy scanning &amp; non-root users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54"/>
          <p:cNvSpPr/>
          <p:nvPr/>
        </p:nvSpPr>
        <p:spPr>
          <a:xfrm>
            <a:off x="4709160" y="416520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55"/>
          <p:cNvSpPr/>
          <p:nvPr/>
        </p:nvSpPr>
        <p:spPr>
          <a:xfrm>
            <a:off x="4837320" y="40600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Prometheus + Grafana stack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56"/>
          <p:cNvSpPr/>
          <p:nvPr/>
        </p:nvSpPr>
        <p:spPr>
          <a:xfrm>
            <a:off x="4709160" y="450360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57"/>
          <p:cNvSpPr/>
          <p:nvPr/>
        </p:nvSpPr>
        <p:spPr>
          <a:xfrm>
            <a:off x="4837320" y="439812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12-component distributed platform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W4bg"/>
          <p:cNvSpPr/>
          <p:nvPr/>
        </p:nvSpPr>
        <p:spPr>
          <a:xfrm>
            <a:off x="6936120" y="1234440"/>
            <a:ext cx="1979280" cy="372816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W4top"/>
          <p:cNvSpPr/>
          <p:nvPr/>
        </p:nvSpPr>
        <p:spPr>
          <a:xfrm>
            <a:off x="6936120" y="1234440"/>
            <a:ext cx="19792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W4num"/>
          <p:cNvSpPr/>
          <p:nvPr/>
        </p:nvSpPr>
        <p:spPr>
          <a:xfrm>
            <a:off x="8229600" y="1298520"/>
            <a:ext cx="76932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a3356"/>
                </a:solidFill>
                <a:latin typeface="Calibri"/>
                <a:ea typeface="Calibri"/>
              </a:rPr>
              <a:t>04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W4title"/>
          <p:cNvSpPr/>
          <p:nvPr/>
        </p:nvSpPr>
        <p:spPr>
          <a:xfrm>
            <a:off x="7059240" y="1828800"/>
            <a:ext cx="18291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Kubernetes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Fundamentals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W4qtext"/>
          <p:cNvSpPr/>
          <p:nvPr/>
        </p:nvSpPr>
        <p:spPr>
          <a:xfrm>
            <a:off x="7068240" y="253944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“</a:t>
            </a: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You are not learning kubectl.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You are learning how clusters think”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W4b1"/>
          <p:cNvSpPr/>
          <p:nvPr/>
        </p:nvSpPr>
        <p:spPr>
          <a:xfrm>
            <a:off x="7178040" y="30448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Architecture &amp; Minikube setup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W4b2"/>
          <p:cNvSpPr/>
          <p:nvPr/>
        </p:nvSpPr>
        <p:spPr>
          <a:xfrm>
            <a:off x="7178040" y="33832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Pods, probes &amp; multi-container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W4b3"/>
          <p:cNvSpPr/>
          <p:nvPr/>
        </p:nvSpPr>
        <p:spPr>
          <a:xfrm>
            <a:off x="7178040" y="37216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Deployments, scaling &amp; rollbacks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W4b4"/>
          <p:cNvSpPr/>
          <p:nvPr/>
        </p:nvSpPr>
        <p:spPr>
          <a:xfrm>
            <a:off x="7178040" y="406008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Services &amp; DNS discovery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W4b5"/>
          <p:cNvSpPr/>
          <p:nvPr/>
        </p:nvSpPr>
        <p:spPr>
          <a:xfrm>
            <a:off x="7178040" y="4398120"/>
            <a:ext cx="1779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Ingress &amp; external access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61"/>
          <p:cNvSpPr/>
          <p:nvPr/>
        </p:nvSpPr>
        <p:spPr>
          <a:xfrm>
            <a:off x="182880" y="45036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63"/>
          <p:cNvSpPr/>
          <p:nvPr/>
        </p:nvSpPr>
        <p:spPr>
          <a:xfrm>
            <a:off x="182880" y="45036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64"/>
          <p:cNvSpPr/>
          <p:nvPr/>
        </p:nvSpPr>
        <p:spPr>
          <a:xfrm>
            <a:off x="7040880" y="45036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65"/>
          <p:cNvSpPr/>
          <p:nvPr/>
        </p:nvSpPr>
        <p:spPr>
          <a:xfrm>
            <a:off x="7040880" y="416952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66"/>
          <p:cNvSpPr/>
          <p:nvPr/>
        </p:nvSpPr>
        <p:spPr>
          <a:xfrm>
            <a:off x="7040880" y="383148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67"/>
          <p:cNvSpPr/>
          <p:nvPr/>
        </p:nvSpPr>
        <p:spPr>
          <a:xfrm>
            <a:off x="7040880" y="348372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68"/>
          <p:cNvSpPr/>
          <p:nvPr/>
        </p:nvSpPr>
        <p:spPr>
          <a:xfrm>
            <a:off x="7040880" y="315468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69"/>
          <p:cNvSpPr/>
          <p:nvPr/>
        </p:nvSpPr>
        <p:spPr>
          <a:xfrm>
            <a:off x="7040880" y="1408320"/>
            <a:ext cx="820440" cy="25344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5983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850" spc="-1" strike="noStrike">
                <a:solidFill>
                  <a:srgbClr val="0891b2"/>
                </a:solidFill>
                <a:latin typeface="Arial"/>
              </a:rPr>
              <a:t>Week 4</a:t>
            </a:r>
            <a:endParaRPr b="0" lang="en-US" sz="850" spc="-1" strike="noStrike">
              <a:solidFill>
                <a:srgbClr val="0891b2"/>
              </a:solidFill>
              <a:latin typeface="Arial"/>
            </a:endParaRPr>
          </a:p>
        </p:txBody>
      </p:sp>
      <p:sp>
        <p:nvSpPr>
          <p:cNvPr id="122" name="Shape 70"/>
          <p:cNvSpPr/>
          <p:nvPr/>
        </p:nvSpPr>
        <p:spPr>
          <a:xfrm>
            <a:off x="7040880" y="2944440"/>
            <a:ext cx="17791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71"/>
          <p:cNvSpPr/>
          <p:nvPr/>
        </p:nvSpPr>
        <p:spPr>
          <a:xfrm>
            <a:off x="6675120" y="2853360"/>
            <a:ext cx="228600" cy="1915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72"/>
          <p:cNvSpPr/>
          <p:nvPr/>
        </p:nvSpPr>
        <p:spPr>
          <a:xfrm>
            <a:off x="4389120" y="2853720"/>
            <a:ext cx="228600" cy="1915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8"/>
          <p:cNvSpPr/>
          <p:nvPr/>
        </p:nvSpPr>
        <p:spPr>
          <a:xfrm>
            <a:off x="2112120" y="2854080"/>
            <a:ext cx="228600" cy="1915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3152160" cy="514116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0" y="0"/>
            <a:ext cx="36000" cy="5141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182880" y="27432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891b2"/>
                </a:solidFill>
                <a:latin typeface="Calibri"/>
                <a:ea typeface="Calibri"/>
              </a:rPr>
              <a:t>WEEK 1 OF 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182880" y="567000"/>
            <a:ext cx="2740680" cy="12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Linux &amp;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182880" y="1847160"/>
            <a:ext cx="2603520" cy="14040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82880" y="1993320"/>
            <a:ext cx="274068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"How production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servers think."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182880" y="2853000"/>
            <a:ext cx="26035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182880" y="2999160"/>
            <a:ext cx="8020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5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1024200" y="3072240"/>
            <a:ext cx="1917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Days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182880" y="3620880"/>
            <a:ext cx="8020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50+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1024200" y="3694320"/>
            <a:ext cx="1917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Shell Scripts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182880" y="4242960"/>
            <a:ext cx="8020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1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1024200" y="4316040"/>
            <a:ext cx="1917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Integrated Project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3337560" y="10980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3337560" y="109800"/>
            <a:ext cx="36000" cy="2338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3502080" y="24696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System Engineering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>
            <a:off x="3502080" y="62172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3502080" y="7315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process_monitor.sh — CPU/RAM top 10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8"/>
          <p:cNvSpPr/>
          <p:nvPr/>
        </p:nvSpPr>
        <p:spPr>
          <a:xfrm>
            <a:off x="3502080" y="11340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health_check.sh — PASS/FAIL per service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9"/>
          <p:cNvSpPr/>
          <p:nvPr/>
        </p:nvSpPr>
        <p:spPr>
          <a:xfrm>
            <a:off x="3502080" y="15361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syshealth-report.sh — daily snapshots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0"/>
          <p:cNvSpPr/>
          <p:nvPr/>
        </p:nvSpPr>
        <p:spPr>
          <a:xfrm>
            <a:off x="3502080" y="19386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system_inventory.sh — formatted audit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1"/>
          <p:cNvSpPr/>
          <p:nvPr/>
        </p:nvSpPr>
        <p:spPr>
          <a:xfrm>
            <a:off x="6153840" y="10980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>
            <a:off x="6153840" y="109800"/>
            <a:ext cx="36000" cy="2338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6318360" y="24696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User &amp; Permissions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4"/>
          <p:cNvSpPr/>
          <p:nvPr/>
        </p:nvSpPr>
        <p:spPr>
          <a:xfrm>
            <a:off x="6318360" y="62172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6318360" y="7315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user_provision.sh — bulk CSV onboarding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6"/>
          <p:cNvSpPr/>
          <p:nvPr/>
        </p:nvSpPr>
        <p:spPr>
          <a:xfrm>
            <a:off x="6318360" y="11340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permission_audit.sh — finds 777 / SUID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7"/>
          <p:cNvSpPr/>
          <p:nvPr/>
        </p:nvSpPr>
        <p:spPr>
          <a:xfrm>
            <a:off x="6318360" y="15361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Sudo policies — least privilege per role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8"/>
          <p:cNvSpPr/>
          <p:nvPr/>
        </p:nvSpPr>
        <p:spPr>
          <a:xfrm>
            <a:off x="6318360" y="19386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user_activity_monitor.sh — 90-day audit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29"/>
          <p:cNvSpPr/>
          <p:nvPr/>
        </p:nvSpPr>
        <p:spPr>
          <a:xfrm>
            <a:off x="3337560" y="259704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3337560" y="2597040"/>
            <a:ext cx="36000" cy="2338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1"/>
          <p:cNvSpPr/>
          <p:nvPr/>
        </p:nvSpPr>
        <p:spPr>
          <a:xfrm>
            <a:off x="3502080" y="273420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DNS Infrastructure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32"/>
          <p:cNvSpPr/>
          <p:nvPr/>
        </p:nvSpPr>
        <p:spPr>
          <a:xfrm>
            <a:off x="3502080" y="310896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3"/>
          <p:cNvSpPr/>
          <p:nvPr/>
        </p:nvSpPr>
        <p:spPr>
          <a:xfrm>
            <a:off x="3502080" y="32187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BIND9 — forward &amp; reverse zones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4"/>
          <p:cNvSpPr/>
          <p:nvPr/>
        </p:nvSpPr>
        <p:spPr>
          <a:xfrm>
            <a:off x="3502080" y="362088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A, CNAME, MX, PTR, NS, SOA records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5"/>
          <p:cNvSpPr/>
          <p:nvPr/>
        </p:nvSpPr>
        <p:spPr>
          <a:xfrm>
            <a:off x="3502080" y="40233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zone_generator.sh — auto-generate from CSV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6"/>
          <p:cNvSpPr/>
          <p:nvPr/>
        </p:nvSpPr>
        <p:spPr>
          <a:xfrm>
            <a:off x="3502080" y="442584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dns_monitor.sh — alert on resolution fail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37"/>
          <p:cNvSpPr/>
          <p:nvPr/>
        </p:nvSpPr>
        <p:spPr>
          <a:xfrm>
            <a:off x="6153840" y="259704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38"/>
          <p:cNvSpPr/>
          <p:nvPr/>
        </p:nvSpPr>
        <p:spPr>
          <a:xfrm>
            <a:off x="6153840" y="2597040"/>
            <a:ext cx="36000" cy="2338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39"/>
          <p:cNvSpPr/>
          <p:nvPr/>
        </p:nvSpPr>
        <p:spPr>
          <a:xfrm>
            <a:off x="6318360" y="273420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Security &amp; Firewall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40"/>
          <p:cNvSpPr/>
          <p:nvPr/>
        </p:nvSpPr>
        <p:spPr>
          <a:xfrm>
            <a:off x="6318360" y="310896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41"/>
          <p:cNvSpPr/>
          <p:nvPr/>
        </p:nvSpPr>
        <p:spPr>
          <a:xfrm>
            <a:off x="6318360" y="32187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UFW — default deny, allowlist ports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2"/>
          <p:cNvSpPr/>
          <p:nvPr/>
        </p:nvSpPr>
        <p:spPr>
          <a:xfrm>
            <a:off x="6318360" y="362088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fail2ban — 3 retries → 1-hour ban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3"/>
          <p:cNvSpPr/>
          <p:nvPr/>
        </p:nvSpPr>
        <p:spPr>
          <a:xfrm>
            <a:off x="6318360" y="40233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SSH — key auth only, non-default port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4"/>
          <p:cNvSpPr/>
          <p:nvPr/>
        </p:nvSpPr>
        <p:spPr>
          <a:xfrm>
            <a:off x="6318360" y="442584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sysctl kernel tuning — TCP + memory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73"/>
          <p:cNvSpPr/>
          <p:nvPr/>
        </p:nvSpPr>
        <p:spPr>
          <a:xfrm>
            <a:off x="0" y="-1080"/>
            <a:ext cx="9141840" cy="36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56"/>
          <p:cNvSpPr/>
          <p:nvPr/>
        </p:nvSpPr>
        <p:spPr>
          <a:xfrm>
            <a:off x="457200" y="181800"/>
            <a:ext cx="73130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3" strike="noStrike">
                <a:solidFill>
                  <a:srgbClr val="64748b"/>
                </a:solidFill>
                <a:latin typeface="Calibri"/>
                <a:ea typeface="Calibri"/>
              </a:rPr>
              <a:t>WEEK 1  ·  CAPSTONE PROJECT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62"/>
          <p:cNvSpPr/>
          <p:nvPr/>
        </p:nvSpPr>
        <p:spPr>
          <a:xfrm>
            <a:off x="457200" y="419400"/>
            <a:ext cx="813600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In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fr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a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st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r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u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ct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u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r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e 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A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u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t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o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m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at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io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n 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S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y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st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e</a:t>
            </a: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74"/>
          <p:cNvSpPr/>
          <p:nvPr/>
        </p:nvSpPr>
        <p:spPr>
          <a:xfrm>
            <a:off x="457200" y="1096200"/>
            <a:ext cx="8227440" cy="144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65"/>
          <p:cNvSpPr/>
          <p:nvPr/>
        </p:nvSpPr>
        <p:spPr>
          <a:xfrm>
            <a:off x="457200" y="1206000"/>
            <a:ext cx="822744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Three interlocking scripts that provision, monitor, and </a:t>
            </a:r>
            <a:r>
              <a:rPr b="0" i="1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protect a server from a single entry point.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75"/>
          <p:cNvSpPr/>
          <p:nvPr/>
        </p:nvSpPr>
        <p:spPr>
          <a:xfrm>
            <a:off x="384120" y="1663200"/>
            <a:ext cx="2704320" cy="3308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76"/>
          <p:cNvSpPr/>
          <p:nvPr/>
        </p:nvSpPr>
        <p:spPr>
          <a:xfrm>
            <a:off x="384120" y="1663200"/>
            <a:ext cx="2704320" cy="36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66"/>
          <p:cNvSpPr/>
          <p:nvPr/>
        </p:nvSpPr>
        <p:spPr>
          <a:xfrm>
            <a:off x="2560320" y="1699560"/>
            <a:ext cx="6562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891b2"/>
                </a:solidFill>
                <a:latin typeface="Calibri"/>
                <a:ea typeface="Calibri"/>
              </a:rPr>
              <a:t>01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67"/>
          <p:cNvSpPr/>
          <p:nvPr/>
        </p:nvSpPr>
        <p:spPr>
          <a:xfrm>
            <a:off x="548640" y="1754640"/>
            <a:ext cx="2393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ser</a:t>
            </a: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ver</a:t>
            </a: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-</a:t>
            </a: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pro</a:t>
            </a: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vis</a:t>
            </a: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ion</a:t>
            </a: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.sh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68"/>
          <p:cNvSpPr/>
          <p:nvPr/>
        </p:nvSpPr>
        <p:spPr>
          <a:xfrm>
            <a:off x="548640" y="2083680"/>
            <a:ext cx="23936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Zero-to-ready server setup in one </a:t>
            </a: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command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77"/>
          <p:cNvSpPr/>
          <p:nvPr/>
        </p:nvSpPr>
        <p:spPr>
          <a:xfrm>
            <a:off x="548640" y="2504520"/>
            <a:ext cx="2329560" cy="144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78"/>
          <p:cNvSpPr/>
          <p:nvPr/>
        </p:nvSpPr>
        <p:spPr>
          <a:xfrm>
            <a:off x="548640" y="2743200"/>
            <a:ext cx="61920" cy="6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69"/>
          <p:cNvSpPr/>
          <p:nvPr/>
        </p:nvSpPr>
        <p:spPr>
          <a:xfrm>
            <a:off x="704160" y="260496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System inventory → baseline report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79"/>
          <p:cNvSpPr/>
          <p:nvPr/>
        </p:nvSpPr>
        <p:spPr>
          <a:xfrm>
            <a:off x="548640" y="3173040"/>
            <a:ext cx="61920" cy="6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70"/>
          <p:cNvSpPr/>
          <p:nvPr/>
        </p:nvSpPr>
        <p:spPr>
          <a:xfrm>
            <a:off x="704160" y="303480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Bulk user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provisioning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from CSV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input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80"/>
          <p:cNvSpPr/>
          <p:nvPr/>
        </p:nvSpPr>
        <p:spPr>
          <a:xfrm>
            <a:off x="548640" y="3602880"/>
            <a:ext cx="61920" cy="6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71"/>
          <p:cNvSpPr/>
          <p:nvPr/>
        </p:nvSpPr>
        <p:spPr>
          <a:xfrm>
            <a:off x="704160" y="346464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N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cli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nt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co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nf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ig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+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U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F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W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fir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w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all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ru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le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81"/>
          <p:cNvSpPr/>
          <p:nvPr/>
        </p:nvSpPr>
        <p:spPr>
          <a:xfrm>
            <a:off x="548640" y="4032360"/>
            <a:ext cx="61920" cy="6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72"/>
          <p:cNvSpPr/>
          <p:nvPr/>
        </p:nvSpPr>
        <p:spPr>
          <a:xfrm>
            <a:off x="704160" y="389412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SSH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hardening +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fail2ban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installation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82"/>
          <p:cNvSpPr/>
          <p:nvPr/>
        </p:nvSpPr>
        <p:spPr>
          <a:xfrm>
            <a:off x="548640" y="4462200"/>
            <a:ext cx="61920" cy="6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73"/>
          <p:cNvSpPr/>
          <p:nvPr/>
        </p:nvSpPr>
        <p:spPr>
          <a:xfrm>
            <a:off x="704160" y="432396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LVM volumes mounted + rsyslog configured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83"/>
          <p:cNvSpPr/>
          <p:nvPr/>
        </p:nvSpPr>
        <p:spPr>
          <a:xfrm>
            <a:off x="3237120" y="1663200"/>
            <a:ext cx="2704320" cy="3308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84"/>
          <p:cNvSpPr/>
          <p:nvPr/>
        </p:nvSpPr>
        <p:spPr>
          <a:xfrm>
            <a:off x="3237120" y="1663200"/>
            <a:ext cx="2704320" cy="36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74"/>
          <p:cNvSpPr/>
          <p:nvPr/>
        </p:nvSpPr>
        <p:spPr>
          <a:xfrm>
            <a:off x="5432400" y="1699560"/>
            <a:ext cx="6562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7c3aed"/>
                </a:solidFill>
                <a:latin typeface="Calibri"/>
                <a:ea typeface="Calibri"/>
              </a:rPr>
              <a:t>02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75"/>
          <p:cNvSpPr/>
          <p:nvPr/>
        </p:nvSpPr>
        <p:spPr>
          <a:xfrm>
            <a:off x="3401640" y="1754640"/>
            <a:ext cx="2393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onsolas"/>
                <a:ea typeface="Consolas"/>
              </a:rPr>
              <a:t>infrastructure-monitor.sh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6"/>
          <p:cNvSpPr/>
          <p:nvPr/>
        </p:nvSpPr>
        <p:spPr>
          <a:xfrm>
            <a:off x="3401640" y="2083680"/>
            <a:ext cx="23936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Unified health dashboard with threshold alerting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85"/>
          <p:cNvSpPr/>
          <p:nvPr/>
        </p:nvSpPr>
        <p:spPr>
          <a:xfrm>
            <a:off x="3401640" y="2504520"/>
            <a:ext cx="2329560" cy="144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86"/>
          <p:cNvSpPr/>
          <p:nvPr/>
        </p:nvSpPr>
        <p:spPr>
          <a:xfrm>
            <a:off x="3383280" y="2743200"/>
            <a:ext cx="61920" cy="6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77"/>
          <p:cNvSpPr/>
          <p:nvPr/>
        </p:nvSpPr>
        <p:spPr>
          <a:xfrm>
            <a:off x="3557160" y="260496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CPU / memory / disk threshold checks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87"/>
          <p:cNvSpPr/>
          <p:nvPr/>
        </p:nvSpPr>
        <p:spPr>
          <a:xfrm>
            <a:off x="3401640" y="3173040"/>
            <a:ext cx="61920" cy="6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78"/>
          <p:cNvSpPr/>
          <p:nvPr/>
        </p:nvSpPr>
        <p:spPr>
          <a:xfrm>
            <a:off x="3557160" y="303480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Service status — ssh, cron, named,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ufw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88"/>
          <p:cNvSpPr/>
          <p:nvPr/>
        </p:nvSpPr>
        <p:spPr>
          <a:xfrm>
            <a:off x="3401640" y="3602880"/>
            <a:ext cx="61920" cy="6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79"/>
          <p:cNvSpPr/>
          <p:nvPr/>
        </p:nvSpPr>
        <p:spPr>
          <a:xfrm>
            <a:off x="3557160" y="346464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Slow query + error log analysis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89"/>
          <p:cNvSpPr/>
          <p:nvPr/>
        </p:nvSpPr>
        <p:spPr>
          <a:xfrm>
            <a:off x="3401640" y="4032360"/>
            <a:ext cx="61920" cy="6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80"/>
          <p:cNvSpPr/>
          <p:nvPr/>
        </p:nvSpPr>
        <p:spPr>
          <a:xfrm>
            <a:off x="3557160" y="389412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Alert log written on any FAIL state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90"/>
          <p:cNvSpPr/>
          <p:nvPr/>
        </p:nvSpPr>
        <p:spPr>
          <a:xfrm>
            <a:off x="3401640" y="4462200"/>
            <a:ext cx="61920" cy="6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81"/>
          <p:cNvSpPr/>
          <p:nvPr/>
        </p:nvSpPr>
        <p:spPr>
          <a:xfrm>
            <a:off x="3557160" y="432396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Cron-scheduled every 5 minutes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91"/>
          <p:cNvSpPr/>
          <p:nvPr/>
        </p:nvSpPr>
        <p:spPr>
          <a:xfrm>
            <a:off x="6089760" y="1663200"/>
            <a:ext cx="2704320" cy="3308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92"/>
          <p:cNvSpPr/>
          <p:nvPr/>
        </p:nvSpPr>
        <p:spPr>
          <a:xfrm>
            <a:off x="6089760" y="1663200"/>
            <a:ext cx="2704320" cy="36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82"/>
          <p:cNvSpPr/>
          <p:nvPr/>
        </p:nvSpPr>
        <p:spPr>
          <a:xfrm>
            <a:off x="8229600" y="1699560"/>
            <a:ext cx="6562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59669"/>
                </a:solidFill>
                <a:latin typeface="Calibri"/>
                <a:ea typeface="Calibri"/>
              </a:rPr>
              <a:t>03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83"/>
          <p:cNvSpPr/>
          <p:nvPr/>
        </p:nvSpPr>
        <p:spPr>
          <a:xfrm>
            <a:off x="6254640" y="1754640"/>
            <a:ext cx="2393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onsolas"/>
                <a:ea typeface="Consolas"/>
              </a:rPr>
              <a:t>auto-</a:t>
            </a:r>
            <a:r>
              <a:rPr b="1" lang="en-US" sz="1000" spc="-1" strike="noStrike">
                <a:solidFill>
                  <a:srgbClr val="059669"/>
                </a:solidFill>
                <a:latin typeface="Consolas"/>
                <a:ea typeface="Consolas"/>
              </a:rPr>
              <a:t>backup.s</a:t>
            </a:r>
            <a:r>
              <a:rPr b="1" lang="en-US" sz="1000" spc="-1" strike="noStrike">
                <a:solidFill>
                  <a:srgbClr val="059669"/>
                </a:solidFill>
                <a:latin typeface="Consolas"/>
                <a:ea typeface="Consolas"/>
              </a:rPr>
              <a:t>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84"/>
          <p:cNvSpPr/>
          <p:nvPr/>
        </p:nvSpPr>
        <p:spPr>
          <a:xfrm>
            <a:off x="6254640" y="2083680"/>
            <a:ext cx="23936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Automated backup with tested restore path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93"/>
          <p:cNvSpPr/>
          <p:nvPr/>
        </p:nvSpPr>
        <p:spPr>
          <a:xfrm>
            <a:off x="6254640" y="2504520"/>
            <a:ext cx="2329560" cy="144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94"/>
          <p:cNvSpPr/>
          <p:nvPr/>
        </p:nvSpPr>
        <p:spPr>
          <a:xfrm>
            <a:off x="6254640" y="2743200"/>
            <a:ext cx="61920" cy="61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85"/>
          <p:cNvSpPr/>
          <p:nvPr/>
        </p:nvSpPr>
        <p:spPr>
          <a:xfrm>
            <a:off x="6409800" y="260496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Tarballs: /etc, /home, /var/log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95"/>
          <p:cNvSpPr/>
          <p:nvPr/>
        </p:nvSpPr>
        <p:spPr>
          <a:xfrm>
            <a:off x="6254640" y="3173040"/>
            <a:ext cx="61920" cy="61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86"/>
          <p:cNvSpPr/>
          <p:nvPr/>
        </p:nvSpPr>
        <p:spPr>
          <a:xfrm>
            <a:off x="6409800" y="303480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DNS zone files + bind configuration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96"/>
          <p:cNvSpPr/>
          <p:nvPr/>
        </p:nvSpPr>
        <p:spPr>
          <a:xfrm>
            <a:off x="6254640" y="3602880"/>
            <a:ext cx="61920" cy="61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87"/>
          <p:cNvSpPr/>
          <p:nvPr/>
        </p:nvSpPr>
        <p:spPr>
          <a:xfrm>
            <a:off x="6409800" y="346464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7-day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rotation with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tar -tzf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integrity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check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97"/>
          <p:cNvSpPr/>
          <p:nvPr/>
        </p:nvSpPr>
        <p:spPr>
          <a:xfrm>
            <a:off x="6254640" y="4032360"/>
            <a:ext cx="61920" cy="61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88"/>
          <p:cNvSpPr/>
          <p:nvPr/>
        </p:nvSpPr>
        <p:spPr>
          <a:xfrm>
            <a:off x="6409800" y="389412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Restore procedure executed in-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script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98"/>
          <p:cNvSpPr/>
          <p:nvPr/>
        </p:nvSpPr>
        <p:spPr>
          <a:xfrm>
            <a:off x="6254640" y="4462200"/>
            <a:ext cx="61920" cy="61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89"/>
          <p:cNvSpPr/>
          <p:nvPr/>
        </p:nvSpPr>
        <p:spPr>
          <a:xfrm>
            <a:off x="6409800" y="4323960"/>
            <a:ext cx="2265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Completion status piped to syslog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7c3aed"/>
                </a:solidFill>
                <a:latin typeface="Calibri"/>
                <a:ea typeface="Calibri"/>
              </a:rPr>
              <a:t>WEEK 2 OF 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App Deployment &amp; Web Servers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502920" y="1207080"/>
            <a:ext cx="8135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"You are not deploying applications. You are architecting systems that survive production."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384120" y="1627560"/>
            <a:ext cx="4158000" cy="1664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384120" y="1627560"/>
            <a:ext cx="43200" cy="1664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567000" y="1792080"/>
            <a:ext cx="3837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Multi-Language Runtimes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567000" y="2167200"/>
            <a:ext cx="37465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567000" y="237276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713160" y="226764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Node.js via nvm — v18, v20, v22 isolated side-by-side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567000" y="261972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713160" y="251460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Python via pyenv — 3.9 through 3.12 with virtualenv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567000" y="286668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713160" y="276156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PHP 7.4 / 8.x with php-fpm, Composer, opcache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15"/>
          <p:cNvSpPr/>
          <p:nvPr/>
        </p:nvSpPr>
        <p:spPr>
          <a:xfrm>
            <a:off x="567000" y="311364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713160" y="300852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runtime_version_switcher.sh — interactive menu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17"/>
          <p:cNvSpPr/>
          <p:nvPr/>
        </p:nvSpPr>
        <p:spPr>
          <a:xfrm>
            <a:off x="4754880" y="1627560"/>
            <a:ext cx="4158000" cy="1664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4754880" y="1627560"/>
            <a:ext cx="43200" cy="1664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4937760" y="1792080"/>
            <a:ext cx="3837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Database Layer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4937760" y="2167200"/>
            <a:ext cx="37465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21"/>
          <p:cNvSpPr/>
          <p:nvPr/>
        </p:nvSpPr>
        <p:spPr>
          <a:xfrm>
            <a:off x="4937760" y="2372760"/>
            <a:ext cx="61560" cy="615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5083920" y="226764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PostgreSQL 15 — shared_buffers, WAL archiving, pg_dump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3"/>
          <p:cNvSpPr/>
          <p:nvPr/>
        </p:nvSpPr>
        <p:spPr>
          <a:xfrm>
            <a:off x="4937760" y="2619720"/>
            <a:ext cx="61560" cy="615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5083920" y="251460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MySQL 8.0 — master-slave replication, binary logging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25"/>
          <p:cNvSpPr/>
          <p:nvPr/>
        </p:nvSpPr>
        <p:spPr>
          <a:xfrm>
            <a:off x="4937760" y="2866680"/>
            <a:ext cx="61560" cy="615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6"/>
          <p:cNvSpPr/>
          <p:nvPr/>
        </p:nvSpPr>
        <p:spPr>
          <a:xfrm>
            <a:off x="5083920" y="276156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MongoDB 7 — replica set, WiredTiger, mongodump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27"/>
          <p:cNvSpPr/>
          <p:nvPr/>
        </p:nvSpPr>
        <p:spPr>
          <a:xfrm>
            <a:off x="4937760" y="3113640"/>
            <a:ext cx="61560" cy="615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28"/>
          <p:cNvSpPr/>
          <p:nvPr/>
        </p:nvSpPr>
        <p:spPr>
          <a:xfrm>
            <a:off x="5083920" y="300852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db_backup_automation.sh — daily / weekly / monthly rotation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29"/>
          <p:cNvSpPr/>
          <p:nvPr/>
        </p:nvSpPr>
        <p:spPr>
          <a:xfrm>
            <a:off x="376920" y="3431520"/>
            <a:ext cx="4158000" cy="15728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30"/>
          <p:cNvSpPr/>
          <p:nvPr/>
        </p:nvSpPr>
        <p:spPr>
          <a:xfrm>
            <a:off x="376920" y="3429000"/>
            <a:ext cx="43200" cy="1572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31"/>
          <p:cNvSpPr/>
          <p:nvPr/>
        </p:nvSpPr>
        <p:spPr>
          <a:xfrm>
            <a:off x="567000" y="3511440"/>
            <a:ext cx="3837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Web Server &amp; Reverse Proxy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32"/>
          <p:cNvSpPr/>
          <p:nvPr/>
        </p:nvSpPr>
        <p:spPr>
          <a:xfrm>
            <a:off x="567000" y="3886200"/>
            <a:ext cx="37465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33"/>
          <p:cNvSpPr/>
          <p:nvPr/>
        </p:nvSpPr>
        <p:spPr>
          <a:xfrm>
            <a:off x="567000" y="409212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4"/>
          <p:cNvSpPr/>
          <p:nvPr/>
        </p:nvSpPr>
        <p:spPr>
          <a:xfrm>
            <a:off x="713160" y="398664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Nginx upstream pools — least_conn, ip_hash, round-robin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35"/>
          <p:cNvSpPr/>
          <p:nvPr/>
        </p:nvSpPr>
        <p:spPr>
          <a:xfrm>
            <a:off x="567000" y="433872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36"/>
          <p:cNvSpPr/>
          <p:nvPr/>
        </p:nvSpPr>
        <p:spPr>
          <a:xfrm>
            <a:off x="713160" y="423360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SSL/TLS — self-signed cert + Let's Encrypt via certbot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37"/>
          <p:cNvSpPr/>
          <p:nvPr/>
        </p:nvSpPr>
        <p:spPr>
          <a:xfrm>
            <a:off x="567000" y="458568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38"/>
          <p:cNvSpPr/>
          <p:nvPr/>
        </p:nvSpPr>
        <p:spPr>
          <a:xfrm>
            <a:off x="713160" y="448056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Security headers — HSTS, CSP, X-Frame-Options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39"/>
          <p:cNvSpPr/>
          <p:nvPr/>
        </p:nvSpPr>
        <p:spPr>
          <a:xfrm>
            <a:off x="567000" y="4832640"/>
            <a:ext cx="61560" cy="615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40"/>
          <p:cNvSpPr/>
          <p:nvPr/>
        </p:nvSpPr>
        <p:spPr>
          <a:xfrm>
            <a:off x="713160" y="472752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Rate limiting — nginx limit_req + UFW limit 22/tcp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41"/>
          <p:cNvSpPr/>
          <p:nvPr/>
        </p:nvSpPr>
        <p:spPr>
          <a:xfrm>
            <a:off x="4754880" y="3429000"/>
            <a:ext cx="4158000" cy="15728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42"/>
          <p:cNvSpPr/>
          <p:nvPr/>
        </p:nvSpPr>
        <p:spPr>
          <a:xfrm>
            <a:off x="4754880" y="3429000"/>
            <a:ext cx="43200" cy="1572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43"/>
          <p:cNvSpPr/>
          <p:nvPr/>
        </p:nvSpPr>
        <p:spPr>
          <a:xfrm>
            <a:off x="4937760" y="3511440"/>
            <a:ext cx="3837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Process 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44"/>
          <p:cNvSpPr/>
          <p:nvPr/>
        </p:nvSpPr>
        <p:spPr>
          <a:xfrm>
            <a:off x="4937760" y="3886200"/>
            <a:ext cx="37465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45"/>
          <p:cNvSpPr/>
          <p:nvPr/>
        </p:nvSpPr>
        <p:spPr>
          <a:xfrm>
            <a:off x="4937760" y="409212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46"/>
          <p:cNvSpPr/>
          <p:nvPr/>
        </p:nvSpPr>
        <p:spPr>
          <a:xfrm>
            <a:off x="5083920" y="398664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PM2 cluster mode — 4 Node.js instances per service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47"/>
          <p:cNvSpPr/>
          <p:nvPr/>
        </p:nvSpPr>
        <p:spPr>
          <a:xfrm>
            <a:off x="4937760" y="433872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48"/>
          <p:cNvSpPr/>
          <p:nvPr/>
        </p:nvSpPr>
        <p:spPr>
          <a:xfrm>
            <a:off x="5083920" y="423360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systemd services — FastAPI (uvicorn), Laravel workers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49"/>
          <p:cNvSpPr/>
          <p:nvPr/>
        </p:nvSpPr>
        <p:spPr>
          <a:xfrm>
            <a:off x="4937760" y="458568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50"/>
          <p:cNvSpPr/>
          <p:nvPr/>
        </p:nvSpPr>
        <p:spPr>
          <a:xfrm>
            <a:off x="5083920" y="448056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Graceful shutdown, OOM-restart, log rotation built-in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51"/>
          <p:cNvSpPr/>
          <p:nvPr/>
        </p:nvSpPr>
        <p:spPr>
          <a:xfrm>
            <a:off x="4937760" y="4832640"/>
            <a:ext cx="61560" cy="6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52"/>
          <p:cNvSpPr/>
          <p:nvPr/>
        </p:nvSpPr>
        <p:spPr>
          <a:xfrm>
            <a:off x="5083920" y="4727520"/>
            <a:ext cx="367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app_monitor.sh — health endpoint + memory + response time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45720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64748b"/>
                </a:solidFill>
                <a:latin typeface="Calibri"/>
                <a:ea typeface="Calibri"/>
              </a:rPr>
              <a:t>WEEK 2  ·  CAPSTONE PROJECT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45720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Three Production-Grade Application Stacks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457200" y="1097280"/>
            <a:ext cx="822708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457200" y="1207080"/>
            <a:ext cx="8227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Each stack deployed with multiple instances, Nginx load balancing, health checks, and a zero-downtime deploy script.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384120" y="1664280"/>
            <a:ext cx="2703960" cy="330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384120" y="1664280"/>
            <a:ext cx="270396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2322720" y="1700640"/>
            <a:ext cx="6559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1280160" y="1774080"/>
            <a:ext cx="911880" cy="25344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1289160" y="1792080"/>
            <a:ext cx="911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Stack 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0"/>
          <p:cNvSpPr/>
          <p:nvPr/>
        </p:nvSpPr>
        <p:spPr>
          <a:xfrm>
            <a:off x="384120" y="213984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521280" y="2194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Frontend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521280" y="239580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Next.js SSR  ×2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384120" y="2706480"/>
            <a:ext cx="2703960" cy="5644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521280" y="2761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Backend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521280" y="296280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Node.js Express  ×3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6"/>
          <p:cNvSpPr/>
          <p:nvPr/>
        </p:nvSpPr>
        <p:spPr>
          <a:xfrm>
            <a:off x="384120" y="327348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521280" y="3328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Database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521280" y="3529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MongoDB replica set (3 nodes)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9"/>
          <p:cNvSpPr/>
          <p:nvPr/>
        </p:nvSpPr>
        <p:spPr>
          <a:xfrm>
            <a:off x="384120" y="3840480"/>
            <a:ext cx="2703960" cy="5644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521280" y="389520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Load Balancer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521280" y="4096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Nginx least_conn upstream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2"/>
          <p:cNvSpPr/>
          <p:nvPr/>
        </p:nvSpPr>
        <p:spPr>
          <a:xfrm>
            <a:off x="384120" y="440748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23"/>
          <p:cNvSpPr/>
          <p:nvPr/>
        </p:nvSpPr>
        <p:spPr>
          <a:xfrm>
            <a:off x="521280" y="446220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Highlight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4"/>
          <p:cNvSpPr/>
          <p:nvPr/>
        </p:nvSpPr>
        <p:spPr>
          <a:xfrm>
            <a:off x="521280" y="4663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WebSocket support, JWT auth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5"/>
          <p:cNvSpPr/>
          <p:nvPr/>
        </p:nvSpPr>
        <p:spPr>
          <a:xfrm>
            <a:off x="3237120" y="1700280"/>
            <a:ext cx="2703960" cy="330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6"/>
          <p:cNvSpPr/>
          <p:nvPr/>
        </p:nvSpPr>
        <p:spPr>
          <a:xfrm>
            <a:off x="3237120" y="1664280"/>
            <a:ext cx="270396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27"/>
          <p:cNvSpPr/>
          <p:nvPr/>
        </p:nvSpPr>
        <p:spPr>
          <a:xfrm>
            <a:off x="5175360" y="1700640"/>
            <a:ext cx="6559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8"/>
          <p:cNvSpPr/>
          <p:nvPr/>
        </p:nvSpPr>
        <p:spPr>
          <a:xfrm>
            <a:off x="4114800" y="1792080"/>
            <a:ext cx="911880" cy="25344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29"/>
          <p:cNvSpPr/>
          <p:nvPr/>
        </p:nvSpPr>
        <p:spPr>
          <a:xfrm>
            <a:off x="4133160" y="1801440"/>
            <a:ext cx="911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Stack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30"/>
          <p:cNvSpPr/>
          <p:nvPr/>
        </p:nvSpPr>
        <p:spPr>
          <a:xfrm>
            <a:off x="3237120" y="213984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31"/>
          <p:cNvSpPr/>
          <p:nvPr/>
        </p:nvSpPr>
        <p:spPr>
          <a:xfrm>
            <a:off x="3374280" y="2194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Frontend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2"/>
          <p:cNvSpPr/>
          <p:nvPr/>
        </p:nvSpPr>
        <p:spPr>
          <a:xfrm>
            <a:off x="3374280" y="239580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Laravel full-stack  ×3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3"/>
          <p:cNvSpPr/>
          <p:nvPr/>
        </p:nvSpPr>
        <p:spPr>
          <a:xfrm>
            <a:off x="3237120" y="2706480"/>
            <a:ext cx="2703960" cy="5644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34"/>
          <p:cNvSpPr/>
          <p:nvPr/>
        </p:nvSpPr>
        <p:spPr>
          <a:xfrm>
            <a:off x="3374280" y="2761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Workers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35"/>
          <p:cNvSpPr/>
          <p:nvPr/>
        </p:nvSpPr>
        <p:spPr>
          <a:xfrm>
            <a:off x="3374280" y="296280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Queue workers  ×2 processes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36"/>
          <p:cNvSpPr/>
          <p:nvPr/>
        </p:nvSpPr>
        <p:spPr>
          <a:xfrm>
            <a:off x="3237120" y="327348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37"/>
          <p:cNvSpPr/>
          <p:nvPr/>
        </p:nvSpPr>
        <p:spPr>
          <a:xfrm>
            <a:off x="3374280" y="3328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Database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38"/>
          <p:cNvSpPr/>
          <p:nvPr/>
        </p:nvSpPr>
        <p:spPr>
          <a:xfrm>
            <a:off x="3374280" y="3529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MySQL master-slave replication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9"/>
          <p:cNvSpPr/>
          <p:nvPr/>
        </p:nvSpPr>
        <p:spPr>
          <a:xfrm>
            <a:off x="3237120" y="3840480"/>
            <a:ext cx="2703960" cy="5644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40"/>
          <p:cNvSpPr/>
          <p:nvPr/>
        </p:nvSpPr>
        <p:spPr>
          <a:xfrm>
            <a:off x="3374280" y="389520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Load Balancer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41"/>
          <p:cNvSpPr/>
          <p:nvPr/>
        </p:nvSpPr>
        <p:spPr>
          <a:xfrm>
            <a:off x="3374280" y="4096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Nginx ip_hash (session sticky)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42"/>
          <p:cNvSpPr/>
          <p:nvPr/>
        </p:nvSpPr>
        <p:spPr>
          <a:xfrm>
            <a:off x="3237120" y="440748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43"/>
          <p:cNvSpPr/>
          <p:nvPr/>
        </p:nvSpPr>
        <p:spPr>
          <a:xfrm>
            <a:off x="3374280" y="446220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Highlight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3374280" y="4663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Eloquent ORM, async job queues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46"/>
          <p:cNvSpPr/>
          <p:nvPr/>
        </p:nvSpPr>
        <p:spPr>
          <a:xfrm>
            <a:off x="6089760" y="1664280"/>
            <a:ext cx="270396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47"/>
          <p:cNvSpPr/>
          <p:nvPr/>
        </p:nvSpPr>
        <p:spPr>
          <a:xfrm>
            <a:off x="8028360" y="1700640"/>
            <a:ext cx="6559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0f4f8"/>
                </a:solidFill>
                <a:latin typeface="Calibri"/>
                <a:ea typeface="Calibri"/>
              </a:rPr>
              <a:t>03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48"/>
          <p:cNvSpPr/>
          <p:nvPr/>
        </p:nvSpPr>
        <p:spPr>
          <a:xfrm>
            <a:off x="6949440" y="1792080"/>
            <a:ext cx="911880" cy="25344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49"/>
          <p:cNvSpPr/>
          <p:nvPr/>
        </p:nvSpPr>
        <p:spPr>
          <a:xfrm>
            <a:off x="6949440" y="1801440"/>
            <a:ext cx="911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Stack 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50"/>
          <p:cNvSpPr/>
          <p:nvPr/>
        </p:nvSpPr>
        <p:spPr>
          <a:xfrm>
            <a:off x="6089760" y="213984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51"/>
          <p:cNvSpPr/>
          <p:nvPr/>
        </p:nvSpPr>
        <p:spPr>
          <a:xfrm>
            <a:off x="6226920" y="2194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Frontend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52"/>
          <p:cNvSpPr/>
          <p:nvPr/>
        </p:nvSpPr>
        <p:spPr>
          <a:xfrm>
            <a:off x="6226920" y="239580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Next.js ISR  ×2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53"/>
          <p:cNvSpPr/>
          <p:nvPr/>
        </p:nvSpPr>
        <p:spPr>
          <a:xfrm>
            <a:off x="6089760" y="2706480"/>
            <a:ext cx="2703960" cy="5644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54"/>
          <p:cNvSpPr/>
          <p:nvPr/>
        </p:nvSpPr>
        <p:spPr>
          <a:xfrm>
            <a:off x="6226920" y="2761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Backend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55"/>
          <p:cNvSpPr/>
          <p:nvPr/>
        </p:nvSpPr>
        <p:spPr>
          <a:xfrm>
            <a:off x="6226920" y="296280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FastAPI (Python)  ×3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56"/>
          <p:cNvSpPr/>
          <p:nvPr/>
        </p:nvSpPr>
        <p:spPr>
          <a:xfrm>
            <a:off x="6089760" y="327348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57"/>
          <p:cNvSpPr/>
          <p:nvPr/>
        </p:nvSpPr>
        <p:spPr>
          <a:xfrm>
            <a:off x="6226920" y="332856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Database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58"/>
          <p:cNvSpPr/>
          <p:nvPr/>
        </p:nvSpPr>
        <p:spPr>
          <a:xfrm>
            <a:off x="6226920" y="3529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MySQL read-optimised config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59"/>
          <p:cNvSpPr/>
          <p:nvPr/>
        </p:nvSpPr>
        <p:spPr>
          <a:xfrm>
            <a:off x="6089760" y="3840480"/>
            <a:ext cx="2703960" cy="5644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60"/>
          <p:cNvSpPr/>
          <p:nvPr/>
        </p:nvSpPr>
        <p:spPr>
          <a:xfrm>
            <a:off x="6226920" y="389520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Load Balancer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61"/>
          <p:cNvSpPr/>
          <p:nvPr/>
        </p:nvSpPr>
        <p:spPr>
          <a:xfrm>
            <a:off x="6226920" y="4096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Nginx round-robin upstream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62"/>
          <p:cNvSpPr/>
          <p:nvPr/>
        </p:nvSpPr>
        <p:spPr>
          <a:xfrm>
            <a:off x="6089760" y="4407480"/>
            <a:ext cx="2703960" cy="5644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63"/>
          <p:cNvSpPr/>
          <p:nvPr/>
        </p:nvSpPr>
        <p:spPr>
          <a:xfrm>
            <a:off x="6226920" y="4462200"/>
            <a:ext cx="866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Highlight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64"/>
          <p:cNvSpPr/>
          <p:nvPr/>
        </p:nvSpPr>
        <p:spPr>
          <a:xfrm>
            <a:off x="6226920" y="4663440"/>
            <a:ext cx="2429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Pydantic validation, async DB pool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59669"/>
                </a:solidFill>
                <a:latin typeface="Calibri"/>
                <a:ea typeface="Calibri"/>
              </a:rPr>
              <a:t>WEEK 2  ·  DEPLOYMENT STRATEGY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Zero-Downtime Deployment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502920" y="1225440"/>
            <a:ext cx="365508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Blue-Green Strategy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5"/>
          <p:cNvSpPr/>
          <p:nvPr/>
        </p:nvSpPr>
        <p:spPr>
          <a:xfrm>
            <a:off x="384120" y="1627560"/>
            <a:ext cx="1443240" cy="1259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6"/>
          <p:cNvSpPr/>
          <p:nvPr/>
        </p:nvSpPr>
        <p:spPr>
          <a:xfrm>
            <a:off x="384120" y="1627560"/>
            <a:ext cx="144324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7"/>
          <p:cNvSpPr/>
          <p:nvPr/>
        </p:nvSpPr>
        <p:spPr>
          <a:xfrm>
            <a:off x="914400" y="1737360"/>
            <a:ext cx="363240" cy="363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914400" y="1774080"/>
            <a:ext cx="3632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9"/>
          <p:cNvSpPr/>
          <p:nvPr/>
        </p:nvSpPr>
        <p:spPr>
          <a:xfrm>
            <a:off x="384120" y="2157840"/>
            <a:ext cx="1444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Deploy Green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384120" y="2450520"/>
            <a:ext cx="1443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New build → inactive environment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11"/>
          <p:cNvSpPr/>
          <p:nvPr/>
        </p:nvSpPr>
        <p:spPr>
          <a:xfrm>
            <a:off x="1893960" y="2057400"/>
            <a:ext cx="162000" cy="1620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2"/>
          <p:cNvSpPr/>
          <p:nvPr/>
        </p:nvSpPr>
        <p:spPr>
          <a:xfrm>
            <a:off x="2121480" y="1627560"/>
            <a:ext cx="1508760" cy="1259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13"/>
          <p:cNvSpPr/>
          <p:nvPr/>
        </p:nvSpPr>
        <p:spPr>
          <a:xfrm>
            <a:off x="2121480" y="1627560"/>
            <a:ext cx="150876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14"/>
          <p:cNvSpPr/>
          <p:nvPr/>
        </p:nvSpPr>
        <p:spPr>
          <a:xfrm>
            <a:off x="2724840" y="1737360"/>
            <a:ext cx="363240" cy="363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2724840" y="1774080"/>
            <a:ext cx="3632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6"/>
          <p:cNvSpPr/>
          <p:nvPr/>
        </p:nvSpPr>
        <p:spPr>
          <a:xfrm>
            <a:off x="2121480" y="2157840"/>
            <a:ext cx="15271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Health Gate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2121480" y="2450520"/>
            <a:ext cx="152712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All endpoints return 200 OK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18"/>
          <p:cNvSpPr/>
          <p:nvPr/>
        </p:nvSpPr>
        <p:spPr>
          <a:xfrm>
            <a:off x="3673800" y="2053800"/>
            <a:ext cx="162000" cy="1620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9"/>
          <p:cNvSpPr/>
          <p:nvPr/>
        </p:nvSpPr>
        <p:spPr>
          <a:xfrm>
            <a:off x="3858840" y="1627560"/>
            <a:ext cx="1397520" cy="1259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20"/>
          <p:cNvSpPr/>
          <p:nvPr/>
        </p:nvSpPr>
        <p:spPr>
          <a:xfrm>
            <a:off x="3858840" y="1627560"/>
            <a:ext cx="139752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21"/>
          <p:cNvSpPr/>
          <p:nvPr/>
        </p:nvSpPr>
        <p:spPr>
          <a:xfrm>
            <a:off x="4389120" y="1737360"/>
            <a:ext cx="363240" cy="363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22"/>
          <p:cNvSpPr/>
          <p:nvPr/>
        </p:nvSpPr>
        <p:spPr>
          <a:xfrm>
            <a:off x="4389120" y="1774080"/>
            <a:ext cx="3632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23"/>
          <p:cNvSpPr/>
          <p:nvPr/>
        </p:nvSpPr>
        <p:spPr>
          <a:xfrm>
            <a:off x="3785760" y="2157840"/>
            <a:ext cx="14720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Switch Traffic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4"/>
          <p:cNvSpPr/>
          <p:nvPr/>
        </p:nvSpPr>
        <p:spPr>
          <a:xfrm>
            <a:off x="3858840" y="2450520"/>
            <a:ext cx="139752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Nginx upstream → Green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25"/>
          <p:cNvSpPr/>
          <p:nvPr/>
        </p:nvSpPr>
        <p:spPr>
          <a:xfrm>
            <a:off x="5312520" y="2057400"/>
            <a:ext cx="162000" cy="1620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6"/>
          <p:cNvSpPr/>
          <p:nvPr/>
        </p:nvSpPr>
        <p:spPr>
          <a:xfrm>
            <a:off x="5513760" y="1627560"/>
            <a:ext cx="1572840" cy="1259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27"/>
          <p:cNvSpPr/>
          <p:nvPr/>
        </p:nvSpPr>
        <p:spPr>
          <a:xfrm>
            <a:off x="5513760" y="1627560"/>
            <a:ext cx="157284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28"/>
          <p:cNvSpPr/>
          <p:nvPr/>
        </p:nvSpPr>
        <p:spPr>
          <a:xfrm>
            <a:off x="6126480" y="1737360"/>
            <a:ext cx="363240" cy="363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29"/>
          <p:cNvSpPr/>
          <p:nvPr/>
        </p:nvSpPr>
        <p:spPr>
          <a:xfrm>
            <a:off x="6126480" y="1774080"/>
            <a:ext cx="3632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30"/>
          <p:cNvSpPr/>
          <p:nvPr/>
        </p:nvSpPr>
        <p:spPr>
          <a:xfrm>
            <a:off x="5486400" y="2157840"/>
            <a:ext cx="16002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Monitor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31"/>
          <p:cNvSpPr/>
          <p:nvPr/>
        </p:nvSpPr>
        <p:spPr>
          <a:xfrm>
            <a:off x="5486400" y="2450520"/>
            <a:ext cx="16002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5-minute observation window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32"/>
          <p:cNvSpPr/>
          <p:nvPr/>
        </p:nvSpPr>
        <p:spPr>
          <a:xfrm>
            <a:off x="7123320" y="2057400"/>
            <a:ext cx="162000" cy="1620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3"/>
          <p:cNvSpPr/>
          <p:nvPr/>
        </p:nvSpPr>
        <p:spPr>
          <a:xfrm>
            <a:off x="7315200" y="1627560"/>
            <a:ext cx="1607040" cy="1259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34"/>
          <p:cNvSpPr/>
          <p:nvPr/>
        </p:nvSpPr>
        <p:spPr>
          <a:xfrm>
            <a:off x="7333560" y="1627560"/>
            <a:ext cx="158868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hape 35"/>
          <p:cNvSpPr/>
          <p:nvPr/>
        </p:nvSpPr>
        <p:spPr>
          <a:xfrm>
            <a:off x="7946280" y="1737360"/>
            <a:ext cx="363240" cy="363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36"/>
          <p:cNvSpPr/>
          <p:nvPr/>
        </p:nvSpPr>
        <p:spPr>
          <a:xfrm>
            <a:off x="7946280" y="1774080"/>
            <a:ext cx="3632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37"/>
          <p:cNvSpPr/>
          <p:nvPr/>
        </p:nvSpPr>
        <p:spPr>
          <a:xfrm>
            <a:off x="7333560" y="2157840"/>
            <a:ext cx="1588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Retire Blue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38"/>
          <p:cNvSpPr/>
          <p:nvPr/>
        </p:nvSpPr>
        <p:spPr>
          <a:xfrm>
            <a:off x="7333560" y="2450520"/>
            <a:ext cx="15886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Keep standby for fast rollback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39"/>
          <p:cNvSpPr/>
          <p:nvPr/>
        </p:nvSpPr>
        <p:spPr>
          <a:xfrm>
            <a:off x="502920" y="301752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40"/>
          <p:cNvSpPr/>
          <p:nvPr/>
        </p:nvSpPr>
        <p:spPr>
          <a:xfrm>
            <a:off x="502920" y="3145680"/>
            <a:ext cx="548388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Rolling Restart Pattern  (PM2 Cluster)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41"/>
          <p:cNvSpPr/>
          <p:nvPr/>
        </p:nvSpPr>
        <p:spPr>
          <a:xfrm>
            <a:off x="384120" y="3547800"/>
            <a:ext cx="1947600" cy="14238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42"/>
          <p:cNvSpPr/>
          <p:nvPr/>
        </p:nvSpPr>
        <p:spPr>
          <a:xfrm>
            <a:off x="384120" y="3548880"/>
            <a:ext cx="43200" cy="1422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43"/>
          <p:cNvSpPr/>
          <p:nvPr/>
        </p:nvSpPr>
        <p:spPr>
          <a:xfrm>
            <a:off x="567000" y="3639240"/>
            <a:ext cx="17805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Restart Instance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44"/>
          <p:cNvSpPr/>
          <p:nvPr/>
        </p:nvSpPr>
        <p:spPr>
          <a:xfrm>
            <a:off x="567000" y="3986640"/>
            <a:ext cx="178056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pm2 restart api-instance-0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Container receives SIGTERM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45"/>
          <p:cNvSpPr/>
          <p:nvPr/>
        </p:nvSpPr>
        <p:spPr>
          <a:xfrm>
            <a:off x="2370600" y="4122360"/>
            <a:ext cx="162000" cy="1620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46"/>
          <p:cNvSpPr/>
          <p:nvPr/>
        </p:nvSpPr>
        <p:spPr>
          <a:xfrm>
            <a:off x="2560320" y="3547800"/>
            <a:ext cx="1947600" cy="14238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Shape 47"/>
          <p:cNvSpPr/>
          <p:nvPr/>
        </p:nvSpPr>
        <p:spPr>
          <a:xfrm>
            <a:off x="2560320" y="3548880"/>
            <a:ext cx="43200" cy="1422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48"/>
          <p:cNvSpPr/>
          <p:nvPr/>
        </p:nvSpPr>
        <p:spPr>
          <a:xfrm>
            <a:off x="2743200" y="3639240"/>
            <a:ext cx="17805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Wait 5 seconds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49"/>
          <p:cNvSpPr/>
          <p:nvPr/>
        </p:nvSpPr>
        <p:spPr>
          <a:xfrm>
            <a:off x="2743200" y="3986640"/>
            <a:ext cx="178056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Graceful drain period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In-flight requests complete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50"/>
          <p:cNvSpPr/>
          <p:nvPr/>
        </p:nvSpPr>
        <p:spPr>
          <a:xfrm>
            <a:off x="4544640" y="4123800"/>
            <a:ext cx="162000" cy="1620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51"/>
          <p:cNvSpPr/>
          <p:nvPr/>
        </p:nvSpPr>
        <p:spPr>
          <a:xfrm>
            <a:off x="4736520" y="3547800"/>
            <a:ext cx="1947600" cy="14238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52"/>
          <p:cNvSpPr/>
          <p:nvPr/>
        </p:nvSpPr>
        <p:spPr>
          <a:xfrm>
            <a:off x="4736520" y="3548880"/>
            <a:ext cx="43200" cy="1422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53"/>
          <p:cNvSpPr/>
          <p:nvPr/>
        </p:nvSpPr>
        <p:spPr>
          <a:xfrm>
            <a:off x="4919400" y="3639240"/>
            <a:ext cx="17805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Health Check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54"/>
          <p:cNvSpPr/>
          <p:nvPr/>
        </p:nvSpPr>
        <p:spPr>
          <a:xfrm>
            <a:off x="4919400" y="3986640"/>
            <a:ext cx="178056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GET /health → 200 OK required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Fail = immediate rollback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Shape 55"/>
          <p:cNvSpPr/>
          <p:nvPr/>
        </p:nvSpPr>
        <p:spPr>
          <a:xfrm>
            <a:off x="6720840" y="4123800"/>
            <a:ext cx="162000" cy="1620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56"/>
          <p:cNvSpPr/>
          <p:nvPr/>
        </p:nvSpPr>
        <p:spPr>
          <a:xfrm>
            <a:off x="6912720" y="3547800"/>
            <a:ext cx="2027520" cy="14238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57"/>
          <p:cNvSpPr/>
          <p:nvPr/>
        </p:nvSpPr>
        <p:spPr>
          <a:xfrm>
            <a:off x="6912720" y="3548880"/>
            <a:ext cx="43200" cy="1422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58"/>
          <p:cNvSpPr/>
          <p:nvPr/>
        </p:nvSpPr>
        <p:spPr>
          <a:xfrm>
            <a:off x="7095600" y="3639240"/>
            <a:ext cx="17805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Next Instance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59"/>
          <p:cNvSpPr/>
          <p:nvPr/>
        </p:nvSpPr>
        <p:spPr>
          <a:xfrm>
            <a:off x="7095600" y="3986640"/>
            <a:ext cx="178056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Repeat for instances 1, 2, 3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 dropped connections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22d3ee"/>
                </a:solidFill>
                <a:latin typeface="Calibri"/>
                <a:ea typeface="Calibri"/>
              </a:rPr>
              <a:t>WEEK 3 OF 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Docker &amp; Microservices Platform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502920" y="1207080"/>
            <a:ext cx="8135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"You are not learning Docker commands. You are learning how modern applications ship to production."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5"/>
          <p:cNvSpPr/>
          <p:nvPr/>
        </p:nvSpPr>
        <p:spPr>
          <a:xfrm>
            <a:off x="38412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6"/>
          <p:cNvSpPr/>
          <p:nvPr/>
        </p:nvSpPr>
        <p:spPr>
          <a:xfrm>
            <a:off x="384120" y="1664280"/>
            <a:ext cx="153360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7"/>
          <p:cNvSpPr/>
          <p:nvPr/>
        </p:nvSpPr>
        <p:spPr>
          <a:xfrm>
            <a:off x="384120" y="173736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0891b2"/>
                </a:solidFill>
                <a:latin typeface="Calibri"/>
                <a:ea typeface="Calibri"/>
              </a:rPr>
              <a:t>Day 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49392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Docker Basics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9"/>
          <p:cNvSpPr/>
          <p:nvPr/>
        </p:nvSpPr>
        <p:spPr>
          <a:xfrm>
            <a:off x="52128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0"/>
          <p:cNvSpPr/>
          <p:nvPr/>
        </p:nvSpPr>
        <p:spPr>
          <a:xfrm>
            <a:off x="52128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Dockerfiles &amp; layer caching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1"/>
          <p:cNvSpPr/>
          <p:nvPr/>
        </p:nvSpPr>
        <p:spPr>
          <a:xfrm>
            <a:off x="52128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Multi-stage builds — 59% image size cut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12"/>
          <p:cNvSpPr/>
          <p:nvPr/>
        </p:nvSpPr>
        <p:spPr>
          <a:xfrm>
            <a:off x="52128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Alpine/slim base images for security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13"/>
          <p:cNvSpPr/>
          <p:nvPr/>
        </p:nvSpPr>
        <p:spPr>
          <a:xfrm>
            <a:off x="206640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4"/>
          <p:cNvSpPr/>
          <p:nvPr/>
        </p:nvSpPr>
        <p:spPr>
          <a:xfrm>
            <a:off x="2066400" y="1664280"/>
            <a:ext cx="153360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5"/>
          <p:cNvSpPr/>
          <p:nvPr/>
        </p:nvSpPr>
        <p:spPr>
          <a:xfrm>
            <a:off x="2066400" y="173736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7c3aed"/>
                </a:solidFill>
                <a:latin typeface="Calibri"/>
                <a:ea typeface="Calibri"/>
              </a:rPr>
              <a:t>Day 2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16"/>
          <p:cNvSpPr/>
          <p:nvPr/>
        </p:nvSpPr>
        <p:spPr>
          <a:xfrm>
            <a:off x="217620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Docker Compose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17"/>
          <p:cNvSpPr/>
          <p:nvPr/>
        </p:nvSpPr>
        <p:spPr>
          <a:xfrm>
            <a:off x="220356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8"/>
          <p:cNvSpPr/>
          <p:nvPr/>
        </p:nvSpPr>
        <p:spPr>
          <a:xfrm>
            <a:off x="220356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Multi-container orchestration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9"/>
          <p:cNvSpPr/>
          <p:nvPr/>
        </p:nvSpPr>
        <p:spPr>
          <a:xfrm>
            <a:off x="220356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Health-gated depends_on chains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20"/>
          <p:cNvSpPr/>
          <p:nvPr/>
        </p:nvSpPr>
        <p:spPr>
          <a:xfrm>
            <a:off x="220356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Dev vs prod override file pattern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21"/>
          <p:cNvSpPr/>
          <p:nvPr/>
        </p:nvSpPr>
        <p:spPr>
          <a:xfrm>
            <a:off x="374904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22"/>
          <p:cNvSpPr/>
          <p:nvPr/>
        </p:nvSpPr>
        <p:spPr>
          <a:xfrm>
            <a:off x="3749040" y="1664280"/>
            <a:ext cx="1533600" cy="3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23"/>
          <p:cNvSpPr/>
          <p:nvPr/>
        </p:nvSpPr>
        <p:spPr>
          <a:xfrm>
            <a:off x="3749040" y="173736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d97706"/>
                </a:solidFill>
                <a:latin typeface="Calibri"/>
                <a:ea typeface="Calibri"/>
              </a:rPr>
              <a:t>Day 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24"/>
          <p:cNvSpPr/>
          <p:nvPr/>
        </p:nvSpPr>
        <p:spPr>
          <a:xfrm>
            <a:off x="385884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Networking &amp; Volumes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25"/>
          <p:cNvSpPr/>
          <p:nvPr/>
        </p:nvSpPr>
        <p:spPr>
          <a:xfrm>
            <a:off x="388620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26"/>
          <p:cNvSpPr/>
          <p:nvPr/>
        </p:nvSpPr>
        <p:spPr>
          <a:xfrm>
            <a:off x="388620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3-tier network segmentation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7"/>
          <p:cNvSpPr/>
          <p:nvPr/>
        </p:nvSpPr>
        <p:spPr>
          <a:xfrm>
            <a:off x="388620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Named volumes + bind mounts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28"/>
          <p:cNvSpPr/>
          <p:nvPr/>
        </p:nvSpPr>
        <p:spPr>
          <a:xfrm>
            <a:off x="388620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Volume backup automation script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29"/>
          <p:cNvSpPr/>
          <p:nvPr/>
        </p:nvSpPr>
        <p:spPr>
          <a:xfrm>
            <a:off x="543168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30"/>
          <p:cNvSpPr/>
          <p:nvPr/>
        </p:nvSpPr>
        <p:spPr>
          <a:xfrm>
            <a:off x="5431680" y="1664280"/>
            <a:ext cx="1533600" cy="36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31"/>
          <p:cNvSpPr/>
          <p:nvPr/>
        </p:nvSpPr>
        <p:spPr>
          <a:xfrm>
            <a:off x="5431680" y="173736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dc2626"/>
                </a:solidFill>
                <a:latin typeface="Calibri"/>
                <a:ea typeface="Calibri"/>
              </a:rPr>
              <a:t>Day 4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32"/>
          <p:cNvSpPr/>
          <p:nvPr/>
        </p:nvSpPr>
        <p:spPr>
          <a:xfrm>
            <a:off x="554112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33"/>
          <p:cNvSpPr/>
          <p:nvPr/>
        </p:nvSpPr>
        <p:spPr>
          <a:xfrm>
            <a:off x="556884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34"/>
          <p:cNvSpPr/>
          <p:nvPr/>
        </p:nvSpPr>
        <p:spPr>
          <a:xfrm>
            <a:off x="556884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Trivy — CRITICAL CVE pipeline gate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5"/>
          <p:cNvSpPr/>
          <p:nvPr/>
        </p:nvSpPr>
        <p:spPr>
          <a:xfrm>
            <a:off x="556884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Non-root users in every container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6"/>
          <p:cNvSpPr/>
          <p:nvPr/>
        </p:nvSpPr>
        <p:spPr>
          <a:xfrm>
            <a:off x="556884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Resource limits + cap-drop ALL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37"/>
          <p:cNvSpPr/>
          <p:nvPr/>
        </p:nvSpPr>
        <p:spPr>
          <a:xfrm>
            <a:off x="711396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38"/>
          <p:cNvSpPr/>
          <p:nvPr/>
        </p:nvSpPr>
        <p:spPr>
          <a:xfrm>
            <a:off x="7113960" y="1664280"/>
            <a:ext cx="153360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39"/>
          <p:cNvSpPr/>
          <p:nvPr/>
        </p:nvSpPr>
        <p:spPr>
          <a:xfrm>
            <a:off x="7113960" y="173736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0" strike="noStrike">
                <a:solidFill>
                  <a:srgbClr val="059669"/>
                </a:solidFill>
                <a:latin typeface="Calibri"/>
                <a:ea typeface="Calibri"/>
              </a:rPr>
              <a:t>Day 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40"/>
          <p:cNvSpPr/>
          <p:nvPr/>
        </p:nvSpPr>
        <p:spPr>
          <a:xfrm>
            <a:off x="722376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Registry &amp; Deploy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41"/>
          <p:cNvSpPr/>
          <p:nvPr/>
        </p:nvSpPr>
        <p:spPr>
          <a:xfrm>
            <a:off x="725112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42"/>
          <p:cNvSpPr/>
          <p:nvPr/>
        </p:nvSpPr>
        <p:spPr>
          <a:xfrm>
            <a:off x="725112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Docker Hub + private registry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43"/>
          <p:cNvSpPr/>
          <p:nvPr/>
        </p:nvSpPr>
        <p:spPr>
          <a:xfrm>
            <a:off x="725112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Blue-green container deployments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44"/>
          <p:cNvSpPr/>
          <p:nvPr/>
        </p:nvSpPr>
        <p:spPr>
          <a:xfrm>
            <a:off x="725112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cAdvisor + Prometheus + Grafana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22d3ee"/>
                </a:solidFill>
                <a:latin typeface="Calibri"/>
                <a:ea typeface="Calibri"/>
              </a:rPr>
              <a:t>WEEK 3  ·  FINAL PROJECT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2"/>
          <p:cNvSpPr/>
          <p:nvPr/>
        </p:nvSpPr>
        <p:spPr>
          <a:xfrm>
            <a:off x="502920" y="2926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12-Component Distributed Platform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4"/>
          <p:cNvSpPr/>
          <p:nvPr/>
        </p:nvSpPr>
        <p:spPr>
          <a:xfrm>
            <a:off x="73080" y="84132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CLIENT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5"/>
          <p:cNvSpPr/>
          <p:nvPr/>
        </p:nvSpPr>
        <p:spPr>
          <a:xfrm>
            <a:off x="73080" y="146304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GATEWAY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6"/>
          <p:cNvSpPr/>
          <p:nvPr/>
        </p:nvSpPr>
        <p:spPr>
          <a:xfrm>
            <a:off x="73080" y="213984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SERVICES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7"/>
          <p:cNvSpPr/>
          <p:nvPr/>
        </p:nvSpPr>
        <p:spPr>
          <a:xfrm>
            <a:off x="73080" y="309060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DATA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8"/>
          <p:cNvSpPr/>
          <p:nvPr/>
        </p:nvSpPr>
        <p:spPr>
          <a:xfrm>
            <a:off x="73080" y="404172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OPS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9"/>
          <p:cNvSpPr/>
          <p:nvPr/>
        </p:nvSpPr>
        <p:spPr>
          <a:xfrm>
            <a:off x="804600" y="841320"/>
            <a:ext cx="14040" cy="415800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10"/>
          <p:cNvSpPr/>
          <p:nvPr/>
        </p:nvSpPr>
        <p:spPr>
          <a:xfrm>
            <a:off x="2907720" y="932760"/>
            <a:ext cx="3106440" cy="45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11"/>
          <p:cNvSpPr/>
          <p:nvPr/>
        </p:nvSpPr>
        <p:spPr>
          <a:xfrm>
            <a:off x="2907720" y="932760"/>
            <a:ext cx="3106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Frontend  ·  React + Nginx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12"/>
          <p:cNvSpPr/>
          <p:nvPr/>
        </p:nvSpPr>
        <p:spPr>
          <a:xfrm>
            <a:off x="4443840" y="13899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3"/>
          <p:cNvSpPr/>
          <p:nvPr/>
        </p:nvSpPr>
        <p:spPr>
          <a:xfrm>
            <a:off x="2176200" y="1572840"/>
            <a:ext cx="4551120" cy="509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14"/>
          <p:cNvSpPr/>
          <p:nvPr/>
        </p:nvSpPr>
        <p:spPr>
          <a:xfrm>
            <a:off x="2176200" y="1627560"/>
            <a:ext cx="45511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API Gateway  ·  Node.js Express  ·  Rate Limiting  ·  JWT Routing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15"/>
          <p:cNvSpPr/>
          <p:nvPr/>
        </p:nvSpPr>
        <p:spPr>
          <a:xfrm>
            <a:off x="2651760" y="20847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6"/>
          <p:cNvSpPr/>
          <p:nvPr/>
        </p:nvSpPr>
        <p:spPr>
          <a:xfrm>
            <a:off x="4718160" y="20847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7"/>
          <p:cNvSpPr/>
          <p:nvPr/>
        </p:nvSpPr>
        <p:spPr>
          <a:xfrm>
            <a:off x="6546960" y="20847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8"/>
          <p:cNvSpPr/>
          <p:nvPr/>
        </p:nvSpPr>
        <p:spPr>
          <a:xfrm>
            <a:off x="1298520" y="2267640"/>
            <a:ext cx="2173680" cy="747360"/>
          </a:xfrm>
          <a:prstGeom prst="rect">
            <a:avLst/>
          </a:prstGeom>
          <a:solidFill>
            <a:srgbClr val="0d1e35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19"/>
          <p:cNvSpPr/>
          <p:nvPr/>
        </p:nvSpPr>
        <p:spPr>
          <a:xfrm>
            <a:off x="1298520" y="2267640"/>
            <a:ext cx="21736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20"/>
          <p:cNvSpPr/>
          <p:nvPr/>
        </p:nvSpPr>
        <p:spPr>
          <a:xfrm>
            <a:off x="1298520" y="234072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User Service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21"/>
          <p:cNvSpPr/>
          <p:nvPr/>
        </p:nvSpPr>
        <p:spPr>
          <a:xfrm>
            <a:off x="1298520" y="261504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Python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 FastAPI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22"/>
          <p:cNvSpPr/>
          <p:nvPr/>
        </p:nvSpPr>
        <p:spPr>
          <a:xfrm>
            <a:off x="3712320" y="2267640"/>
            <a:ext cx="2173680" cy="747360"/>
          </a:xfrm>
          <a:prstGeom prst="rect">
            <a:avLst/>
          </a:prstGeom>
          <a:solidFill>
            <a:srgbClr val="0d1e35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23"/>
          <p:cNvSpPr/>
          <p:nvPr/>
        </p:nvSpPr>
        <p:spPr>
          <a:xfrm>
            <a:off x="3712320" y="2267640"/>
            <a:ext cx="2173680" cy="36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24"/>
          <p:cNvSpPr/>
          <p:nvPr/>
        </p:nvSpPr>
        <p:spPr>
          <a:xfrm>
            <a:off x="3712320" y="234072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Product Service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25"/>
          <p:cNvSpPr/>
          <p:nvPr/>
        </p:nvSpPr>
        <p:spPr>
          <a:xfrm>
            <a:off x="3712320" y="261504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Node.js Express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26"/>
          <p:cNvSpPr/>
          <p:nvPr/>
        </p:nvSpPr>
        <p:spPr>
          <a:xfrm>
            <a:off x="6126480" y="2267640"/>
            <a:ext cx="2173680" cy="747360"/>
          </a:xfrm>
          <a:prstGeom prst="rect">
            <a:avLst/>
          </a:prstGeom>
          <a:solidFill>
            <a:srgbClr val="0d1e35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27"/>
          <p:cNvSpPr/>
          <p:nvPr/>
        </p:nvSpPr>
        <p:spPr>
          <a:xfrm>
            <a:off x="6126480" y="2267640"/>
            <a:ext cx="217368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28"/>
          <p:cNvSpPr/>
          <p:nvPr/>
        </p:nvSpPr>
        <p:spPr>
          <a:xfrm>
            <a:off x="6126480" y="234072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Order Service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29"/>
          <p:cNvSpPr/>
          <p:nvPr/>
        </p:nvSpPr>
        <p:spPr>
          <a:xfrm>
            <a:off x="6126480" y="261504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Python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 FastAPI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30"/>
          <p:cNvSpPr/>
          <p:nvPr/>
        </p:nvSpPr>
        <p:spPr>
          <a:xfrm>
            <a:off x="201168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31"/>
          <p:cNvSpPr/>
          <p:nvPr/>
        </p:nvSpPr>
        <p:spPr>
          <a:xfrm>
            <a:off x="411480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2"/>
          <p:cNvSpPr/>
          <p:nvPr/>
        </p:nvSpPr>
        <p:spPr>
          <a:xfrm>
            <a:off x="557784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3"/>
          <p:cNvSpPr/>
          <p:nvPr/>
        </p:nvSpPr>
        <p:spPr>
          <a:xfrm>
            <a:off x="96012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34"/>
          <p:cNvSpPr/>
          <p:nvPr/>
        </p:nvSpPr>
        <p:spPr>
          <a:xfrm>
            <a:off x="96012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PostgreSQL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35"/>
          <p:cNvSpPr/>
          <p:nvPr/>
        </p:nvSpPr>
        <p:spPr>
          <a:xfrm>
            <a:off x="96012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Users · Orders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36"/>
          <p:cNvSpPr/>
          <p:nvPr/>
        </p:nvSpPr>
        <p:spPr>
          <a:xfrm>
            <a:off x="289872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37"/>
          <p:cNvSpPr/>
          <p:nvPr/>
        </p:nvSpPr>
        <p:spPr>
          <a:xfrm>
            <a:off x="289872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MongoDB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38"/>
          <p:cNvSpPr/>
          <p:nvPr/>
        </p:nvSpPr>
        <p:spPr>
          <a:xfrm>
            <a:off x="289872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Products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39"/>
          <p:cNvSpPr/>
          <p:nvPr/>
        </p:nvSpPr>
        <p:spPr>
          <a:xfrm>
            <a:off x="483732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40"/>
          <p:cNvSpPr/>
          <p:nvPr/>
        </p:nvSpPr>
        <p:spPr>
          <a:xfrm>
            <a:off x="483732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Redis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41"/>
          <p:cNvSpPr/>
          <p:nvPr/>
        </p:nvSpPr>
        <p:spPr>
          <a:xfrm>
            <a:off x="483732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Cache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42"/>
          <p:cNvSpPr/>
          <p:nvPr/>
        </p:nvSpPr>
        <p:spPr>
          <a:xfrm>
            <a:off x="677556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43"/>
          <p:cNvSpPr/>
          <p:nvPr/>
        </p:nvSpPr>
        <p:spPr>
          <a:xfrm>
            <a:off x="677556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RabbitMQ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44"/>
          <p:cNvSpPr/>
          <p:nvPr/>
        </p:nvSpPr>
        <p:spPr>
          <a:xfrm>
            <a:off x="677556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Queue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45"/>
          <p:cNvSpPr/>
          <p:nvPr/>
        </p:nvSpPr>
        <p:spPr>
          <a:xfrm>
            <a:off x="960120" y="4041720"/>
            <a:ext cx="1936080" cy="802080"/>
          </a:xfrm>
          <a:prstGeom prst="rect">
            <a:avLst/>
          </a:prstGeom>
          <a:solidFill>
            <a:srgbClr val="0d1e35"/>
          </a:solidFill>
          <a:ln w="9525">
            <a:solidFill>
              <a:srgbClr val="e24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46"/>
          <p:cNvSpPr/>
          <p:nvPr/>
        </p:nvSpPr>
        <p:spPr>
          <a:xfrm>
            <a:off x="960120" y="4260960"/>
            <a:ext cx="1936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Prometheus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47"/>
          <p:cNvSpPr/>
          <p:nvPr/>
        </p:nvSpPr>
        <p:spPr>
          <a:xfrm>
            <a:off x="3136320" y="4041720"/>
            <a:ext cx="1936080" cy="802080"/>
          </a:xfrm>
          <a:prstGeom prst="rect">
            <a:avLst/>
          </a:prstGeom>
          <a:solidFill>
            <a:srgbClr val="0d1e35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48"/>
          <p:cNvSpPr/>
          <p:nvPr/>
        </p:nvSpPr>
        <p:spPr>
          <a:xfrm>
            <a:off x="3136320" y="4260960"/>
            <a:ext cx="1936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Grafana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49"/>
          <p:cNvSpPr/>
          <p:nvPr/>
        </p:nvSpPr>
        <p:spPr>
          <a:xfrm>
            <a:off x="5312520" y="4041720"/>
            <a:ext cx="1936080" cy="802080"/>
          </a:xfrm>
          <a:prstGeom prst="rect">
            <a:avLst/>
          </a:prstGeom>
          <a:solidFill>
            <a:srgbClr val="0d1e35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50"/>
          <p:cNvSpPr/>
          <p:nvPr/>
        </p:nvSpPr>
        <p:spPr>
          <a:xfrm>
            <a:off x="5312520" y="4260960"/>
            <a:ext cx="1936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cAdvisor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51"/>
          <p:cNvSpPr/>
          <p:nvPr/>
        </p:nvSpPr>
        <p:spPr>
          <a:xfrm>
            <a:off x="7479720" y="4041720"/>
            <a:ext cx="1506240" cy="80208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52"/>
          <p:cNvSpPr/>
          <p:nvPr/>
        </p:nvSpPr>
        <p:spPr>
          <a:xfrm>
            <a:off x="7479720" y="4169520"/>
            <a:ext cx="150624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2d3ee"/>
                </a:solidFill>
                <a:latin typeface="Calibri"/>
                <a:ea typeface="Calibri"/>
              </a:rPr>
              <a:t>Trivy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2d3ee"/>
                </a:solidFill>
                <a:latin typeface="Calibri"/>
                <a:ea typeface="Calibri"/>
              </a:rPr>
              <a:t>Scanned 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104"/>
          <p:cNvSpPr/>
          <p:nvPr/>
        </p:nvSpPr>
        <p:spPr>
          <a:xfrm>
            <a:off x="758952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05"/>
          <p:cNvSpPr/>
          <p:nvPr/>
        </p:nvSpPr>
        <p:spPr>
          <a:xfrm>
            <a:off x="1517760" y="3840480"/>
            <a:ext cx="34200" cy="191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06"/>
          <p:cNvSpPr/>
          <p:nvPr/>
        </p:nvSpPr>
        <p:spPr>
          <a:xfrm>
            <a:off x="3657600" y="3840480"/>
            <a:ext cx="34200" cy="191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07"/>
          <p:cNvSpPr/>
          <p:nvPr/>
        </p:nvSpPr>
        <p:spPr>
          <a:xfrm>
            <a:off x="6035040" y="3840480"/>
            <a:ext cx="34200" cy="191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08"/>
          <p:cNvSpPr/>
          <p:nvPr/>
        </p:nvSpPr>
        <p:spPr>
          <a:xfrm>
            <a:off x="8229600" y="3840480"/>
            <a:ext cx="34200" cy="191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45720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64748b"/>
                </a:solidFill>
                <a:latin typeface="Calibri"/>
                <a:ea typeface="Calibri"/>
              </a:rPr>
              <a:t>WEEK 3  ·  ARCHITECTURE DECISION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2"/>
          <p:cNvSpPr/>
          <p:nvPr/>
        </p:nvSpPr>
        <p:spPr>
          <a:xfrm>
            <a:off x="45720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Why Microservices?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457200" y="1097280"/>
            <a:ext cx="822708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411480" y="1261800"/>
            <a:ext cx="3819600" cy="3700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411480" y="1261800"/>
            <a:ext cx="3819600" cy="36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576000" y="1353240"/>
            <a:ext cx="22834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Calibri"/>
              </a:rPr>
              <a:t>Monolith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9"/>
          <p:cNvSpPr/>
          <p:nvPr/>
        </p:nvSpPr>
        <p:spPr>
          <a:xfrm>
            <a:off x="411480" y="1847160"/>
            <a:ext cx="3819600" cy="59184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10"/>
          <p:cNvSpPr/>
          <p:nvPr/>
        </p:nvSpPr>
        <p:spPr>
          <a:xfrm>
            <a:off x="548640" y="199332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11"/>
          <p:cNvSpPr/>
          <p:nvPr/>
        </p:nvSpPr>
        <p:spPr>
          <a:xfrm>
            <a:off x="850320" y="190188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Single codebase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12"/>
          <p:cNvSpPr/>
          <p:nvPr/>
        </p:nvSpPr>
        <p:spPr>
          <a:xfrm>
            <a:off x="850320" y="215784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Every change risks the entire system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3"/>
          <p:cNvSpPr/>
          <p:nvPr/>
        </p:nvSpPr>
        <p:spPr>
          <a:xfrm>
            <a:off x="411480" y="2441520"/>
            <a:ext cx="3819600" cy="5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14"/>
          <p:cNvSpPr/>
          <p:nvPr/>
        </p:nvSpPr>
        <p:spPr>
          <a:xfrm>
            <a:off x="548640" y="258768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15"/>
          <p:cNvSpPr/>
          <p:nvPr/>
        </p:nvSpPr>
        <p:spPr>
          <a:xfrm>
            <a:off x="850320" y="249624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One database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16"/>
          <p:cNvSpPr/>
          <p:nvPr/>
        </p:nvSpPr>
        <p:spPr>
          <a:xfrm>
            <a:off x="850320" y="275220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Schema changes block all teams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7"/>
          <p:cNvSpPr/>
          <p:nvPr/>
        </p:nvSpPr>
        <p:spPr>
          <a:xfrm>
            <a:off x="411480" y="3035880"/>
            <a:ext cx="3819600" cy="59184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8"/>
          <p:cNvSpPr/>
          <p:nvPr/>
        </p:nvSpPr>
        <p:spPr>
          <a:xfrm>
            <a:off x="548640" y="318204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19"/>
          <p:cNvSpPr/>
          <p:nvPr/>
        </p:nvSpPr>
        <p:spPr>
          <a:xfrm>
            <a:off x="850320" y="309060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Full redeploy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20"/>
          <p:cNvSpPr/>
          <p:nvPr/>
        </p:nvSpPr>
        <p:spPr>
          <a:xfrm>
            <a:off x="850320" y="334656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1 bug fix = entire application restarted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1"/>
          <p:cNvSpPr/>
          <p:nvPr/>
        </p:nvSpPr>
        <p:spPr>
          <a:xfrm>
            <a:off x="411480" y="3630240"/>
            <a:ext cx="3819600" cy="5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22"/>
          <p:cNvSpPr/>
          <p:nvPr/>
        </p:nvSpPr>
        <p:spPr>
          <a:xfrm>
            <a:off x="548640" y="377640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23"/>
          <p:cNvSpPr/>
          <p:nvPr/>
        </p:nvSpPr>
        <p:spPr>
          <a:xfrm>
            <a:off x="850320" y="368496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No fault boundary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24"/>
          <p:cNvSpPr/>
          <p:nvPr/>
        </p:nvSpPr>
        <p:spPr>
          <a:xfrm>
            <a:off x="850320" y="394092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One crash takes the whole site down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5"/>
          <p:cNvSpPr/>
          <p:nvPr/>
        </p:nvSpPr>
        <p:spPr>
          <a:xfrm>
            <a:off x="411480" y="4224600"/>
            <a:ext cx="3819600" cy="59184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26"/>
          <p:cNvSpPr/>
          <p:nvPr/>
        </p:nvSpPr>
        <p:spPr>
          <a:xfrm>
            <a:off x="548640" y="437076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27"/>
          <p:cNvSpPr/>
          <p:nvPr/>
        </p:nvSpPr>
        <p:spPr>
          <a:xfrm>
            <a:off x="850320" y="427932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Technology lock-in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28"/>
          <p:cNvSpPr/>
          <p:nvPr/>
        </p:nvSpPr>
        <p:spPr>
          <a:xfrm>
            <a:off x="850320" y="453528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Cannot mix Python and Node.js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29"/>
          <p:cNvSpPr/>
          <p:nvPr/>
        </p:nvSpPr>
        <p:spPr>
          <a:xfrm>
            <a:off x="4937760" y="1261800"/>
            <a:ext cx="3819600" cy="3700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30"/>
          <p:cNvSpPr/>
          <p:nvPr/>
        </p:nvSpPr>
        <p:spPr>
          <a:xfrm>
            <a:off x="4937760" y="1261800"/>
            <a:ext cx="381960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31"/>
          <p:cNvSpPr/>
          <p:nvPr/>
        </p:nvSpPr>
        <p:spPr>
          <a:xfrm>
            <a:off x="5102280" y="1353240"/>
            <a:ext cx="22834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Calibri"/>
              </a:rPr>
              <a:t>Microservices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34"/>
          <p:cNvSpPr/>
          <p:nvPr/>
        </p:nvSpPr>
        <p:spPr>
          <a:xfrm>
            <a:off x="4937760" y="1847160"/>
            <a:ext cx="3819600" cy="59184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35"/>
          <p:cNvSpPr/>
          <p:nvPr/>
        </p:nvSpPr>
        <p:spPr>
          <a:xfrm>
            <a:off x="5074920" y="199332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36"/>
          <p:cNvSpPr/>
          <p:nvPr/>
        </p:nvSpPr>
        <p:spPr>
          <a:xfrm>
            <a:off x="5376600" y="190188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Independent scaling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37"/>
          <p:cNvSpPr/>
          <p:nvPr/>
        </p:nvSpPr>
        <p:spPr>
          <a:xfrm>
            <a:off x="5376600" y="215784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Product scales without touching User service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38"/>
          <p:cNvSpPr/>
          <p:nvPr/>
        </p:nvSpPr>
        <p:spPr>
          <a:xfrm>
            <a:off x="4937760" y="2441520"/>
            <a:ext cx="3819600" cy="5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39"/>
          <p:cNvSpPr/>
          <p:nvPr/>
        </p:nvSpPr>
        <p:spPr>
          <a:xfrm>
            <a:off x="5074920" y="258768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40"/>
          <p:cNvSpPr/>
          <p:nvPr/>
        </p:nvSpPr>
        <p:spPr>
          <a:xfrm>
            <a:off x="5376600" y="249624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Fault isolation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41"/>
          <p:cNvSpPr/>
          <p:nvPr/>
        </p:nvSpPr>
        <p:spPr>
          <a:xfrm>
            <a:off x="5376600" y="275220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Order crash does not affect the site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42"/>
          <p:cNvSpPr/>
          <p:nvPr/>
        </p:nvSpPr>
        <p:spPr>
          <a:xfrm>
            <a:off x="4937760" y="3035880"/>
            <a:ext cx="3819600" cy="59184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43"/>
          <p:cNvSpPr/>
          <p:nvPr/>
        </p:nvSpPr>
        <p:spPr>
          <a:xfrm>
            <a:off x="5074920" y="318204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44"/>
          <p:cNvSpPr/>
          <p:nvPr/>
        </p:nvSpPr>
        <p:spPr>
          <a:xfrm>
            <a:off x="5376600" y="309060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Continuous delivery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45"/>
          <p:cNvSpPr/>
          <p:nvPr/>
        </p:nvSpPr>
        <p:spPr>
          <a:xfrm>
            <a:off x="5376600" y="334656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Deploy one service any time, safely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46"/>
          <p:cNvSpPr/>
          <p:nvPr/>
        </p:nvSpPr>
        <p:spPr>
          <a:xfrm>
            <a:off x="4937760" y="3630240"/>
            <a:ext cx="3819600" cy="5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47"/>
          <p:cNvSpPr/>
          <p:nvPr/>
        </p:nvSpPr>
        <p:spPr>
          <a:xfrm>
            <a:off x="5074920" y="377640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48"/>
          <p:cNvSpPr/>
          <p:nvPr/>
        </p:nvSpPr>
        <p:spPr>
          <a:xfrm>
            <a:off x="5376600" y="368496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Tech flexibility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49"/>
          <p:cNvSpPr/>
          <p:nvPr/>
        </p:nvSpPr>
        <p:spPr>
          <a:xfrm>
            <a:off x="5376600" y="394092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Python FastAPI + Node.js coexisting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50"/>
          <p:cNvSpPr/>
          <p:nvPr/>
        </p:nvSpPr>
        <p:spPr>
          <a:xfrm>
            <a:off x="4937760" y="4224600"/>
            <a:ext cx="3819600" cy="59184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51"/>
          <p:cNvSpPr/>
          <p:nvPr/>
        </p:nvSpPr>
        <p:spPr>
          <a:xfrm>
            <a:off x="5074920" y="4370760"/>
            <a:ext cx="2534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52"/>
          <p:cNvSpPr/>
          <p:nvPr/>
        </p:nvSpPr>
        <p:spPr>
          <a:xfrm>
            <a:off x="5376600" y="4279320"/>
            <a:ext cx="3197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Team autonomy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53"/>
          <p:cNvSpPr/>
          <p:nvPr/>
        </p:nvSpPr>
        <p:spPr>
          <a:xfrm>
            <a:off x="5376600" y="4535280"/>
            <a:ext cx="3197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Each team owns and ships their domain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54"/>
          <p:cNvSpPr/>
          <p:nvPr/>
        </p:nvSpPr>
        <p:spPr>
          <a:xfrm>
            <a:off x="4334400" y="2926080"/>
            <a:ext cx="437040" cy="4370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55"/>
          <p:cNvSpPr/>
          <p:nvPr/>
        </p:nvSpPr>
        <p:spPr>
          <a:xfrm>
            <a:off x="4270320" y="2926080"/>
            <a:ext cx="5828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891b2"/>
                </a:solidFill>
                <a:latin typeface="Calibri"/>
                <a:ea typeface="Calibri"/>
              </a:rPr>
              <a:t>WEEK 3  ·  CONTAINERISATION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Docker &amp; Compose Orchestration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4"/>
          <p:cNvSpPr/>
          <p:nvPr/>
        </p:nvSpPr>
        <p:spPr>
          <a:xfrm>
            <a:off x="502920" y="1207080"/>
            <a:ext cx="41122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Multi-Stage Builds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5"/>
          <p:cNvSpPr/>
          <p:nvPr/>
        </p:nvSpPr>
        <p:spPr>
          <a:xfrm>
            <a:off x="502920" y="1645920"/>
            <a:ext cx="4112280" cy="7837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Shape 6"/>
          <p:cNvSpPr/>
          <p:nvPr/>
        </p:nvSpPr>
        <p:spPr>
          <a:xfrm>
            <a:off x="502920" y="1647000"/>
            <a:ext cx="43200" cy="781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7"/>
          <p:cNvSpPr/>
          <p:nvPr/>
        </p:nvSpPr>
        <p:spPr>
          <a:xfrm>
            <a:off x="685800" y="1755720"/>
            <a:ext cx="2283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Stage 1  ·  Builder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8"/>
          <p:cNvSpPr/>
          <p:nvPr/>
        </p:nvSpPr>
        <p:spPr>
          <a:xfrm>
            <a:off x="685800" y="2030040"/>
            <a:ext cx="37281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Full runtime + all dependencies + compile step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9"/>
          <p:cNvSpPr/>
          <p:nvPr/>
        </p:nvSpPr>
        <p:spPr>
          <a:xfrm>
            <a:off x="502920" y="2541960"/>
            <a:ext cx="4112280" cy="7837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Shape 10"/>
          <p:cNvSpPr/>
          <p:nvPr/>
        </p:nvSpPr>
        <p:spPr>
          <a:xfrm>
            <a:off x="502920" y="2543040"/>
            <a:ext cx="43200" cy="78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11"/>
          <p:cNvSpPr/>
          <p:nvPr/>
        </p:nvSpPr>
        <p:spPr>
          <a:xfrm>
            <a:off x="685800" y="2651760"/>
            <a:ext cx="2283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Stage 2  ·  Runtime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12"/>
          <p:cNvSpPr/>
          <p:nvPr/>
        </p:nvSpPr>
        <p:spPr>
          <a:xfrm>
            <a:off x="685800" y="2926080"/>
            <a:ext cx="37281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Copy /dist only → alpine base → final image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13"/>
          <p:cNvSpPr/>
          <p:nvPr/>
        </p:nvSpPr>
        <p:spPr>
          <a:xfrm>
            <a:off x="502920" y="3474720"/>
            <a:ext cx="4112280" cy="591840"/>
          </a:xfrm>
          <a:prstGeom prst="rect">
            <a:avLst/>
          </a:prstGeom>
          <a:solidFill>
            <a:srgbClr val="0d1e3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14"/>
          <p:cNvSpPr/>
          <p:nvPr/>
        </p:nvSpPr>
        <p:spPr>
          <a:xfrm>
            <a:off x="685800" y="3566160"/>
            <a:ext cx="8204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Result: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15"/>
          <p:cNvSpPr/>
          <p:nvPr/>
        </p:nvSpPr>
        <p:spPr>
          <a:xfrm>
            <a:off x="1536120" y="3566160"/>
            <a:ext cx="29235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59669"/>
                </a:solidFill>
                <a:latin typeface="Calibri"/>
                <a:ea typeface="Calibri"/>
              </a:rPr>
              <a:t>450 MB  →  185 MB  (59% reduction)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6"/>
          <p:cNvSpPr/>
          <p:nvPr/>
        </p:nvSpPr>
        <p:spPr>
          <a:xfrm>
            <a:off x="685800" y="3813120"/>
            <a:ext cx="37465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Faster pulls  ·  fewer CVEs  ·  smaller attack surface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17"/>
          <p:cNvSpPr/>
          <p:nvPr/>
        </p:nvSpPr>
        <p:spPr>
          <a:xfrm>
            <a:off x="4800600" y="1207080"/>
            <a:ext cx="4020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Network Segmentation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18"/>
          <p:cNvSpPr/>
          <p:nvPr/>
        </p:nvSpPr>
        <p:spPr>
          <a:xfrm>
            <a:off x="4800600" y="1645920"/>
            <a:ext cx="4020840" cy="674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19"/>
          <p:cNvSpPr/>
          <p:nvPr/>
        </p:nvSpPr>
        <p:spPr>
          <a:xfrm>
            <a:off x="4800600" y="1647000"/>
            <a:ext cx="43200" cy="672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20"/>
          <p:cNvSpPr/>
          <p:nvPr/>
        </p:nvSpPr>
        <p:spPr>
          <a:xfrm>
            <a:off x="4983480" y="171900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frontend-net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21"/>
          <p:cNvSpPr/>
          <p:nvPr/>
        </p:nvSpPr>
        <p:spPr>
          <a:xfrm>
            <a:off x="4983480" y="1974960"/>
            <a:ext cx="36550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alibri"/>
                <a:ea typeface="Calibri"/>
              </a:rPr>
              <a:t>External access permitted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22"/>
          <p:cNvSpPr/>
          <p:nvPr/>
        </p:nvSpPr>
        <p:spPr>
          <a:xfrm>
            <a:off x="4800600" y="2532960"/>
            <a:ext cx="4020840" cy="674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23"/>
          <p:cNvSpPr/>
          <p:nvPr/>
        </p:nvSpPr>
        <p:spPr>
          <a:xfrm>
            <a:off x="4800600" y="2532960"/>
            <a:ext cx="43200" cy="672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24"/>
          <p:cNvSpPr/>
          <p:nvPr/>
        </p:nvSpPr>
        <p:spPr>
          <a:xfrm>
            <a:off x="4983480" y="260604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backend-net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25"/>
          <p:cNvSpPr/>
          <p:nvPr/>
        </p:nvSpPr>
        <p:spPr>
          <a:xfrm>
            <a:off x="4983480" y="2880360"/>
            <a:ext cx="36550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c3aed"/>
                </a:solidFill>
                <a:latin typeface="Calibri"/>
                <a:ea typeface="Calibri"/>
              </a:rPr>
              <a:t>Internal only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26"/>
          <p:cNvSpPr/>
          <p:nvPr/>
        </p:nvSpPr>
        <p:spPr>
          <a:xfrm>
            <a:off x="4800600" y="3429000"/>
            <a:ext cx="4020840" cy="6742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27"/>
          <p:cNvSpPr/>
          <p:nvPr/>
        </p:nvSpPr>
        <p:spPr>
          <a:xfrm>
            <a:off x="4800600" y="3429000"/>
            <a:ext cx="43200" cy="672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28"/>
          <p:cNvSpPr/>
          <p:nvPr/>
        </p:nvSpPr>
        <p:spPr>
          <a:xfrm>
            <a:off x="4983480" y="3493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database-net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29"/>
          <p:cNvSpPr/>
          <p:nvPr/>
        </p:nvSpPr>
        <p:spPr>
          <a:xfrm>
            <a:off x="4983480" y="3746520"/>
            <a:ext cx="36550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97706"/>
                </a:solidFill>
                <a:latin typeface="Calibri"/>
                <a:ea typeface="Calibri"/>
              </a:rPr>
              <a:t>internal: true  —  no egress at all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30"/>
          <p:cNvSpPr/>
          <p:nvPr/>
        </p:nvSpPr>
        <p:spPr>
          <a:xfrm>
            <a:off x="530280" y="4160520"/>
            <a:ext cx="402084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Compose Essentials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Shape 31"/>
          <p:cNvSpPr/>
          <p:nvPr/>
        </p:nvSpPr>
        <p:spPr>
          <a:xfrm>
            <a:off x="4846320" y="457200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32"/>
          <p:cNvSpPr/>
          <p:nvPr/>
        </p:nvSpPr>
        <p:spPr>
          <a:xfrm>
            <a:off x="5029200" y="4453200"/>
            <a:ext cx="38563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depends_on condition: service_healthy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33"/>
          <p:cNvSpPr/>
          <p:nvPr/>
        </p:nvSpPr>
        <p:spPr>
          <a:xfrm>
            <a:off x="502920" y="484632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34"/>
          <p:cNvSpPr/>
          <p:nvPr/>
        </p:nvSpPr>
        <p:spPr>
          <a:xfrm>
            <a:off x="685800" y="4727520"/>
            <a:ext cx="38563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healthcheck: interval 30s · retries 3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35"/>
          <p:cNvSpPr/>
          <p:nvPr/>
        </p:nvSpPr>
        <p:spPr>
          <a:xfrm>
            <a:off x="4846320" y="4846320"/>
            <a:ext cx="61560" cy="615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36"/>
          <p:cNvSpPr/>
          <p:nvPr/>
        </p:nvSpPr>
        <p:spPr>
          <a:xfrm>
            <a:off x="5029200" y="4727520"/>
            <a:ext cx="38563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restart: unless-stopped on all services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38"/>
          <p:cNvSpPr/>
          <p:nvPr/>
        </p:nvSpPr>
        <p:spPr>
          <a:xfrm>
            <a:off x="685800" y="4453200"/>
            <a:ext cx="38563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env_file: .env — no secrets in compose.yml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60"/>
          <p:cNvSpPr/>
          <p:nvPr/>
        </p:nvSpPr>
        <p:spPr>
          <a:xfrm>
            <a:off x="502920" y="4572000"/>
            <a:ext cx="61920" cy="61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0" bIns="3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f87171"/>
                </a:solidFill>
                <a:latin typeface="Calibri"/>
                <a:ea typeface="Calibri"/>
              </a:rPr>
              <a:t>WEEK 3  ·  SECURITY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Container Security &amp; Hardening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4"/>
          <p:cNvSpPr/>
          <p:nvPr/>
        </p:nvSpPr>
        <p:spPr>
          <a:xfrm>
            <a:off x="502920" y="1207080"/>
            <a:ext cx="8135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Defence in depth — attack surface reduced at the image, runtime, network, and secrets layer.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5"/>
          <p:cNvSpPr/>
          <p:nvPr/>
        </p:nvSpPr>
        <p:spPr>
          <a:xfrm>
            <a:off x="384120" y="1664280"/>
            <a:ext cx="2703960" cy="15703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6"/>
          <p:cNvSpPr/>
          <p:nvPr/>
        </p:nvSpPr>
        <p:spPr>
          <a:xfrm>
            <a:off x="384120" y="1664280"/>
            <a:ext cx="36000" cy="157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7"/>
          <p:cNvSpPr/>
          <p:nvPr/>
        </p:nvSpPr>
        <p:spPr>
          <a:xfrm>
            <a:off x="567000" y="1792080"/>
            <a:ext cx="2420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Non-Root Users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Shape 8"/>
          <p:cNvSpPr/>
          <p:nvPr/>
        </p:nvSpPr>
        <p:spPr>
          <a:xfrm>
            <a:off x="567000" y="2157840"/>
            <a:ext cx="232920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 9"/>
          <p:cNvSpPr/>
          <p:nvPr/>
        </p:nvSpPr>
        <p:spPr>
          <a:xfrm>
            <a:off x="567000" y="2267640"/>
            <a:ext cx="242064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RUN addgroup + adduser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USER appuser in every Dockerfile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Eliminates host privilege escalation path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0"/>
          <p:cNvSpPr/>
          <p:nvPr/>
        </p:nvSpPr>
        <p:spPr>
          <a:xfrm>
            <a:off x="3237120" y="1664280"/>
            <a:ext cx="2703960" cy="15703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11"/>
          <p:cNvSpPr/>
          <p:nvPr/>
        </p:nvSpPr>
        <p:spPr>
          <a:xfrm>
            <a:off x="3237120" y="1664280"/>
            <a:ext cx="36000" cy="157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12"/>
          <p:cNvSpPr/>
          <p:nvPr/>
        </p:nvSpPr>
        <p:spPr>
          <a:xfrm>
            <a:off x="3420000" y="1792080"/>
            <a:ext cx="2420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Minimal Base Images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13"/>
          <p:cNvSpPr/>
          <p:nvPr/>
        </p:nvSpPr>
        <p:spPr>
          <a:xfrm>
            <a:off x="3420000" y="2157840"/>
            <a:ext cx="232920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14"/>
          <p:cNvSpPr/>
          <p:nvPr/>
        </p:nvSpPr>
        <p:spPr>
          <a:xfrm>
            <a:off x="3420000" y="2267640"/>
            <a:ext cx="242064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node:20-alpine vs node:20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Alpine = 5 MB vs 900 MB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Fewer packages = fewer CVEs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Shape 15"/>
          <p:cNvSpPr/>
          <p:nvPr/>
        </p:nvSpPr>
        <p:spPr>
          <a:xfrm>
            <a:off x="6089760" y="1664280"/>
            <a:ext cx="2703960" cy="15703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hape 16"/>
          <p:cNvSpPr/>
          <p:nvPr/>
        </p:nvSpPr>
        <p:spPr>
          <a:xfrm>
            <a:off x="6089760" y="1664280"/>
            <a:ext cx="36000" cy="1570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17"/>
          <p:cNvSpPr/>
          <p:nvPr/>
        </p:nvSpPr>
        <p:spPr>
          <a:xfrm>
            <a:off x="6272640" y="1792080"/>
            <a:ext cx="2420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Multi-Stage Builds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Shape 18"/>
          <p:cNvSpPr/>
          <p:nvPr/>
        </p:nvSpPr>
        <p:spPr>
          <a:xfrm>
            <a:off x="6272640" y="2157840"/>
            <a:ext cx="232920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19"/>
          <p:cNvSpPr/>
          <p:nvPr/>
        </p:nvSpPr>
        <p:spPr>
          <a:xfrm>
            <a:off x="6272640" y="2267640"/>
            <a:ext cx="242064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Compilers never reach production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Only /dist artifacts copied forward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 build-tool attack surface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20"/>
          <p:cNvSpPr/>
          <p:nvPr/>
        </p:nvSpPr>
        <p:spPr>
          <a:xfrm>
            <a:off x="384120" y="3383280"/>
            <a:ext cx="2703960" cy="15703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Shape 21"/>
          <p:cNvSpPr/>
          <p:nvPr/>
        </p:nvSpPr>
        <p:spPr>
          <a:xfrm>
            <a:off x="384120" y="3383280"/>
            <a:ext cx="36000" cy="1570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22"/>
          <p:cNvSpPr/>
          <p:nvPr/>
        </p:nvSpPr>
        <p:spPr>
          <a:xfrm>
            <a:off x="567000" y="3511440"/>
            <a:ext cx="2420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Trivy CVE Scanning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23"/>
          <p:cNvSpPr/>
          <p:nvPr/>
        </p:nvSpPr>
        <p:spPr>
          <a:xfrm>
            <a:off x="567000" y="3877200"/>
            <a:ext cx="232920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24"/>
          <p:cNvSpPr/>
          <p:nvPr/>
        </p:nvSpPr>
        <p:spPr>
          <a:xfrm>
            <a:off x="567000" y="3986640"/>
            <a:ext cx="242064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Scans OS + dependencies + pip/npm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Pipeline gates on CRITICAL severity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Severity: CRITICAL &gt; HIGH &gt; MEDIUM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Shape 25"/>
          <p:cNvSpPr/>
          <p:nvPr/>
        </p:nvSpPr>
        <p:spPr>
          <a:xfrm>
            <a:off x="3237120" y="3383280"/>
            <a:ext cx="2703960" cy="15703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Shape 26"/>
          <p:cNvSpPr/>
          <p:nvPr/>
        </p:nvSpPr>
        <p:spPr>
          <a:xfrm>
            <a:off x="3237120" y="3383280"/>
            <a:ext cx="36000" cy="1570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27"/>
          <p:cNvSpPr/>
          <p:nvPr/>
        </p:nvSpPr>
        <p:spPr>
          <a:xfrm>
            <a:off x="3420000" y="3511440"/>
            <a:ext cx="2420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Resource Limits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Shape 28"/>
          <p:cNvSpPr/>
          <p:nvPr/>
        </p:nvSpPr>
        <p:spPr>
          <a:xfrm>
            <a:off x="3420000" y="3877200"/>
            <a:ext cx="232920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Text 29"/>
          <p:cNvSpPr/>
          <p:nvPr/>
        </p:nvSpPr>
        <p:spPr>
          <a:xfrm>
            <a:off x="3420000" y="3986640"/>
            <a:ext cx="242064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memory: 512M  cpus: 1.0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Prevents container starving the host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OOM kill contained to one service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Shape 30"/>
          <p:cNvSpPr/>
          <p:nvPr/>
        </p:nvSpPr>
        <p:spPr>
          <a:xfrm>
            <a:off x="6089760" y="3383280"/>
            <a:ext cx="2703960" cy="15703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31"/>
          <p:cNvSpPr/>
          <p:nvPr/>
        </p:nvSpPr>
        <p:spPr>
          <a:xfrm>
            <a:off x="6089760" y="3383280"/>
            <a:ext cx="36000" cy="1570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32"/>
          <p:cNvSpPr/>
          <p:nvPr/>
        </p:nvSpPr>
        <p:spPr>
          <a:xfrm>
            <a:off x="6272640" y="3511440"/>
            <a:ext cx="2420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Secrets Management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Shape 33"/>
          <p:cNvSpPr/>
          <p:nvPr/>
        </p:nvSpPr>
        <p:spPr>
          <a:xfrm>
            <a:off x="6272640" y="3877200"/>
            <a:ext cx="232920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34"/>
          <p:cNvSpPr/>
          <p:nvPr/>
        </p:nvSpPr>
        <p:spPr>
          <a:xfrm>
            <a:off x="6272640" y="3986640"/>
            <a:ext cx="242064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 credentials in Dockerfile layers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Env vars injected at runtime only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.env excluded from version control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1"/>
          <p:cNvSpPr/>
          <p:nvPr/>
        </p:nvSpPr>
        <p:spPr>
          <a:xfrm>
            <a:off x="45720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64748b"/>
                </a:solidFill>
                <a:latin typeface="Calibri"/>
                <a:ea typeface="Calibri"/>
              </a:rPr>
              <a:t>WEEK 3  ·  OBSERVABILITY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2"/>
          <p:cNvSpPr/>
          <p:nvPr/>
        </p:nvSpPr>
        <p:spPr>
          <a:xfrm>
            <a:off x="45720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Monitoring &amp; Metrics Stack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3"/>
          <p:cNvSpPr/>
          <p:nvPr/>
        </p:nvSpPr>
        <p:spPr>
          <a:xfrm>
            <a:off x="457200" y="1097280"/>
            <a:ext cx="822708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4"/>
          <p:cNvSpPr/>
          <p:nvPr/>
        </p:nvSpPr>
        <p:spPr>
          <a:xfrm>
            <a:off x="384120" y="1261800"/>
            <a:ext cx="1917720" cy="129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5"/>
          <p:cNvSpPr/>
          <p:nvPr/>
        </p:nvSpPr>
        <p:spPr>
          <a:xfrm>
            <a:off x="384120" y="1261800"/>
            <a:ext cx="191772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6"/>
          <p:cNvSpPr/>
          <p:nvPr/>
        </p:nvSpPr>
        <p:spPr>
          <a:xfrm>
            <a:off x="384120" y="1353240"/>
            <a:ext cx="19177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Application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7"/>
          <p:cNvSpPr/>
          <p:nvPr/>
        </p:nvSpPr>
        <p:spPr>
          <a:xfrm>
            <a:off x="384120" y="1664280"/>
            <a:ext cx="19177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/metrics endpoint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8"/>
          <p:cNvSpPr/>
          <p:nvPr/>
        </p:nvSpPr>
        <p:spPr>
          <a:xfrm>
            <a:off x="567000" y="1920240"/>
            <a:ext cx="155196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9"/>
          <p:cNvSpPr/>
          <p:nvPr/>
        </p:nvSpPr>
        <p:spPr>
          <a:xfrm>
            <a:off x="384120" y="1974960"/>
            <a:ext cx="191772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alibri"/>
                <a:ea typeface="Calibri"/>
              </a:rPr>
              <a:t>prometheus-fastapi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alibri"/>
                <a:ea typeface="Calibri"/>
              </a:rPr>
              <a:t>-instrumentator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10"/>
          <p:cNvSpPr/>
          <p:nvPr/>
        </p:nvSpPr>
        <p:spPr>
          <a:xfrm>
            <a:off x="2322720" y="1774080"/>
            <a:ext cx="180360" cy="18036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1"/>
          <p:cNvSpPr/>
          <p:nvPr/>
        </p:nvSpPr>
        <p:spPr>
          <a:xfrm>
            <a:off x="2532960" y="1261800"/>
            <a:ext cx="1917720" cy="129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4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Shape 12"/>
          <p:cNvSpPr/>
          <p:nvPr/>
        </p:nvSpPr>
        <p:spPr>
          <a:xfrm>
            <a:off x="2532960" y="1261800"/>
            <a:ext cx="1917720" cy="36000"/>
          </a:xfrm>
          <a:prstGeom prst="rect">
            <a:avLst/>
          </a:prstGeom>
          <a:solidFill>
            <a:srgbClr val="e2461b"/>
          </a:solidFill>
          <a:ln w="12700">
            <a:solidFill>
              <a:srgbClr val="e24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13"/>
          <p:cNvSpPr/>
          <p:nvPr/>
        </p:nvSpPr>
        <p:spPr>
          <a:xfrm>
            <a:off x="2532960" y="1353240"/>
            <a:ext cx="19177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Prometheus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14"/>
          <p:cNvSpPr/>
          <p:nvPr/>
        </p:nvSpPr>
        <p:spPr>
          <a:xfrm>
            <a:off x="2532960" y="1664280"/>
            <a:ext cx="19177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Scrapes every 15 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15"/>
          <p:cNvSpPr/>
          <p:nvPr/>
        </p:nvSpPr>
        <p:spPr>
          <a:xfrm>
            <a:off x="2715840" y="1920240"/>
            <a:ext cx="155196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 16"/>
          <p:cNvSpPr/>
          <p:nvPr/>
        </p:nvSpPr>
        <p:spPr>
          <a:xfrm>
            <a:off x="2532960" y="1974960"/>
            <a:ext cx="191772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2461b"/>
                </a:solidFill>
                <a:latin typeface="Calibri"/>
                <a:ea typeface="Calibri"/>
              </a:rPr>
              <a:t>Time-series storage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2461b"/>
                </a:solidFill>
                <a:latin typeface="Calibri"/>
                <a:ea typeface="Calibri"/>
              </a:rPr>
              <a:t>(TSDB on disk)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7"/>
          <p:cNvSpPr/>
          <p:nvPr/>
        </p:nvSpPr>
        <p:spPr>
          <a:xfrm>
            <a:off x="4471560" y="1774080"/>
            <a:ext cx="180360" cy="18036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8"/>
          <p:cNvSpPr/>
          <p:nvPr/>
        </p:nvSpPr>
        <p:spPr>
          <a:xfrm>
            <a:off x="4681800" y="1261800"/>
            <a:ext cx="1917720" cy="129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19"/>
          <p:cNvSpPr/>
          <p:nvPr/>
        </p:nvSpPr>
        <p:spPr>
          <a:xfrm>
            <a:off x="4681800" y="1261800"/>
            <a:ext cx="191772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20"/>
          <p:cNvSpPr/>
          <p:nvPr/>
        </p:nvSpPr>
        <p:spPr>
          <a:xfrm>
            <a:off x="4681800" y="1353240"/>
            <a:ext cx="19177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cAdvisor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21"/>
          <p:cNvSpPr/>
          <p:nvPr/>
        </p:nvSpPr>
        <p:spPr>
          <a:xfrm>
            <a:off x="4681800" y="1664280"/>
            <a:ext cx="19177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Container metrics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2"/>
          <p:cNvSpPr/>
          <p:nvPr/>
        </p:nvSpPr>
        <p:spPr>
          <a:xfrm>
            <a:off x="4864680" y="1920240"/>
            <a:ext cx="155196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23"/>
          <p:cNvSpPr/>
          <p:nvPr/>
        </p:nvSpPr>
        <p:spPr>
          <a:xfrm>
            <a:off x="4681800" y="1974960"/>
            <a:ext cx="191772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CPU · RAM · Net I/O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per container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24"/>
          <p:cNvSpPr/>
          <p:nvPr/>
        </p:nvSpPr>
        <p:spPr>
          <a:xfrm>
            <a:off x="6620400" y="1774080"/>
            <a:ext cx="180360" cy="18036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5"/>
          <p:cNvSpPr/>
          <p:nvPr/>
        </p:nvSpPr>
        <p:spPr>
          <a:xfrm>
            <a:off x="6830640" y="1261800"/>
            <a:ext cx="1917720" cy="129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Shape 26"/>
          <p:cNvSpPr/>
          <p:nvPr/>
        </p:nvSpPr>
        <p:spPr>
          <a:xfrm>
            <a:off x="6830640" y="1261800"/>
            <a:ext cx="1917720" cy="3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27"/>
          <p:cNvSpPr/>
          <p:nvPr/>
        </p:nvSpPr>
        <p:spPr>
          <a:xfrm>
            <a:off x="6830640" y="1353240"/>
            <a:ext cx="19177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Grafana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28"/>
          <p:cNvSpPr/>
          <p:nvPr/>
        </p:nvSpPr>
        <p:spPr>
          <a:xfrm>
            <a:off x="6830640" y="1664280"/>
            <a:ext cx="19177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Visualisation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9"/>
          <p:cNvSpPr/>
          <p:nvPr/>
        </p:nvSpPr>
        <p:spPr>
          <a:xfrm>
            <a:off x="7013520" y="1920240"/>
            <a:ext cx="155196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30"/>
          <p:cNvSpPr/>
          <p:nvPr/>
        </p:nvSpPr>
        <p:spPr>
          <a:xfrm>
            <a:off x="6830640" y="1974960"/>
            <a:ext cx="191772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97706"/>
                </a:solidFill>
                <a:latin typeface="Calibri"/>
                <a:ea typeface="Calibri"/>
              </a:rPr>
              <a:t>Dashboards · Graphs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97706"/>
                </a:solidFill>
                <a:latin typeface="Calibri"/>
                <a:ea typeface="Calibri"/>
              </a:rPr>
              <a:t>Threshold alerts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31"/>
          <p:cNvSpPr/>
          <p:nvPr/>
        </p:nvSpPr>
        <p:spPr>
          <a:xfrm>
            <a:off x="384120" y="2697480"/>
            <a:ext cx="8373240" cy="52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32"/>
          <p:cNvSpPr/>
          <p:nvPr/>
        </p:nvSpPr>
        <p:spPr>
          <a:xfrm>
            <a:off x="567000" y="2834640"/>
            <a:ext cx="10947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d97706"/>
                </a:solidFill>
                <a:latin typeface="Calibri"/>
                <a:ea typeface="Calibri"/>
              </a:rPr>
              <a:t>Key lesson: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33"/>
          <p:cNvSpPr/>
          <p:nvPr/>
        </p:nvSpPr>
        <p:spPr>
          <a:xfrm>
            <a:off x="1691640" y="2797920"/>
            <a:ext cx="685548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FastAPI does not expose /metrics by default. Installing prometheus-fastapi-instrumentator then adding it to requirements.txt was a hard lesson — container state must come from code, not manual installs.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 34"/>
          <p:cNvSpPr/>
          <p:nvPr/>
        </p:nvSpPr>
        <p:spPr>
          <a:xfrm>
            <a:off x="384120" y="3429000"/>
            <a:ext cx="41122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Application Metrics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 35"/>
          <p:cNvSpPr/>
          <p:nvPr/>
        </p:nvSpPr>
        <p:spPr>
          <a:xfrm>
            <a:off x="4754880" y="3429000"/>
            <a:ext cx="40208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Infrastructure Metrics  (cAdvisor)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6"/>
          <p:cNvSpPr/>
          <p:nvPr/>
        </p:nvSpPr>
        <p:spPr>
          <a:xfrm>
            <a:off x="384120" y="3822120"/>
            <a:ext cx="4203720" cy="3999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37"/>
          <p:cNvSpPr/>
          <p:nvPr/>
        </p:nvSpPr>
        <p:spPr>
          <a:xfrm>
            <a:off x="530280" y="3877200"/>
            <a:ext cx="14605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Request Count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 38"/>
          <p:cNvSpPr/>
          <p:nvPr/>
        </p:nvSpPr>
        <p:spPr>
          <a:xfrm>
            <a:off x="2030040" y="3877200"/>
            <a:ext cx="2466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Traffic volume by service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39"/>
          <p:cNvSpPr/>
          <p:nvPr/>
        </p:nvSpPr>
        <p:spPr>
          <a:xfrm>
            <a:off x="384120" y="4242960"/>
            <a:ext cx="4203720" cy="3999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40"/>
          <p:cNvSpPr/>
          <p:nvPr/>
        </p:nvSpPr>
        <p:spPr>
          <a:xfrm>
            <a:off x="530280" y="4297680"/>
            <a:ext cx="14605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Request Latency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41"/>
          <p:cNvSpPr/>
          <p:nvPr/>
        </p:nvSpPr>
        <p:spPr>
          <a:xfrm>
            <a:off x="2030040" y="4297680"/>
            <a:ext cx="2466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P50 / P95 / P99 per endpoint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42"/>
          <p:cNvSpPr/>
          <p:nvPr/>
        </p:nvSpPr>
        <p:spPr>
          <a:xfrm>
            <a:off x="384120" y="4663440"/>
            <a:ext cx="4203720" cy="3999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43"/>
          <p:cNvSpPr/>
          <p:nvPr/>
        </p:nvSpPr>
        <p:spPr>
          <a:xfrm>
            <a:off x="530280" y="4718160"/>
            <a:ext cx="14605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Error Rate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44"/>
          <p:cNvSpPr/>
          <p:nvPr/>
        </p:nvSpPr>
        <p:spPr>
          <a:xfrm>
            <a:off x="2030040" y="4718160"/>
            <a:ext cx="2466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4xx + 5xx per rolling window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45"/>
          <p:cNvSpPr/>
          <p:nvPr/>
        </p:nvSpPr>
        <p:spPr>
          <a:xfrm>
            <a:off x="4754880" y="3822120"/>
            <a:ext cx="4002480" cy="3999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46"/>
          <p:cNvSpPr/>
          <p:nvPr/>
        </p:nvSpPr>
        <p:spPr>
          <a:xfrm>
            <a:off x="4901040" y="3877200"/>
            <a:ext cx="14605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CPU Usage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47"/>
          <p:cNvSpPr/>
          <p:nvPr/>
        </p:nvSpPr>
        <p:spPr>
          <a:xfrm>
            <a:off x="6400800" y="3877200"/>
            <a:ext cx="22377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Per-container % utilisation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48"/>
          <p:cNvSpPr/>
          <p:nvPr/>
        </p:nvSpPr>
        <p:spPr>
          <a:xfrm>
            <a:off x="4754880" y="4242960"/>
            <a:ext cx="4002480" cy="3999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49"/>
          <p:cNvSpPr/>
          <p:nvPr/>
        </p:nvSpPr>
        <p:spPr>
          <a:xfrm>
            <a:off x="4901040" y="4297680"/>
            <a:ext cx="14605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Memory RSS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50"/>
          <p:cNvSpPr/>
          <p:nvPr/>
        </p:nvSpPr>
        <p:spPr>
          <a:xfrm>
            <a:off x="6400800" y="4297680"/>
            <a:ext cx="22377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OOM risk and leak detection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51"/>
          <p:cNvSpPr/>
          <p:nvPr/>
        </p:nvSpPr>
        <p:spPr>
          <a:xfrm>
            <a:off x="4754880" y="4663440"/>
            <a:ext cx="4002480" cy="3999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52"/>
          <p:cNvSpPr/>
          <p:nvPr/>
        </p:nvSpPr>
        <p:spPr>
          <a:xfrm>
            <a:off x="4901040" y="4718160"/>
            <a:ext cx="14605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Network I/O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53"/>
          <p:cNvSpPr/>
          <p:nvPr/>
        </p:nvSpPr>
        <p:spPr>
          <a:xfrm>
            <a:off x="6400800" y="4718160"/>
            <a:ext cx="22377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Bytes in/out per container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891b2"/>
                </a:solidFill>
                <a:latin typeface="Calibri"/>
                <a:ea typeface="Calibri"/>
              </a:rPr>
              <a:t>WEEK 3  ·  ENVIRONMENT STRATEGY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Dev vs Production Environments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Shape 3"/>
          <p:cNvSpPr/>
          <p:nvPr/>
        </p:nvSpPr>
        <p:spPr>
          <a:xfrm>
            <a:off x="384120" y="1097280"/>
            <a:ext cx="86227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Shape 4"/>
          <p:cNvSpPr/>
          <p:nvPr/>
        </p:nvSpPr>
        <p:spPr>
          <a:xfrm>
            <a:off x="384120" y="1261800"/>
            <a:ext cx="4240440" cy="37008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Shape 5"/>
          <p:cNvSpPr/>
          <p:nvPr/>
        </p:nvSpPr>
        <p:spPr>
          <a:xfrm>
            <a:off x="384120" y="1261800"/>
            <a:ext cx="4240440" cy="3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6"/>
          <p:cNvSpPr/>
          <p:nvPr/>
        </p:nvSpPr>
        <p:spPr>
          <a:xfrm>
            <a:off x="548640" y="1353240"/>
            <a:ext cx="29235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7706"/>
                </a:solidFill>
                <a:latin typeface="Consolas"/>
                <a:ea typeface="Consolas"/>
              </a:rPr>
              <a:t>docker-compose.dev.yml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Shape 9"/>
          <p:cNvSpPr/>
          <p:nvPr/>
        </p:nvSpPr>
        <p:spPr>
          <a:xfrm>
            <a:off x="548640" y="1700640"/>
            <a:ext cx="38836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10"/>
          <p:cNvSpPr/>
          <p:nvPr/>
        </p:nvSpPr>
        <p:spPr>
          <a:xfrm>
            <a:off x="548640" y="1828800"/>
            <a:ext cx="3911040" cy="45468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11"/>
          <p:cNvSpPr/>
          <p:nvPr/>
        </p:nvSpPr>
        <p:spPr>
          <a:xfrm>
            <a:off x="640080" y="192024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Source code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12"/>
          <p:cNvSpPr/>
          <p:nvPr/>
        </p:nvSpPr>
        <p:spPr>
          <a:xfrm>
            <a:off x="1920240" y="192024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Bind-mounted — live hot reload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Shape 13"/>
          <p:cNvSpPr/>
          <p:nvPr/>
        </p:nvSpPr>
        <p:spPr>
          <a:xfrm>
            <a:off x="548640" y="2331720"/>
            <a:ext cx="3911040" cy="45468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14"/>
          <p:cNvSpPr/>
          <p:nvPr/>
        </p:nvSpPr>
        <p:spPr>
          <a:xfrm>
            <a:off x="640080" y="242316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Logging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15"/>
          <p:cNvSpPr/>
          <p:nvPr/>
        </p:nvSpPr>
        <p:spPr>
          <a:xfrm>
            <a:off x="1920240" y="242316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DEBUG level — full stack traces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Shape 16"/>
          <p:cNvSpPr/>
          <p:nvPr/>
        </p:nvSpPr>
        <p:spPr>
          <a:xfrm>
            <a:off x="548640" y="2834640"/>
            <a:ext cx="3911040" cy="45468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17"/>
          <p:cNvSpPr/>
          <p:nvPr/>
        </p:nvSpPr>
        <p:spPr>
          <a:xfrm>
            <a:off x="640080" y="292608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Debug ports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18"/>
          <p:cNvSpPr/>
          <p:nvPr/>
        </p:nvSpPr>
        <p:spPr>
          <a:xfrm>
            <a:off x="1920240" y="292608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Node inspector 9229, pdb 5678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Shape 19"/>
          <p:cNvSpPr/>
          <p:nvPr/>
        </p:nvSpPr>
        <p:spPr>
          <a:xfrm>
            <a:off x="548640" y="3337560"/>
            <a:ext cx="3911040" cy="45468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20"/>
          <p:cNvSpPr/>
          <p:nvPr/>
        </p:nvSpPr>
        <p:spPr>
          <a:xfrm>
            <a:off x="640080" y="342900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Resource limits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21"/>
          <p:cNvSpPr/>
          <p:nvPr/>
        </p:nvSpPr>
        <p:spPr>
          <a:xfrm>
            <a:off x="1920240" y="342900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None — unrestricted host access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Shape 22"/>
          <p:cNvSpPr/>
          <p:nvPr/>
        </p:nvSpPr>
        <p:spPr>
          <a:xfrm>
            <a:off x="548640" y="3840480"/>
            <a:ext cx="3911040" cy="45468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23"/>
          <p:cNvSpPr/>
          <p:nvPr/>
        </p:nvSpPr>
        <p:spPr>
          <a:xfrm>
            <a:off x="640080" y="393192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Databases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24"/>
          <p:cNvSpPr/>
          <p:nvPr/>
        </p:nvSpPr>
        <p:spPr>
          <a:xfrm>
            <a:off x="1920240" y="393192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Pre-seeded with test fixtures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Shape 25"/>
          <p:cNvSpPr/>
          <p:nvPr/>
        </p:nvSpPr>
        <p:spPr>
          <a:xfrm>
            <a:off x="548640" y="4343400"/>
            <a:ext cx="3911040" cy="45468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26"/>
          <p:cNvSpPr/>
          <p:nvPr/>
        </p:nvSpPr>
        <p:spPr>
          <a:xfrm>
            <a:off x="640080" y="443484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Restart policy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27"/>
          <p:cNvSpPr/>
          <p:nvPr/>
        </p:nvSpPr>
        <p:spPr>
          <a:xfrm>
            <a:off x="1920240" y="443484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 — crashes are visible immediately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Shape 28"/>
          <p:cNvSpPr/>
          <p:nvPr/>
        </p:nvSpPr>
        <p:spPr>
          <a:xfrm>
            <a:off x="4800600" y="1261800"/>
            <a:ext cx="4224600" cy="37008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Shape 29"/>
          <p:cNvSpPr/>
          <p:nvPr/>
        </p:nvSpPr>
        <p:spPr>
          <a:xfrm>
            <a:off x="4800600" y="1261800"/>
            <a:ext cx="422460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30"/>
          <p:cNvSpPr/>
          <p:nvPr/>
        </p:nvSpPr>
        <p:spPr>
          <a:xfrm>
            <a:off x="4992480" y="1353240"/>
            <a:ext cx="29235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onsolas"/>
                <a:ea typeface="Consolas"/>
              </a:rPr>
              <a:t>docker-compose.prod.yml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Shape 33"/>
          <p:cNvSpPr/>
          <p:nvPr/>
        </p:nvSpPr>
        <p:spPr>
          <a:xfrm>
            <a:off x="4992480" y="1700640"/>
            <a:ext cx="38836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Shape 34"/>
          <p:cNvSpPr/>
          <p:nvPr/>
        </p:nvSpPr>
        <p:spPr>
          <a:xfrm>
            <a:off x="4992480" y="1828800"/>
            <a:ext cx="3911040" cy="45468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Text 35"/>
          <p:cNvSpPr/>
          <p:nvPr/>
        </p:nvSpPr>
        <p:spPr>
          <a:xfrm>
            <a:off x="5083920" y="192024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Image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36"/>
          <p:cNvSpPr/>
          <p:nvPr/>
        </p:nvSpPr>
        <p:spPr>
          <a:xfrm>
            <a:off x="6364080" y="192024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Multi-stage optimised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Shape 37"/>
          <p:cNvSpPr/>
          <p:nvPr/>
        </p:nvSpPr>
        <p:spPr>
          <a:xfrm>
            <a:off x="4992480" y="2331720"/>
            <a:ext cx="3911040" cy="45468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Text 38"/>
          <p:cNvSpPr/>
          <p:nvPr/>
        </p:nvSpPr>
        <p:spPr>
          <a:xfrm>
            <a:off x="5083920" y="242316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Logging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Text 39"/>
          <p:cNvSpPr/>
          <p:nvPr/>
        </p:nvSpPr>
        <p:spPr>
          <a:xfrm>
            <a:off x="6364080" y="242316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WARN / ERROR level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Shape 40"/>
          <p:cNvSpPr/>
          <p:nvPr/>
        </p:nvSpPr>
        <p:spPr>
          <a:xfrm>
            <a:off x="4992480" y="2834640"/>
            <a:ext cx="3911040" cy="45468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41"/>
          <p:cNvSpPr/>
          <p:nvPr/>
        </p:nvSpPr>
        <p:spPr>
          <a:xfrm>
            <a:off x="5083920" y="292608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User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Text 42"/>
          <p:cNvSpPr/>
          <p:nvPr/>
        </p:nvSpPr>
        <p:spPr>
          <a:xfrm>
            <a:off x="6364080" y="292608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Non-root  (appuser  UID 1001)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Shape 43"/>
          <p:cNvSpPr/>
          <p:nvPr/>
        </p:nvSpPr>
        <p:spPr>
          <a:xfrm>
            <a:off x="4992480" y="3337560"/>
            <a:ext cx="3911040" cy="45468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44"/>
          <p:cNvSpPr/>
          <p:nvPr/>
        </p:nvSpPr>
        <p:spPr>
          <a:xfrm>
            <a:off x="5083920" y="342900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Resource limits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 45"/>
          <p:cNvSpPr/>
          <p:nvPr/>
        </p:nvSpPr>
        <p:spPr>
          <a:xfrm>
            <a:off x="6364080" y="342900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memory: 512M  cpus: 1.0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Shape 46"/>
          <p:cNvSpPr/>
          <p:nvPr/>
        </p:nvSpPr>
        <p:spPr>
          <a:xfrm>
            <a:off x="4992480" y="3840480"/>
            <a:ext cx="3911040" cy="45468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Text 47"/>
          <p:cNvSpPr/>
          <p:nvPr/>
        </p:nvSpPr>
        <p:spPr>
          <a:xfrm>
            <a:off x="5083920" y="393192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Health checks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48"/>
          <p:cNvSpPr/>
          <p:nvPr/>
        </p:nvSpPr>
        <p:spPr>
          <a:xfrm>
            <a:off x="6364080" y="393192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Every 30 s · 3 retries · 5 s timeout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49"/>
          <p:cNvSpPr/>
          <p:nvPr/>
        </p:nvSpPr>
        <p:spPr>
          <a:xfrm>
            <a:off x="4992480" y="4343400"/>
            <a:ext cx="3911040" cy="45468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50"/>
          <p:cNvSpPr/>
          <p:nvPr/>
        </p:nvSpPr>
        <p:spPr>
          <a:xfrm>
            <a:off x="5083920" y="4434840"/>
            <a:ext cx="1231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Restart policy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Text 51"/>
          <p:cNvSpPr/>
          <p:nvPr/>
        </p:nvSpPr>
        <p:spPr>
          <a:xfrm>
            <a:off x="6364080" y="4434840"/>
            <a:ext cx="24206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unless-stopped — auto-recovery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Shape 0"/>
          <p:cNvSpPr/>
          <p:nvPr/>
        </p:nvSpPr>
        <p:spPr>
          <a:xfrm>
            <a:off x="0" y="0"/>
            <a:ext cx="3152160" cy="514116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Shape 1"/>
          <p:cNvSpPr/>
          <p:nvPr/>
        </p:nvSpPr>
        <p:spPr>
          <a:xfrm>
            <a:off x="0" y="0"/>
            <a:ext cx="36000" cy="5141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2"/>
          <p:cNvSpPr/>
          <p:nvPr/>
        </p:nvSpPr>
        <p:spPr>
          <a:xfrm>
            <a:off x="182880" y="27432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891b2"/>
                </a:solidFill>
                <a:latin typeface="Calibri"/>
                <a:ea typeface="Calibri"/>
              </a:rPr>
              <a:t>WEEK 4 OF 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3"/>
          <p:cNvSpPr/>
          <p:nvPr/>
        </p:nvSpPr>
        <p:spPr>
          <a:xfrm>
            <a:off x="182880" y="567000"/>
            <a:ext cx="2740680" cy="12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Kubernetes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Fundamentals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Shape 4"/>
          <p:cNvSpPr/>
          <p:nvPr/>
        </p:nvSpPr>
        <p:spPr>
          <a:xfrm>
            <a:off x="182880" y="1847160"/>
            <a:ext cx="2603520" cy="14040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5"/>
          <p:cNvSpPr/>
          <p:nvPr/>
        </p:nvSpPr>
        <p:spPr>
          <a:xfrm>
            <a:off x="182880" y="1993320"/>
            <a:ext cx="274068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"You are not learning kubectl.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You are learning how clusters think."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Shape 6"/>
          <p:cNvSpPr/>
          <p:nvPr/>
        </p:nvSpPr>
        <p:spPr>
          <a:xfrm>
            <a:off x="182880" y="2853000"/>
            <a:ext cx="260352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7"/>
          <p:cNvSpPr/>
          <p:nvPr/>
        </p:nvSpPr>
        <p:spPr>
          <a:xfrm>
            <a:off x="182880" y="2999160"/>
            <a:ext cx="8020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5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Text 8"/>
          <p:cNvSpPr/>
          <p:nvPr/>
        </p:nvSpPr>
        <p:spPr>
          <a:xfrm>
            <a:off x="1024200" y="3072240"/>
            <a:ext cx="1917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Days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9"/>
          <p:cNvSpPr/>
          <p:nvPr/>
        </p:nvSpPr>
        <p:spPr>
          <a:xfrm>
            <a:off x="182880" y="3620880"/>
            <a:ext cx="8020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50+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10"/>
          <p:cNvSpPr/>
          <p:nvPr/>
        </p:nvSpPr>
        <p:spPr>
          <a:xfrm>
            <a:off x="1024200" y="3694320"/>
            <a:ext cx="1917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YAML Manifests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11"/>
          <p:cNvSpPr/>
          <p:nvPr/>
        </p:nvSpPr>
        <p:spPr>
          <a:xfrm>
            <a:off x="182880" y="4242960"/>
            <a:ext cx="8020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1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12"/>
          <p:cNvSpPr/>
          <p:nvPr/>
        </p:nvSpPr>
        <p:spPr>
          <a:xfrm>
            <a:off x="1024200" y="4316040"/>
            <a:ext cx="1917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Microservices Demo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13"/>
          <p:cNvSpPr/>
          <p:nvPr/>
        </p:nvSpPr>
        <p:spPr>
          <a:xfrm>
            <a:off x="3337560" y="10980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Shape 14"/>
          <p:cNvSpPr/>
          <p:nvPr/>
        </p:nvSpPr>
        <p:spPr>
          <a:xfrm>
            <a:off x="3337560" y="109800"/>
            <a:ext cx="36000" cy="2338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15"/>
          <p:cNvSpPr/>
          <p:nvPr/>
        </p:nvSpPr>
        <p:spPr>
          <a:xfrm>
            <a:off x="3502080" y="24696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Cluster Architecture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Shape 16"/>
          <p:cNvSpPr/>
          <p:nvPr/>
        </p:nvSpPr>
        <p:spPr>
          <a:xfrm>
            <a:off x="3502080" y="62172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 17"/>
          <p:cNvSpPr/>
          <p:nvPr/>
        </p:nvSpPr>
        <p:spPr>
          <a:xfrm>
            <a:off x="3502080" y="7315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Control Plane: API Server, etcd, Scheduler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18"/>
          <p:cNvSpPr/>
          <p:nvPr/>
        </p:nvSpPr>
        <p:spPr>
          <a:xfrm>
            <a:off x="3502080" y="11340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Worker Nodes: kubelet, kube-proxy, CRI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Text 19"/>
          <p:cNvSpPr/>
          <p:nvPr/>
        </p:nvSpPr>
        <p:spPr>
          <a:xfrm>
            <a:off x="3502080" y="15361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Minikube — local single-node cluster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20"/>
          <p:cNvSpPr/>
          <p:nvPr/>
        </p:nvSpPr>
        <p:spPr>
          <a:xfrm>
            <a:off x="3502080" y="19386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cluster_status.sh — health check script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21"/>
          <p:cNvSpPr/>
          <p:nvPr/>
        </p:nvSpPr>
        <p:spPr>
          <a:xfrm>
            <a:off x="6153840" y="10980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22"/>
          <p:cNvSpPr/>
          <p:nvPr/>
        </p:nvSpPr>
        <p:spPr>
          <a:xfrm>
            <a:off x="6153840" y="109800"/>
            <a:ext cx="36000" cy="2338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23"/>
          <p:cNvSpPr/>
          <p:nvPr/>
        </p:nvSpPr>
        <p:spPr>
          <a:xfrm>
            <a:off x="6318360" y="24696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Pods &amp; Workloads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Shape 24"/>
          <p:cNvSpPr/>
          <p:nvPr/>
        </p:nvSpPr>
        <p:spPr>
          <a:xfrm>
            <a:off x="6318360" y="62172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 25"/>
          <p:cNvSpPr/>
          <p:nvPr/>
        </p:nvSpPr>
        <p:spPr>
          <a:xfrm>
            <a:off x="6318360" y="7315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Pod lifecycle: Pending → Running → Succeeded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26"/>
          <p:cNvSpPr/>
          <p:nvPr/>
        </p:nvSpPr>
        <p:spPr>
          <a:xfrm>
            <a:off x="6318360" y="11340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Health probes: liveness &amp; readiness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Text 27"/>
          <p:cNvSpPr/>
          <p:nvPr/>
        </p:nvSpPr>
        <p:spPr>
          <a:xfrm>
            <a:off x="6318360" y="153612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Multi-container: sidecar + init patterns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28"/>
          <p:cNvSpPr/>
          <p:nvPr/>
        </p:nvSpPr>
        <p:spPr>
          <a:xfrm>
            <a:off x="6318360" y="193860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pod_debug.sh — diagnostic helper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29"/>
          <p:cNvSpPr/>
          <p:nvPr/>
        </p:nvSpPr>
        <p:spPr>
          <a:xfrm>
            <a:off x="3337560" y="259704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Shape 30"/>
          <p:cNvSpPr/>
          <p:nvPr/>
        </p:nvSpPr>
        <p:spPr>
          <a:xfrm>
            <a:off x="3337560" y="2597040"/>
            <a:ext cx="36000" cy="2338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31"/>
          <p:cNvSpPr/>
          <p:nvPr/>
        </p:nvSpPr>
        <p:spPr>
          <a:xfrm>
            <a:off x="3502080" y="273420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Deployments &amp; Scaling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Shape 32"/>
          <p:cNvSpPr/>
          <p:nvPr/>
        </p:nvSpPr>
        <p:spPr>
          <a:xfrm>
            <a:off x="3502080" y="310896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Text 33"/>
          <p:cNvSpPr/>
          <p:nvPr/>
        </p:nvSpPr>
        <p:spPr>
          <a:xfrm>
            <a:off x="3502080" y="32187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ReplicaSets — desired state reconciliation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Text 34"/>
          <p:cNvSpPr/>
          <p:nvPr/>
        </p:nvSpPr>
        <p:spPr>
          <a:xfrm>
            <a:off x="3502080" y="362088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Rolling updates with maxSurge / maxUnavailable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35"/>
          <p:cNvSpPr/>
          <p:nvPr/>
        </p:nvSpPr>
        <p:spPr>
          <a:xfrm>
            <a:off x="3502080" y="40233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kubectl rollout undo — instant rollbacks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36"/>
          <p:cNvSpPr/>
          <p:nvPr/>
        </p:nvSpPr>
        <p:spPr>
          <a:xfrm>
            <a:off x="3502080" y="442584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deployment_manager.sh — lifecycle helper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37"/>
          <p:cNvSpPr/>
          <p:nvPr/>
        </p:nvSpPr>
        <p:spPr>
          <a:xfrm>
            <a:off x="6153840" y="2597040"/>
            <a:ext cx="2667600" cy="233820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Shape 38"/>
          <p:cNvSpPr/>
          <p:nvPr/>
        </p:nvSpPr>
        <p:spPr>
          <a:xfrm>
            <a:off x="6153840" y="2597040"/>
            <a:ext cx="36000" cy="2338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39"/>
          <p:cNvSpPr/>
          <p:nvPr/>
        </p:nvSpPr>
        <p:spPr>
          <a:xfrm>
            <a:off x="6318360" y="2734200"/>
            <a:ext cx="2420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Services &amp; Ingress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40"/>
          <p:cNvSpPr/>
          <p:nvPr/>
        </p:nvSpPr>
        <p:spPr>
          <a:xfrm>
            <a:off x="6318360" y="3108960"/>
            <a:ext cx="23018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Text 41"/>
          <p:cNvSpPr/>
          <p:nvPr/>
        </p:nvSpPr>
        <p:spPr>
          <a:xfrm>
            <a:off x="6318360" y="32187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ClusterIP — stable internal virtual IP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Text 42"/>
          <p:cNvSpPr/>
          <p:nvPr/>
        </p:nvSpPr>
        <p:spPr>
          <a:xfrm>
            <a:off x="6318360" y="362088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NodePort — external access on 30000-32767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43"/>
          <p:cNvSpPr/>
          <p:nvPr/>
        </p:nvSpPr>
        <p:spPr>
          <a:xfrm>
            <a:off x="6318360" y="402336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DNS discovery — svc.namespace.svc.cluster.local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44"/>
          <p:cNvSpPr/>
          <p:nvPr/>
        </p:nvSpPr>
        <p:spPr>
          <a:xfrm>
            <a:off x="6318360" y="4425840"/>
            <a:ext cx="24296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Ingress — single entry point, path/host routing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22d3ee"/>
                </a:solidFill>
                <a:latin typeface="Calibri"/>
                <a:ea typeface="Calibri"/>
              </a:rPr>
              <a:t>WEEK 4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"/>
          <p:cNvSpPr/>
          <p:nvPr/>
        </p:nvSpPr>
        <p:spPr>
          <a:xfrm>
            <a:off x="50292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Kubernetes Fundamentals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4"/>
          <p:cNvSpPr/>
          <p:nvPr/>
        </p:nvSpPr>
        <p:spPr>
          <a:xfrm>
            <a:off x="502920" y="1207080"/>
            <a:ext cx="813564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"You are not learning kubectl commands. You are learning how production clusters think."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5"/>
          <p:cNvSpPr/>
          <p:nvPr/>
        </p:nvSpPr>
        <p:spPr>
          <a:xfrm>
            <a:off x="38412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6"/>
          <p:cNvSpPr/>
          <p:nvPr/>
        </p:nvSpPr>
        <p:spPr>
          <a:xfrm>
            <a:off x="384120" y="1664280"/>
            <a:ext cx="1533600" cy="36000"/>
          </a:xfrm>
          <a:prstGeom prst="rect">
            <a:avLst/>
          </a:prstGeom>
          <a:solidFill>
            <a:srgbClr val="729fc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7"/>
          <p:cNvSpPr/>
          <p:nvPr/>
        </p:nvSpPr>
        <p:spPr>
          <a:xfrm>
            <a:off x="384120" y="178308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80" strike="noStrike">
                <a:solidFill>
                  <a:srgbClr val="0891b2"/>
                </a:solidFill>
                <a:latin typeface="Calibri"/>
                <a:ea typeface="Calibri"/>
              </a:rPr>
              <a:t>Day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ext 8"/>
          <p:cNvSpPr/>
          <p:nvPr/>
        </p:nvSpPr>
        <p:spPr>
          <a:xfrm>
            <a:off x="49392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&amp; Setup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52128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10"/>
          <p:cNvSpPr/>
          <p:nvPr/>
        </p:nvSpPr>
        <p:spPr>
          <a:xfrm>
            <a:off x="52128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Control Plane: API Server, etcd, Scheduler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11"/>
          <p:cNvSpPr/>
          <p:nvPr/>
        </p:nvSpPr>
        <p:spPr>
          <a:xfrm>
            <a:off x="52128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Worker Nodes: kubelet, kube-proxy, container runtime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12"/>
          <p:cNvSpPr/>
          <p:nvPr/>
        </p:nvSpPr>
        <p:spPr>
          <a:xfrm>
            <a:off x="52128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Minikube setup + cluster_status.sh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13"/>
          <p:cNvSpPr/>
          <p:nvPr/>
        </p:nvSpPr>
        <p:spPr>
          <a:xfrm>
            <a:off x="206640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14"/>
          <p:cNvSpPr/>
          <p:nvPr/>
        </p:nvSpPr>
        <p:spPr>
          <a:xfrm>
            <a:off x="2066400" y="1664280"/>
            <a:ext cx="153360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15"/>
          <p:cNvSpPr/>
          <p:nvPr/>
        </p:nvSpPr>
        <p:spPr>
          <a:xfrm>
            <a:off x="2066400" y="178308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80" strike="noStrike">
                <a:solidFill>
                  <a:srgbClr val="7c3aed"/>
                </a:solidFill>
                <a:latin typeface="Calibri"/>
                <a:ea typeface="Calibri"/>
              </a:rPr>
              <a:t>Day 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6"/>
          <p:cNvSpPr/>
          <p:nvPr/>
        </p:nvSpPr>
        <p:spPr>
          <a:xfrm>
            <a:off x="217620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17"/>
          <p:cNvSpPr/>
          <p:nvPr/>
        </p:nvSpPr>
        <p:spPr>
          <a:xfrm>
            <a:off x="220356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18"/>
          <p:cNvSpPr/>
          <p:nvPr/>
        </p:nvSpPr>
        <p:spPr>
          <a:xfrm>
            <a:off x="220356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Pod lifecycle &amp; YAML manifests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 19"/>
          <p:cNvSpPr/>
          <p:nvPr/>
        </p:nvSpPr>
        <p:spPr>
          <a:xfrm>
            <a:off x="220356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Liveness &amp; readiness probes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20"/>
          <p:cNvSpPr/>
          <p:nvPr/>
        </p:nvSpPr>
        <p:spPr>
          <a:xfrm>
            <a:off x="220356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Sidecar &amp; init container patterns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21"/>
          <p:cNvSpPr/>
          <p:nvPr/>
        </p:nvSpPr>
        <p:spPr>
          <a:xfrm>
            <a:off x="374904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22"/>
          <p:cNvSpPr/>
          <p:nvPr/>
        </p:nvSpPr>
        <p:spPr>
          <a:xfrm>
            <a:off x="3749040" y="1664280"/>
            <a:ext cx="1533600" cy="36000"/>
          </a:xfrm>
          <a:prstGeom prst="rect">
            <a:avLst/>
          </a:prstGeom>
          <a:solidFill>
            <a:srgbClr val="e16173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23"/>
          <p:cNvSpPr/>
          <p:nvPr/>
        </p:nvSpPr>
        <p:spPr>
          <a:xfrm>
            <a:off x="3749040" y="178308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80" strike="noStrike">
                <a:solidFill>
                  <a:srgbClr val="e16173"/>
                </a:solidFill>
                <a:latin typeface="Calibri"/>
                <a:ea typeface="Calibri"/>
              </a:rPr>
              <a:t>Day 3</a:t>
            </a:r>
            <a:endParaRPr b="0" lang="en-US" sz="1000" spc="-1" strike="noStrike">
              <a:solidFill>
                <a:srgbClr val="e16173"/>
              </a:solidFill>
              <a:latin typeface="Arial"/>
            </a:endParaRPr>
          </a:p>
        </p:txBody>
      </p:sp>
      <p:sp>
        <p:nvSpPr>
          <p:cNvPr id="801" name="Text 24"/>
          <p:cNvSpPr/>
          <p:nvPr/>
        </p:nvSpPr>
        <p:spPr>
          <a:xfrm>
            <a:off x="385884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Deployments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25"/>
          <p:cNvSpPr/>
          <p:nvPr/>
        </p:nvSpPr>
        <p:spPr>
          <a:xfrm>
            <a:off x="388620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26"/>
          <p:cNvSpPr/>
          <p:nvPr/>
        </p:nvSpPr>
        <p:spPr>
          <a:xfrm>
            <a:off x="388620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ReplicaSets — self-healing desired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27"/>
          <p:cNvSpPr/>
          <p:nvPr/>
        </p:nvSpPr>
        <p:spPr>
          <a:xfrm>
            <a:off x="388620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Rolling updates with zero downtime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 28"/>
          <p:cNvSpPr/>
          <p:nvPr/>
        </p:nvSpPr>
        <p:spPr>
          <a:xfrm>
            <a:off x="388620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  <a:ea typeface="Calibri"/>
              </a:rPr>
              <a:t>Scaling + rollbacks via deployment_manager.sh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29"/>
          <p:cNvSpPr/>
          <p:nvPr/>
        </p:nvSpPr>
        <p:spPr>
          <a:xfrm>
            <a:off x="543168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30"/>
          <p:cNvSpPr/>
          <p:nvPr/>
        </p:nvSpPr>
        <p:spPr>
          <a:xfrm>
            <a:off x="5431680" y="1664280"/>
            <a:ext cx="1533600" cy="36000"/>
          </a:xfrm>
          <a:prstGeom prst="rect">
            <a:avLst/>
          </a:prstGeom>
          <a:solidFill>
            <a:srgbClr val="fc0404"/>
          </a:solidFill>
          <a:ln w="12700">
            <a:solidFill>
              <a:srgbClr val="fc04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 31"/>
          <p:cNvSpPr/>
          <p:nvPr/>
        </p:nvSpPr>
        <p:spPr>
          <a:xfrm>
            <a:off x="5431680" y="178308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80" strike="noStrike">
                <a:solidFill>
                  <a:srgbClr val="dc2626"/>
                </a:solidFill>
                <a:latin typeface="Calibri"/>
                <a:ea typeface="Calibri"/>
              </a:rPr>
              <a:t>Day 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32"/>
          <p:cNvSpPr/>
          <p:nvPr/>
        </p:nvSpPr>
        <p:spPr>
          <a:xfrm>
            <a:off x="554112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Services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33"/>
          <p:cNvSpPr/>
          <p:nvPr/>
        </p:nvSpPr>
        <p:spPr>
          <a:xfrm>
            <a:off x="556884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34"/>
          <p:cNvSpPr/>
          <p:nvPr/>
        </p:nvSpPr>
        <p:spPr>
          <a:xfrm>
            <a:off x="556884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ClusterIP — stable virtual IP in-cluster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ext 35"/>
          <p:cNvSpPr/>
          <p:nvPr/>
        </p:nvSpPr>
        <p:spPr>
          <a:xfrm>
            <a:off x="556884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NodePort — external access port 30000-32767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36"/>
          <p:cNvSpPr/>
          <p:nvPr/>
        </p:nvSpPr>
        <p:spPr>
          <a:xfrm>
            <a:off x="556884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DNS: svc.namespace.svc.cluster.local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37"/>
          <p:cNvSpPr/>
          <p:nvPr/>
        </p:nvSpPr>
        <p:spPr>
          <a:xfrm>
            <a:off x="7113960" y="1664280"/>
            <a:ext cx="1533600" cy="33076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38"/>
          <p:cNvSpPr/>
          <p:nvPr/>
        </p:nvSpPr>
        <p:spPr>
          <a:xfrm>
            <a:off x="7113960" y="1664280"/>
            <a:ext cx="1533600" cy="36000"/>
          </a:xfrm>
          <a:prstGeom prst="rect">
            <a:avLst/>
          </a:prstGeom>
          <a:solidFill>
            <a:srgbClr val="ec88d7"/>
          </a:solidFill>
          <a:ln w="12700">
            <a:solidFill>
              <a:srgbClr val="ec88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 39"/>
          <p:cNvSpPr/>
          <p:nvPr/>
        </p:nvSpPr>
        <p:spPr>
          <a:xfrm>
            <a:off x="7113960" y="1783080"/>
            <a:ext cx="1533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80" strike="noStrike">
                <a:solidFill>
                  <a:srgbClr val="ec88d7"/>
                </a:solidFill>
                <a:latin typeface="Calibri"/>
                <a:ea typeface="Calibri"/>
              </a:rPr>
              <a:t>Day 5</a:t>
            </a:r>
            <a:endParaRPr b="0" lang="en-US" sz="1000" spc="-1" strike="noStrike">
              <a:solidFill>
                <a:srgbClr val="ec88d7"/>
              </a:solidFill>
              <a:latin typeface="Arial"/>
            </a:endParaRPr>
          </a:p>
        </p:txBody>
      </p:sp>
      <p:sp>
        <p:nvSpPr>
          <p:cNvPr id="817" name="Text 40"/>
          <p:cNvSpPr/>
          <p:nvPr/>
        </p:nvSpPr>
        <p:spPr>
          <a:xfrm>
            <a:off x="7223760" y="1993320"/>
            <a:ext cx="1314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Ingress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Shape 41"/>
          <p:cNvSpPr/>
          <p:nvPr/>
        </p:nvSpPr>
        <p:spPr>
          <a:xfrm>
            <a:off x="7251120" y="2597040"/>
            <a:ext cx="125928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 42"/>
          <p:cNvSpPr/>
          <p:nvPr/>
        </p:nvSpPr>
        <p:spPr>
          <a:xfrm>
            <a:off x="7251120" y="270648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Nginx Ingress Controller on Minikube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 43"/>
          <p:cNvSpPr/>
          <p:nvPr/>
        </p:nvSpPr>
        <p:spPr>
          <a:xfrm>
            <a:off x="7251120" y="345636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Path-based and host-based routing rules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Text 44"/>
          <p:cNvSpPr/>
          <p:nvPr/>
        </p:nvSpPr>
        <p:spPr>
          <a:xfrm>
            <a:off x="7251120" y="4206240"/>
            <a:ext cx="12592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ingress_test.sh — automated route validation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Text 1"/>
          <p:cNvSpPr/>
          <p:nvPr/>
        </p:nvSpPr>
        <p:spPr>
          <a:xfrm>
            <a:off x="50292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22d3ee"/>
                </a:solidFill>
                <a:latin typeface="Calibri"/>
                <a:ea typeface="Calibri"/>
              </a:rPr>
              <a:t>WEEK 4  ·  KUBERNETES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 2"/>
          <p:cNvSpPr/>
          <p:nvPr/>
        </p:nvSpPr>
        <p:spPr>
          <a:xfrm>
            <a:off x="502920" y="32004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Kubernetes Cluster: Control Plane &amp; Worker Nodes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Shape 3"/>
          <p:cNvSpPr/>
          <p:nvPr/>
        </p:nvSpPr>
        <p:spPr>
          <a:xfrm>
            <a:off x="502920" y="1097280"/>
            <a:ext cx="8135640" cy="140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Text 4"/>
          <p:cNvSpPr/>
          <p:nvPr/>
        </p:nvSpPr>
        <p:spPr>
          <a:xfrm>
            <a:off x="73080" y="84132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CONTROL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 5"/>
          <p:cNvSpPr/>
          <p:nvPr/>
        </p:nvSpPr>
        <p:spPr>
          <a:xfrm>
            <a:off x="73080" y="146304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WORKERS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 6"/>
          <p:cNvSpPr/>
          <p:nvPr/>
        </p:nvSpPr>
        <p:spPr>
          <a:xfrm>
            <a:off x="73080" y="213984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WORKLOADS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Text 7"/>
          <p:cNvSpPr/>
          <p:nvPr/>
        </p:nvSpPr>
        <p:spPr>
          <a:xfrm>
            <a:off x="73080" y="309060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NETWORK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Text 8"/>
          <p:cNvSpPr/>
          <p:nvPr/>
        </p:nvSpPr>
        <p:spPr>
          <a:xfrm>
            <a:off x="73080" y="4041720"/>
            <a:ext cx="683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0" strike="noStrike">
                <a:solidFill>
                  <a:srgbClr val="94a3b8"/>
                </a:solidFill>
                <a:latin typeface="Calibri"/>
                <a:ea typeface="Calibri"/>
              </a:rPr>
              <a:t>OPS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Shape 9"/>
          <p:cNvSpPr/>
          <p:nvPr/>
        </p:nvSpPr>
        <p:spPr>
          <a:xfrm>
            <a:off x="804600" y="841320"/>
            <a:ext cx="14040" cy="415800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10"/>
          <p:cNvSpPr/>
          <p:nvPr/>
        </p:nvSpPr>
        <p:spPr>
          <a:xfrm>
            <a:off x="2907720" y="932760"/>
            <a:ext cx="3106440" cy="454320"/>
          </a:xfrm>
          <a:prstGeom prst="rect">
            <a:avLst/>
          </a:prstGeom>
          <a:solidFill>
            <a:srgbClr val="a1467e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11"/>
          <p:cNvSpPr/>
          <p:nvPr/>
        </p:nvSpPr>
        <p:spPr>
          <a:xfrm>
            <a:off x="2907720" y="932760"/>
            <a:ext cx="3106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Control Plane  ·  API Server  ·  etcd  ·  Scheduler  ·  Controller Manager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Shape 12"/>
          <p:cNvSpPr/>
          <p:nvPr/>
        </p:nvSpPr>
        <p:spPr>
          <a:xfrm>
            <a:off x="4443840" y="13899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13"/>
          <p:cNvSpPr/>
          <p:nvPr/>
        </p:nvSpPr>
        <p:spPr>
          <a:xfrm>
            <a:off x="2176200" y="1572840"/>
            <a:ext cx="4551120" cy="509400"/>
          </a:xfrm>
          <a:prstGeom prst="rect">
            <a:avLst/>
          </a:prstGeom>
          <a:solidFill>
            <a:srgbClr val="5b277d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 14"/>
          <p:cNvSpPr/>
          <p:nvPr/>
        </p:nvSpPr>
        <p:spPr>
          <a:xfrm>
            <a:off x="2176200" y="1627560"/>
            <a:ext cx="45511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Worker Node  ·  kubelet  ·  kube-proxy  ·  Container Runtime (containerd)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Shape 15"/>
          <p:cNvSpPr/>
          <p:nvPr/>
        </p:nvSpPr>
        <p:spPr>
          <a:xfrm>
            <a:off x="2816280" y="20847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16"/>
          <p:cNvSpPr/>
          <p:nvPr/>
        </p:nvSpPr>
        <p:spPr>
          <a:xfrm>
            <a:off x="4709160" y="20847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17"/>
          <p:cNvSpPr/>
          <p:nvPr/>
        </p:nvSpPr>
        <p:spPr>
          <a:xfrm>
            <a:off x="6528960" y="2084760"/>
            <a:ext cx="34200" cy="180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18"/>
          <p:cNvSpPr/>
          <p:nvPr/>
        </p:nvSpPr>
        <p:spPr>
          <a:xfrm>
            <a:off x="1298520" y="2267640"/>
            <a:ext cx="2173680" cy="747360"/>
          </a:xfrm>
          <a:prstGeom prst="rect">
            <a:avLst/>
          </a:prstGeom>
          <a:solidFill>
            <a:srgbClr val="0d1e35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Shape 19"/>
          <p:cNvSpPr/>
          <p:nvPr/>
        </p:nvSpPr>
        <p:spPr>
          <a:xfrm>
            <a:off x="1298520" y="2267640"/>
            <a:ext cx="21736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20"/>
          <p:cNvSpPr/>
          <p:nvPr/>
        </p:nvSpPr>
        <p:spPr>
          <a:xfrm>
            <a:off x="1298520" y="234072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Text 21"/>
          <p:cNvSpPr/>
          <p:nvPr/>
        </p:nvSpPr>
        <p:spPr>
          <a:xfrm>
            <a:off x="1298520" y="261504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nginx:alpine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Shape 22"/>
          <p:cNvSpPr/>
          <p:nvPr/>
        </p:nvSpPr>
        <p:spPr>
          <a:xfrm>
            <a:off x="3712320" y="2267640"/>
            <a:ext cx="2173680" cy="747360"/>
          </a:xfrm>
          <a:prstGeom prst="rect">
            <a:avLst/>
          </a:prstGeom>
          <a:solidFill>
            <a:srgbClr val="0d1e35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Shape 23"/>
          <p:cNvSpPr/>
          <p:nvPr/>
        </p:nvSpPr>
        <p:spPr>
          <a:xfrm>
            <a:off x="3712320" y="2267640"/>
            <a:ext cx="2173680" cy="36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24"/>
          <p:cNvSpPr/>
          <p:nvPr/>
        </p:nvSpPr>
        <p:spPr>
          <a:xfrm>
            <a:off x="3712320" y="234072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Deployment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Text 25"/>
          <p:cNvSpPr/>
          <p:nvPr/>
        </p:nvSpPr>
        <p:spPr>
          <a:xfrm>
            <a:off x="3712320" y="261504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ReplicaSet x3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Shape 26"/>
          <p:cNvSpPr/>
          <p:nvPr/>
        </p:nvSpPr>
        <p:spPr>
          <a:xfrm>
            <a:off x="6126480" y="2267640"/>
            <a:ext cx="2173680" cy="747360"/>
          </a:xfrm>
          <a:prstGeom prst="rect">
            <a:avLst/>
          </a:prstGeom>
          <a:solidFill>
            <a:srgbClr val="0d1e35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Shape 27"/>
          <p:cNvSpPr/>
          <p:nvPr/>
        </p:nvSpPr>
        <p:spPr>
          <a:xfrm>
            <a:off x="6126480" y="2267640"/>
            <a:ext cx="217368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Text 28"/>
          <p:cNvSpPr/>
          <p:nvPr/>
        </p:nvSpPr>
        <p:spPr>
          <a:xfrm>
            <a:off x="6126480" y="234072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Service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Text 29"/>
          <p:cNvSpPr/>
          <p:nvPr/>
        </p:nvSpPr>
        <p:spPr>
          <a:xfrm>
            <a:off x="6126480" y="2615040"/>
            <a:ext cx="2173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ClusterIP / NodePort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Shape 30"/>
          <p:cNvSpPr/>
          <p:nvPr/>
        </p:nvSpPr>
        <p:spPr>
          <a:xfrm>
            <a:off x="205740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1"/>
          <p:cNvSpPr/>
          <p:nvPr/>
        </p:nvSpPr>
        <p:spPr>
          <a:xfrm>
            <a:off x="398664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32"/>
          <p:cNvSpPr/>
          <p:nvPr/>
        </p:nvSpPr>
        <p:spPr>
          <a:xfrm>
            <a:off x="557784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33"/>
          <p:cNvSpPr/>
          <p:nvPr/>
        </p:nvSpPr>
        <p:spPr>
          <a:xfrm>
            <a:off x="96012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Text 34"/>
          <p:cNvSpPr/>
          <p:nvPr/>
        </p:nvSpPr>
        <p:spPr>
          <a:xfrm>
            <a:off x="96012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ClusterIP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 35"/>
          <p:cNvSpPr/>
          <p:nvPr/>
        </p:nvSpPr>
        <p:spPr>
          <a:xfrm>
            <a:off x="96012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Internal only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Shape 36"/>
          <p:cNvSpPr/>
          <p:nvPr/>
        </p:nvSpPr>
        <p:spPr>
          <a:xfrm>
            <a:off x="289872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Text 37"/>
          <p:cNvSpPr/>
          <p:nvPr/>
        </p:nvSpPr>
        <p:spPr>
          <a:xfrm>
            <a:off x="289872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NodePort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Text 38"/>
          <p:cNvSpPr/>
          <p:nvPr/>
        </p:nvSpPr>
        <p:spPr>
          <a:xfrm>
            <a:off x="289872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External :30080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Shape 39"/>
          <p:cNvSpPr/>
          <p:nvPr/>
        </p:nvSpPr>
        <p:spPr>
          <a:xfrm>
            <a:off x="483732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 40"/>
          <p:cNvSpPr/>
          <p:nvPr/>
        </p:nvSpPr>
        <p:spPr>
          <a:xfrm>
            <a:off x="483732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Ingress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Text 41"/>
          <p:cNvSpPr/>
          <p:nvPr/>
        </p:nvSpPr>
        <p:spPr>
          <a:xfrm>
            <a:off x="483732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HTTP routing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Shape 42"/>
          <p:cNvSpPr/>
          <p:nvPr/>
        </p:nvSpPr>
        <p:spPr>
          <a:xfrm>
            <a:off x="6775560" y="3182040"/>
            <a:ext cx="1716480" cy="655920"/>
          </a:xfrm>
          <a:prstGeom prst="rect">
            <a:avLst/>
          </a:prstGeom>
          <a:solidFill>
            <a:srgbClr val="0d1e35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Text 43"/>
          <p:cNvSpPr/>
          <p:nvPr/>
        </p:nvSpPr>
        <p:spPr>
          <a:xfrm>
            <a:off x="6775560" y="3255120"/>
            <a:ext cx="1716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Text 44"/>
          <p:cNvSpPr/>
          <p:nvPr/>
        </p:nvSpPr>
        <p:spPr>
          <a:xfrm>
            <a:off x="6775560" y="3511440"/>
            <a:ext cx="1716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svc.ns.svc.local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Shape 45"/>
          <p:cNvSpPr/>
          <p:nvPr/>
        </p:nvSpPr>
        <p:spPr>
          <a:xfrm>
            <a:off x="960120" y="4041720"/>
            <a:ext cx="1936080" cy="802080"/>
          </a:xfrm>
          <a:prstGeom prst="rect">
            <a:avLst/>
          </a:prstGeom>
          <a:solidFill>
            <a:srgbClr val="0d1e35"/>
          </a:solidFill>
          <a:ln w="9525">
            <a:solidFill>
              <a:srgbClr val="e24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Text 46"/>
          <p:cNvSpPr/>
          <p:nvPr/>
        </p:nvSpPr>
        <p:spPr>
          <a:xfrm>
            <a:off x="960120" y="4260960"/>
            <a:ext cx="1936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Minikube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Shape 47"/>
          <p:cNvSpPr/>
          <p:nvPr/>
        </p:nvSpPr>
        <p:spPr>
          <a:xfrm>
            <a:off x="3136320" y="4041720"/>
            <a:ext cx="1936080" cy="802080"/>
          </a:xfrm>
          <a:prstGeom prst="rect">
            <a:avLst/>
          </a:prstGeom>
          <a:solidFill>
            <a:srgbClr val="0d1e35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Text 48"/>
          <p:cNvSpPr/>
          <p:nvPr/>
        </p:nvSpPr>
        <p:spPr>
          <a:xfrm>
            <a:off x="3136320" y="4260960"/>
            <a:ext cx="1936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kubectl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Shape 49"/>
          <p:cNvSpPr/>
          <p:nvPr/>
        </p:nvSpPr>
        <p:spPr>
          <a:xfrm>
            <a:off x="5312520" y="4041720"/>
            <a:ext cx="1936080" cy="802080"/>
          </a:xfrm>
          <a:prstGeom prst="rect">
            <a:avLst/>
          </a:prstGeom>
          <a:solidFill>
            <a:srgbClr val="0d1e35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50"/>
          <p:cNvSpPr/>
          <p:nvPr/>
        </p:nvSpPr>
        <p:spPr>
          <a:xfrm>
            <a:off x="5312520" y="4260960"/>
            <a:ext cx="1936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YAML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Shape 51"/>
          <p:cNvSpPr/>
          <p:nvPr/>
        </p:nvSpPr>
        <p:spPr>
          <a:xfrm>
            <a:off x="7479720" y="4041720"/>
            <a:ext cx="1506240" cy="80208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Text 52"/>
          <p:cNvSpPr/>
          <p:nvPr/>
        </p:nvSpPr>
        <p:spPr>
          <a:xfrm>
            <a:off x="7479720" y="4169520"/>
            <a:ext cx="150624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2d3ee"/>
                </a:solidFill>
                <a:latin typeface="Calibri"/>
                <a:ea typeface="Calibri"/>
              </a:rPr>
              <a:t>Helm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2d3ee"/>
                </a:solidFill>
                <a:latin typeface="Calibri"/>
                <a:ea typeface="Calibri"/>
              </a:rPr>
              <a:t>pkg manager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Shape 99"/>
          <p:cNvSpPr/>
          <p:nvPr/>
        </p:nvSpPr>
        <p:spPr>
          <a:xfrm>
            <a:off x="7434000" y="3017520"/>
            <a:ext cx="34200" cy="162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100"/>
          <p:cNvSpPr/>
          <p:nvPr/>
        </p:nvSpPr>
        <p:spPr>
          <a:xfrm>
            <a:off x="1664280" y="3849480"/>
            <a:ext cx="3420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101"/>
          <p:cNvSpPr/>
          <p:nvPr/>
        </p:nvSpPr>
        <p:spPr>
          <a:xfrm>
            <a:off x="8138160" y="3849480"/>
            <a:ext cx="3420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102"/>
          <p:cNvSpPr/>
          <p:nvPr/>
        </p:nvSpPr>
        <p:spPr>
          <a:xfrm>
            <a:off x="4206240" y="3849480"/>
            <a:ext cx="3420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103"/>
          <p:cNvSpPr/>
          <p:nvPr/>
        </p:nvSpPr>
        <p:spPr>
          <a:xfrm>
            <a:off x="6126480" y="3849480"/>
            <a:ext cx="3420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1"/>
          <p:cNvSpPr/>
          <p:nvPr/>
        </p:nvSpPr>
        <p:spPr>
          <a:xfrm>
            <a:off x="45720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64748b"/>
                </a:solidFill>
                <a:latin typeface="Calibri"/>
                <a:ea typeface="Calibri"/>
              </a:rPr>
              <a:t>WEEK 4  ·  CAPSTONE PROJECT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Text 2"/>
          <p:cNvSpPr/>
          <p:nvPr/>
        </p:nvSpPr>
        <p:spPr>
          <a:xfrm>
            <a:off x="45720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Microservices Demo on Kubernetes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3"/>
          <p:cNvSpPr/>
          <p:nvPr/>
        </p:nvSpPr>
        <p:spPr>
          <a:xfrm>
            <a:off x="457200" y="1097280"/>
            <a:ext cx="822708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 4"/>
          <p:cNvSpPr/>
          <p:nvPr/>
        </p:nvSpPr>
        <p:spPr>
          <a:xfrm>
            <a:off x="457200" y="1207080"/>
            <a:ext cx="8227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A 3-tier application deployed on Kubernetes with Deployments, Services, and Ingress routing.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5"/>
          <p:cNvSpPr/>
          <p:nvPr/>
        </p:nvSpPr>
        <p:spPr>
          <a:xfrm>
            <a:off x="384120" y="1664280"/>
            <a:ext cx="2703960" cy="330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6"/>
          <p:cNvSpPr/>
          <p:nvPr/>
        </p:nvSpPr>
        <p:spPr>
          <a:xfrm>
            <a:off x="384120" y="1664280"/>
            <a:ext cx="2703960" cy="3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Text 7"/>
          <p:cNvSpPr/>
          <p:nvPr/>
        </p:nvSpPr>
        <p:spPr>
          <a:xfrm>
            <a:off x="2743200" y="1645920"/>
            <a:ext cx="6559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d97706"/>
                </a:solidFill>
                <a:latin typeface="Calibri"/>
                <a:ea typeface="Calibri"/>
              </a:rPr>
              <a:t>01</a:t>
            </a:r>
            <a:endParaRPr b="0" lang="en-US" sz="2200" spc="-1" strike="noStrike">
              <a:solidFill>
                <a:srgbClr val="d97706"/>
              </a:solidFill>
              <a:latin typeface="Arial"/>
            </a:endParaRPr>
          </a:p>
        </p:txBody>
      </p:sp>
      <p:sp>
        <p:nvSpPr>
          <p:cNvPr id="888" name="Text 8"/>
          <p:cNvSpPr/>
          <p:nvPr/>
        </p:nvSpPr>
        <p:spPr>
          <a:xfrm>
            <a:off x="548640" y="1755720"/>
            <a:ext cx="2393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7706"/>
                </a:solidFill>
                <a:latin typeface="Consolas"/>
                <a:ea typeface="Consolas"/>
              </a:rPr>
              <a:t>Frontend + Backend Services</a:t>
            </a:r>
            <a:endParaRPr b="0" lang="en-US" sz="1000" spc="-1" strike="noStrike">
              <a:solidFill>
                <a:srgbClr val="d97706"/>
              </a:solidFill>
              <a:latin typeface="Arial"/>
            </a:endParaRPr>
          </a:p>
        </p:txBody>
      </p:sp>
      <p:sp>
        <p:nvSpPr>
          <p:cNvPr id="889" name="Text 9"/>
          <p:cNvSpPr/>
          <p:nvPr/>
        </p:nvSpPr>
        <p:spPr>
          <a:xfrm>
            <a:off x="548640" y="2084760"/>
            <a:ext cx="2393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Deploy 3-tier app on Minikube cluster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0"/>
          <p:cNvSpPr/>
          <p:nvPr/>
        </p:nvSpPr>
        <p:spPr>
          <a:xfrm>
            <a:off x="548640" y="2505600"/>
            <a:ext cx="232920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11"/>
          <p:cNvSpPr/>
          <p:nvPr/>
        </p:nvSpPr>
        <p:spPr>
          <a:xfrm>
            <a:off x="548640" y="2743200"/>
            <a:ext cx="61560" cy="6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Text 12"/>
          <p:cNvSpPr/>
          <p:nvPr/>
        </p:nvSpPr>
        <p:spPr>
          <a:xfrm>
            <a:off x="704160" y="260604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Frontend: 2 replicas, NodePort access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13"/>
          <p:cNvSpPr/>
          <p:nvPr/>
        </p:nvSpPr>
        <p:spPr>
          <a:xfrm>
            <a:off x="548640" y="3173040"/>
            <a:ext cx="61560" cy="61560"/>
          </a:xfrm>
          <a:prstGeom prst="rect">
            <a:avLst/>
          </a:prstGeom>
          <a:solidFill>
            <a:srgbClr val="ff5429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Text 14"/>
          <p:cNvSpPr/>
          <p:nvPr/>
        </p:nvSpPr>
        <p:spPr>
          <a:xfrm>
            <a:off x="704160" y="303588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Backend API: 2 replicas, ClusterIP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5"/>
          <p:cNvSpPr/>
          <p:nvPr/>
        </p:nvSpPr>
        <p:spPr>
          <a:xfrm>
            <a:off x="548640" y="3602880"/>
            <a:ext cx="61560" cy="6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 16"/>
          <p:cNvSpPr/>
          <p:nvPr/>
        </p:nvSpPr>
        <p:spPr>
          <a:xfrm>
            <a:off x="704160" y="346572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Assets service: 1 replica, ClusterIP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7"/>
          <p:cNvSpPr/>
          <p:nvPr/>
        </p:nvSpPr>
        <p:spPr>
          <a:xfrm>
            <a:off x="548640" y="4032360"/>
            <a:ext cx="61560" cy="6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18"/>
          <p:cNvSpPr/>
          <p:nvPr/>
        </p:nvSpPr>
        <p:spPr>
          <a:xfrm>
            <a:off x="704160" y="389520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Resource limits on every container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9"/>
          <p:cNvSpPr/>
          <p:nvPr/>
        </p:nvSpPr>
        <p:spPr>
          <a:xfrm>
            <a:off x="548640" y="4462200"/>
            <a:ext cx="61560" cy="6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Text 20"/>
          <p:cNvSpPr/>
          <p:nvPr/>
        </p:nvSpPr>
        <p:spPr>
          <a:xfrm>
            <a:off x="704160" y="432504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Liveness + readiness probes on all pods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21"/>
          <p:cNvSpPr/>
          <p:nvPr/>
        </p:nvSpPr>
        <p:spPr>
          <a:xfrm>
            <a:off x="3237120" y="1664280"/>
            <a:ext cx="2703960" cy="330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2"/>
          <p:cNvSpPr/>
          <p:nvPr/>
        </p:nvSpPr>
        <p:spPr>
          <a:xfrm>
            <a:off x="3237120" y="1664280"/>
            <a:ext cx="2703960" cy="36000"/>
          </a:xfrm>
          <a:prstGeom prst="rect">
            <a:avLst/>
          </a:prstGeom>
          <a:solidFill>
            <a:srgbClr val="0de2fa"/>
          </a:solidFill>
          <a:ln w="12700">
            <a:solidFill>
              <a:srgbClr val="0de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Text 23"/>
          <p:cNvSpPr/>
          <p:nvPr/>
        </p:nvSpPr>
        <p:spPr>
          <a:xfrm>
            <a:off x="5577840" y="1645920"/>
            <a:ext cx="6559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e2fa"/>
                </a:solidFill>
                <a:latin typeface="Calibri"/>
                <a:ea typeface="Calibri"/>
              </a:rPr>
              <a:t>02</a:t>
            </a:r>
            <a:endParaRPr b="0" lang="en-US" sz="2200" spc="-1" strike="noStrike">
              <a:solidFill>
                <a:srgbClr val="0de2fa"/>
              </a:solidFill>
              <a:latin typeface="Arial"/>
            </a:endParaRPr>
          </a:p>
        </p:txBody>
      </p:sp>
      <p:sp>
        <p:nvSpPr>
          <p:cNvPr id="904" name="Text 24"/>
          <p:cNvSpPr/>
          <p:nvPr/>
        </p:nvSpPr>
        <p:spPr>
          <a:xfrm>
            <a:off x="3401640" y="1755720"/>
            <a:ext cx="2393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e2fa"/>
                </a:solidFill>
                <a:latin typeface="Consolas"/>
                <a:ea typeface="Consolas"/>
              </a:rPr>
              <a:t>Services + DNS Discovery</a:t>
            </a:r>
            <a:endParaRPr b="0" lang="en-US" sz="1000" spc="-1" strike="noStrike">
              <a:solidFill>
                <a:srgbClr val="0de2fa"/>
              </a:solidFill>
              <a:latin typeface="Arial"/>
            </a:endParaRPr>
          </a:p>
        </p:txBody>
      </p:sp>
      <p:sp>
        <p:nvSpPr>
          <p:cNvPr id="905" name="Text 25"/>
          <p:cNvSpPr/>
          <p:nvPr/>
        </p:nvSpPr>
        <p:spPr>
          <a:xfrm>
            <a:off x="3401640" y="2084760"/>
            <a:ext cx="2393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Stable networking across ephemeral pods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6"/>
          <p:cNvSpPr/>
          <p:nvPr/>
        </p:nvSpPr>
        <p:spPr>
          <a:xfrm>
            <a:off x="3401640" y="2505600"/>
            <a:ext cx="232920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7"/>
          <p:cNvSpPr/>
          <p:nvPr/>
        </p:nvSpPr>
        <p:spPr>
          <a:xfrm>
            <a:off x="3401640" y="2743200"/>
            <a:ext cx="61560" cy="61560"/>
          </a:xfrm>
          <a:prstGeom prst="rect">
            <a:avLst/>
          </a:prstGeom>
          <a:solidFill>
            <a:srgbClr val="0de2fa"/>
          </a:solidFill>
          <a:ln w="12700">
            <a:solidFill>
              <a:srgbClr val="0de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Text 28"/>
          <p:cNvSpPr/>
          <p:nvPr/>
        </p:nvSpPr>
        <p:spPr>
          <a:xfrm>
            <a:off x="3557160" y="260604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ClusterIP for internal service-to-service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9"/>
          <p:cNvSpPr/>
          <p:nvPr/>
        </p:nvSpPr>
        <p:spPr>
          <a:xfrm>
            <a:off x="3401640" y="3173040"/>
            <a:ext cx="61560" cy="61560"/>
          </a:xfrm>
          <a:prstGeom prst="rect">
            <a:avLst/>
          </a:prstGeom>
          <a:solidFill>
            <a:srgbClr val="0de2fa"/>
          </a:solidFill>
          <a:ln w="12700">
            <a:solidFill>
              <a:srgbClr val="0de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Text 30"/>
          <p:cNvSpPr/>
          <p:nvPr/>
        </p:nvSpPr>
        <p:spPr>
          <a:xfrm>
            <a:off x="3557160" y="303588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NodePort for direct frontend access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31"/>
          <p:cNvSpPr/>
          <p:nvPr/>
        </p:nvSpPr>
        <p:spPr>
          <a:xfrm>
            <a:off x="3401640" y="3602880"/>
            <a:ext cx="61560" cy="61560"/>
          </a:xfrm>
          <a:prstGeom prst="rect">
            <a:avLst/>
          </a:prstGeom>
          <a:solidFill>
            <a:srgbClr val="0de2fa"/>
          </a:solidFill>
          <a:ln w="12700">
            <a:solidFill>
              <a:srgbClr val="0de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32"/>
          <p:cNvSpPr/>
          <p:nvPr/>
        </p:nvSpPr>
        <p:spPr>
          <a:xfrm>
            <a:off x="3557160" y="346572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DNS test: wget http://backend-service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33"/>
          <p:cNvSpPr/>
          <p:nvPr/>
        </p:nvSpPr>
        <p:spPr>
          <a:xfrm>
            <a:off x="3401640" y="4032360"/>
            <a:ext cx="61560" cy="61560"/>
          </a:xfrm>
          <a:prstGeom prst="rect">
            <a:avLst/>
          </a:prstGeom>
          <a:solidFill>
            <a:srgbClr val="0de2fa"/>
          </a:solidFill>
          <a:ln w="12700">
            <a:solidFill>
              <a:srgbClr val="0de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Text 34"/>
          <p:cNvSpPr/>
          <p:nvPr/>
        </p:nvSpPr>
        <p:spPr>
          <a:xfrm>
            <a:off x="3557160" y="389520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service_test.sh — connectivity checker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35"/>
          <p:cNvSpPr/>
          <p:nvPr/>
        </p:nvSpPr>
        <p:spPr>
          <a:xfrm>
            <a:off x="3401640" y="4462200"/>
            <a:ext cx="61560" cy="61560"/>
          </a:xfrm>
          <a:prstGeom prst="rect">
            <a:avLst/>
          </a:prstGeom>
          <a:solidFill>
            <a:srgbClr val="0de2fa"/>
          </a:solidFill>
          <a:ln w="12700">
            <a:solidFill>
              <a:srgbClr val="0de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36"/>
          <p:cNvSpPr/>
          <p:nvPr/>
        </p:nvSpPr>
        <p:spPr>
          <a:xfrm>
            <a:off x="3557160" y="432504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Endpoint health: 5-probe loop validation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37"/>
          <p:cNvSpPr/>
          <p:nvPr/>
        </p:nvSpPr>
        <p:spPr>
          <a:xfrm>
            <a:off x="6089760" y="1664280"/>
            <a:ext cx="2703960" cy="330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38"/>
          <p:cNvSpPr/>
          <p:nvPr/>
        </p:nvSpPr>
        <p:spPr>
          <a:xfrm>
            <a:off x="6089760" y="1664280"/>
            <a:ext cx="2703960" cy="36000"/>
          </a:xfrm>
          <a:prstGeom prst="rect">
            <a:avLst/>
          </a:prstGeom>
          <a:solidFill>
            <a:srgbClr val="c17ff7"/>
          </a:solidFill>
          <a:ln w="12700">
            <a:solidFill>
              <a:srgbClr val="c17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Text 39"/>
          <p:cNvSpPr/>
          <p:nvPr/>
        </p:nvSpPr>
        <p:spPr>
          <a:xfrm>
            <a:off x="8412480" y="1645920"/>
            <a:ext cx="6559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17ff7"/>
                </a:solidFill>
                <a:latin typeface="Calibri"/>
                <a:ea typeface="Calibri"/>
              </a:rPr>
              <a:t>03</a:t>
            </a:r>
            <a:endParaRPr b="0" lang="en-US" sz="2200" spc="-1" strike="noStrike">
              <a:solidFill>
                <a:srgbClr val="c17ff7"/>
              </a:solidFill>
              <a:latin typeface="Arial"/>
            </a:endParaRPr>
          </a:p>
        </p:txBody>
      </p:sp>
      <p:sp>
        <p:nvSpPr>
          <p:cNvPr id="920" name="Text 40"/>
          <p:cNvSpPr/>
          <p:nvPr/>
        </p:nvSpPr>
        <p:spPr>
          <a:xfrm>
            <a:off x="6254640" y="1755720"/>
            <a:ext cx="2393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17ff7"/>
                </a:solidFill>
                <a:latin typeface="Consolas"/>
                <a:ea typeface="Consolas"/>
              </a:rPr>
              <a:t>Ingress Routing</a:t>
            </a:r>
            <a:endParaRPr b="0" lang="en-US" sz="1000" spc="-1" strike="noStrike">
              <a:solidFill>
                <a:srgbClr val="c17ff7"/>
              </a:solidFill>
              <a:latin typeface="Arial"/>
            </a:endParaRPr>
          </a:p>
        </p:txBody>
      </p:sp>
      <p:sp>
        <p:nvSpPr>
          <p:cNvPr id="921" name="Text 41"/>
          <p:cNvSpPr/>
          <p:nvPr/>
        </p:nvSpPr>
        <p:spPr>
          <a:xfrm>
            <a:off x="6254640" y="2084760"/>
            <a:ext cx="2393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Single entry point for all 3 services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42"/>
          <p:cNvSpPr/>
          <p:nvPr/>
        </p:nvSpPr>
        <p:spPr>
          <a:xfrm>
            <a:off x="6254640" y="2505600"/>
            <a:ext cx="232920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43"/>
          <p:cNvSpPr/>
          <p:nvPr/>
        </p:nvSpPr>
        <p:spPr>
          <a:xfrm>
            <a:off x="6254640" y="2743200"/>
            <a:ext cx="61560" cy="61560"/>
          </a:xfrm>
          <a:prstGeom prst="rect">
            <a:avLst/>
          </a:prstGeom>
          <a:solidFill>
            <a:srgbClr val="c17ff7"/>
          </a:solidFill>
          <a:ln w="12700">
            <a:solidFill>
              <a:srgbClr val="c17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44"/>
          <p:cNvSpPr/>
          <p:nvPr/>
        </p:nvSpPr>
        <p:spPr>
          <a:xfrm>
            <a:off x="6409800" y="260604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/ → frontend-service (Prefix)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45"/>
          <p:cNvSpPr/>
          <p:nvPr/>
        </p:nvSpPr>
        <p:spPr>
          <a:xfrm>
            <a:off x="6254640" y="3173040"/>
            <a:ext cx="61560" cy="61560"/>
          </a:xfrm>
          <a:prstGeom prst="rect">
            <a:avLst/>
          </a:prstGeom>
          <a:solidFill>
            <a:srgbClr val="c17ff7"/>
          </a:solidFill>
          <a:ln w="12700">
            <a:solidFill>
              <a:srgbClr val="c17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Text 46"/>
          <p:cNvSpPr/>
          <p:nvPr/>
        </p:nvSpPr>
        <p:spPr>
          <a:xfrm>
            <a:off x="6409800" y="303588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/api/* → backend-service (Prefix)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47"/>
          <p:cNvSpPr/>
          <p:nvPr/>
        </p:nvSpPr>
        <p:spPr>
          <a:xfrm>
            <a:off x="6254640" y="3602880"/>
            <a:ext cx="61560" cy="61560"/>
          </a:xfrm>
          <a:prstGeom prst="rect">
            <a:avLst/>
          </a:prstGeom>
          <a:solidFill>
            <a:srgbClr val="c17ff7"/>
          </a:solidFill>
          <a:ln w="12700">
            <a:solidFill>
              <a:srgbClr val="c17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Text 48"/>
          <p:cNvSpPr/>
          <p:nvPr/>
        </p:nvSpPr>
        <p:spPr>
          <a:xfrm>
            <a:off x="6409800" y="346572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/static/* → assets-service (Prefix)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49"/>
          <p:cNvSpPr/>
          <p:nvPr/>
        </p:nvSpPr>
        <p:spPr>
          <a:xfrm>
            <a:off x="6254640" y="4032360"/>
            <a:ext cx="61560" cy="61560"/>
          </a:xfrm>
          <a:prstGeom prst="rect">
            <a:avLst/>
          </a:prstGeom>
          <a:solidFill>
            <a:srgbClr val="c17ff7"/>
          </a:solidFill>
          <a:ln w="12700">
            <a:solidFill>
              <a:srgbClr val="c17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 50"/>
          <p:cNvSpPr/>
          <p:nvPr/>
        </p:nvSpPr>
        <p:spPr>
          <a:xfrm>
            <a:off x="6409800" y="389520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deploy.sh + test.sh + cleanup.sh scripts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51"/>
          <p:cNvSpPr/>
          <p:nvPr/>
        </p:nvSpPr>
        <p:spPr>
          <a:xfrm>
            <a:off x="6254640" y="4462200"/>
            <a:ext cx="61560" cy="61560"/>
          </a:xfrm>
          <a:prstGeom prst="rect">
            <a:avLst/>
          </a:prstGeom>
          <a:solidFill>
            <a:srgbClr val="c17ff7"/>
          </a:solidFill>
          <a:ln w="12700">
            <a:solidFill>
              <a:srgbClr val="c17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Text 52"/>
          <p:cNvSpPr/>
          <p:nvPr/>
        </p:nvSpPr>
        <p:spPr>
          <a:xfrm>
            <a:off x="6409800" y="4325040"/>
            <a:ext cx="22651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ingress_test.sh — automated validation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Text 1"/>
          <p:cNvSpPr/>
          <p:nvPr/>
        </p:nvSpPr>
        <p:spPr>
          <a:xfrm>
            <a:off x="457200" y="18288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64748b"/>
                </a:solidFill>
                <a:latin typeface="Calibri"/>
                <a:ea typeface="Calibri"/>
              </a:rPr>
              <a:t>PROGRAMME SUMMARY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Text 2"/>
          <p:cNvSpPr/>
          <p:nvPr/>
        </p:nvSpPr>
        <p:spPr>
          <a:xfrm>
            <a:off x="457200" y="420480"/>
            <a:ext cx="81356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Five Core Competencies Gained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3"/>
          <p:cNvSpPr/>
          <p:nvPr/>
        </p:nvSpPr>
        <p:spPr>
          <a:xfrm>
            <a:off x="457200" y="1097280"/>
            <a:ext cx="822708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4"/>
          <p:cNvSpPr/>
          <p:nvPr/>
        </p:nvSpPr>
        <p:spPr>
          <a:xfrm>
            <a:off x="274320" y="1298520"/>
            <a:ext cx="1570320" cy="354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5"/>
          <p:cNvSpPr/>
          <p:nvPr/>
        </p:nvSpPr>
        <p:spPr>
          <a:xfrm>
            <a:off x="274320" y="1298520"/>
            <a:ext cx="1570320" cy="3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Text 6"/>
          <p:cNvSpPr/>
          <p:nvPr/>
        </p:nvSpPr>
        <p:spPr>
          <a:xfrm>
            <a:off x="274320" y="1334880"/>
            <a:ext cx="1570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  <a:ea typeface="Calibri"/>
              </a:rPr>
              <a:t>I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 7"/>
          <p:cNvSpPr/>
          <p:nvPr/>
        </p:nvSpPr>
        <p:spPr>
          <a:xfrm>
            <a:off x="274320" y="2103120"/>
            <a:ext cx="15703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Infrastructure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8"/>
          <p:cNvSpPr/>
          <p:nvPr/>
        </p:nvSpPr>
        <p:spPr>
          <a:xfrm>
            <a:off x="438840" y="2541960"/>
            <a:ext cx="124092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Text 9"/>
          <p:cNvSpPr/>
          <p:nvPr/>
        </p:nvSpPr>
        <p:spPr>
          <a:xfrm>
            <a:off x="274320" y="265176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bash / systemd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 10"/>
          <p:cNvSpPr/>
          <p:nvPr/>
        </p:nvSpPr>
        <p:spPr>
          <a:xfrm>
            <a:off x="274320" y="320040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UFW · fail2ban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Text 11"/>
          <p:cNvSpPr/>
          <p:nvPr/>
        </p:nvSpPr>
        <p:spPr>
          <a:xfrm>
            <a:off x="274320" y="374904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BIND9 DNS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Text 12"/>
          <p:cNvSpPr/>
          <p:nvPr/>
        </p:nvSpPr>
        <p:spPr>
          <a:xfrm>
            <a:off x="274320" y="429768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LVM · rsyslog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3"/>
          <p:cNvSpPr/>
          <p:nvPr/>
        </p:nvSpPr>
        <p:spPr>
          <a:xfrm>
            <a:off x="1993320" y="1298520"/>
            <a:ext cx="1570320" cy="354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14"/>
          <p:cNvSpPr/>
          <p:nvPr/>
        </p:nvSpPr>
        <p:spPr>
          <a:xfrm>
            <a:off x="1993320" y="1298520"/>
            <a:ext cx="157032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Text 15"/>
          <p:cNvSpPr/>
          <p:nvPr/>
        </p:nvSpPr>
        <p:spPr>
          <a:xfrm>
            <a:off x="1993320" y="1334880"/>
            <a:ext cx="1570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729fcf"/>
                </a:solidFill>
                <a:latin typeface="Calibri"/>
                <a:ea typeface="Calibri"/>
              </a:rPr>
              <a:t>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Text 16"/>
          <p:cNvSpPr/>
          <p:nvPr/>
        </p:nvSpPr>
        <p:spPr>
          <a:xfrm>
            <a:off x="1993320" y="2103120"/>
            <a:ext cx="15703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Deployment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17"/>
          <p:cNvSpPr/>
          <p:nvPr/>
        </p:nvSpPr>
        <p:spPr>
          <a:xfrm>
            <a:off x="2157840" y="2541960"/>
            <a:ext cx="124092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Text 18"/>
          <p:cNvSpPr/>
          <p:nvPr/>
        </p:nvSpPr>
        <p:spPr>
          <a:xfrm>
            <a:off x="1993320" y="265176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Nginx / Apache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Text 19"/>
          <p:cNvSpPr/>
          <p:nvPr/>
        </p:nvSpPr>
        <p:spPr>
          <a:xfrm>
            <a:off x="1993320" y="320040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PM2 · systemd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Text 20"/>
          <p:cNvSpPr/>
          <p:nvPr/>
        </p:nvSpPr>
        <p:spPr>
          <a:xfrm>
            <a:off x="1993320" y="374904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SSL/TLS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Text 21"/>
          <p:cNvSpPr/>
          <p:nvPr/>
        </p:nvSpPr>
        <p:spPr>
          <a:xfrm>
            <a:off x="1993320" y="429768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Blue-green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22"/>
          <p:cNvSpPr/>
          <p:nvPr/>
        </p:nvSpPr>
        <p:spPr>
          <a:xfrm>
            <a:off x="3712320" y="1298520"/>
            <a:ext cx="1570320" cy="354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23"/>
          <p:cNvSpPr/>
          <p:nvPr/>
        </p:nvSpPr>
        <p:spPr>
          <a:xfrm>
            <a:off x="3712320" y="1298520"/>
            <a:ext cx="1570320" cy="36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Text 24"/>
          <p:cNvSpPr/>
          <p:nvPr/>
        </p:nvSpPr>
        <p:spPr>
          <a:xfrm>
            <a:off x="3712320" y="1334880"/>
            <a:ext cx="1570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2a6099"/>
                </a:solidFill>
                <a:latin typeface="Calibri"/>
                <a:ea typeface="Calibri"/>
              </a:rPr>
              <a:t>C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 25"/>
          <p:cNvSpPr/>
          <p:nvPr/>
        </p:nvSpPr>
        <p:spPr>
          <a:xfrm>
            <a:off x="3712320" y="2103120"/>
            <a:ext cx="15703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Containers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26"/>
          <p:cNvSpPr/>
          <p:nvPr/>
        </p:nvSpPr>
        <p:spPr>
          <a:xfrm>
            <a:off x="3877200" y="2541960"/>
            <a:ext cx="124092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Text 27"/>
          <p:cNvSpPr/>
          <p:nvPr/>
        </p:nvSpPr>
        <p:spPr>
          <a:xfrm>
            <a:off x="3712320" y="265176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Docker multi-stage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Text 28"/>
          <p:cNvSpPr/>
          <p:nvPr/>
        </p:nvSpPr>
        <p:spPr>
          <a:xfrm>
            <a:off x="3712320" y="320040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Docker Compose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Text 29"/>
          <p:cNvSpPr/>
          <p:nvPr/>
        </p:nvSpPr>
        <p:spPr>
          <a:xfrm>
            <a:off x="3712320" y="374904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Trivy scanning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Text 30"/>
          <p:cNvSpPr/>
          <p:nvPr/>
        </p:nvSpPr>
        <p:spPr>
          <a:xfrm>
            <a:off x="3712320" y="429768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Non-root hardening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31"/>
          <p:cNvSpPr/>
          <p:nvPr/>
        </p:nvSpPr>
        <p:spPr>
          <a:xfrm>
            <a:off x="5431680" y="1298520"/>
            <a:ext cx="1570320" cy="354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Shape 32"/>
          <p:cNvSpPr/>
          <p:nvPr/>
        </p:nvSpPr>
        <p:spPr>
          <a:xfrm>
            <a:off x="5431680" y="1298520"/>
            <a:ext cx="1570320" cy="3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33"/>
          <p:cNvSpPr/>
          <p:nvPr/>
        </p:nvSpPr>
        <p:spPr>
          <a:xfrm>
            <a:off x="5431680" y="1334880"/>
            <a:ext cx="1570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55308d"/>
                </a:solidFill>
                <a:latin typeface="Calibri"/>
                <a:ea typeface="Calibri"/>
              </a:rPr>
              <a:t>O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Text 34"/>
          <p:cNvSpPr/>
          <p:nvPr/>
        </p:nvSpPr>
        <p:spPr>
          <a:xfrm>
            <a:off x="5431680" y="2103120"/>
            <a:ext cx="15703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Observability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35"/>
          <p:cNvSpPr/>
          <p:nvPr/>
        </p:nvSpPr>
        <p:spPr>
          <a:xfrm>
            <a:off x="5596200" y="2541960"/>
            <a:ext cx="124092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Text 36"/>
          <p:cNvSpPr/>
          <p:nvPr/>
        </p:nvSpPr>
        <p:spPr>
          <a:xfrm>
            <a:off x="5431680" y="265176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Prometheus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Text 37"/>
          <p:cNvSpPr/>
          <p:nvPr/>
        </p:nvSpPr>
        <p:spPr>
          <a:xfrm>
            <a:off x="5431680" y="320040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Grafana dashboards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Text 38"/>
          <p:cNvSpPr/>
          <p:nvPr/>
        </p:nvSpPr>
        <p:spPr>
          <a:xfrm>
            <a:off x="5431680" y="374904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cAdvisor metrics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 39"/>
          <p:cNvSpPr/>
          <p:nvPr/>
        </p:nvSpPr>
        <p:spPr>
          <a:xfrm>
            <a:off x="5431680" y="429768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Health checks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40"/>
          <p:cNvSpPr/>
          <p:nvPr/>
        </p:nvSpPr>
        <p:spPr>
          <a:xfrm>
            <a:off x="7150680" y="1298520"/>
            <a:ext cx="1570320" cy="354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41"/>
          <p:cNvSpPr/>
          <p:nvPr/>
        </p:nvSpPr>
        <p:spPr>
          <a:xfrm>
            <a:off x="7150680" y="1298520"/>
            <a:ext cx="1570320" cy="3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42"/>
          <p:cNvSpPr/>
          <p:nvPr/>
        </p:nvSpPr>
        <p:spPr>
          <a:xfrm>
            <a:off x="7150680" y="1334880"/>
            <a:ext cx="1570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58466"/>
                </a:solidFill>
                <a:latin typeface="Calibri"/>
                <a:ea typeface="Calibri"/>
              </a:rPr>
              <a:t>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Text 43"/>
          <p:cNvSpPr/>
          <p:nvPr/>
        </p:nvSpPr>
        <p:spPr>
          <a:xfrm>
            <a:off x="7150680" y="2103120"/>
            <a:ext cx="15703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Reliability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44"/>
          <p:cNvSpPr/>
          <p:nvPr/>
        </p:nvSpPr>
        <p:spPr>
          <a:xfrm>
            <a:off x="7315200" y="2541960"/>
            <a:ext cx="1240920" cy="14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Text 45"/>
          <p:cNvSpPr/>
          <p:nvPr/>
        </p:nvSpPr>
        <p:spPr>
          <a:xfrm>
            <a:off x="7150680" y="265176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Backup automation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Text 46"/>
          <p:cNvSpPr/>
          <p:nvPr/>
        </p:nvSpPr>
        <p:spPr>
          <a:xfrm>
            <a:off x="7150680" y="320040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Rollback scripts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Text 47"/>
          <p:cNvSpPr/>
          <p:nvPr/>
        </p:nvSpPr>
        <p:spPr>
          <a:xfrm>
            <a:off x="7150680" y="374904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Restart policies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Text 48"/>
          <p:cNvSpPr/>
          <p:nvPr/>
        </p:nvSpPr>
        <p:spPr>
          <a:xfrm>
            <a:off x="7150680" y="4297680"/>
            <a:ext cx="15703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DR procedures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49"/>
          <p:cNvSpPr/>
          <p:nvPr/>
        </p:nvSpPr>
        <p:spPr>
          <a:xfrm>
            <a:off x="274320" y="4736520"/>
            <a:ext cx="8592840" cy="29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50"/>
          <p:cNvSpPr/>
          <p:nvPr/>
        </p:nvSpPr>
        <p:spPr>
          <a:xfrm>
            <a:off x="274320" y="4763880"/>
            <a:ext cx="85928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"Running software is MUCH harder than writing software — that is what these 4 weeks were truly about."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Shape 0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1"/>
          <p:cNvSpPr/>
          <p:nvPr/>
        </p:nvSpPr>
        <p:spPr>
          <a:xfrm>
            <a:off x="502920" y="25596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0891b2"/>
                </a:solidFill>
                <a:latin typeface="Calibri"/>
                <a:ea typeface="Calibri"/>
              </a:rPr>
              <a:t>THE CORE TAKEAWAY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Text 2"/>
          <p:cNvSpPr/>
          <p:nvPr/>
        </p:nvSpPr>
        <p:spPr>
          <a:xfrm>
            <a:off x="502920" y="567000"/>
            <a:ext cx="804420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Production Engineering Is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Text 3"/>
          <p:cNvSpPr/>
          <p:nvPr/>
        </p:nvSpPr>
        <p:spPr>
          <a:xfrm>
            <a:off x="502920" y="1188720"/>
            <a:ext cx="804420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2d3ee"/>
                </a:solidFill>
                <a:latin typeface="Calibri"/>
                <a:ea typeface="Calibri"/>
              </a:rPr>
              <a:t>More Than Writing Code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Shape 4"/>
          <p:cNvSpPr/>
          <p:nvPr/>
        </p:nvSpPr>
        <p:spPr>
          <a:xfrm>
            <a:off x="502920" y="1901880"/>
            <a:ext cx="4386600" cy="14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5"/>
          <p:cNvSpPr/>
          <p:nvPr/>
        </p:nvSpPr>
        <p:spPr>
          <a:xfrm>
            <a:off x="502920" y="2030040"/>
            <a:ext cx="804420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Running software in production requires mastery across eight disciplines simultaneously: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Shape 6"/>
          <p:cNvSpPr/>
          <p:nvPr/>
        </p:nvSpPr>
        <p:spPr>
          <a:xfrm>
            <a:off x="384120" y="251460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Shape 7"/>
          <p:cNvSpPr/>
          <p:nvPr/>
        </p:nvSpPr>
        <p:spPr>
          <a:xfrm>
            <a:off x="384120" y="2514600"/>
            <a:ext cx="36000" cy="1149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Text 8"/>
          <p:cNvSpPr/>
          <p:nvPr/>
        </p:nvSpPr>
        <p:spPr>
          <a:xfrm>
            <a:off x="1737360" y="253296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9"/>
          <p:cNvSpPr/>
          <p:nvPr/>
        </p:nvSpPr>
        <p:spPr>
          <a:xfrm>
            <a:off x="567000" y="286200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4" name="Shape 10"/>
          <p:cNvSpPr/>
          <p:nvPr/>
        </p:nvSpPr>
        <p:spPr>
          <a:xfrm>
            <a:off x="2560320" y="251460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5" name="Shape 11"/>
          <p:cNvSpPr/>
          <p:nvPr/>
        </p:nvSpPr>
        <p:spPr>
          <a:xfrm>
            <a:off x="2560320" y="2514600"/>
            <a:ext cx="36000" cy="1149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Text 12"/>
          <p:cNvSpPr/>
          <p:nvPr/>
        </p:nvSpPr>
        <p:spPr>
          <a:xfrm>
            <a:off x="3913560" y="253296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O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Text 13"/>
          <p:cNvSpPr/>
          <p:nvPr/>
        </p:nvSpPr>
        <p:spPr>
          <a:xfrm>
            <a:off x="2743200" y="286200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Observability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Shape 14"/>
          <p:cNvSpPr/>
          <p:nvPr/>
        </p:nvSpPr>
        <p:spPr>
          <a:xfrm>
            <a:off x="4736520" y="251460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Shape 15"/>
          <p:cNvSpPr/>
          <p:nvPr/>
        </p:nvSpPr>
        <p:spPr>
          <a:xfrm>
            <a:off x="4736520" y="2514600"/>
            <a:ext cx="36000" cy="1149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Text 16"/>
          <p:cNvSpPr/>
          <p:nvPr/>
        </p:nvSpPr>
        <p:spPr>
          <a:xfrm>
            <a:off x="6089760" y="253296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D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Text 17"/>
          <p:cNvSpPr/>
          <p:nvPr/>
        </p:nvSpPr>
        <p:spPr>
          <a:xfrm>
            <a:off x="4919400" y="286200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Deployment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Shape 18"/>
          <p:cNvSpPr/>
          <p:nvPr/>
        </p:nvSpPr>
        <p:spPr>
          <a:xfrm>
            <a:off x="6912720" y="251460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Shape 19"/>
          <p:cNvSpPr/>
          <p:nvPr/>
        </p:nvSpPr>
        <p:spPr>
          <a:xfrm>
            <a:off x="6912720" y="2514600"/>
            <a:ext cx="36000" cy="1149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Text 20"/>
          <p:cNvSpPr/>
          <p:nvPr/>
        </p:nvSpPr>
        <p:spPr>
          <a:xfrm>
            <a:off x="8266320" y="253296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21"/>
          <p:cNvSpPr/>
          <p:nvPr/>
        </p:nvSpPr>
        <p:spPr>
          <a:xfrm>
            <a:off x="7095600" y="286200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Scaling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Shape 22"/>
          <p:cNvSpPr/>
          <p:nvPr/>
        </p:nvSpPr>
        <p:spPr>
          <a:xfrm>
            <a:off x="384120" y="381312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7" name="Shape 23"/>
          <p:cNvSpPr/>
          <p:nvPr/>
        </p:nvSpPr>
        <p:spPr>
          <a:xfrm>
            <a:off x="384120" y="3813120"/>
            <a:ext cx="36000" cy="1149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Text 24"/>
          <p:cNvSpPr/>
          <p:nvPr/>
        </p:nvSpPr>
        <p:spPr>
          <a:xfrm>
            <a:off x="1737360" y="383148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Text 25"/>
          <p:cNvSpPr/>
          <p:nvPr/>
        </p:nvSpPr>
        <p:spPr>
          <a:xfrm>
            <a:off x="567000" y="416052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Resilience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Shape 26"/>
          <p:cNvSpPr/>
          <p:nvPr/>
        </p:nvSpPr>
        <p:spPr>
          <a:xfrm>
            <a:off x="2560320" y="381312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Shape 27"/>
          <p:cNvSpPr/>
          <p:nvPr/>
        </p:nvSpPr>
        <p:spPr>
          <a:xfrm>
            <a:off x="2560320" y="3813120"/>
            <a:ext cx="36000" cy="1149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28"/>
          <p:cNvSpPr/>
          <p:nvPr/>
        </p:nvSpPr>
        <p:spPr>
          <a:xfrm>
            <a:off x="3913560" y="383148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Text 29"/>
          <p:cNvSpPr/>
          <p:nvPr/>
        </p:nvSpPr>
        <p:spPr>
          <a:xfrm>
            <a:off x="2743200" y="416052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Shape 30"/>
          <p:cNvSpPr/>
          <p:nvPr/>
        </p:nvSpPr>
        <p:spPr>
          <a:xfrm>
            <a:off x="4736520" y="381312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Shape 31"/>
          <p:cNvSpPr/>
          <p:nvPr/>
        </p:nvSpPr>
        <p:spPr>
          <a:xfrm>
            <a:off x="4736520" y="3813120"/>
            <a:ext cx="36000" cy="1149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 32"/>
          <p:cNvSpPr/>
          <p:nvPr/>
        </p:nvSpPr>
        <p:spPr>
          <a:xfrm>
            <a:off x="6089760" y="383148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Text 33"/>
          <p:cNvSpPr/>
          <p:nvPr/>
        </p:nvSpPr>
        <p:spPr>
          <a:xfrm>
            <a:off x="4919400" y="416052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Automation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Shape 34"/>
          <p:cNvSpPr/>
          <p:nvPr/>
        </p:nvSpPr>
        <p:spPr>
          <a:xfrm>
            <a:off x="6912720" y="3813120"/>
            <a:ext cx="2009160" cy="1149480"/>
          </a:xfrm>
          <a:prstGeom prst="rect">
            <a:avLst/>
          </a:prstGeom>
          <a:solidFill>
            <a:srgbClr val="0d1e35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Shape 35"/>
          <p:cNvSpPr/>
          <p:nvPr/>
        </p:nvSpPr>
        <p:spPr>
          <a:xfrm>
            <a:off x="6912720" y="3813120"/>
            <a:ext cx="36000" cy="1149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36"/>
          <p:cNvSpPr/>
          <p:nvPr/>
        </p:nvSpPr>
        <p:spPr>
          <a:xfrm>
            <a:off x="8266320" y="3831480"/>
            <a:ext cx="5918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Text 37"/>
          <p:cNvSpPr/>
          <p:nvPr/>
        </p:nvSpPr>
        <p:spPr>
          <a:xfrm>
            <a:off x="7095600" y="4160520"/>
            <a:ext cx="1661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Recovery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Shape 0"/>
          <p:cNvSpPr/>
          <p:nvPr/>
        </p:nvSpPr>
        <p:spPr>
          <a:xfrm>
            <a:off x="6083280" y="2520"/>
            <a:ext cx="3060720" cy="514116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Shape 1"/>
          <p:cNvSpPr/>
          <p:nvPr/>
        </p:nvSpPr>
        <p:spPr>
          <a:xfrm>
            <a:off x="6062400" y="457200"/>
            <a:ext cx="24840" cy="4222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Shape 2"/>
          <p:cNvSpPr/>
          <p:nvPr/>
        </p:nvSpPr>
        <p:spPr>
          <a:xfrm>
            <a:off x="0" y="0"/>
            <a:ext cx="9141480" cy="36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 3"/>
          <p:cNvSpPr/>
          <p:nvPr/>
        </p:nvSpPr>
        <p:spPr>
          <a:xfrm>
            <a:off x="502920" y="255960"/>
            <a:ext cx="7312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0" strike="noStrike">
                <a:solidFill>
                  <a:srgbClr val="22d3ee"/>
                </a:solidFill>
                <a:latin typeface="Calibri"/>
                <a:ea typeface="Calibri"/>
              </a:rPr>
              <a:t>WHAT'S NEXT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Text 4"/>
          <p:cNvSpPr/>
          <p:nvPr/>
        </p:nvSpPr>
        <p:spPr>
          <a:xfrm>
            <a:off x="502920" y="548640"/>
            <a:ext cx="53924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The Path Forward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Shape 5"/>
          <p:cNvSpPr/>
          <p:nvPr/>
        </p:nvSpPr>
        <p:spPr>
          <a:xfrm>
            <a:off x="502920" y="1261800"/>
            <a:ext cx="5392440" cy="14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Text 6"/>
          <p:cNvSpPr/>
          <p:nvPr/>
        </p:nvSpPr>
        <p:spPr>
          <a:xfrm>
            <a:off x="502920" y="1389960"/>
            <a:ext cx="53924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Four weeks built the foundation.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The next phase scales everything learned.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Shape 7"/>
          <p:cNvSpPr/>
          <p:nvPr/>
        </p:nvSpPr>
        <p:spPr>
          <a:xfrm>
            <a:off x="384120" y="2121480"/>
            <a:ext cx="5438160" cy="6559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Shape 8"/>
          <p:cNvSpPr/>
          <p:nvPr/>
        </p:nvSpPr>
        <p:spPr>
          <a:xfrm>
            <a:off x="384120" y="2122200"/>
            <a:ext cx="43200" cy="654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Shape 9"/>
          <p:cNvSpPr/>
          <p:nvPr/>
        </p:nvSpPr>
        <p:spPr>
          <a:xfrm>
            <a:off x="530280" y="2157840"/>
            <a:ext cx="360" cy="25344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11"/>
          <p:cNvSpPr/>
          <p:nvPr/>
        </p:nvSpPr>
        <p:spPr>
          <a:xfrm>
            <a:off x="1389960" y="2176200"/>
            <a:ext cx="20091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Observability (Next)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Text 12"/>
          <p:cNvSpPr/>
          <p:nvPr/>
        </p:nvSpPr>
        <p:spPr>
          <a:xfrm>
            <a:off x="1389960" y="2468880"/>
            <a:ext cx="42494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AWS EKS · GCP GKE · managed clusters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Shape 13"/>
          <p:cNvSpPr/>
          <p:nvPr/>
        </p:nvSpPr>
        <p:spPr>
          <a:xfrm>
            <a:off x="384120" y="2853000"/>
            <a:ext cx="5438160" cy="6559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Shape 14"/>
          <p:cNvSpPr/>
          <p:nvPr/>
        </p:nvSpPr>
        <p:spPr>
          <a:xfrm>
            <a:off x="384120" y="2853720"/>
            <a:ext cx="43200" cy="654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Shape 15"/>
          <p:cNvSpPr/>
          <p:nvPr/>
        </p:nvSpPr>
        <p:spPr>
          <a:xfrm>
            <a:off x="530280" y="2889360"/>
            <a:ext cx="360" cy="25344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Text 17"/>
          <p:cNvSpPr/>
          <p:nvPr/>
        </p:nvSpPr>
        <p:spPr>
          <a:xfrm>
            <a:off x="1389960" y="2907720"/>
            <a:ext cx="20091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CI/CD Pipelines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8" name="Text 18"/>
          <p:cNvSpPr/>
          <p:nvPr/>
        </p:nvSpPr>
        <p:spPr>
          <a:xfrm>
            <a:off x="1389960" y="3200400"/>
            <a:ext cx="42494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GitHub Actions — test → build → scan → deploy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Shape 19"/>
          <p:cNvSpPr/>
          <p:nvPr/>
        </p:nvSpPr>
        <p:spPr>
          <a:xfrm>
            <a:off x="384120" y="3584520"/>
            <a:ext cx="5438160" cy="6559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Shape 20"/>
          <p:cNvSpPr/>
          <p:nvPr/>
        </p:nvSpPr>
        <p:spPr>
          <a:xfrm>
            <a:off x="384120" y="3585240"/>
            <a:ext cx="43200" cy="654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Shape 21"/>
          <p:cNvSpPr/>
          <p:nvPr/>
        </p:nvSpPr>
        <p:spPr>
          <a:xfrm>
            <a:off x="530280" y="3620880"/>
            <a:ext cx="360" cy="25344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23"/>
          <p:cNvSpPr/>
          <p:nvPr/>
        </p:nvSpPr>
        <p:spPr>
          <a:xfrm>
            <a:off x="1389960" y="3639240"/>
            <a:ext cx="20091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Cloud Platforms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Text 24"/>
          <p:cNvSpPr/>
          <p:nvPr/>
        </p:nvSpPr>
        <p:spPr>
          <a:xfrm>
            <a:off x="1389960" y="3931920"/>
            <a:ext cx="42494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Distributed tracing, SLOs, alerting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Shape 25"/>
          <p:cNvSpPr/>
          <p:nvPr/>
        </p:nvSpPr>
        <p:spPr>
          <a:xfrm>
            <a:off x="384120" y="4316040"/>
            <a:ext cx="5438160" cy="6559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Shape 26"/>
          <p:cNvSpPr/>
          <p:nvPr/>
        </p:nvSpPr>
        <p:spPr>
          <a:xfrm>
            <a:off x="384120" y="4316760"/>
            <a:ext cx="43200" cy="654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Shape 27"/>
          <p:cNvSpPr/>
          <p:nvPr/>
        </p:nvSpPr>
        <p:spPr>
          <a:xfrm>
            <a:off x="530280" y="4352400"/>
            <a:ext cx="360" cy="25344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29"/>
          <p:cNvSpPr/>
          <p:nvPr/>
        </p:nvSpPr>
        <p:spPr>
          <a:xfrm>
            <a:off x="1389960" y="4370760"/>
            <a:ext cx="20091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 as Code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Text 30"/>
          <p:cNvSpPr/>
          <p:nvPr/>
        </p:nvSpPr>
        <p:spPr>
          <a:xfrm>
            <a:off x="1389960" y="4663440"/>
            <a:ext cx="42494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Terraform + Ansible — reproducible infra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Shape 31"/>
          <p:cNvSpPr/>
          <p:nvPr/>
        </p:nvSpPr>
        <p:spPr>
          <a:xfrm>
            <a:off x="384120" y="4681800"/>
            <a:ext cx="5438160" cy="344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Text 32"/>
          <p:cNvSpPr/>
          <p:nvPr/>
        </p:nvSpPr>
        <p:spPr>
          <a:xfrm>
            <a:off x="384120" y="4718160"/>
            <a:ext cx="54381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Week 1: Linux  ·  Week 2: Deployment  ·  Week 3: Docker  ·  Week 4: Kubernetes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Text 33"/>
          <p:cNvSpPr/>
          <p:nvPr/>
        </p:nvSpPr>
        <p:spPr>
          <a:xfrm>
            <a:off x="6291000" y="91440"/>
            <a:ext cx="264924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2" strike="noStrike">
                <a:solidFill>
                  <a:srgbClr val="0891b2"/>
                </a:solidFill>
                <a:latin typeface="Calibri"/>
                <a:ea typeface="Calibri"/>
              </a:rPr>
              <a:t>ALREADY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2" strike="noStrike">
                <a:solidFill>
                  <a:srgbClr val="0891b2"/>
                </a:solidFill>
                <a:latin typeface="Calibri"/>
                <a:ea typeface="Calibri"/>
              </a:rPr>
              <a:t>MASTERED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Shape 34"/>
          <p:cNvSpPr/>
          <p:nvPr/>
        </p:nvSpPr>
        <p:spPr>
          <a:xfrm>
            <a:off x="6291000" y="694800"/>
            <a:ext cx="2649240" cy="14040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35"/>
          <p:cNvSpPr/>
          <p:nvPr/>
        </p:nvSpPr>
        <p:spPr>
          <a:xfrm>
            <a:off x="6291000" y="126180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Text 36"/>
          <p:cNvSpPr/>
          <p:nvPr/>
        </p:nvSpPr>
        <p:spPr>
          <a:xfrm>
            <a:off x="6583680" y="85032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Bash automation &amp; scripting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Shape 37"/>
          <p:cNvSpPr/>
          <p:nvPr/>
        </p:nvSpPr>
        <p:spPr>
          <a:xfrm>
            <a:off x="6291000" y="163692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38"/>
          <p:cNvSpPr/>
          <p:nvPr/>
        </p:nvSpPr>
        <p:spPr>
          <a:xfrm>
            <a:off x="6583680" y="121608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Linux system administration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Shape 39"/>
          <p:cNvSpPr/>
          <p:nvPr/>
        </p:nvSpPr>
        <p:spPr>
          <a:xfrm>
            <a:off x="6291000" y="201168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Text 40"/>
          <p:cNvSpPr/>
          <p:nvPr/>
        </p:nvSpPr>
        <p:spPr>
          <a:xfrm>
            <a:off x="6583680" y="159120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DNS, firewall, SSH hardening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Shape 41"/>
          <p:cNvSpPr/>
          <p:nvPr/>
        </p:nvSpPr>
        <p:spPr>
          <a:xfrm>
            <a:off x="6291000" y="238644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Text 42"/>
          <p:cNvSpPr/>
          <p:nvPr/>
        </p:nvSpPr>
        <p:spPr>
          <a:xfrm>
            <a:off x="6583680" y="196596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Multi-language runtimes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1" name="Shape 43"/>
          <p:cNvSpPr/>
          <p:nvPr/>
        </p:nvSpPr>
        <p:spPr>
          <a:xfrm>
            <a:off x="6291000" y="276156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44"/>
          <p:cNvSpPr/>
          <p:nvPr/>
        </p:nvSpPr>
        <p:spPr>
          <a:xfrm>
            <a:off x="6583680" y="234072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Database setup &amp; replication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3" name="Shape 45"/>
          <p:cNvSpPr/>
          <p:nvPr/>
        </p:nvSpPr>
        <p:spPr>
          <a:xfrm>
            <a:off x="6291000" y="313632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" name="Text 46"/>
          <p:cNvSpPr/>
          <p:nvPr/>
        </p:nvSpPr>
        <p:spPr>
          <a:xfrm>
            <a:off x="6583680" y="271584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Nginx + SSL + load balancing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Shape 47"/>
          <p:cNvSpPr/>
          <p:nvPr/>
        </p:nvSpPr>
        <p:spPr>
          <a:xfrm>
            <a:off x="6291000" y="351144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Text 48"/>
          <p:cNvSpPr/>
          <p:nvPr/>
        </p:nvSpPr>
        <p:spPr>
          <a:xfrm>
            <a:off x="6583680" y="309060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Docker &amp; Compose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Shape 49"/>
          <p:cNvSpPr/>
          <p:nvPr/>
        </p:nvSpPr>
        <p:spPr>
          <a:xfrm>
            <a:off x="6291000" y="388620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Text 50"/>
          <p:cNvSpPr/>
          <p:nvPr/>
        </p:nvSpPr>
        <p:spPr>
          <a:xfrm>
            <a:off x="6583680" y="346572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Container security and Monitoring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51"/>
          <p:cNvSpPr/>
          <p:nvPr/>
        </p:nvSpPr>
        <p:spPr>
          <a:xfrm>
            <a:off x="6291000" y="426096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Text 52"/>
          <p:cNvSpPr/>
          <p:nvPr/>
        </p:nvSpPr>
        <p:spPr>
          <a:xfrm>
            <a:off x="6583680" y="421524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Kubernetes Pods, Deployments &amp; Services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Shape 53"/>
          <p:cNvSpPr/>
          <p:nvPr/>
        </p:nvSpPr>
        <p:spPr>
          <a:xfrm>
            <a:off x="6291000" y="463608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Text 54"/>
          <p:cNvSpPr/>
          <p:nvPr/>
        </p:nvSpPr>
        <p:spPr>
          <a:xfrm>
            <a:off x="6583680" y="3840480"/>
            <a:ext cx="23932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Zero-downtime deployments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3" name="Shape 109"/>
          <p:cNvSpPr/>
          <p:nvPr/>
        </p:nvSpPr>
        <p:spPr>
          <a:xfrm>
            <a:off x="6291000" y="887040"/>
            <a:ext cx="198720" cy="19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6492240" y="4626720"/>
            <a:ext cx="2423160" cy="38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Rolling Updates, Ingress &amp; Cluster </a:t>
            </a: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Networking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2026-05-26T10:46:59Z</dcterms:created>
  <dc:creator>DevOps Launchpad</dc:creator>
  <dc:description/>
  <dc:language>en-US</dc:language>
  <cp:lastModifiedBy/>
  <dcterms:modified xsi:type="dcterms:W3CDTF">2026-06-05T17:54:04Z</dcterms:modified>
  <cp:revision>11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