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D5F6DEC-0C01-4A96-8CA6-50DF88ABA60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70169C-E95F-4DF9-9CAA-5A8D0454FE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EBC9-0CC5-430F-AC3E-C9594A220F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CE448-2B2A-4510-915A-482D1A69F0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CE7724-1E7F-4C2C-B0F2-EE5EC4B4BA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36417D-504E-4C7C-AD62-69F4EDAE7B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F74180-15FE-476E-A7B9-C73DC84013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1000E9-B63C-4391-B029-2F09C3CA2C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95648B-5AAE-4917-8EAA-384C132E98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83790B-79D7-404C-B9FD-CD9CAB9D9D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583972-B7B1-4B67-B1FA-3244D5DC01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4DACB3-699A-48E5-AD05-B53A40E712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D520C1-7340-43FA-B5CA-9DFD742EB9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C99F99-7A99-4720-BCE1-A996451A9E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34B3E4-8FDC-451B-9932-263F274B00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DD1A8F-9F8B-4E45-953E-1C392B0638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8.png"/><Relationship Id="rId9" Type="http://schemas.openxmlformats.org/officeDocument/2006/relationships/image" Target="../media/image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9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2011680"/>
            <a:ext cx="5943240" cy="5943240"/>
          </a:xfrm>
          <a:prstGeom prst="ellipse">
            <a:avLst/>
          </a:prstGeom>
          <a:solidFill>
            <a:srgbClr val="4f8ef7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2103120" y="4206240"/>
            <a:ext cx="5120280" cy="5120280"/>
          </a:xfrm>
          <a:prstGeom prst="ellipse">
            <a:avLst/>
          </a:prstGeom>
          <a:solidFill>
            <a:srgbClr val="a78bf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503920" y="502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503920" y="88704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503920" y="127116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503920" y="1654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888040" y="502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888040" y="88704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888040" y="127116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888040" y="1654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9272160" y="502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9272160" y="88704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9272160" y="127116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272160" y="1654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9655920" y="502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9655920" y="88704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655920" y="127116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55920" y="1654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040040" y="502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040040" y="88704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0040040" y="127116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0040040" y="1654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10424160" y="502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10424160" y="88704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10424160" y="127116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10424160" y="1654920"/>
            <a:ext cx="40680" cy="40680"/>
          </a:xfrm>
          <a:prstGeom prst="ellipse">
            <a:avLst/>
          </a:prstGeom>
          <a:solidFill>
            <a:srgbClr val="4f8ef7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5840" bIns="-15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548640" y="1051560"/>
            <a:ext cx="127800" cy="12780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777240" y="951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19" strike="noStrike">
                <a:solidFill>
                  <a:srgbClr val="4f8ef7"/>
                </a:solidFill>
                <a:latin typeface="Calibri"/>
                <a:ea typeface="Calibri"/>
              </a:rPr>
              <a:t>ENGINEERING RESEARCH BRIEF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548640" y="1508760"/>
            <a:ext cx="96922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Optimizing LLM Cost and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Resource Utilization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548640" y="320040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dce4f0"/>
                </a:solidFill>
                <a:latin typeface="Calibri"/>
                <a:ea typeface="Calibri"/>
              </a:rPr>
              <a:t>Using Headroom, Optimization Middleware, and Small Language Models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567000" y="3813120"/>
            <a:ext cx="3840120" cy="1800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548640" y="39776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8" strike="noStrike">
                <a:solidFill>
                  <a:srgbClr val="8996ac"/>
                </a:solidFill>
                <a:latin typeface="Calibri"/>
                <a:ea typeface="Calibri"/>
              </a:rPr>
              <a:t>PREPARED FOR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548640" y="4224600"/>
            <a:ext cx="868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9c4d6"/>
                </a:solidFill>
                <a:latin typeface="Calibri"/>
                <a:ea typeface="Calibri"/>
              </a:rPr>
              <a:t>Engineering Mentors  •  AI Engineers  •  DevOps Engineers  •  Software Developers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48640" y="5074920"/>
            <a:ext cx="1965600" cy="1051200"/>
          </a:xfrm>
          <a:prstGeom prst="roundRect">
            <a:avLst>
              <a:gd name="adj" fmla="val 6957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275480" y="5221080"/>
            <a:ext cx="511560" cy="51156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Image 0" descr="/home/claude/work/icons/user_blue.png"/>
          <p:cNvPicPr/>
          <p:nvPr/>
        </p:nvPicPr>
        <p:blipFill>
          <a:blip r:embed="rId1"/>
          <a:stretch/>
        </p:blipFill>
        <p:spPr>
          <a:xfrm>
            <a:off x="1383120" y="53287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44" name="Text 35"/>
          <p:cNvSpPr/>
          <p:nvPr/>
        </p:nvSpPr>
        <p:spPr>
          <a:xfrm>
            <a:off x="548640" y="57333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Developer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6"/>
          <p:cNvSpPr/>
          <p:nvPr/>
        </p:nvSpPr>
        <p:spPr>
          <a:xfrm>
            <a:off x="548640" y="592524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Request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7"/>
          <p:cNvSpPr/>
          <p:nvPr/>
        </p:nvSpPr>
        <p:spPr>
          <a:xfrm>
            <a:off x="2551320" y="5590800"/>
            <a:ext cx="328680" cy="1980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8"/>
          <p:cNvSpPr/>
          <p:nvPr/>
        </p:nvSpPr>
        <p:spPr>
          <a:xfrm rot="5400000">
            <a:off x="2895840" y="5541480"/>
            <a:ext cx="85320" cy="11844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39"/>
          <p:cNvSpPr/>
          <p:nvPr/>
        </p:nvSpPr>
        <p:spPr>
          <a:xfrm>
            <a:off x="3017520" y="5074920"/>
            <a:ext cx="1965600" cy="1051200"/>
          </a:xfrm>
          <a:prstGeom prst="roundRect">
            <a:avLst>
              <a:gd name="adj" fmla="val 6957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3744360" y="5221080"/>
            <a:ext cx="511560" cy="51156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Image 1" descr="/home/claude/work/icons/cpu_purple.png"/>
          <p:cNvPicPr/>
          <p:nvPr/>
        </p:nvPicPr>
        <p:blipFill>
          <a:blip r:embed="rId2"/>
          <a:stretch/>
        </p:blipFill>
        <p:spPr>
          <a:xfrm>
            <a:off x="3852000" y="53287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51" name="Text 41"/>
          <p:cNvSpPr/>
          <p:nvPr/>
        </p:nvSpPr>
        <p:spPr>
          <a:xfrm>
            <a:off x="3017520" y="57333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Optimization Layer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3017520" y="592524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Headroom + SLMs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5020200" y="5590800"/>
            <a:ext cx="328680" cy="1980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4"/>
          <p:cNvSpPr/>
          <p:nvPr/>
        </p:nvSpPr>
        <p:spPr>
          <a:xfrm rot="5400000">
            <a:off x="5364720" y="5541480"/>
            <a:ext cx="85320" cy="11844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5486400" y="5074920"/>
            <a:ext cx="1965600" cy="1051200"/>
          </a:xfrm>
          <a:prstGeom prst="roundRect">
            <a:avLst>
              <a:gd name="adj" fmla="val 6957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46"/>
          <p:cNvSpPr/>
          <p:nvPr/>
        </p:nvSpPr>
        <p:spPr>
          <a:xfrm>
            <a:off x="6213240" y="5221080"/>
            <a:ext cx="511560" cy="51156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" name="Image 2" descr="/home/claude/work/icons/layers_blue.png"/>
          <p:cNvPicPr/>
          <p:nvPr/>
        </p:nvPicPr>
        <p:blipFill>
          <a:blip r:embed="rId3"/>
          <a:stretch/>
        </p:blipFill>
        <p:spPr>
          <a:xfrm>
            <a:off x="6320880" y="53287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58" name="Text 47"/>
          <p:cNvSpPr/>
          <p:nvPr/>
        </p:nvSpPr>
        <p:spPr>
          <a:xfrm>
            <a:off x="5486400" y="57333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Premium LLM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48"/>
          <p:cNvSpPr/>
          <p:nvPr/>
        </p:nvSpPr>
        <p:spPr>
          <a:xfrm>
            <a:off x="5486400" y="592524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Claude / GPT / Gemini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8183880" y="5257800"/>
            <a:ext cx="731520" cy="6858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Image 3" descr="/home/claude/work/icons/trenddown_white.png"/>
          <p:cNvPicPr/>
          <p:nvPr/>
        </p:nvPicPr>
        <p:blipFill>
          <a:blip r:embed="rId4"/>
          <a:stretch/>
        </p:blipFill>
        <p:spPr>
          <a:xfrm>
            <a:off x="8302680" y="5379840"/>
            <a:ext cx="457200" cy="457200"/>
          </a:xfrm>
          <a:prstGeom prst="rect">
            <a:avLst/>
          </a:prstGeom>
          <a:ln w="0">
            <a:noFill/>
          </a:ln>
        </p:spPr>
      </p:pic>
      <p:sp>
        <p:nvSpPr>
          <p:cNvPr id="62" name="Text 50"/>
          <p:cNvSpPr/>
          <p:nvPr/>
        </p:nvSpPr>
        <p:spPr>
          <a:xfrm>
            <a:off x="7772400" y="5943600"/>
            <a:ext cx="160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4d399"/>
                </a:solidFill>
                <a:latin typeface="Calibri"/>
                <a:ea typeface="Calibri"/>
              </a:rPr>
              <a:t>Lower Token Cost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98"/>
          <p:cNvSpPr/>
          <p:nvPr/>
        </p:nvSpPr>
        <p:spPr>
          <a:xfrm>
            <a:off x="7580520" y="5590800"/>
            <a:ext cx="328680" cy="1980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99"/>
          <p:cNvSpPr/>
          <p:nvPr/>
        </p:nvSpPr>
        <p:spPr>
          <a:xfrm rot="5400000">
            <a:off x="7926120" y="5541480"/>
            <a:ext cx="85320" cy="11844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THE PROBLEM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Why LLM Cost Optimization Matters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02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457200" y="1600200"/>
            <a:ext cx="2742840" cy="1782720"/>
          </a:xfrm>
          <a:prstGeom prst="roundRect">
            <a:avLst>
              <a:gd name="adj" fmla="val 41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658440" y="180144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Image 0" descr="/home/claude/work/icons/dollar_blue.png"/>
          <p:cNvPicPr/>
          <p:nvPr/>
        </p:nvPicPr>
        <p:blipFill>
          <a:blip r:embed="rId1"/>
          <a:stretch/>
        </p:blipFill>
        <p:spPr>
          <a:xfrm>
            <a:off x="754560" y="18975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76" name="Text 10"/>
          <p:cNvSpPr/>
          <p:nvPr/>
        </p:nvSpPr>
        <p:spPr>
          <a:xfrm>
            <a:off x="1234440" y="1801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Financial Cost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658440" y="2377440"/>
            <a:ext cx="2340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Premium models like Claude Opus, Codex, and GPT-5 are the most capable — and most expensive. Repeated context inflates spend fast.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3456360" y="1600200"/>
            <a:ext cx="2742840" cy="1782720"/>
          </a:xfrm>
          <a:prstGeom prst="roundRect">
            <a:avLst>
              <a:gd name="adj" fmla="val 41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3657600" y="180144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Image 1" descr="/home/claude/work/icons/maximize_blue.png"/>
          <p:cNvPicPr/>
          <p:nvPr/>
        </p:nvPicPr>
        <p:blipFill>
          <a:blip r:embed="rId2"/>
          <a:stretch/>
        </p:blipFill>
        <p:spPr>
          <a:xfrm>
            <a:off x="3753720" y="18975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81" name="Text 14"/>
          <p:cNvSpPr/>
          <p:nvPr/>
        </p:nvSpPr>
        <p:spPr>
          <a:xfrm>
            <a:off x="4233600" y="180144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Context Window Limits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3657600" y="2377440"/>
            <a:ext cx="2340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Unnecessary information consumes context budget, leaving less room for what actually matters to the task at hand.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457200" y="3639240"/>
            <a:ext cx="2742840" cy="1782720"/>
          </a:xfrm>
          <a:prstGeom prst="roundRect">
            <a:avLst>
              <a:gd name="adj" fmla="val 41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658440" y="384048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2" descr="/home/claude/work/icons/watch_blue.png"/>
          <p:cNvPicPr/>
          <p:nvPr/>
        </p:nvPicPr>
        <p:blipFill>
          <a:blip r:embed="rId3"/>
          <a:stretch/>
        </p:blipFill>
        <p:spPr>
          <a:xfrm>
            <a:off x="754560" y="393660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86" name="Text 18"/>
          <p:cNvSpPr/>
          <p:nvPr/>
        </p:nvSpPr>
        <p:spPr>
          <a:xfrm>
            <a:off x="1234440" y="384048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Latency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658440" y="4416480"/>
            <a:ext cx="2340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Larger prompts mean more tokens to transmit and process — longer response times for every single request.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3456360" y="3639240"/>
            <a:ext cx="2742840" cy="1782720"/>
          </a:xfrm>
          <a:prstGeom prst="roundRect">
            <a:avLst>
              <a:gd name="adj" fmla="val 41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21"/>
          <p:cNvSpPr/>
          <p:nvPr/>
        </p:nvSpPr>
        <p:spPr>
          <a:xfrm>
            <a:off x="3657600" y="384048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3" descr="/home/claude/work/icons/repeat_blue.png"/>
          <p:cNvPicPr/>
          <p:nvPr/>
        </p:nvPicPr>
        <p:blipFill>
          <a:blip r:embed="rId4"/>
          <a:stretch/>
        </p:blipFill>
        <p:spPr>
          <a:xfrm>
            <a:off x="3753720" y="393660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91" name="Text 22"/>
          <p:cNvSpPr/>
          <p:nvPr/>
        </p:nvSpPr>
        <p:spPr>
          <a:xfrm>
            <a:off x="4233600" y="384048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Productivity Drag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3657600" y="4416480"/>
            <a:ext cx="2340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Developers shouldn't manually decide what context to share. Manual curation wastes engineering time and focus.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6720840" y="1234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996ac"/>
                </a:solidFill>
                <a:latin typeface="Calibri"/>
                <a:ea typeface="Calibri"/>
              </a:rPr>
              <a:t>The Escalation Without Optimization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6720840" y="1600200"/>
            <a:ext cx="5028840" cy="566640"/>
          </a:xfrm>
          <a:prstGeom prst="roundRect">
            <a:avLst>
              <a:gd name="adj" fmla="val 129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6849000" y="1700640"/>
            <a:ext cx="365400" cy="36540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Image 4" descr="/home/claude/work/icons/user_blue.png"/>
          <p:cNvPicPr/>
          <p:nvPr/>
        </p:nvPicPr>
        <p:blipFill>
          <a:blip r:embed="rId5"/>
          <a:stretch/>
        </p:blipFill>
        <p:spPr>
          <a:xfrm>
            <a:off x="6925680" y="177408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97" name="Text 27"/>
          <p:cNvSpPr/>
          <p:nvPr/>
        </p:nvSpPr>
        <p:spPr>
          <a:xfrm>
            <a:off x="7342560" y="1600200"/>
            <a:ext cx="426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ce4f0"/>
                </a:solidFill>
                <a:latin typeface="Calibri"/>
                <a:ea typeface="Calibri"/>
              </a:rPr>
              <a:t>Developer sends a request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8"/>
          <p:cNvSpPr/>
          <p:nvPr/>
        </p:nvSpPr>
        <p:spPr>
          <a:xfrm>
            <a:off x="7023600" y="2203560"/>
            <a:ext cx="16200" cy="9144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9"/>
          <p:cNvSpPr/>
          <p:nvPr/>
        </p:nvSpPr>
        <p:spPr>
          <a:xfrm rot="10800000">
            <a:off x="6972840" y="2313360"/>
            <a:ext cx="118440" cy="8532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30"/>
          <p:cNvSpPr/>
          <p:nvPr/>
        </p:nvSpPr>
        <p:spPr>
          <a:xfrm>
            <a:off x="6720840" y="2414160"/>
            <a:ext cx="5028840" cy="566640"/>
          </a:xfrm>
          <a:prstGeom prst="roundRect">
            <a:avLst>
              <a:gd name="adj" fmla="val 129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31"/>
          <p:cNvSpPr/>
          <p:nvPr/>
        </p:nvSpPr>
        <p:spPr>
          <a:xfrm>
            <a:off x="6849000" y="2514600"/>
            <a:ext cx="365400" cy="36540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5" descr="/home/claude/work/icons/cpu_blue.png"/>
          <p:cNvPicPr/>
          <p:nvPr/>
        </p:nvPicPr>
        <p:blipFill>
          <a:blip r:embed="rId6"/>
          <a:stretch/>
        </p:blipFill>
        <p:spPr>
          <a:xfrm>
            <a:off x="6925680" y="258768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03" name="Text 32"/>
          <p:cNvSpPr/>
          <p:nvPr/>
        </p:nvSpPr>
        <p:spPr>
          <a:xfrm>
            <a:off x="7342560" y="2414160"/>
            <a:ext cx="426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ce4f0"/>
                </a:solidFill>
                <a:latin typeface="Calibri"/>
                <a:ea typeface="Calibri"/>
              </a:rPr>
              <a:t>Full raw context reaches the LLM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33"/>
          <p:cNvSpPr/>
          <p:nvPr/>
        </p:nvSpPr>
        <p:spPr>
          <a:xfrm>
            <a:off x="7023600" y="3017520"/>
            <a:ext cx="16200" cy="9144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4"/>
          <p:cNvSpPr/>
          <p:nvPr/>
        </p:nvSpPr>
        <p:spPr>
          <a:xfrm rot="10800000">
            <a:off x="6972840" y="3127320"/>
            <a:ext cx="118440" cy="8532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35"/>
          <p:cNvSpPr/>
          <p:nvPr/>
        </p:nvSpPr>
        <p:spPr>
          <a:xfrm>
            <a:off x="6720840" y="3227760"/>
            <a:ext cx="5028840" cy="566640"/>
          </a:xfrm>
          <a:prstGeom prst="roundRect">
            <a:avLst>
              <a:gd name="adj" fmla="val 129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36"/>
          <p:cNvSpPr/>
          <p:nvPr/>
        </p:nvSpPr>
        <p:spPr>
          <a:xfrm>
            <a:off x="6849000" y="3328560"/>
            <a:ext cx="365400" cy="36540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Image 6" descr="/home/claude/work/icons/dollar_blue.png"/>
          <p:cNvPicPr/>
          <p:nvPr/>
        </p:nvPicPr>
        <p:blipFill>
          <a:blip r:embed="rId7"/>
          <a:stretch/>
        </p:blipFill>
        <p:spPr>
          <a:xfrm>
            <a:off x="6925680" y="340164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09" name="Text 37"/>
          <p:cNvSpPr/>
          <p:nvPr/>
        </p:nvSpPr>
        <p:spPr>
          <a:xfrm>
            <a:off x="7342560" y="3227760"/>
            <a:ext cx="426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ce4f0"/>
                </a:solidFill>
                <a:latin typeface="Calibri"/>
                <a:ea typeface="Calibri"/>
              </a:rPr>
              <a:t>High cost per request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38"/>
          <p:cNvSpPr/>
          <p:nvPr/>
        </p:nvSpPr>
        <p:spPr>
          <a:xfrm>
            <a:off x="7023600" y="3831480"/>
            <a:ext cx="16200" cy="9144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39"/>
          <p:cNvSpPr/>
          <p:nvPr/>
        </p:nvSpPr>
        <p:spPr>
          <a:xfrm rot="10800000">
            <a:off x="6972840" y="3940920"/>
            <a:ext cx="118440" cy="8532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40"/>
          <p:cNvSpPr/>
          <p:nvPr/>
        </p:nvSpPr>
        <p:spPr>
          <a:xfrm>
            <a:off x="6720840" y="4041720"/>
            <a:ext cx="5028840" cy="566640"/>
          </a:xfrm>
          <a:prstGeom prst="roundRect">
            <a:avLst>
              <a:gd name="adj" fmla="val 1290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41"/>
          <p:cNvSpPr/>
          <p:nvPr/>
        </p:nvSpPr>
        <p:spPr>
          <a:xfrm>
            <a:off x="6849000" y="4142160"/>
            <a:ext cx="365400" cy="36540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Image 7" descr="/home/claude/work/icons/repeat_blue.png"/>
          <p:cNvPicPr/>
          <p:nvPr/>
        </p:nvPicPr>
        <p:blipFill>
          <a:blip r:embed="rId8"/>
          <a:stretch/>
        </p:blipFill>
        <p:spPr>
          <a:xfrm>
            <a:off x="6925680" y="421524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15" name="Text 42"/>
          <p:cNvSpPr/>
          <p:nvPr/>
        </p:nvSpPr>
        <p:spPr>
          <a:xfrm>
            <a:off x="7342560" y="4041720"/>
            <a:ext cx="426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ce4f0"/>
                </a:solidFill>
                <a:latin typeface="Calibri"/>
                <a:ea typeface="Calibri"/>
              </a:rPr>
              <a:t>High token usage, repeated often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43"/>
          <p:cNvSpPr/>
          <p:nvPr/>
        </p:nvSpPr>
        <p:spPr>
          <a:xfrm>
            <a:off x="7023600" y="4645080"/>
            <a:ext cx="16200" cy="9144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44"/>
          <p:cNvSpPr/>
          <p:nvPr/>
        </p:nvSpPr>
        <p:spPr>
          <a:xfrm rot="10800000">
            <a:off x="6972840" y="4752000"/>
            <a:ext cx="118440" cy="8532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45"/>
          <p:cNvSpPr/>
          <p:nvPr/>
        </p:nvSpPr>
        <p:spPr>
          <a:xfrm>
            <a:off x="6720840" y="4855320"/>
            <a:ext cx="5028840" cy="566640"/>
          </a:xfrm>
          <a:prstGeom prst="roundRect">
            <a:avLst>
              <a:gd name="adj" fmla="val 12903"/>
            </a:avLst>
          </a:prstGeom>
          <a:solidFill>
            <a:srgbClr val="1b2740"/>
          </a:solidFill>
          <a:ln w="12700">
            <a:solidFill>
              <a:srgbClr val="34d399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46"/>
          <p:cNvSpPr/>
          <p:nvPr/>
        </p:nvSpPr>
        <p:spPr>
          <a:xfrm>
            <a:off x="6849000" y="4956120"/>
            <a:ext cx="365400" cy="3654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Image 8" descr="/home/claude/work/icons/trenddown_white.png"/>
          <p:cNvPicPr/>
          <p:nvPr/>
        </p:nvPicPr>
        <p:blipFill>
          <a:blip r:embed="rId9"/>
          <a:stretch/>
        </p:blipFill>
        <p:spPr>
          <a:xfrm>
            <a:off x="6925680" y="503280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21" name="Text 47"/>
          <p:cNvSpPr/>
          <p:nvPr/>
        </p:nvSpPr>
        <p:spPr>
          <a:xfrm>
            <a:off x="7342560" y="4855320"/>
            <a:ext cx="426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34d399"/>
                </a:solidFill>
                <a:latin typeface="Calibri"/>
                <a:ea typeface="Calibri"/>
              </a:rPr>
              <a:t>Need for Optimization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ROOT CAUSE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457200" y="658440"/>
            <a:ext cx="11292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Where Token Consumption Really Comes From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457200" y="1161360"/>
            <a:ext cx="1129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8996ac"/>
                </a:solidFill>
                <a:latin typeface="Calibri"/>
                <a:ea typeface="Calibri"/>
              </a:rPr>
              <a:t>The same context is re-transmitted, request after request — and it compounds quickly.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03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502920" y="1783080"/>
            <a:ext cx="3245760" cy="2601000"/>
          </a:xfrm>
          <a:prstGeom prst="roundRect">
            <a:avLst>
              <a:gd name="adj" fmla="val 281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685800" y="1929240"/>
            <a:ext cx="1279800" cy="27396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685800" y="19292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9" strike="noStrike">
                <a:solidFill>
                  <a:srgbClr val="4f8ef7"/>
                </a:solidFill>
                <a:latin typeface="Calibri"/>
                <a:ea typeface="Calibri"/>
              </a:rPr>
              <a:t>Request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704160" y="2240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795600" y="2240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README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704160" y="2528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795600" y="2528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File A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704160" y="2816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795600" y="2816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pc="-1" strike="noStrike">
                <a:solidFill>
                  <a:srgbClr val="4f8ef7"/>
                </a:solidFill>
                <a:latin typeface="Calibri"/>
                <a:ea typeface="Calibri"/>
              </a:rPr>
              <a:t>Question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3803760" y="3073680"/>
            <a:ext cx="292320" cy="1980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 rot="5400000">
            <a:off x="4111920" y="3024360"/>
            <a:ext cx="85320" cy="11844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20"/>
          <p:cNvSpPr/>
          <p:nvPr/>
        </p:nvSpPr>
        <p:spPr>
          <a:xfrm>
            <a:off x="4251960" y="1783080"/>
            <a:ext cx="3245760" cy="2601000"/>
          </a:xfrm>
          <a:prstGeom prst="roundRect">
            <a:avLst>
              <a:gd name="adj" fmla="val 281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4434840" y="1929240"/>
            <a:ext cx="1279800" cy="27396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4434840" y="19292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9" strike="noStrike">
                <a:solidFill>
                  <a:srgbClr val="4f8ef7"/>
                </a:solidFill>
                <a:latin typeface="Calibri"/>
                <a:ea typeface="Calibri"/>
              </a:rPr>
              <a:t>Request 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23"/>
          <p:cNvSpPr/>
          <p:nvPr/>
        </p:nvSpPr>
        <p:spPr>
          <a:xfrm>
            <a:off x="4453200" y="2240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4544640" y="2240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README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4453200" y="2528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4544640" y="2528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File A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27"/>
          <p:cNvSpPr/>
          <p:nvPr/>
        </p:nvSpPr>
        <p:spPr>
          <a:xfrm>
            <a:off x="4453200" y="2816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7c5cfc">
              <a:alpha val="75000"/>
            </a:srgbClr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8"/>
          <p:cNvSpPr/>
          <p:nvPr/>
        </p:nvSpPr>
        <p:spPr>
          <a:xfrm>
            <a:off x="4544640" y="2816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File B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9"/>
          <p:cNvSpPr/>
          <p:nvPr/>
        </p:nvSpPr>
        <p:spPr>
          <a:xfrm>
            <a:off x="4453200" y="3104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7c5cfc">
              <a:alpha val="75000"/>
            </a:srgbClr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30"/>
          <p:cNvSpPr/>
          <p:nvPr/>
        </p:nvSpPr>
        <p:spPr>
          <a:xfrm>
            <a:off x="4544640" y="3104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Logs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31"/>
          <p:cNvSpPr/>
          <p:nvPr/>
        </p:nvSpPr>
        <p:spPr>
          <a:xfrm>
            <a:off x="4453200" y="3392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32"/>
          <p:cNvSpPr/>
          <p:nvPr/>
        </p:nvSpPr>
        <p:spPr>
          <a:xfrm>
            <a:off x="4544640" y="3392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pc="-1" strike="noStrike">
                <a:solidFill>
                  <a:srgbClr val="4f8ef7"/>
                </a:solidFill>
                <a:latin typeface="Calibri"/>
                <a:ea typeface="Calibri"/>
              </a:rPr>
              <a:t>Question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>
            <a:off x="7552800" y="3073680"/>
            <a:ext cx="292320" cy="1980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4"/>
          <p:cNvSpPr/>
          <p:nvPr/>
        </p:nvSpPr>
        <p:spPr>
          <a:xfrm rot="5400000">
            <a:off x="7860960" y="3024360"/>
            <a:ext cx="85320" cy="11844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35"/>
          <p:cNvSpPr/>
          <p:nvPr/>
        </p:nvSpPr>
        <p:spPr>
          <a:xfrm>
            <a:off x="8001000" y="1783080"/>
            <a:ext cx="3245760" cy="2601000"/>
          </a:xfrm>
          <a:prstGeom prst="roundRect">
            <a:avLst>
              <a:gd name="adj" fmla="val 2812"/>
            </a:avLst>
          </a:prstGeom>
          <a:solidFill>
            <a:srgbClr val="1b2740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36"/>
          <p:cNvSpPr/>
          <p:nvPr/>
        </p:nvSpPr>
        <p:spPr>
          <a:xfrm>
            <a:off x="8183880" y="1929240"/>
            <a:ext cx="1279800" cy="27396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8183880" y="19292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9" strike="noStrike">
                <a:solidFill>
                  <a:srgbClr val="4f8ef7"/>
                </a:solidFill>
                <a:latin typeface="Calibri"/>
                <a:ea typeface="Calibri"/>
              </a:rPr>
              <a:t>Request 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38"/>
          <p:cNvSpPr/>
          <p:nvPr/>
        </p:nvSpPr>
        <p:spPr>
          <a:xfrm>
            <a:off x="8202240" y="2240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9"/>
          <p:cNvSpPr/>
          <p:nvPr/>
        </p:nvSpPr>
        <p:spPr>
          <a:xfrm>
            <a:off x="8293680" y="2240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README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0"/>
          <p:cNvSpPr/>
          <p:nvPr/>
        </p:nvSpPr>
        <p:spPr>
          <a:xfrm>
            <a:off x="8202240" y="2528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1"/>
          <p:cNvSpPr/>
          <p:nvPr/>
        </p:nvSpPr>
        <p:spPr>
          <a:xfrm>
            <a:off x="8293680" y="2528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File A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42"/>
          <p:cNvSpPr/>
          <p:nvPr/>
        </p:nvSpPr>
        <p:spPr>
          <a:xfrm>
            <a:off x="8202240" y="2816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3"/>
          <p:cNvSpPr/>
          <p:nvPr/>
        </p:nvSpPr>
        <p:spPr>
          <a:xfrm>
            <a:off x="8293680" y="2816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File B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44"/>
          <p:cNvSpPr/>
          <p:nvPr/>
        </p:nvSpPr>
        <p:spPr>
          <a:xfrm>
            <a:off x="8202240" y="3104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45"/>
          <p:cNvSpPr/>
          <p:nvPr/>
        </p:nvSpPr>
        <p:spPr>
          <a:xfrm>
            <a:off x="8293680" y="3104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Logs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46"/>
          <p:cNvSpPr/>
          <p:nvPr/>
        </p:nvSpPr>
        <p:spPr>
          <a:xfrm>
            <a:off x="8202240" y="339228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7c5cfc">
              <a:alpha val="75000"/>
            </a:srgbClr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7"/>
          <p:cNvSpPr/>
          <p:nvPr/>
        </p:nvSpPr>
        <p:spPr>
          <a:xfrm>
            <a:off x="8293680" y="339228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Terminal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48"/>
          <p:cNvSpPr/>
          <p:nvPr/>
        </p:nvSpPr>
        <p:spPr>
          <a:xfrm>
            <a:off x="8202240" y="368064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7c5cfc">
              <a:alpha val="75000"/>
            </a:srgbClr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49"/>
          <p:cNvSpPr/>
          <p:nvPr/>
        </p:nvSpPr>
        <p:spPr>
          <a:xfrm>
            <a:off x="8293680" y="368064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b9c4d6"/>
                </a:solidFill>
                <a:latin typeface="Calibri"/>
                <a:ea typeface="Calibri"/>
              </a:rPr>
              <a:t>Stack Trace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50"/>
          <p:cNvSpPr/>
          <p:nvPr/>
        </p:nvSpPr>
        <p:spPr>
          <a:xfrm>
            <a:off x="8202240" y="3968640"/>
            <a:ext cx="2843280" cy="241920"/>
          </a:xfrm>
          <a:prstGeom prst="roundRect">
            <a:avLst>
              <a:gd name="adj" fmla="val 18868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51"/>
          <p:cNvSpPr/>
          <p:nvPr/>
        </p:nvSpPr>
        <p:spPr>
          <a:xfrm>
            <a:off x="8293680" y="3968640"/>
            <a:ext cx="2660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pc="-1" strike="noStrike">
                <a:solidFill>
                  <a:srgbClr val="4f8ef7"/>
                </a:solidFill>
                <a:latin typeface="Calibri"/>
                <a:ea typeface="Calibri"/>
              </a:rPr>
              <a:t>Question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2"/>
          <p:cNvSpPr/>
          <p:nvPr/>
        </p:nvSpPr>
        <p:spPr>
          <a:xfrm>
            <a:off x="502920" y="451260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Although most of this information was already sent, it is transmitted again in full — the primary driver of excessive token consumption.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53"/>
          <p:cNvSpPr/>
          <p:nvPr/>
        </p:nvSpPr>
        <p:spPr>
          <a:xfrm>
            <a:off x="502920" y="4860000"/>
            <a:ext cx="11274120" cy="585000"/>
          </a:xfrm>
          <a:prstGeom prst="roundRect">
            <a:avLst>
              <a:gd name="adj" fmla="val 12500"/>
            </a:avLst>
          </a:prstGeom>
          <a:solidFill>
            <a:srgbClr val="1b2740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54"/>
          <p:cNvSpPr/>
          <p:nvPr/>
        </p:nvSpPr>
        <p:spPr>
          <a:xfrm>
            <a:off x="777240" y="4860000"/>
            <a:ext cx="13712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4f8ef7"/>
                </a:solidFill>
                <a:latin typeface="Calibri"/>
                <a:ea typeface="Calibri"/>
              </a:rPr>
              <a:t>2.3×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55"/>
          <p:cNvSpPr/>
          <p:nvPr/>
        </p:nvSpPr>
        <p:spPr>
          <a:xfrm>
            <a:off x="1600200" y="4860000"/>
            <a:ext cx="96008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ce4f0"/>
                </a:solidFill>
                <a:latin typeface="Calibri"/>
                <a:ea typeface="Calibri"/>
              </a:rPr>
              <a:t>more tokens transmitted by Request 3 than Request 1 — README and File A alone are re-sent three times over, in full, despite being identical every time.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56"/>
          <p:cNvSpPr/>
          <p:nvPr/>
        </p:nvSpPr>
        <p:spPr>
          <a:xfrm>
            <a:off x="502920" y="5609880"/>
            <a:ext cx="2697120" cy="676440"/>
          </a:xfrm>
          <a:prstGeom prst="roundRect">
            <a:avLst>
              <a:gd name="adj" fmla="val 10811"/>
            </a:avLst>
          </a:prstGeom>
          <a:solidFill>
            <a:srgbClr val="17233a"/>
          </a:solidFill>
          <a:ln w="12700">
            <a:solidFill>
              <a:srgbClr val="2733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57"/>
          <p:cNvSpPr/>
          <p:nvPr/>
        </p:nvSpPr>
        <p:spPr>
          <a:xfrm>
            <a:off x="640080" y="5738040"/>
            <a:ext cx="365400" cy="3654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Image 0" descr="/home/claude/work/icons/check_white.png"/>
          <p:cNvPicPr/>
          <p:nvPr/>
        </p:nvPicPr>
        <p:blipFill>
          <a:blip r:embed="rId1"/>
          <a:stretch/>
        </p:blipFill>
        <p:spPr>
          <a:xfrm>
            <a:off x="716760" y="581472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81" name="Text 58"/>
          <p:cNvSpPr/>
          <p:nvPr/>
        </p:nvSpPr>
        <p:spPr>
          <a:xfrm>
            <a:off x="1124640" y="570132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5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Remove Redundant Info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59"/>
          <p:cNvSpPr/>
          <p:nvPr/>
        </p:nvSpPr>
        <p:spPr>
          <a:xfrm>
            <a:off x="1143000" y="59619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8996ac"/>
                </a:solidFill>
                <a:latin typeface="Calibri"/>
                <a:ea typeface="Calibri"/>
              </a:rPr>
              <a:t>Strip content already sent in prior requests within the same session.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60"/>
          <p:cNvSpPr/>
          <p:nvPr/>
        </p:nvSpPr>
        <p:spPr>
          <a:xfrm>
            <a:off x="3383280" y="5609880"/>
            <a:ext cx="2697120" cy="676440"/>
          </a:xfrm>
          <a:prstGeom prst="roundRect">
            <a:avLst>
              <a:gd name="adj" fmla="val 10811"/>
            </a:avLst>
          </a:prstGeom>
          <a:solidFill>
            <a:srgbClr val="17233a"/>
          </a:solidFill>
          <a:ln w="12700">
            <a:solidFill>
              <a:srgbClr val="2733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61"/>
          <p:cNvSpPr/>
          <p:nvPr/>
        </p:nvSpPr>
        <p:spPr>
          <a:xfrm>
            <a:off x="3520440" y="5738040"/>
            <a:ext cx="365400" cy="3654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Image 1" descr="/home/claude/work/icons/layers_white.png"/>
          <p:cNvPicPr/>
          <p:nvPr/>
        </p:nvPicPr>
        <p:blipFill>
          <a:blip r:embed="rId2"/>
          <a:stretch/>
        </p:blipFill>
        <p:spPr>
          <a:xfrm>
            <a:off x="3597120" y="581472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86" name="Text 62"/>
          <p:cNvSpPr/>
          <p:nvPr/>
        </p:nvSpPr>
        <p:spPr>
          <a:xfrm>
            <a:off x="4005000" y="570132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5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Compress Repetitive Context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63"/>
          <p:cNvSpPr/>
          <p:nvPr/>
        </p:nvSpPr>
        <p:spPr>
          <a:xfrm>
            <a:off x="4023360" y="59619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8996ac"/>
                </a:solidFill>
                <a:latin typeface="Calibri"/>
                <a:ea typeface="Calibri"/>
              </a:rPr>
              <a:t>Reduce recurring blocks to compact, information-dense representations.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64"/>
          <p:cNvSpPr/>
          <p:nvPr/>
        </p:nvSpPr>
        <p:spPr>
          <a:xfrm>
            <a:off x="6263640" y="5609880"/>
            <a:ext cx="2697120" cy="676440"/>
          </a:xfrm>
          <a:prstGeom prst="roundRect">
            <a:avLst>
              <a:gd name="adj" fmla="val 10811"/>
            </a:avLst>
          </a:prstGeom>
          <a:solidFill>
            <a:srgbClr val="17233a"/>
          </a:solidFill>
          <a:ln w="12700">
            <a:solidFill>
              <a:srgbClr val="2733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65"/>
          <p:cNvSpPr/>
          <p:nvPr/>
        </p:nvSpPr>
        <p:spPr>
          <a:xfrm>
            <a:off x="6400800" y="5738040"/>
            <a:ext cx="365400" cy="3654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2" descr="/home/claude/work/icons/repeat_white.png"/>
          <p:cNvPicPr/>
          <p:nvPr/>
        </p:nvPicPr>
        <p:blipFill>
          <a:blip r:embed="rId3"/>
          <a:stretch/>
        </p:blipFill>
        <p:spPr>
          <a:xfrm>
            <a:off x="6477480" y="581472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91" name="Text 66"/>
          <p:cNvSpPr/>
          <p:nvPr/>
        </p:nvSpPr>
        <p:spPr>
          <a:xfrm>
            <a:off x="6885360" y="570132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5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Reuse Prior Computation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67"/>
          <p:cNvSpPr/>
          <p:nvPr/>
        </p:nvSpPr>
        <p:spPr>
          <a:xfrm>
            <a:off x="6894720" y="59619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8996ac"/>
                </a:solidFill>
                <a:latin typeface="Calibri"/>
                <a:ea typeface="Calibri"/>
              </a:rPr>
              <a:t>Leverage provider-side caching instead of recomputing identical prefixes.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68"/>
          <p:cNvSpPr/>
          <p:nvPr/>
        </p:nvSpPr>
        <p:spPr>
          <a:xfrm>
            <a:off x="9144000" y="5609880"/>
            <a:ext cx="2697120" cy="676440"/>
          </a:xfrm>
          <a:prstGeom prst="roundRect">
            <a:avLst>
              <a:gd name="adj" fmla="val 10811"/>
            </a:avLst>
          </a:prstGeom>
          <a:solidFill>
            <a:srgbClr val="17233a"/>
          </a:solidFill>
          <a:ln w="12700">
            <a:solidFill>
              <a:srgbClr val="2733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69"/>
          <p:cNvSpPr/>
          <p:nvPr/>
        </p:nvSpPr>
        <p:spPr>
          <a:xfrm>
            <a:off x="9281160" y="5738040"/>
            <a:ext cx="365400" cy="3654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3" descr="/home/claude/work/icons/target_white.png"/>
          <p:cNvPicPr/>
          <p:nvPr/>
        </p:nvPicPr>
        <p:blipFill>
          <a:blip r:embed="rId4"/>
          <a:stretch/>
        </p:blipFill>
        <p:spPr>
          <a:xfrm>
            <a:off x="9357840" y="581472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196" name="Text 70"/>
          <p:cNvSpPr/>
          <p:nvPr/>
        </p:nvSpPr>
        <p:spPr>
          <a:xfrm>
            <a:off x="9765720" y="570132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51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Preserve What's Relevant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71"/>
          <p:cNvSpPr/>
          <p:nvPr/>
        </p:nvSpPr>
        <p:spPr>
          <a:xfrm>
            <a:off x="9784080" y="59619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8996ac"/>
                </a:solidFill>
                <a:latin typeface="Calibri"/>
                <a:ea typeface="Calibri"/>
              </a:rPr>
              <a:t>Keep only the information the current task genuinely depends on.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PHASE 1 — HEADROOM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Headroom Is Not Just a Prompt Compressor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04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457200" y="155448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ce4f0"/>
                </a:solidFill>
                <a:latin typeface="Calibri"/>
                <a:ea typeface="Calibri"/>
              </a:rPr>
              <a:t>Headroom is an optimization platform that sits between AI coding assistants and LLM providers as intelligent middleware — not another language model.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457200" y="2514600"/>
            <a:ext cx="5120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b9c4d6"/>
                </a:solidFill>
                <a:latin typeface="Calibri"/>
                <a:ea typeface="Calibri"/>
              </a:rPr>
              <a:t>It analyzes incoming data, detects content type, applies specialized optimization techniques, and forwards a smaller, information-rich payload to the model — instead of raw context.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457200" y="3657600"/>
            <a:ext cx="5120280" cy="1051200"/>
          </a:xfrm>
          <a:prstGeom prst="roundRect">
            <a:avLst>
              <a:gd name="adj" fmla="val 6957"/>
            </a:avLst>
          </a:prstGeom>
          <a:solidFill>
            <a:srgbClr val="1b2740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457200" y="3657600"/>
            <a:ext cx="5120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i="1" lang="en-US" sz="1550" spc="-1" strike="noStrike">
                <a:solidFill>
                  <a:srgbClr val="4f8ef7"/>
                </a:solidFill>
                <a:latin typeface="Calibri"/>
                <a:ea typeface="Calibri"/>
              </a:rPr>
              <a:t>“</a:t>
            </a:r>
            <a:r>
              <a:rPr b="1" i="1" lang="en-US" sz="1550" spc="-1" strike="noStrike">
                <a:solidFill>
                  <a:srgbClr val="4f8ef7"/>
                </a:solidFill>
                <a:latin typeface="Calibri"/>
                <a:ea typeface="Calibri"/>
              </a:rPr>
              <a:t>Optimize before sending to expensive models.”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457200" y="5166360"/>
            <a:ext cx="14810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13"/>
          <p:cNvSpPr/>
          <p:nvPr/>
        </p:nvSpPr>
        <p:spPr>
          <a:xfrm>
            <a:off x="1005840" y="5266800"/>
            <a:ext cx="402120" cy="40212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2" name="Image 0" descr="/home/claude/work/icons/user_blue.png"/>
          <p:cNvPicPr/>
          <p:nvPr/>
        </p:nvPicPr>
        <p:blipFill>
          <a:blip r:embed="rId1"/>
          <a:stretch/>
        </p:blipFill>
        <p:spPr>
          <a:xfrm>
            <a:off x="1088280" y="53582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213" name="Text 14"/>
          <p:cNvSpPr/>
          <p:nvPr/>
        </p:nvSpPr>
        <p:spPr>
          <a:xfrm>
            <a:off x="457200" y="5715000"/>
            <a:ext cx="1481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Developer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5"/>
          <p:cNvSpPr/>
          <p:nvPr/>
        </p:nvSpPr>
        <p:spPr>
          <a:xfrm>
            <a:off x="1965960" y="5586840"/>
            <a:ext cx="164160" cy="1980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16"/>
          <p:cNvSpPr/>
          <p:nvPr/>
        </p:nvSpPr>
        <p:spPr>
          <a:xfrm rot="5400000">
            <a:off x="2145960" y="5542920"/>
            <a:ext cx="85320" cy="11844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7"/>
          <p:cNvSpPr/>
          <p:nvPr/>
        </p:nvSpPr>
        <p:spPr>
          <a:xfrm>
            <a:off x="2286000" y="5166360"/>
            <a:ext cx="1481040" cy="868320"/>
          </a:xfrm>
          <a:prstGeom prst="roundRect">
            <a:avLst>
              <a:gd name="adj" fmla="val 8421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8"/>
          <p:cNvSpPr/>
          <p:nvPr/>
        </p:nvSpPr>
        <p:spPr>
          <a:xfrm>
            <a:off x="2797920" y="5266800"/>
            <a:ext cx="402120" cy="40212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Image 1" descr="/home/claude/work/icons/cpu_purple.png"/>
          <p:cNvPicPr/>
          <p:nvPr/>
        </p:nvPicPr>
        <p:blipFill>
          <a:blip r:embed="rId2"/>
          <a:stretch/>
        </p:blipFill>
        <p:spPr>
          <a:xfrm>
            <a:off x="2882520" y="53582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219" name="Text 19"/>
          <p:cNvSpPr/>
          <p:nvPr/>
        </p:nvSpPr>
        <p:spPr>
          <a:xfrm>
            <a:off x="2258640" y="5715000"/>
            <a:ext cx="1481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Headroom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20"/>
          <p:cNvSpPr/>
          <p:nvPr/>
        </p:nvSpPr>
        <p:spPr>
          <a:xfrm>
            <a:off x="3767400" y="5586840"/>
            <a:ext cx="164160" cy="1980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 rot="5400000">
            <a:off x="3947400" y="5542920"/>
            <a:ext cx="85320" cy="11844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22"/>
          <p:cNvSpPr/>
          <p:nvPr/>
        </p:nvSpPr>
        <p:spPr>
          <a:xfrm>
            <a:off x="4060080" y="5166360"/>
            <a:ext cx="14810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23"/>
          <p:cNvSpPr/>
          <p:nvPr/>
        </p:nvSpPr>
        <p:spPr>
          <a:xfrm>
            <a:off x="4599360" y="5266800"/>
            <a:ext cx="402120" cy="40212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2" descr="/home/claude/work/icons/layers_blue.png"/>
          <p:cNvPicPr/>
          <p:nvPr/>
        </p:nvPicPr>
        <p:blipFill>
          <a:blip r:embed="rId3"/>
          <a:stretch/>
        </p:blipFill>
        <p:spPr>
          <a:xfrm>
            <a:off x="4683960" y="53582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225" name="Text 24"/>
          <p:cNvSpPr/>
          <p:nvPr/>
        </p:nvSpPr>
        <p:spPr>
          <a:xfrm>
            <a:off x="4060080" y="5715000"/>
            <a:ext cx="1481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Claude / GPT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/ Gemini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5989320" y="1508760"/>
            <a:ext cx="5742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8996ac"/>
                </a:solidFill>
                <a:latin typeface="Calibri"/>
                <a:ea typeface="Calibri"/>
              </a:rPr>
              <a:t>A Unified Platform — Not a Single-Purpose Tool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6"/>
          <p:cNvSpPr/>
          <p:nvPr/>
        </p:nvSpPr>
        <p:spPr>
          <a:xfrm>
            <a:off x="5989320" y="190188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27"/>
          <p:cNvSpPr/>
          <p:nvPr/>
        </p:nvSpPr>
        <p:spPr>
          <a:xfrm>
            <a:off x="6153840" y="210780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3" descr="/home/claude/work/icons/filetext_blue.png"/>
          <p:cNvPicPr/>
          <p:nvPr/>
        </p:nvPicPr>
        <p:blipFill>
          <a:blip r:embed="rId4"/>
          <a:stretch/>
        </p:blipFill>
        <p:spPr>
          <a:xfrm>
            <a:off x="6249960" y="22035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30" name="Text 28"/>
          <p:cNvSpPr/>
          <p:nvPr/>
        </p:nvSpPr>
        <p:spPr>
          <a:xfrm>
            <a:off x="6720840" y="190188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Context Compression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29"/>
          <p:cNvSpPr/>
          <p:nvPr/>
        </p:nvSpPr>
        <p:spPr>
          <a:xfrm>
            <a:off x="8997840" y="190188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38bdf8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30"/>
          <p:cNvSpPr/>
          <p:nvPr/>
        </p:nvSpPr>
        <p:spPr>
          <a:xfrm>
            <a:off x="9162360" y="2107800"/>
            <a:ext cx="456840" cy="456840"/>
          </a:xfrm>
          <a:prstGeom prst="ellipse">
            <a:avLst/>
          </a:prstGeom>
          <a:solidFill>
            <a:srgbClr val="38bdf8">
              <a:alpha val="24000"/>
            </a:srgbClr>
          </a:solidFill>
          <a:ln w="1587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3" name="Image 4" descr="/home/claude/work/icons/code_sky.png"/>
          <p:cNvPicPr/>
          <p:nvPr/>
        </p:nvPicPr>
        <p:blipFill>
          <a:blip r:embed="rId5"/>
          <a:stretch/>
        </p:blipFill>
        <p:spPr>
          <a:xfrm>
            <a:off x="9258480" y="22035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34" name="Text 31"/>
          <p:cNvSpPr/>
          <p:nvPr/>
        </p:nvSpPr>
        <p:spPr>
          <a:xfrm>
            <a:off x="9729360" y="190188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Code Compression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32"/>
          <p:cNvSpPr/>
          <p:nvPr/>
        </p:nvSpPr>
        <p:spPr>
          <a:xfrm>
            <a:off x="5989320" y="297180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33"/>
          <p:cNvSpPr/>
          <p:nvPr/>
        </p:nvSpPr>
        <p:spPr>
          <a:xfrm>
            <a:off x="6153840" y="317772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5" descr="/home/claude/work/icons/grid_blue.png"/>
          <p:cNvPicPr/>
          <p:nvPr/>
        </p:nvPicPr>
        <p:blipFill>
          <a:blip r:embed="rId6"/>
          <a:stretch/>
        </p:blipFill>
        <p:spPr>
          <a:xfrm>
            <a:off x="6249960" y="327348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38" name="Text 34"/>
          <p:cNvSpPr/>
          <p:nvPr/>
        </p:nvSpPr>
        <p:spPr>
          <a:xfrm>
            <a:off x="6720840" y="297180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JSON Compression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35"/>
          <p:cNvSpPr/>
          <p:nvPr/>
        </p:nvSpPr>
        <p:spPr>
          <a:xfrm>
            <a:off x="8997840" y="297180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36"/>
          <p:cNvSpPr/>
          <p:nvPr/>
        </p:nvSpPr>
        <p:spPr>
          <a:xfrm>
            <a:off x="9162360" y="3177720"/>
            <a:ext cx="456840" cy="45684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Image 6" descr="/home/claude/work/icons/share_purple.png"/>
          <p:cNvPicPr/>
          <p:nvPr/>
        </p:nvPicPr>
        <p:blipFill>
          <a:blip r:embed="rId7"/>
          <a:stretch/>
        </p:blipFill>
        <p:spPr>
          <a:xfrm>
            <a:off x="9258480" y="327348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42" name="Text 37"/>
          <p:cNvSpPr/>
          <p:nvPr/>
        </p:nvSpPr>
        <p:spPr>
          <a:xfrm>
            <a:off x="9729360" y="297180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Cross-Agent Memory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38"/>
          <p:cNvSpPr/>
          <p:nvPr/>
        </p:nvSpPr>
        <p:spPr>
          <a:xfrm>
            <a:off x="5989320" y="404172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38bdf8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39"/>
          <p:cNvSpPr/>
          <p:nvPr/>
        </p:nvSpPr>
        <p:spPr>
          <a:xfrm>
            <a:off x="6153840" y="4247280"/>
            <a:ext cx="456840" cy="456840"/>
          </a:xfrm>
          <a:prstGeom prst="ellipse">
            <a:avLst/>
          </a:prstGeom>
          <a:solidFill>
            <a:srgbClr val="38bdf8">
              <a:alpha val="24000"/>
            </a:srgbClr>
          </a:solidFill>
          <a:ln w="1587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5" name="Image 7" descr="/home/claude/work/icons/database_sky.png"/>
          <p:cNvPicPr/>
          <p:nvPr/>
        </p:nvPicPr>
        <p:blipFill>
          <a:blip r:embed="rId8"/>
          <a:stretch/>
        </p:blipFill>
        <p:spPr>
          <a:xfrm>
            <a:off x="6249960" y="434340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46" name="Text 40"/>
          <p:cNvSpPr/>
          <p:nvPr/>
        </p:nvSpPr>
        <p:spPr>
          <a:xfrm>
            <a:off x="6720840" y="404172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Cache Alignment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41"/>
          <p:cNvSpPr/>
          <p:nvPr/>
        </p:nvSpPr>
        <p:spPr>
          <a:xfrm>
            <a:off x="8997840" y="404172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42"/>
          <p:cNvSpPr/>
          <p:nvPr/>
        </p:nvSpPr>
        <p:spPr>
          <a:xfrm>
            <a:off x="9162360" y="424728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" name="Image 8" descr="/home/claude/work/icons/sliders_blue.png"/>
          <p:cNvPicPr/>
          <p:nvPr/>
        </p:nvPicPr>
        <p:blipFill>
          <a:blip r:embed="rId9"/>
          <a:stretch/>
        </p:blipFill>
        <p:spPr>
          <a:xfrm>
            <a:off x="9258480" y="434340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50" name="Text 43"/>
          <p:cNvSpPr/>
          <p:nvPr/>
        </p:nvSpPr>
        <p:spPr>
          <a:xfrm>
            <a:off x="9729360" y="404172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Output Optimization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44"/>
          <p:cNvSpPr/>
          <p:nvPr/>
        </p:nvSpPr>
        <p:spPr>
          <a:xfrm>
            <a:off x="5989320" y="511164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45"/>
          <p:cNvSpPr/>
          <p:nvPr/>
        </p:nvSpPr>
        <p:spPr>
          <a:xfrm>
            <a:off x="6153840" y="5317200"/>
            <a:ext cx="456840" cy="45684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Image 9" descr="/home/claude/work/icons/search_purple.png"/>
          <p:cNvPicPr/>
          <p:nvPr/>
        </p:nvPicPr>
        <p:blipFill>
          <a:blip r:embed="rId10"/>
          <a:stretch/>
        </p:blipFill>
        <p:spPr>
          <a:xfrm>
            <a:off x="6249960" y="541332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54" name="Text 46"/>
          <p:cNvSpPr/>
          <p:nvPr/>
        </p:nvSpPr>
        <p:spPr>
          <a:xfrm>
            <a:off x="6720840" y="511164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Context Retrieval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47"/>
          <p:cNvSpPr/>
          <p:nvPr/>
        </p:nvSpPr>
        <p:spPr>
          <a:xfrm>
            <a:off x="8997840" y="5111640"/>
            <a:ext cx="2733840" cy="868320"/>
          </a:xfrm>
          <a:prstGeom prst="roundRect">
            <a:avLst>
              <a:gd name="adj" fmla="val 8421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48"/>
          <p:cNvSpPr/>
          <p:nvPr/>
        </p:nvSpPr>
        <p:spPr>
          <a:xfrm>
            <a:off x="9162360" y="5317200"/>
            <a:ext cx="456840" cy="4568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7" name="Image 10" descr="/home/claude/work/icons/shield_blue.png"/>
          <p:cNvPicPr/>
          <p:nvPr/>
        </p:nvPicPr>
        <p:blipFill>
          <a:blip r:embed="rId11"/>
          <a:stretch/>
        </p:blipFill>
        <p:spPr>
          <a:xfrm>
            <a:off x="9258480" y="541332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258" name="Text 49"/>
          <p:cNvSpPr/>
          <p:nvPr/>
        </p:nvSpPr>
        <p:spPr>
          <a:xfrm>
            <a:off x="9729360" y="5111640"/>
            <a:ext cx="1865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Local-First Deploy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ARCHITECTURE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457200" y="658440"/>
            <a:ext cx="1129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Headroom Processing Pipeline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457200" y="1115640"/>
            <a:ext cx="1129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8996ac"/>
                </a:solidFill>
                <a:latin typeface="Calibri"/>
                <a:ea typeface="Calibri"/>
              </a:rPr>
              <a:t>Multiple specialized optimization stages — not one generic compressor.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05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6858000" y="1874520"/>
            <a:ext cx="3748680" cy="438480"/>
          </a:xfrm>
          <a:prstGeom prst="roundRect">
            <a:avLst>
              <a:gd name="adj" fmla="val 16667"/>
            </a:avLst>
          </a:prstGeom>
          <a:solidFill>
            <a:srgbClr val="121c30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11"/>
          <p:cNvSpPr/>
          <p:nvPr/>
        </p:nvSpPr>
        <p:spPr>
          <a:xfrm>
            <a:off x="6858000" y="2597040"/>
            <a:ext cx="3748680" cy="438480"/>
          </a:xfrm>
          <a:prstGeom prst="roundRect">
            <a:avLst>
              <a:gd name="adj" fmla="val 16667"/>
            </a:avLst>
          </a:prstGeom>
          <a:solidFill>
            <a:srgbClr val="121c30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7004160" y="2597040"/>
            <a:ext cx="3456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Content Router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13"/>
          <p:cNvSpPr/>
          <p:nvPr/>
        </p:nvSpPr>
        <p:spPr>
          <a:xfrm>
            <a:off x="8723520" y="2331720"/>
            <a:ext cx="18000" cy="14616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4"/>
          <p:cNvSpPr/>
          <p:nvPr/>
        </p:nvSpPr>
        <p:spPr>
          <a:xfrm rot="10800000">
            <a:off x="8673480" y="2496240"/>
            <a:ext cx="118440" cy="8532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15"/>
          <p:cNvSpPr/>
          <p:nvPr/>
        </p:nvSpPr>
        <p:spPr>
          <a:xfrm>
            <a:off x="8723520" y="3054240"/>
            <a:ext cx="18000" cy="10944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6"/>
          <p:cNvSpPr/>
          <p:nvPr/>
        </p:nvSpPr>
        <p:spPr>
          <a:xfrm>
            <a:off x="7461360" y="3154680"/>
            <a:ext cx="2541600" cy="1800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7"/>
          <p:cNvSpPr/>
          <p:nvPr/>
        </p:nvSpPr>
        <p:spPr>
          <a:xfrm>
            <a:off x="7452360" y="3163680"/>
            <a:ext cx="18000" cy="1555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8"/>
          <p:cNvSpPr/>
          <p:nvPr/>
        </p:nvSpPr>
        <p:spPr>
          <a:xfrm rot="10800000">
            <a:off x="7416000" y="3328560"/>
            <a:ext cx="91080" cy="655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9"/>
          <p:cNvSpPr/>
          <p:nvPr/>
        </p:nvSpPr>
        <p:spPr>
          <a:xfrm>
            <a:off x="6894720" y="3410640"/>
            <a:ext cx="1133640" cy="566640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20"/>
          <p:cNvSpPr/>
          <p:nvPr/>
        </p:nvSpPr>
        <p:spPr>
          <a:xfrm>
            <a:off x="7324200" y="3483720"/>
            <a:ext cx="273960" cy="27396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Image 0" descr="/home/claude/work/icons/grid_purple.png"/>
          <p:cNvPicPr/>
          <p:nvPr/>
        </p:nvPicPr>
        <p:blipFill>
          <a:blip r:embed="rId1"/>
          <a:stretch/>
        </p:blipFill>
        <p:spPr>
          <a:xfrm>
            <a:off x="7381800" y="3538800"/>
            <a:ext cx="158760" cy="158760"/>
          </a:xfrm>
          <a:prstGeom prst="rect">
            <a:avLst/>
          </a:prstGeom>
          <a:ln w="0">
            <a:noFill/>
          </a:ln>
        </p:spPr>
      </p:pic>
      <p:sp>
        <p:nvSpPr>
          <p:cNvPr id="280" name="Text 21"/>
          <p:cNvSpPr/>
          <p:nvPr/>
        </p:nvSpPr>
        <p:spPr>
          <a:xfrm>
            <a:off x="6922080" y="3776400"/>
            <a:ext cx="107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710" spc="-1" strike="noStrike">
                <a:solidFill>
                  <a:srgbClr val="ffffff"/>
                </a:solidFill>
                <a:latin typeface="Calibri"/>
                <a:ea typeface="Calibri"/>
              </a:rPr>
              <a:t>SmartCrusher</a:t>
            </a:r>
            <a:endParaRPr b="0" lang="en-US" sz="7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22"/>
          <p:cNvSpPr/>
          <p:nvPr/>
        </p:nvSpPr>
        <p:spPr>
          <a:xfrm>
            <a:off x="8723520" y="3163680"/>
            <a:ext cx="18000" cy="1555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3"/>
          <p:cNvSpPr/>
          <p:nvPr/>
        </p:nvSpPr>
        <p:spPr>
          <a:xfrm rot="10800000">
            <a:off x="8687160" y="3346560"/>
            <a:ext cx="91080" cy="655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4"/>
          <p:cNvSpPr/>
          <p:nvPr/>
        </p:nvSpPr>
        <p:spPr>
          <a:xfrm>
            <a:off x="8165520" y="3410640"/>
            <a:ext cx="1133640" cy="566640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25"/>
          <p:cNvSpPr/>
          <p:nvPr/>
        </p:nvSpPr>
        <p:spPr>
          <a:xfrm>
            <a:off x="8595360" y="3483720"/>
            <a:ext cx="273960" cy="27396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Image 1" descr="/home/claude/work/icons/code_purple.png"/>
          <p:cNvPicPr/>
          <p:nvPr/>
        </p:nvPicPr>
        <p:blipFill>
          <a:blip r:embed="rId2"/>
          <a:stretch/>
        </p:blipFill>
        <p:spPr>
          <a:xfrm>
            <a:off x="8652960" y="3538800"/>
            <a:ext cx="158760" cy="158760"/>
          </a:xfrm>
          <a:prstGeom prst="rect">
            <a:avLst/>
          </a:prstGeom>
          <a:ln w="0">
            <a:noFill/>
          </a:ln>
        </p:spPr>
      </p:pic>
      <p:sp>
        <p:nvSpPr>
          <p:cNvPr id="286" name="Text 26"/>
          <p:cNvSpPr/>
          <p:nvPr/>
        </p:nvSpPr>
        <p:spPr>
          <a:xfrm>
            <a:off x="8192880" y="3776400"/>
            <a:ext cx="107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710" spc="-1" strike="noStrike">
                <a:solidFill>
                  <a:srgbClr val="ffffff"/>
                </a:solidFill>
                <a:latin typeface="Calibri"/>
                <a:ea typeface="Calibri"/>
              </a:rPr>
              <a:t>AST Code Compressor</a:t>
            </a:r>
            <a:endParaRPr b="0" lang="en-US" sz="7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7"/>
          <p:cNvSpPr/>
          <p:nvPr/>
        </p:nvSpPr>
        <p:spPr>
          <a:xfrm>
            <a:off x="9994320" y="3163680"/>
            <a:ext cx="18000" cy="1555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8"/>
          <p:cNvSpPr/>
          <p:nvPr/>
        </p:nvSpPr>
        <p:spPr>
          <a:xfrm rot="10800000">
            <a:off x="9958320" y="3346560"/>
            <a:ext cx="91080" cy="655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9"/>
          <p:cNvSpPr/>
          <p:nvPr/>
        </p:nvSpPr>
        <p:spPr>
          <a:xfrm>
            <a:off x="9436680" y="3410640"/>
            <a:ext cx="1133640" cy="566640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30"/>
          <p:cNvSpPr/>
          <p:nvPr/>
        </p:nvSpPr>
        <p:spPr>
          <a:xfrm>
            <a:off x="9866520" y="3483720"/>
            <a:ext cx="273960" cy="27396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1" name="Image 2" descr="/home/claude/work/icons/filetext_purple.png"/>
          <p:cNvPicPr/>
          <p:nvPr/>
        </p:nvPicPr>
        <p:blipFill>
          <a:blip r:embed="rId3"/>
          <a:stretch/>
        </p:blipFill>
        <p:spPr>
          <a:xfrm>
            <a:off x="9924120" y="3538800"/>
            <a:ext cx="158760" cy="158760"/>
          </a:xfrm>
          <a:prstGeom prst="rect">
            <a:avLst/>
          </a:prstGeom>
          <a:ln w="0">
            <a:noFill/>
          </a:ln>
        </p:spPr>
      </p:pic>
      <p:sp>
        <p:nvSpPr>
          <p:cNvPr id="292" name="Text 31"/>
          <p:cNvSpPr/>
          <p:nvPr/>
        </p:nvSpPr>
        <p:spPr>
          <a:xfrm>
            <a:off x="9464040" y="3776400"/>
            <a:ext cx="107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710" spc="-1" strike="noStrike">
                <a:solidFill>
                  <a:srgbClr val="ffffff"/>
                </a:solidFill>
                <a:latin typeface="Calibri"/>
                <a:ea typeface="Calibri"/>
              </a:rPr>
              <a:t>Kompress-v2-base</a:t>
            </a:r>
            <a:endParaRPr b="0" lang="en-US" sz="7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32"/>
          <p:cNvSpPr/>
          <p:nvPr/>
        </p:nvSpPr>
        <p:spPr>
          <a:xfrm>
            <a:off x="7452360" y="3996000"/>
            <a:ext cx="18000" cy="1825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3"/>
          <p:cNvSpPr/>
          <p:nvPr/>
        </p:nvSpPr>
        <p:spPr>
          <a:xfrm>
            <a:off x="8723520" y="3996000"/>
            <a:ext cx="18000" cy="21960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34"/>
          <p:cNvSpPr/>
          <p:nvPr/>
        </p:nvSpPr>
        <p:spPr>
          <a:xfrm>
            <a:off x="9994320" y="3996000"/>
            <a:ext cx="18000" cy="1825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35"/>
          <p:cNvSpPr/>
          <p:nvPr/>
        </p:nvSpPr>
        <p:spPr>
          <a:xfrm>
            <a:off x="7461360" y="4169520"/>
            <a:ext cx="2541600" cy="1800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36"/>
          <p:cNvSpPr/>
          <p:nvPr/>
        </p:nvSpPr>
        <p:spPr>
          <a:xfrm>
            <a:off x="8723520" y="3986640"/>
            <a:ext cx="18000" cy="1800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7"/>
          <p:cNvSpPr/>
          <p:nvPr/>
        </p:nvSpPr>
        <p:spPr>
          <a:xfrm rot="10800000">
            <a:off x="8687160" y="4224600"/>
            <a:ext cx="91080" cy="655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8"/>
          <p:cNvSpPr/>
          <p:nvPr/>
        </p:nvSpPr>
        <p:spPr>
          <a:xfrm>
            <a:off x="6858000" y="4288680"/>
            <a:ext cx="3748680" cy="438480"/>
          </a:xfrm>
          <a:prstGeom prst="roundRect">
            <a:avLst>
              <a:gd name="adj" fmla="val 16667"/>
            </a:avLst>
          </a:prstGeom>
          <a:solidFill>
            <a:srgbClr val="121c30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9"/>
          <p:cNvSpPr/>
          <p:nvPr/>
        </p:nvSpPr>
        <p:spPr>
          <a:xfrm>
            <a:off x="7004160" y="4288680"/>
            <a:ext cx="3456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Context Compression &amp; Retrieval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40"/>
          <p:cNvSpPr/>
          <p:nvPr/>
        </p:nvSpPr>
        <p:spPr>
          <a:xfrm>
            <a:off x="6858000" y="5010840"/>
            <a:ext cx="3748680" cy="438480"/>
          </a:xfrm>
          <a:prstGeom prst="roundRect">
            <a:avLst>
              <a:gd name="adj" fmla="val 16667"/>
            </a:avLst>
          </a:prstGeom>
          <a:solidFill>
            <a:srgbClr val="121c30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41"/>
          <p:cNvSpPr/>
          <p:nvPr/>
        </p:nvSpPr>
        <p:spPr>
          <a:xfrm>
            <a:off x="7004160" y="5010840"/>
            <a:ext cx="3456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Shared Memory + Output Optimization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42"/>
          <p:cNvSpPr/>
          <p:nvPr/>
        </p:nvSpPr>
        <p:spPr>
          <a:xfrm>
            <a:off x="8723520" y="4745880"/>
            <a:ext cx="18000" cy="14616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43"/>
          <p:cNvSpPr/>
          <p:nvPr/>
        </p:nvSpPr>
        <p:spPr>
          <a:xfrm rot="10800000">
            <a:off x="8673480" y="4910400"/>
            <a:ext cx="118440" cy="8532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44"/>
          <p:cNvSpPr/>
          <p:nvPr/>
        </p:nvSpPr>
        <p:spPr>
          <a:xfrm>
            <a:off x="6858000" y="5733360"/>
            <a:ext cx="3748680" cy="438480"/>
          </a:xfrm>
          <a:prstGeom prst="roundRect">
            <a:avLst>
              <a:gd name="adj" fmla="val 16667"/>
            </a:avLst>
          </a:prstGeom>
          <a:solidFill>
            <a:srgbClr val="121c30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45"/>
          <p:cNvSpPr/>
          <p:nvPr/>
        </p:nvSpPr>
        <p:spPr>
          <a:xfrm>
            <a:off x="7004160" y="5733360"/>
            <a:ext cx="3456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LLM Provider  (Claude / GPT / Gemini)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46"/>
          <p:cNvSpPr/>
          <p:nvPr/>
        </p:nvSpPr>
        <p:spPr>
          <a:xfrm>
            <a:off x="8723520" y="5468040"/>
            <a:ext cx="18000" cy="14616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47"/>
          <p:cNvSpPr/>
          <p:nvPr/>
        </p:nvSpPr>
        <p:spPr>
          <a:xfrm rot="10800000">
            <a:off x="8673480" y="563256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48"/>
          <p:cNvSpPr/>
          <p:nvPr/>
        </p:nvSpPr>
        <p:spPr>
          <a:xfrm>
            <a:off x="457200" y="1645920"/>
            <a:ext cx="109440" cy="10944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49"/>
          <p:cNvSpPr/>
          <p:nvPr/>
        </p:nvSpPr>
        <p:spPr>
          <a:xfrm>
            <a:off x="658440" y="15544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17" strike="noStrike">
                <a:solidFill>
                  <a:srgbClr val="a78bfa"/>
                </a:solidFill>
                <a:latin typeface="Calibri"/>
                <a:ea typeface="Calibri"/>
              </a:rPr>
              <a:t>WHY THIS MATTERS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50"/>
          <p:cNvSpPr/>
          <p:nvPr/>
        </p:nvSpPr>
        <p:spPr>
          <a:xfrm>
            <a:off x="457200" y="1920240"/>
            <a:ext cx="5988960" cy="1280160"/>
          </a:xfrm>
          <a:prstGeom prst="roundRect">
            <a:avLst>
              <a:gd name="adj" fmla="val 6061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51"/>
          <p:cNvSpPr/>
          <p:nvPr/>
        </p:nvSpPr>
        <p:spPr>
          <a:xfrm>
            <a:off x="658440" y="2148840"/>
            <a:ext cx="511560" cy="51156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3" name="Image 3" descr="/home/claude/work/icons/layers_blue.png"/>
          <p:cNvPicPr/>
          <p:nvPr/>
        </p:nvPicPr>
        <p:blipFill>
          <a:blip r:embed="rId4"/>
          <a:stretch/>
        </p:blipFill>
        <p:spPr>
          <a:xfrm>
            <a:off x="766080" y="226764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314" name="Text 52"/>
          <p:cNvSpPr/>
          <p:nvPr/>
        </p:nvSpPr>
        <p:spPr>
          <a:xfrm>
            <a:off x="1334880" y="2103120"/>
            <a:ext cx="492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Specialized, Not Generic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53"/>
          <p:cNvSpPr/>
          <p:nvPr/>
        </p:nvSpPr>
        <p:spPr>
          <a:xfrm>
            <a:off x="1334880" y="2423160"/>
            <a:ext cx="492840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Instead of one catch-all compressor, Headroom decomposes optimization into focused stages — each content type is routed to the engine best suited to compress it without losing meaning.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54"/>
          <p:cNvSpPr/>
          <p:nvPr/>
        </p:nvSpPr>
        <p:spPr>
          <a:xfrm>
            <a:off x="457200" y="3429000"/>
            <a:ext cx="5988960" cy="1280160"/>
          </a:xfrm>
          <a:prstGeom prst="roundRect">
            <a:avLst>
              <a:gd name="adj" fmla="val 6061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55"/>
          <p:cNvSpPr/>
          <p:nvPr/>
        </p:nvSpPr>
        <p:spPr>
          <a:xfrm>
            <a:off x="658440" y="3611880"/>
            <a:ext cx="511560" cy="51156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Image 4" descr="/home/claude/work/icons/gitmerge_purple.png"/>
          <p:cNvPicPr/>
          <p:nvPr/>
        </p:nvPicPr>
        <p:blipFill>
          <a:blip r:embed="rId5"/>
          <a:stretch/>
        </p:blipFill>
        <p:spPr>
          <a:xfrm>
            <a:off x="766080" y="372168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319" name="Text 56"/>
          <p:cNvSpPr/>
          <p:nvPr/>
        </p:nvSpPr>
        <p:spPr>
          <a:xfrm>
            <a:off x="1334880" y="3611880"/>
            <a:ext cx="492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Parallel Branches, One Output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57"/>
          <p:cNvSpPr/>
          <p:nvPr/>
        </p:nvSpPr>
        <p:spPr>
          <a:xfrm>
            <a:off x="1334880" y="3931920"/>
            <a:ext cx="492840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JSON, source code, and natural language are compressed differently in parallel, then remerged into a single optimized payload before it ever reaches the LLM.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58"/>
          <p:cNvSpPr/>
          <p:nvPr/>
        </p:nvSpPr>
        <p:spPr>
          <a:xfrm>
            <a:off x="457200" y="4937760"/>
            <a:ext cx="5988960" cy="1280160"/>
          </a:xfrm>
          <a:prstGeom prst="roundRect">
            <a:avLst>
              <a:gd name="adj" fmla="val 6061"/>
            </a:avLst>
          </a:prstGeom>
          <a:solidFill>
            <a:srgbClr val="17233a"/>
          </a:solidFill>
          <a:ln w="12700">
            <a:solidFill>
              <a:srgbClr val="38bdf8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59"/>
          <p:cNvSpPr/>
          <p:nvPr/>
        </p:nvSpPr>
        <p:spPr>
          <a:xfrm>
            <a:off x="658440" y="5102280"/>
            <a:ext cx="511560" cy="511560"/>
          </a:xfrm>
          <a:prstGeom prst="ellipse">
            <a:avLst/>
          </a:prstGeom>
          <a:solidFill>
            <a:srgbClr val="38bdf8">
              <a:alpha val="24000"/>
            </a:srgbClr>
          </a:solidFill>
          <a:ln w="1587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3" name="Image 5" descr="/home/claude/work/icons/server_sky.png"/>
          <p:cNvPicPr/>
          <p:nvPr/>
        </p:nvPicPr>
        <p:blipFill>
          <a:blip r:embed="rId6"/>
          <a:stretch/>
        </p:blipFill>
        <p:spPr>
          <a:xfrm>
            <a:off x="766080" y="52099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324" name="Text 60"/>
          <p:cNvSpPr/>
          <p:nvPr/>
        </p:nvSpPr>
        <p:spPr>
          <a:xfrm>
            <a:off x="1334880" y="5074920"/>
            <a:ext cx="492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Deploys However You 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61"/>
          <p:cNvSpPr/>
          <p:nvPr/>
        </p:nvSpPr>
        <p:spPr>
          <a:xfrm>
            <a:off x="1334880" y="5385960"/>
            <a:ext cx="492840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Runs as a proxy, an embedded library, or an MCP server — dropping into existing coding-assistant workflows without major rework.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10"/>
          <p:cNvSpPr/>
          <p:nvPr/>
        </p:nvSpPr>
        <p:spPr>
          <a:xfrm>
            <a:off x="7004160" y="1874520"/>
            <a:ext cx="3456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CacheAligner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CORE COMPONENTS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Five Engines Inside Headroom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06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457200" y="1691640"/>
            <a:ext cx="3587040" cy="1874160"/>
          </a:xfrm>
          <a:prstGeom prst="roundRect">
            <a:avLst>
              <a:gd name="adj" fmla="val 390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9"/>
          <p:cNvSpPr/>
          <p:nvPr/>
        </p:nvSpPr>
        <p:spPr>
          <a:xfrm>
            <a:off x="676800" y="1911240"/>
            <a:ext cx="566640" cy="5666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7" name="Image 0" descr="/home/claude/work/icons/database_blue.png"/>
          <p:cNvPicPr/>
          <p:nvPr/>
        </p:nvPicPr>
        <p:blipFill>
          <a:blip r:embed="rId1"/>
          <a:stretch/>
        </p:blipFill>
        <p:spPr>
          <a:xfrm>
            <a:off x="795600" y="203004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338" name="Text 10"/>
          <p:cNvSpPr/>
          <p:nvPr/>
        </p:nvSpPr>
        <p:spPr>
          <a:xfrm>
            <a:off x="1371600" y="1911240"/>
            <a:ext cx="248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CacheAligner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1"/>
          <p:cNvSpPr/>
          <p:nvPr/>
        </p:nvSpPr>
        <p:spPr>
          <a:xfrm>
            <a:off x="694800" y="2606040"/>
            <a:ext cx="311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4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Normalizes prompts so repeated sections stay byte-identical between requests, raising provider cache-hit probability and cutting recomputation cost.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2"/>
          <p:cNvSpPr/>
          <p:nvPr/>
        </p:nvSpPr>
        <p:spPr>
          <a:xfrm>
            <a:off x="4300560" y="1691640"/>
            <a:ext cx="3587040" cy="1874160"/>
          </a:xfrm>
          <a:prstGeom prst="roundRect">
            <a:avLst>
              <a:gd name="adj" fmla="val 3902"/>
            </a:avLst>
          </a:prstGeom>
          <a:solidFill>
            <a:srgbClr val="121c30"/>
          </a:solidFill>
          <a:ln w="12700">
            <a:solidFill>
              <a:srgbClr val="38bdf8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13"/>
          <p:cNvSpPr/>
          <p:nvPr/>
        </p:nvSpPr>
        <p:spPr>
          <a:xfrm>
            <a:off x="4520160" y="1911240"/>
            <a:ext cx="566640" cy="566640"/>
          </a:xfrm>
          <a:prstGeom prst="ellipse">
            <a:avLst/>
          </a:prstGeom>
          <a:solidFill>
            <a:srgbClr val="38bdf8">
              <a:alpha val="24000"/>
            </a:srgbClr>
          </a:solidFill>
          <a:ln w="1587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2" name="Image 1" descr="/home/claude/work/icons/gitmerge_sky.png"/>
          <p:cNvPicPr/>
          <p:nvPr/>
        </p:nvPicPr>
        <p:blipFill>
          <a:blip r:embed="rId2"/>
          <a:stretch/>
        </p:blipFill>
        <p:spPr>
          <a:xfrm>
            <a:off x="4639320" y="203004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343" name="Text 14"/>
          <p:cNvSpPr/>
          <p:nvPr/>
        </p:nvSpPr>
        <p:spPr>
          <a:xfrm>
            <a:off x="5214960" y="1911240"/>
            <a:ext cx="248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Content Router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4538520" y="2606040"/>
            <a:ext cx="311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4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Classifies incoming data as JSON, code, or natural language before routing it to the engine best suited to compress it.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16"/>
          <p:cNvSpPr/>
          <p:nvPr/>
        </p:nvSpPr>
        <p:spPr>
          <a:xfrm>
            <a:off x="8144280" y="1691640"/>
            <a:ext cx="3587040" cy="1874160"/>
          </a:xfrm>
          <a:prstGeom prst="roundRect">
            <a:avLst>
              <a:gd name="adj" fmla="val 390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8363880" y="1911240"/>
            <a:ext cx="566640" cy="56664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7" name="Image 2" descr="/home/claude/work/icons/grid_blue.png"/>
          <p:cNvPicPr/>
          <p:nvPr/>
        </p:nvPicPr>
        <p:blipFill>
          <a:blip r:embed="rId3"/>
          <a:stretch/>
        </p:blipFill>
        <p:spPr>
          <a:xfrm>
            <a:off x="8482680" y="203004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348" name="Text 18"/>
          <p:cNvSpPr/>
          <p:nvPr/>
        </p:nvSpPr>
        <p:spPr>
          <a:xfrm>
            <a:off x="9058680" y="1911240"/>
            <a:ext cx="248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SmartCrusher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19"/>
          <p:cNvSpPr/>
          <p:nvPr/>
        </p:nvSpPr>
        <p:spPr>
          <a:xfrm>
            <a:off x="8381880" y="2606040"/>
            <a:ext cx="311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4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Compresses structured data — Kubernetes manifests, API responses, IaC, JSON logs — minimizing redundancy while preserving full meaning.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20"/>
          <p:cNvSpPr/>
          <p:nvPr/>
        </p:nvSpPr>
        <p:spPr>
          <a:xfrm>
            <a:off x="2378880" y="3822120"/>
            <a:ext cx="3587040" cy="1874160"/>
          </a:xfrm>
          <a:prstGeom prst="roundRect">
            <a:avLst>
              <a:gd name="adj" fmla="val 3902"/>
            </a:avLst>
          </a:prstGeom>
          <a:solidFill>
            <a:srgbClr val="121c30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21"/>
          <p:cNvSpPr/>
          <p:nvPr/>
        </p:nvSpPr>
        <p:spPr>
          <a:xfrm>
            <a:off x="2598480" y="4041720"/>
            <a:ext cx="566640" cy="56664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3" descr="/home/claude/work/icons/code_purple.png"/>
          <p:cNvPicPr/>
          <p:nvPr/>
        </p:nvPicPr>
        <p:blipFill>
          <a:blip r:embed="rId4"/>
          <a:stretch/>
        </p:blipFill>
        <p:spPr>
          <a:xfrm>
            <a:off x="2717640" y="41608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353" name="Text 22"/>
          <p:cNvSpPr/>
          <p:nvPr/>
        </p:nvSpPr>
        <p:spPr>
          <a:xfrm>
            <a:off x="3293280" y="4041720"/>
            <a:ext cx="248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AST CodeCompressor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3"/>
          <p:cNvSpPr/>
          <p:nvPr/>
        </p:nvSpPr>
        <p:spPr>
          <a:xfrm>
            <a:off x="2616840" y="4736520"/>
            <a:ext cx="311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4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Analyzes source code's Abstract Syntax Tree to preserve logic and structure while stripping unnecessary textual redundancy.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24"/>
          <p:cNvSpPr/>
          <p:nvPr/>
        </p:nvSpPr>
        <p:spPr>
          <a:xfrm>
            <a:off x="6222600" y="3822120"/>
            <a:ext cx="3587040" cy="1874160"/>
          </a:xfrm>
          <a:prstGeom prst="roundRect">
            <a:avLst>
              <a:gd name="adj" fmla="val 3902"/>
            </a:avLst>
          </a:prstGeom>
          <a:solidFill>
            <a:srgbClr val="121c30"/>
          </a:solidFill>
          <a:ln w="12700">
            <a:solidFill>
              <a:srgbClr val="38bdf8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5"/>
          <p:cNvSpPr/>
          <p:nvPr/>
        </p:nvSpPr>
        <p:spPr>
          <a:xfrm>
            <a:off x="6441840" y="4041720"/>
            <a:ext cx="566640" cy="566640"/>
          </a:xfrm>
          <a:prstGeom prst="ellipse">
            <a:avLst/>
          </a:prstGeom>
          <a:solidFill>
            <a:srgbClr val="38bdf8">
              <a:alpha val="24000"/>
            </a:srgbClr>
          </a:solidFill>
          <a:ln w="1587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7" name="Image 4" descr="/home/claude/work/icons/filetext_sky.png"/>
          <p:cNvPicPr/>
          <p:nvPr/>
        </p:nvPicPr>
        <p:blipFill>
          <a:blip r:embed="rId5"/>
          <a:stretch/>
        </p:blipFill>
        <p:spPr>
          <a:xfrm>
            <a:off x="6561000" y="41608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358" name="Text 26"/>
          <p:cNvSpPr/>
          <p:nvPr/>
        </p:nvSpPr>
        <p:spPr>
          <a:xfrm>
            <a:off x="7137000" y="4041720"/>
            <a:ext cx="248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Kompress-v2-base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27"/>
          <p:cNvSpPr/>
          <p:nvPr/>
        </p:nvSpPr>
        <p:spPr>
          <a:xfrm>
            <a:off x="6460200" y="4736520"/>
            <a:ext cx="311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4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9c4d6"/>
                </a:solidFill>
                <a:latin typeface="Calibri"/>
                <a:ea typeface="Calibri"/>
              </a:rPr>
              <a:t>Compresses documentation, README files, and conversations — optimized for what the model needs, not human readability.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8"/>
          <p:cNvSpPr/>
          <p:nvPr/>
        </p:nvSpPr>
        <p:spPr>
          <a:xfrm>
            <a:off x="457200" y="583380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dce4f0"/>
                </a:solidFill>
                <a:latin typeface="Calibri"/>
                <a:ea typeface="Calibri"/>
              </a:rPr>
              <a:t>Together, these engines route each piece of context through the optimization strategy best suited to its structure — before a single token reaches the LLM.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ADVANCED CAPABILITIES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Context Retrieval &amp; Shared Memory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07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457200" y="1600200"/>
            <a:ext cx="5531760" cy="4480200"/>
          </a:xfrm>
          <a:prstGeom prst="roundRect">
            <a:avLst>
              <a:gd name="adj" fmla="val 163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731520" y="178308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4f8ef7"/>
                </a:solidFill>
                <a:latin typeface="Calibri"/>
                <a:ea typeface="Calibri"/>
              </a:rPr>
              <a:t>Context Compression with Retrieval (CCR)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731520" y="2148840"/>
            <a:ext cx="4983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Traditional compression discards information permanently. CCR keeps a reversible path back to the original.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>
            <a:off x="822960" y="2788920"/>
            <a:ext cx="4800240" cy="475200"/>
          </a:xfrm>
          <a:prstGeom prst="roundRect">
            <a:avLst>
              <a:gd name="adj" fmla="val 15385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960120" y="2788920"/>
            <a:ext cx="4525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Original Context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3215160" y="3282840"/>
            <a:ext cx="16200" cy="10008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 rot="10800000">
            <a:off x="3164400" y="3398400"/>
            <a:ext cx="118440" cy="8532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822960" y="3502080"/>
            <a:ext cx="4800240" cy="475200"/>
          </a:xfrm>
          <a:prstGeom prst="roundRect">
            <a:avLst>
              <a:gd name="adj" fmla="val 15385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16"/>
          <p:cNvSpPr/>
          <p:nvPr/>
        </p:nvSpPr>
        <p:spPr>
          <a:xfrm>
            <a:off x="960120" y="3502080"/>
            <a:ext cx="4525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Compressed Representation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17"/>
          <p:cNvSpPr/>
          <p:nvPr/>
        </p:nvSpPr>
        <p:spPr>
          <a:xfrm>
            <a:off x="3215160" y="3996000"/>
            <a:ext cx="16200" cy="10008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 rot="10800000">
            <a:off x="3164400" y="4111920"/>
            <a:ext cx="118440" cy="8532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>
            <a:off x="822960" y="4215240"/>
            <a:ext cx="4800240" cy="475200"/>
          </a:xfrm>
          <a:prstGeom prst="roundRect">
            <a:avLst>
              <a:gd name="adj" fmla="val 15385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0"/>
          <p:cNvSpPr/>
          <p:nvPr/>
        </p:nvSpPr>
        <p:spPr>
          <a:xfrm>
            <a:off x="960120" y="4215240"/>
            <a:ext cx="4525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Stored Locally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21"/>
          <p:cNvSpPr/>
          <p:nvPr/>
        </p:nvSpPr>
        <p:spPr>
          <a:xfrm>
            <a:off x="3215160" y="4709160"/>
            <a:ext cx="16200" cy="10008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22"/>
          <p:cNvSpPr/>
          <p:nvPr/>
        </p:nvSpPr>
        <p:spPr>
          <a:xfrm rot="10800000">
            <a:off x="3164400" y="48250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23"/>
          <p:cNvSpPr/>
          <p:nvPr/>
        </p:nvSpPr>
        <p:spPr>
          <a:xfrm>
            <a:off x="822960" y="4928760"/>
            <a:ext cx="4800240" cy="475200"/>
          </a:xfrm>
          <a:prstGeom prst="roundRect">
            <a:avLst>
              <a:gd name="adj" fmla="val 15385"/>
            </a:avLst>
          </a:prstGeom>
          <a:solidFill>
            <a:srgbClr val="1b2740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24"/>
          <p:cNvSpPr/>
          <p:nvPr/>
        </p:nvSpPr>
        <p:spPr>
          <a:xfrm>
            <a:off x="960120" y="4928760"/>
            <a:ext cx="4525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4d399"/>
                </a:solidFill>
                <a:latin typeface="Calibri"/>
                <a:ea typeface="Calibri"/>
              </a:rPr>
              <a:t>Retrieved Only When Needed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25"/>
          <p:cNvSpPr/>
          <p:nvPr/>
        </p:nvSpPr>
        <p:spPr>
          <a:xfrm>
            <a:off x="731520" y="566028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996ac"/>
                </a:solidFill>
                <a:latin typeface="Calibri"/>
                <a:ea typeface="Calibri"/>
              </a:rPr>
              <a:t>Result: significant token reduction with minimal information loss.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26"/>
          <p:cNvSpPr/>
          <p:nvPr/>
        </p:nvSpPr>
        <p:spPr>
          <a:xfrm>
            <a:off x="6199560" y="1600200"/>
            <a:ext cx="5531760" cy="4480200"/>
          </a:xfrm>
          <a:prstGeom prst="roundRect">
            <a:avLst>
              <a:gd name="adj" fmla="val 1633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7"/>
          <p:cNvSpPr/>
          <p:nvPr/>
        </p:nvSpPr>
        <p:spPr>
          <a:xfrm>
            <a:off x="6473880" y="1783080"/>
            <a:ext cx="498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a78bfa"/>
                </a:solidFill>
                <a:latin typeface="Calibri"/>
                <a:ea typeface="Calibri"/>
              </a:rPr>
              <a:t>Cross-Agent Memory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28"/>
          <p:cNvSpPr/>
          <p:nvPr/>
        </p:nvSpPr>
        <p:spPr>
          <a:xfrm>
            <a:off x="6473880" y="2148840"/>
            <a:ext cx="4983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Developers switch between Claude Code, Cursor, Codex, and more — each keeping isolated memory by default.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29"/>
          <p:cNvSpPr/>
          <p:nvPr/>
        </p:nvSpPr>
        <p:spPr>
          <a:xfrm>
            <a:off x="6656760" y="278892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30"/>
          <p:cNvSpPr/>
          <p:nvPr/>
        </p:nvSpPr>
        <p:spPr>
          <a:xfrm>
            <a:off x="6656760" y="278892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ce4f0"/>
                </a:solidFill>
                <a:latin typeface="Calibri"/>
                <a:ea typeface="Calibri"/>
              </a:rPr>
              <a:t>Claude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Shape 31"/>
          <p:cNvSpPr/>
          <p:nvPr/>
        </p:nvSpPr>
        <p:spPr>
          <a:xfrm>
            <a:off x="7265880" y="3264480"/>
            <a:ext cx="16200" cy="1641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2"/>
          <p:cNvSpPr/>
          <p:nvPr/>
        </p:nvSpPr>
        <p:spPr>
          <a:xfrm rot="10800000">
            <a:off x="7228800" y="3436560"/>
            <a:ext cx="91080" cy="655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33"/>
          <p:cNvSpPr/>
          <p:nvPr/>
        </p:nvSpPr>
        <p:spPr>
          <a:xfrm>
            <a:off x="8119800" y="278892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34"/>
          <p:cNvSpPr/>
          <p:nvPr/>
        </p:nvSpPr>
        <p:spPr>
          <a:xfrm>
            <a:off x="8119800" y="278892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ce4f0"/>
                </a:solidFill>
                <a:latin typeface="Calibri"/>
                <a:ea typeface="Calibri"/>
              </a:rPr>
              <a:t>Cursor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Shape 35"/>
          <p:cNvSpPr/>
          <p:nvPr/>
        </p:nvSpPr>
        <p:spPr>
          <a:xfrm>
            <a:off x="8728920" y="3264480"/>
            <a:ext cx="16200" cy="1641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36"/>
          <p:cNvSpPr/>
          <p:nvPr/>
        </p:nvSpPr>
        <p:spPr>
          <a:xfrm rot="10800000">
            <a:off x="8691840" y="3436560"/>
            <a:ext cx="91080" cy="655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37"/>
          <p:cNvSpPr/>
          <p:nvPr/>
        </p:nvSpPr>
        <p:spPr>
          <a:xfrm>
            <a:off x="9582840" y="2788920"/>
            <a:ext cx="1234080" cy="456840"/>
          </a:xfrm>
          <a:prstGeom prst="roundRect">
            <a:avLst>
              <a:gd name="adj" fmla="val 16000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38"/>
          <p:cNvSpPr/>
          <p:nvPr/>
        </p:nvSpPr>
        <p:spPr>
          <a:xfrm>
            <a:off x="9582840" y="278892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ce4f0"/>
                </a:solidFill>
                <a:latin typeface="Calibri"/>
                <a:ea typeface="Calibri"/>
              </a:rPr>
              <a:t>Codex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39"/>
          <p:cNvSpPr/>
          <p:nvPr/>
        </p:nvSpPr>
        <p:spPr>
          <a:xfrm>
            <a:off x="10191960" y="3264480"/>
            <a:ext cx="16200" cy="1641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40"/>
          <p:cNvSpPr/>
          <p:nvPr/>
        </p:nvSpPr>
        <p:spPr>
          <a:xfrm rot="10800000">
            <a:off x="10154880" y="3436560"/>
            <a:ext cx="91080" cy="655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41"/>
          <p:cNvSpPr/>
          <p:nvPr/>
        </p:nvSpPr>
        <p:spPr>
          <a:xfrm>
            <a:off x="7274160" y="3512160"/>
            <a:ext cx="2925720" cy="1620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42"/>
          <p:cNvSpPr/>
          <p:nvPr/>
        </p:nvSpPr>
        <p:spPr>
          <a:xfrm>
            <a:off x="7777080" y="3630240"/>
            <a:ext cx="2377080" cy="502560"/>
          </a:xfrm>
          <a:prstGeom prst="roundRect">
            <a:avLst>
              <a:gd name="adj" fmla="val 14545"/>
            </a:avLst>
          </a:prstGeom>
          <a:solidFill>
            <a:srgbClr val="1b2740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43"/>
          <p:cNvSpPr/>
          <p:nvPr/>
        </p:nvSpPr>
        <p:spPr>
          <a:xfrm>
            <a:off x="7868520" y="3698640"/>
            <a:ext cx="365400" cy="36540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5" name="Image 0" descr="/home/claude/work/icons/share_purple.png"/>
          <p:cNvPicPr/>
          <p:nvPr/>
        </p:nvPicPr>
        <p:blipFill>
          <a:blip r:embed="rId1"/>
          <a:stretch/>
        </p:blipFill>
        <p:spPr>
          <a:xfrm>
            <a:off x="7945200" y="3775680"/>
            <a:ext cx="211680" cy="211680"/>
          </a:xfrm>
          <a:prstGeom prst="rect">
            <a:avLst/>
          </a:prstGeom>
          <a:ln w="0">
            <a:noFill/>
          </a:ln>
        </p:spPr>
      </p:pic>
      <p:sp>
        <p:nvSpPr>
          <p:cNvPr id="406" name="Text 44"/>
          <p:cNvSpPr/>
          <p:nvPr/>
        </p:nvSpPr>
        <p:spPr>
          <a:xfrm>
            <a:off x="8280000" y="363024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a78bfa"/>
                </a:solidFill>
                <a:latin typeface="Calibri"/>
                <a:ea typeface="Calibri"/>
              </a:rPr>
              <a:t>Shared Memory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45"/>
          <p:cNvSpPr/>
          <p:nvPr/>
        </p:nvSpPr>
        <p:spPr>
          <a:xfrm>
            <a:off x="6473880" y="4389120"/>
            <a:ext cx="292320" cy="29232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8" name="Image 1" descr="/home/claude/work/icons/check_white.png"/>
          <p:cNvPicPr/>
          <p:nvPr/>
        </p:nvPicPr>
        <p:blipFill>
          <a:blip r:embed="rId2"/>
          <a:stretch/>
        </p:blipFill>
        <p:spPr>
          <a:xfrm>
            <a:off x="6535440" y="4450680"/>
            <a:ext cx="169200" cy="169200"/>
          </a:xfrm>
          <a:prstGeom prst="rect">
            <a:avLst/>
          </a:prstGeom>
          <a:ln w="0">
            <a:noFill/>
          </a:ln>
        </p:spPr>
      </p:pic>
      <p:sp>
        <p:nvSpPr>
          <p:cNvPr id="409" name="Text 46"/>
          <p:cNvSpPr/>
          <p:nvPr/>
        </p:nvSpPr>
        <p:spPr>
          <a:xfrm>
            <a:off x="6858000" y="4361760"/>
            <a:ext cx="4617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Reduced repeated context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47"/>
          <p:cNvSpPr/>
          <p:nvPr/>
        </p:nvSpPr>
        <p:spPr>
          <a:xfrm>
            <a:off x="6473880" y="4773240"/>
            <a:ext cx="292320" cy="29232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1" name="Image 2" descr="/home/claude/work/icons/check_white.png"/>
          <p:cNvPicPr/>
          <p:nvPr/>
        </p:nvPicPr>
        <p:blipFill>
          <a:blip r:embed="rId3"/>
          <a:stretch/>
        </p:blipFill>
        <p:spPr>
          <a:xfrm>
            <a:off x="6535440" y="4834440"/>
            <a:ext cx="169200" cy="169200"/>
          </a:xfrm>
          <a:prstGeom prst="rect">
            <a:avLst/>
          </a:prstGeom>
          <a:ln w="0">
            <a:noFill/>
          </a:ln>
        </p:spPr>
      </p:pic>
      <p:sp>
        <p:nvSpPr>
          <p:cNvPr id="412" name="Text 48"/>
          <p:cNvSpPr/>
          <p:nvPr/>
        </p:nvSpPr>
        <p:spPr>
          <a:xfrm>
            <a:off x="6858000" y="4745880"/>
            <a:ext cx="4617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Consistent project understanding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49"/>
          <p:cNvSpPr/>
          <p:nvPr/>
        </p:nvSpPr>
        <p:spPr>
          <a:xfrm>
            <a:off x="6473880" y="5157360"/>
            <a:ext cx="292320" cy="29232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4" name="Image 3" descr="/home/claude/work/icons/check_white.png"/>
          <p:cNvPicPr/>
          <p:nvPr/>
        </p:nvPicPr>
        <p:blipFill>
          <a:blip r:embed="rId4"/>
          <a:stretch/>
        </p:blipFill>
        <p:spPr>
          <a:xfrm>
            <a:off x="6535440" y="5218560"/>
            <a:ext cx="169200" cy="169200"/>
          </a:xfrm>
          <a:prstGeom prst="rect">
            <a:avLst/>
          </a:prstGeom>
          <a:ln w="0">
            <a:noFill/>
          </a:ln>
        </p:spPr>
      </p:pic>
      <p:sp>
        <p:nvSpPr>
          <p:cNvPr id="415" name="Text 50"/>
          <p:cNvSpPr/>
          <p:nvPr/>
        </p:nvSpPr>
        <p:spPr>
          <a:xfrm>
            <a:off x="6858000" y="5129640"/>
            <a:ext cx="4617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Lower token consumption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51"/>
          <p:cNvSpPr/>
          <p:nvPr/>
        </p:nvSpPr>
        <p:spPr>
          <a:xfrm>
            <a:off x="6473880" y="5541120"/>
            <a:ext cx="292320" cy="29232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Image 4" descr="/home/claude/work/icons/check_white.png"/>
          <p:cNvPicPr/>
          <p:nvPr/>
        </p:nvPicPr>
        <p:blipFill>
          <a:blip r:embed="rId5"/>
          <a:stretch/>
        </p:blipFill>
        <p:spPr>
          <a:xfrm>
            <a:off x="6535440" y="5602680"/>
            <a:ext cx="169200" cy="169200"/>
          </a:xfrm>
          <a:prstGeom prst="rect">
            <a:avLst/>
          </a:prstGeom>
          <a:ln w="0">
            <a:noFill/>
          </a:ln>
        </p:spPr>
      </p:pic>
      <p:sp>
        <p:nvSpPr>
          <p:cNvPr id="418" name="Text 52"/>
          <p:cNvSpPr/>
          <p:nvPr/>
        </p:nvSpPr>
        <p:spPr>
          <a:xfrm>
            <a:off x="6858000" y="5513760"/>
            <a:ext cx="4617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Better multi-agent collaboration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DEPLOYMENT &amp; TRADE-OFFS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Flexible Deployment, Honest Limitations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08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8"/>
          <p:cNvSpPr/>
          <p:nvPr/>
        </p:nvSpPr>
        <p:spPr>
          <a:xfrm>
            <a:off x="457200" y="1554480"/>
            <a:ext cx="5531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8996ac"/>
                </a:solidFill>
                <a:latin typeface="Calibri"/>
                <a:ea typeface="Calibri"/>
              </a:rPr>
              <a:t>Deployment Models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9"/>
          <p:cNvSpPr/>
          <p:nvPr/>
        </p:nvSpPr>
        <p:spPr>
          <a:xfrm>
            <a:off x="457200" y="1901880"/>
            <a:ext cx="4800600" cy="1143000"/>
          </a:xfrm>
          <a:prstGeom prst="roundRect">
            <a:avLst>
              <a:gd name="adj" fmla="val 6957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10"/>
          <p:cNvSpPr/>
          <p:nvPr/>
        </p:nvSpPr>
        <p:spPr>
          <a:xfrm>
            <a:off x="658440" y="2171880"/>
            <a:ext cx="511560" cy="51156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0" name="Image 0" descr="/home/claude/work/icons/server_blue.png"/>
          <p:cNvPicPr/>
          <p:nvPr/>
        </p:nvPicPr>
        <p:blipFill>
          <a:blip r:embed="rId1"/>
          <a:stretch/>
        </p:blipFill>
        <p:spPr>
          <a:xfrm>
            <a:off x="777240" y="227916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431" name="Text 11"/>
          <p:cNvSpPr/>
          <p:nvPr/>
        </p:nvSpPr>
        <p:spPr>
          <a:xfrm>
            <a:off x="1325880" y="213048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Proxy Mode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12"/>
          <p:cNvSpPr/>
          <p:nvPr/>
        </p:nvSpPr>
        <p:spPr>
          <a:xfrm>
            <a:off x="1325880" y="2423160"/>
            <a:ext cx="370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Developer → Assistant → Headroom Proxy → LLM Provider. Minimal application changes; centralized optimization.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13"/>
          <p:cNvSpPr/>
          <p:nvPr/>
        </p:nvSpPr>
        <p:spPr>
          <a:xfrm>
            <a:off x="457200" y="3429000"/>
            <a:ext cx="4800600" cy="1143000"/>
          </a:xfrm>
          <a:prstGeom prst="roundRect">
            <a:avLst>
              <a:gd name="adj" fmla="val 6957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14"/>
          <p:cNvSpPr/>
          <p:nvPr/>
        </p:nvSpPr>
        <p:spPr>
          <a:xfrm>
            <a:off x="658440" y="3657600"/>
            <a:ext cx="511560" cy="51156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5" name="Image 1" descr="/home/claude/work/icons/package_blue.png"/>
          <p:cNvPicPr/>
          <p:nvPr/>
        </p:nvPicPr>
        <p:blipFill>
          <a:blip r:embed="rId2"/>
          <a:stretch/>
        </p:blipFill>
        <p:spPr>
          <a:xfrm>
            <a:off x="777240" y="375804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436" name="Text 15"/>
          <p:cNvSpPr/>
          <p:nvPr/>
        </p:nvSpPr>
        <p:spPr>
          <a:xfrm>
            <a:off x="1325880" y="361188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Library Mode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16"/>
          <p:cNvSpPr/>
          <p:nvPr/>
        </p:nvSpPr>
        <p:spPr>
          <a:xfrm>
            <a:off x="1325880" y="3904560"/>
            <a:ext cx="370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Integrated directly into an application as a software library. Fine-grained control and easier customization.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17"/>
          <p:cNvSpPr/>
          <p:nvPr/>
        </p:nvSpPr>
        <p:spPr>
          <a:xfrm>
            <a:off x="457200" y="4937760"/>
            <a:ext cx="4800600" cy="1143000"/>
          </a:xfrm>
          <a:prstGeom prst="roundRect">
            <a:avLst>
              <a:gd name="adj" fmla="val 6957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18"/>
          <p:cNvSpPr/>
          <p:nvPr/>
        </p:nvSpPr>
        <p:spPr>
          <a:xfrm>
            <a:off x="658440" y="5166360"/>
            <a:ext cx="511560" cy="51156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0" name="Image 2" descr="/home/claude/work/icons/link_blue.png"/>
          <p:cNvPicPr/>
          <p:nvPr/>
        </p:nvPicPr>
        <p:blipFill>
          <a:blip r:embed="rId3"/>
          <a:stretch/>
        </p:blipFill>
        <p:spPr>
          <a:xfrm>
            <a:off x="766080" y="527616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441" name="Text 19"/>
          <p:cNvSpPr/>
          <p:nvPr/>
        </p:nvSpPr>
        <p:spPr>
          <a:xfrm>
            <a:off x="1325880" y="513900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MCP Server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20"/>
          <p:cNvSpPr/>
          <p:nvPr/>
        </p:nvSpPr>
        <p:spPr>
          <a:xfrm>
            <a:off x="1325880" y="5431680"/>
            <a:ext cx="370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Exposes compression, retrieval, statistics, and memory as callable tools via the Model Context Protocol.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21"/>
          <p:cNvSpPr/>
          <p:nvPr/>
        </p:nvSpPr>
        <p:spPr>
          <a:xfrm>
            <a:off x="5715000" y="1554480"/>
            <a:ext cx="2926080" cy="4525920"/>
          </a:xfrm>
          <a:prstGeom prst="roundRect">
            <a:avLst>
              <a:gd name="adj" fmla="val 2759"/>
            </a:avLst>
          </a:prstGeom>
          <a:solidFill>
            <a:srgbClr val="17233a"/>
          </a:solidFill>
          <a:ln w="12700">
            <a:solidFill>
              <a:srgbClr val="34d399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22"/>
          <p:cNvSpPr/>
          <p:nvPr/>
        </p:nvSpPr>
        <p:spPr>
          <a:xfrm>
            <a:off x="6035040" y="1755720"/>
            <a:ext cx="365400" cy="3654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5" name="Image 3" descr="/home/claude/work/icons/check_white.png"/>
          <p:cNvPicPr/>
          <p:nvPr/>
        </p:nvPicPr>
        <p:blipFill>
          <a:blip r:embed="rId4"/>
          <a:stretch/>
        </p:blipFill>
        <p:spPr>
          <a:xfrm>
            <a:off x="6126480" y="184716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446" name="Text 23"/>
          <p:cNvSpPr/>
          <p:nvPr/>
        </p:nvSpPr>
        <p:spPr>
          <a:xfrm>
            <a:off x="6473880" y="1755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  <a:ea typeface="Calibri"/>
              </a:rPr>
              <a:t>Key Strengths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24"/>
          <p:cNvSpPr/>
          <p:nvPr/>
        </p:nvSpPr>
        <p:spPr>
          <a:xfrm>
            <a:off x="6071760" y="2313360"/>
            <a:ext cx="91080" cy="9108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25"/>
          <p:cNvSpPr/>
          <p:nvPr/>
        </p:nvSpPr>
        <p:spPr>
          <a:xfrm>
            <a:off x="6272640" y="22129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Local-first architecture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26"/>
          <p:cNvSpPr/>
          <p:nvPr/>
        </p:nvSpPr>
        <p:spPr>
          <a:xfrm>
            <a:off x="6272640" y="24415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Optimization runs before data leaves the machine.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27"/>
          <p:cNvSpPr/>
          <p:nvPr/>
        </p:nvSpPr>
        <p:spPr>
          <a:xfrm>
            <a:off x="6071760" y="2926080"/>
            <a:ext cx="91080" cy="9108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28"/>
          <p:cNvSpPr/>
          <p:nvPr/>
        </p:nvSpPr>
        <p:spPr>
          <a:xfrm>
            <a:off x="6272640" y="2825640"/>
            <a:ext cx="218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Specialized compression engines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29"/>
          <p:cNvSpPr/>
          <p:nvPr/>
        </p:nvSpPr>
        <p:spPr>
          <a:xfrm>
            <a:off x="6272640" y="30542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Purpose-built per content type, not generic.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30"/>
          <p:cNvSpPr/>
          <p:nvPr/>
        </p:nvSpPr>
        <p:spPr>
          <a:xfrm>
            <a:off x="6071760" y="3538800"/>
            <a:ext cx="91080" cy="9108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31"/>
          <p:cNvSpPr/>
          <p:nvPr/>
        </p:nvSpPr>
        <p:spPr>
          <a:xfrm>
            <a:off x="6272640" y="34380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Context-aware routing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32"/>
          <p:cNvSpPr/>
          <p:nvPr/>
        </p:nvSpPr>
        <p:spPr>
          <a:xfrm>
            <a:off x="6272640" y="36392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Sends each payload to the right engine.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33"/>
          <p:cNvSpPr/>
          <p:nvPr/>
        </p:nvSpPr>
        <p:spPr>
          <a:xfrm>
            <a:off x="6071760" y="4151520"/>
            <a:ext cx="91080" cy="9108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34"/>
          <p:cNvSpPr/>
          <p:nvPr/>
        </p:nvSpPr>
        <p:spPr>
          <a:xfrm>
            <a:off x="6272640" y="40507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Shared memory across agents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35"/>
          <p:cNvSpPr/>
          <p:nvPr/>
        </p:nvSpPr>
        <p:spPr>
          <a:xfrm>
            <a:off x="6272640" y="42519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Claude, Cursor, and Codex stay in sync.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36"/>
          <p:cNvSpPr/>
          <p:nvPr/>
        </p:nvSpPr>
        <p:spPr>
          <a:xfrm>
            <a:off x="6071760" y="4763880"/>
            <a:ext cx="91080" cy="9108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37"/>
          <p:cNvSpPr/>
          <p:nvPr/>
        </p:nvSpPr>
        <p:spPr>
          <a:xfrm>
            <a:off x="6272640" y="46634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Reversible compression (CCR)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8"/>
          <p:cNvSpPr/>
          <p:nvPr/>
        </p:nvSpPr>
        <p:spPr>
          <a:xfrm>
            <a:off x="6272640" y="48646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Retrieves full detail only when needed.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39"/>
          <p:cNvSpPr/>
          <p:nvPr/>
        </p:nvSpPr>
        <p:spPr>
          <a:xfrm>
            <a:off x="6071760" y="5376600"/>
            <a:ext cx="91080" cy="9108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40"/>
          <p:cNvSpPr/>
          <p:nvPr/>
        </p:nvSpPr>
        <p:spPr>
          <a:xfrm>
            <a:off x="6272640" y="52761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Broad assistant compatibility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41"/>
          <p:cNvSpPr/>
          <p:nvPr/>
        </p:nvSpPr>
        <p:spPr>
          <a:xfrm>
            <a:off x="6272640" y="54774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Proxy, library, or MCP — fits any setup.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42"/>
          <p:cNvSpPr/>
          <p:nvPr/>
        </p:nvSpPr>
        <p:spPr>
          <a:xfrm>
            <a:off x="8961120" y="1554480"/>
            <a:ext cx="2926080" cy="4525920"/>
          </a:xfrm>
          <a:prstGeom prst="roundRect">
            <a:avLst>
              <a:gd name="adj" fmla="val 2759"/>
            </a:avLst>
          </a:prstGeom>
          <a:solidFill>
            <a:srgbClr val="17233a"/>
          </a:solidFill>
          <a:ln w="12700">
            <a:solidFill>
              <a:srgbClr val="fbbf24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43"/>
          <p:cNvSpPr/>
          <p:nvPr/>
        </p:nvSpPr>
        <p:spPr>
          <a:xfrm>
            <a:off x="9281160" y="1755720"/>
            <a:ext cx="365400" cy="365400"/>
          </a:xfrm>
          <a:prstGeom prst="ellipse">
            <a:avLst/>
          </a:prstGeom>
          <a:solidFill>
            <a:srgbClr val="fbbf24">
              <a:alpha val="24000"/>
            </a:srgbClr>
          </a:solidFill>
          <a:ln w="15875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44"/>
          <p:cNvSpPr/>
          <p:nvPr/>
        </p:nvSpPr>
        <p:spPr>
          <a:xfrm>
            <a:off x="9281160" y="1737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bbf24"/>
                </a:solidFill>
                <a:latin typeface="Calibri"/>
                <a:ea typeface="Calibri"/>
              </a:rPr>
              <a:t>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45"/>
          <p:cNvSpPr/>
          <p:nvPr/>
        </p:nvSpPr>
        <p:spPr>
          <a:xfrm>
            <a:off x="9720000" y="1755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  <a:ea typeface="Calibri"/>
              </a:rPr>
              <a:t>Current Limitations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46"/>
          <p:cNvSpPr/>
          <p:nvPr/>
        </p:nvSpPr>
        <p:spPr>
          <a:xfrm>
            <a:off x="9317880" y="2322720"/>
            <a:ext cx="91080" cy="9108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47"/>
          <p:cNvSpPr/>
          <p:nvPr/>
        </p:nvSpPr>
        <p:spPr>
          <a:xfrm>
            <a:off x="9518760" y="2249280"/>
            <a:ext cx="213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Compression can't improve reasoning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8"/>
          <p:cNvSpPr/>
          <p:nvPr/>
        </p:nvSpPr>
        <p:spPr>
          <a:xfrm>
            <a:off x="9518760" y="2487240"/>
            <a:ext cx="213984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It reduces tokens sent — it doesn't make the underlying model smarter or more accurate.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49"/>
          <p:cNvSpPr/>
          <p:nvPr/>
        </p:nvSpPr>
        <p:spPr>
          <a:xfrm>
            <a:off x="9317880" y="3241440"/>
            <a:ext cx="91080" cy="9108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50"/>
          <p:cNvSpPr/>
          <p:nvPr/>
        </p:nvSpPr>
        <p:spPr>
          <a:xfrm>
            <a:off x="9518760" y="31683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CCR depends on retrieval accuracy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51"/>
          <p:cNvSpPr/>
          <p:nvPr/>
        </p:nvSpPr>
        <p:spPr>
          <a:xfrm>
            <a:off x="9518760" y="3406320"/>
            <a:ext cx="201132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If the retrieval step misses relevant context, quality can degrade silently.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52"/>
          <p:cNvSpPr/>
          <p:nvPr/>
        </p:nvSpPr>
        <p:spPr>
          <a:xfrm>
            <a:off x="9317880" y="4160520"/>
            <a:ext cx="91080" cy="9108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53"/>
          <p:cNvSpPr/>
          <p:nvPr/>
        </p:nvSpPr>
        <p:spPr>
          <a:xfrm>
            <a:off x="9518760" y="40874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Adds a local preprocessing layer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54"/>
          <p:cNvSpPr/>
          <p:nvPr/>
        </p:nvSpPr>
        <p:spPr>
          <a:xfrm>
            <a:off x="9518760" y="4325040"/>
            <a:ext cx="201132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Introduces a small amount of latency and operational surface to manage.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55"/>
          <p:cNvSpPr/>
          <p:nvPr/>
        </p:nvSpPr>
        <p:spPr>
          <a:xfrm>
            <a:off x="9317880" y="5079600"/>
            <a:ext cx="91080" cy="9108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56"/>
          <p:cNvSpPr/>
          <p:nvPr/>
        </p:nvSpPr>
        <p:spPr>
          <a:xfrm>
            <a:off x="9518760" y="50065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dce4f0"/>
                </a:solidFill>
                <a:latin typeface="Calibri"/>
                <a:ea typeface="Calibri"/>
              </a:rPr>
              <a:t>Benchmarks are largely self-published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57"/>
          <p:cNvSpPr/>
          <p:nvPr/>
        </p:nvSpPr>
        <p:spPr>
          <a:xfrm>
            <a:off x="9518760" y="5244120"/>
            <a:ext cx="201132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8996ac"/>
                </a:solidFill>
                <a:latin typeface="Calibri"/>
                <a:ea typeface="Calibri"/>
              </a:rPr>
              <a:t>Independent, third-party validation of performance claims is still limited.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PHASE 2 — ALTERNATIVE ECOSYSTEM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4"/>
          <p:cNvSpPr/>
          <p:nvPr/>
        </p:nvSpPr>
        <p:spPr>
          <a:xfrm>
            <a:off x="457200" y="658440"/>
            <a:ext cx="1129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Optimization Categories &amp; Category Leaders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5"/>
          <p:cNvSpPr/>
          <p:nvPr/>
        </p:nvSpPr>
        <p:spPr>
          <a:xfrm>
            <a:off x="457200" y="1115640"/>
            <a:ext cx="1129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8996ac"/>
                </a:solidFill>
                <a:latin typeface="Calibri"/>
                <a:ea typeface="Calibri"/>
              </a:rPr>
              <a:t>Headroom isn't a single-purpose tool — so alternatives are grouped by the capability they replace.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6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7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8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09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9"/>
          <p:cNvSpPr/>
          <p:nvPr/>
        </p:nvSpPr>
        <p:spPr>
          <a:xfrm>
            <a:off x="457200" y="1874520"/>
            <a:ext cx="11274120" cy="456840"/>
          </a:xfrm>
          <a:prstGeom prst="roundRect">
            <a:avLst>
              <a:gd name="adj" fmla="val 16000"/>
            </a:avLst>
          </a:prstGeom>
          <a:solidFill>
            <a:srgbClr val="17233a"/>
          </a:solidFill>
          <a:ln w="12700">
            <a:solidFill>
              <a:srgbClr val="2733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10"/>
          <p:cNvSpPr/>
          <p:nvPr/>
        </p:nvSpPr>
        <p:spPr>
          <a:xfrm>
            <a:off x="685800" y="187452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8996ac"/>
                </a:solidFill>
                <a:latin typeface="Calibri"/>
                <a:ea typeface="Calibri"/>
              </a:rPr>
              <a:t>CATEGORY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11"/>
          <p:cNvSpPr/>
          <p:nvPr/>
        </p:nvSpPr>
        <p:spPr>
          <a:xfrm>
            <a:off x="4663440" y="18745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8996ac"/>
                </a:solidFill>
                <a:latin typeface="Calibri"/>
                <a:ea typeface="Calibri"/>
              </a:rPr>
              <a:t>BEST TOOL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12"/>
          <p:cNvSpPr/>
          <p:nvPr/>
        </p:nvSpPr>
        <p:spPr>
          <a:xfrm>
            <a:off x="7269480" y="1874520"/>
            <a:ext cx="441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8996ac"/>
                </a:solidFill>
                <a:latin typeface="Calibri"/>
                <a:ea typeface="Calibri"/>
              </a:rPr>
              <a:t>WHY IT WINS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13"/>
          <p:cNvSpPr/>
          <p:nvPr/>
        </p:nvSpPr>
        <p:spPr>
          <a:xfrm>
            <a:off x="457200" y="2331720"/>
            <a:ext cx="1127412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14"/>
          <p:cNvSpPr/>
          <p:nvPr/>
        </p:nvSpPr>
        <p:spPr>
          <a:xfrm>
            <a:off x="685800" y="233172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Context Compression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15"/>
          <p:cNvSpPr/>
          <p:nvPr/>
        </p:nvSpPr>
        <p:spPr>
          <a:xfrm>
            <a:off x="4663440" y="2441520"/>
            <a:ext cx="1737000" cy="310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16"/>
          <p:cNvSpPr/>
          <p:nvPr/>
        </p:nvSpPr>
        <p:spPr>
          <a:xfrm>
            <a:off x="4663440" y="244152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49" strike="noStrike">
                <a:solidFill>
                  <a:srgbClr val="4f8ef7"/>
                </a:solidFill>
                <a:latin typeface="Calibri"/>
                <a:ea typeface="Calibri"/>
              </a:rPr>
              <a:t>LLMLingua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17"/>
          <p:cNvSpPr/>
          <p:nvPr/>
        </p:nvSpPr>
        <p:spPr>
          <a:xfrm>
            <a:off x="7269480" y="2331720"/>
            <a:ext cx="4324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9c4d6"/>
                </a:solidFill>
                <a:latin typeface="Calibri"/>
                <a:ea typeface="Calibri"/>
              </a:rPr>
              <a:t>Research-backed importance-based token pruning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18"/>
          <p:cNvSpPr/>
          <p:nvPr/>
        </p:nvSpPr>
        <p:spPr>
          <a:xfrm>
            <a:off x="457200" y="2862000"/>
            <a:ext cx="11274120" cy="529920"/>
          </a:xfrm>
          <a:prstGeom prst="roundRect">
            <a:avLst>
              <a:gd name="adj" fmla="val 13793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19"/>
          <p:cNvSpPr/>
          <p:nvPr/>
        </p:nvSpPr>
        <p:spPr>
          <a:xfrm>
            <a:off x="685800" y="286200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Persistent Memory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20"/>
          <p:cNvSpPr/>
          <p:nvPr/>
        </p:nvSpPr>
        <p:spPr>
          <a:xfrm>
            <a:off x="4663440" y="2971800"/>
            <a:ext cx="1737000" cy="310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21"/>
          <p:cNvSpPr/>
          <p:nvPr/>
        </p:nvSpPr>
        <p:spPr>
          <a:xfrm>
            <a:off x="4663440" y="29718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49" strike="noStrike">
                <a:solidFill>
                  <a:srgbClr val="4f8ef7"/>
                </a:solidFill>
                <a:latin typeface="Calibri"/>
                <a:ea typeface="Calibri"/>
              </a:rPr>
              <a:t>Mem0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22"/>
          <p:cNvSpPr/>
          <p:nvPr/>
        </p:nvSpPr>
        <p:spPr>
          <a:xfrm>
            <a:off x="7269480" y="2862000"/>
            <a:ext cx="4324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9c4d6"/>
                </a:solidFill>
                <a:latin typeface="Calibri"/>
                <a:ea typeface="Calibri"/>
              </a:rPr>
              <a:t>Intelligent long-term memory selection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23"/>
          <p:cNvSpPr/>
          <p:nvPr/>
        </p:nvSpPr>
        <p:spPr>
          <a:xfrm>
            <a:off x="457200" y="3392280"/>
            <a:ext cx="1127412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24"/>
          <p:cNvSpPr/>
          <p:nvPr/>
        </p:nvSpPr>
        <p:spPr>
          <a:xfrm>
            <a:off x="685800" y="339228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Prompt Cache Optimization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25"/>
          <p:cNvSpPr/>
          <p:nvPr/>
        </p:nvSpPr>
        <p:spPr>
          <a:xfrm>
            <a:off x="4663440" y="3502080"/>
            <a:ext cx="1737000" cy="310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26"/>
          <p:cNvSpPr/>
          <p:nvPr/>
        </p:nvSpPr>
        <p:spPr>
          <a:xfrm>
            <a:off x="4663440" y="35020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49" strike="noStrike">
                <a:solidFill>
                  <a:srgbClr val="4f8ef7"/>
                </a:solidFill>
                <a:latin typeface="Calibri"/>
                <a:ea typeface="Calibri"/>
              </a:rPr>
              <a:t>LiteLLM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27"/>
          <p:cNvSpPr/>
          <p:nvPr/>
        </p:nvSpPr>
        <p:spPr>
          <a:xfrm>
            <a:off x="7269480" y="3392280"/>
            <a:ext cx="4324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9c4d6"/>
                </a:solidFill>
                <a:latin typeface="Calibri"/>
                <a:ea typeface="Calibri"/>
              </a:rPr>
              <a:t>Mature caching, retries &amp; provider abstraction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Shape 28"/>
          <p:cNvSpPr/>
          <p:nvPr/>
        </p:nvSpPr>
        <p:spPr>
          <a:xfrm>
            <a:off x="457200" y="3922920"/>
            <a:ext cx="11274120" cy="529920"/>
          </a:xfrm>
          <a:prstGeom prst="roundRect">
            <a:avLst>
              <a:gd name="adj" fmla="val 13793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29"/>
          <p:cNvSpPr/>
          <p:nvPr/>
        </p:nvSpPr>
        <p:spPr>
          <a:xfrm>
            <a:off x="685800" y="392292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AI Gateway / Proxy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Shape 30"/>
          <p:cNvSpPr/>
          <p:nvPr/>
        </p:nvSpPr>
        <p:spPr>
          <a:xfrm>
            <a:off x="4663440" y="4032360"/>
            <a:ext cx="1737000" cy="310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31"/>
          <p:cNvSpPr/>
          <p:nvPr/>
        </p:nvSpPr>
        <p:spPr>
          <a:xfrm>
            <a:off x="4663440" y="403236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49" strike="noStrike">
                <a:solidFill>
                  <a:srgbClr val="4f8ef7"/>
                </a:solidFill>
                <a:latin typeface="Calibri"/>
                <a:ea typeface="Calibri"/>
              </a:rPr>
              <a:t>Portkey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32"/>
          <p:cNvSpPr/>
          <p:nvPr/>
        </p:nvSpPr>
        <p:spPr>
          <a:xfrm>
            <a:off x="7269480" y="3922920"/>
            <a:ext cx="4324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9c4d6"/>
                </a:solidFill>
                <a:latin typeface="Calibri"/>
                <a:ea typeface="Calibri"/>
              </a:rPr>
              <a:t>Enterprise governance, security &amp; observability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33"/>
          <p:cNvSpPr/>
          <p:nvPr/>
        </p:nvSpPr>
        <p:spPr>
          <a:xfrm>
            <a:off x="457200" y="4453200"/>
            <a:ext cx="1127412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34"/>
          <p:cNvSpPr/>
          <p:nvPr/>
        </p:nvSpPr>
        <p:spPr>
          <a:xfrm>
            <a:off x="685800" y="445320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Model Routing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35"/>
          <p:cNvSpPr/>
          <p:nvPr/>
        </p:nvSpPr>
        <p:spPr>
          <a:xfrm>
            <a:off x="4663440" y="4563000"/>
            <a:ext cx="1737000" cy="310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36"/>
          <p:cNvSpPr/>
          <p:nvPr/>
        </p:nvSpPr>
        <p:spPr>
          <a:xfrm>
            <a:off x="4663440" y="45630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49" strike="noStrike">
                <a:solidFill>
                  <a:srgbClr val="4f8ef7"/>
                </a:solidFill>
                <a:latin typeface="Calibri"/>
                <a:ea typeface="Calibri"/>
              </a:rPr>
              <a:t>LiteLLM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37"/>
          <p:cNvSpPr/>
          <p:nvPr/>
        </p:nvSpPr>
        <p:spPr>
          <a:xfrm>
            <a:off x="7269480" y="4453200"/>
            <a:ext cx="4324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9c4d6"/>
                </a:solidFill>
                <a:latin typeface="Calibri"/>
                <a:ea typeface="Calibri"/>
              </a:rPr>
              <a:t>Cost-aware routing with automatic fallback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38"/>
          <p:cNvSpPr/>
          <p:nvPr/>
        </p:nvSpPr>
        <p:spPr>
          <a:xfrm>
            <a:off x="457200" y="4983480"/>
            <a:ext cx="11274120" cy="529920"/>
          </a:xfrm>
          <a:prstGeom prst="roundRect">
            <a:avLst>
              <a:gd name="adj" fmla="val 13793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39"/>
          <p:cNvSpPr/>
          <p:nvPr/>
        </p:nvSpPr>
        <p:spPr>
          <a:xfrm>
            <a:off x="685800" y="498348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Retrieval Optimization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40"/>
          <p:cNvSpPr/>
          <p:nvPr/>
        </p:nvSpPr>
        <p:spPr>
          <a:xfrm>
            <a:off x="4663440" y="5093280"/>
            <a:ext cx="1737000" cy="310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41"/>
          <p:cNvSpPr/>
          <p:nvPr/>
        </p:nvSpPr>
        <p:spPr>
          <a:xfrm>
            <a:off x="4663440" y="50932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49" strike="noStrike">
                <a:solidFill>
                  <a:srgbClr val="4f8ef7"/>
                </a:solidFill>
                <a:latin typeface="Calibri"/>
                <a:ea typeface="Calibri"/>
              </a:rPr>
              <a:t>LlamaIndex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42"/>
          <p:cNvSpPr/>
          <p:nvPr/>
        </p:nvSpPr>
        <p:spPr>
          <a:xfrm>
            <a:off x="7269480" y="4983480"/>
            <a:ext cx="4324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9c4d6"/>
                </a:solidFill>
                <a:latin typeface="Calibri"/>
                <a:ea typeface="Calibri"/>
              </a:rPr>
              <a:t>Mature RAG indexing &amp; retrieval ecosystem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43"/>
          <p:cNvSpPr/>
          <p:nvPr/>
        </p:nvSpPr>
        <p:spPr>
          <a:xfrm>
            <a:off x="457200" y="5513760"/>
            <a:ext cx="1127412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44"/>
          <p:cNvSpPr/>
          <p:nvPr/>
        </p:nvSpPr>
        <p:spPr>
          <a:xfrm>
            <a:off x="685800" y="551376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ce4f0"/>
                </a:solidFill>
                <a:latin typeface="Calibri"/>
                <a:ea typeface="Calibri"/>
              </a:rPr>
              <a:t>Output Optimization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45"/>
          <p:cNvSpPr/>
          <p:nvPr/>
        </p:nvSpPr>
        <p:spPr>
          <a:xfrm>
            <a:off x="4663440" y="5623560"/>
            <a:ext cx="1737000" cy="310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46"/>
          <p:cNvSpPr/>
          <p:nvPr/>
        </p:nvSpPr>
        <p:spPr>
          <a:xfrm>
            <a:off x="4663440" y="562356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49" strike="noStrike">
                <a:solidFill>
                  <a:srgbClr val="a78bfa"/>
                </a:solidFill>
                <a:latin typeface="Calibri"/>
                <a:ea typeface="Calibri"/>
              </a:rPr>
              <a:t>Headroom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47"/>
          <p:cNvSpPr/>
          <p:nvPr/>
        </p:nvSpPr>
        <p:spPr>
          <a:xfrm>
            <a:off x="7269480" y="5513760"/>
            <a:ext cx="4324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9c4d6"/>
                </a:solidFill>
                <a:latin typeface="Calibri"/>
                <a:ea typeface="Calibri"/>
              </a:rPr>
              <a:t>One of the few platforms trimming generated tokens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HEAD-TO-HEAD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4"/>
          <p:cNvSpPr/>
          <p:nvPr/>
        </p:nvSpPr>
        <p:spPr>
          <a:xfrm>
            <a:off x="457200" y="658440"/>
            <a:ext cx="11292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Performance Comparison Matrix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457200" y="1060560"/>
            <a:ext cx="1129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8996ac"/>
                </a:solidFill>
                <a:latin typeface="Calibri"/>
                <a:ea typeface="Calibri"/>
              </a:rPr>
              <a:t>The complete picture across every optimization category and every tool researched.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6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7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8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10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9"/>
          <p:cNvSpPr/>
          <p:nvPr/>
        </p:nvSpPr>
        <p:spPr>
          <a:xfrm>
            <a:off x="457200" y="1783080"/>
            <a:ext cx="11274120" cy="347040"/>
          </a:xfrm>
          <a:prstGeom prst="roundRect">
            <a:avLst>
              <a:gd name="adj" fmla="val 21053"/>
            </a:avLst>
          </a:prstGeom>
          <a:solidFill>
            <a:srgbClr val="17233a"/>
          </a:solidFill>
          <a:ln w="12700">
            <a:solidFill>
              <a:srgbClr val="2733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10"/>
          <p:cNvSpPr/>
          <p:nvPr/>
        </p:nvSpPr>
        <p:spPr>
          <a:xfrm>
            <a:off x="585360" y="178308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49" strike="noStrike">
                <a:solidFill>
                  <a:srgbClr val="8996ac"/>
                </a:solidFill>
                <a:latin typeface="Calibri"/>
                <a:ea typeface="Calibri"/>
              </a:rPr>
              <a:t>CAPABILITY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11"/>
          <p:cNvSpPr/>
          <p:nvPr/>
        </p:nvSpPr>
        <p:spPr>
          <a:xfrm>
            <a:off x="260604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4f8ef7"/>
                </a:solidFill>
                <a:latin typeface="Calibri"/>
                <a:ea typeface="Calibri"/>
              </a:rPr>
              <a:t>Headroom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12"/>
          <p:cNvSpPr/>
          <p:nvPr/>
        </p:nvSpPr>
        <p:spPr>
          <a:xfrm>
            <a:off x="374688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8996ac"/>
                </a:solidFill>
                <a:latin typeface="Calibri"/>
                <a:ea typeface="Calibri"/>
              </a:rPr>
              <a:t>LLMLingua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13"/>
          <p:cNvSpPr/>
          <p:nvPr/>
        </p:nvSpPr>
        <p:spPr>
          <a:xfrm>
            <a:off x="488736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8996ac"/>
                </a:solidFill>
                <a:latin typeface="Calibri"/>
                <a:ea typeface="Calibri"/>
              </a:rPr>
              <a:t>lean-ctx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14"/>
          <p:cNvSpPr/>
          <p:nvPr/>
        </p:nvSpPr>
        <p:spPr>
          <a:xfrm>
            <a:off x="602820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8996ac"/>
                </a:solidFill>
                <a:latin typeface="Calibri"/>
                <a:ea typeface="Calibri"/>
              </a:rPr>
              <a:t>Mem0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5"/>
          <p:cNvSpPr/>
          <p:nvPr/>
        </p:nvSpPr>
        <p:spPr>
          <a:xfrm>
            <a:off x="716904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8996ac"/>
                </a:solidFill>
                <a:latin typeface="Calibri"/>
                <a:ea typeface="Calibri"/>
              </a:rPr>
              <a:t>Zep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16"/>
          <p:cNvSpPr/>
          <p:nvPr/>
        </p:nvSpPr>
        <p:spPr>
          <a:xfrm>
            <a:off x="830952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8996ac"/>
                </a:solidFill>
                <a:latin typeface="Calibri"/>
                <a:ea typeface="Calibri"/>
              </a:rPr>
              <a:t>LiteLLM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17"/>
          <p:cNvSpPr/>
          <p:nvPr/>
        </p:nvSpPr>
        <p:spPr>
          <a:xfrm>
            <a:off x="945036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8996ac"/>
                </a:solidFill>
                <a:latin typeface="Calibri"/>
                <a:ea typeface="Calibri"/>
              </a:rPr>
              <a:t>Portkey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18"/>
          <p:cNvSpPr/>
          <p:nvPr/>
        </p:nvSpPr>
        <p:spPr>
          <a:xfrm>
            <a:off x="10591200" y="1783080"/>
            <a:ext cx="114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-1" strike="noStrike">
                <a:solidFill>
                  <a:srgbClr val="8996ac"/>
                </a:solidFill>
                <a:latin typeface="Calibri"/>
                <a:ea typeface="Calibri"/>
              </a:rPr>
              <a:t>LlamaIndex</a:t>
            </a:r>
            <a:endParaRPr b="0" lang="en-US" sz="8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19"/>
          <p:cNvSpPr/>
          <p:nvPr/>
        </p:nvSpPr>
        <p:spPr>
          <a:xfrm>
            <a:off x="457200" y="213048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20"/>
          <p:cNvSpPr/>
          <p:nvPr/>
        </p:nvSpPr>
        <p:spPr>
          <a:xfrm>
            <a:off x="585360" y="213048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Prompt Compression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Shape 21"/>
          <p:cNvSpPr/>
          <p:nvPr/>
        </p:nvSpPr>
        <p:spPr>
          <a:xfrm>
            <a:off x="2945880" y="22507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22"/>
          <p:cNvSpPr/>
          <p:nvPr/>
        </p:nvSpPr>
        <p:spPr>
          <a:xfrm>
            <a:off x="3044880" y="22507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23"/>
          <p:cNvSpPr/>
          <p:nvPr/>
        </p:nvSpPr>
        <p:spPr>
          <a:xfrm>
            <a:off x="3143520" y="22507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Shape 24"/>
          <p:cNvSpPr/>
          <p:nvPr/>
        </p:nvSpPr>
        <p:spPr>
          <a:xfrm>
            <a:off x="3242160" y="22507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25"/>
          <p:cNvSpPr/>
          <p:nvPr/>
        </p:nvSpPr>
        <p:spPr>
          <a:xfrm>
            <a:off x="3341160" y="22507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26"/>
          <p:cNvSpPr/>
          <p:nvPr/>
        </p:nvSpPr>
        <p:spPr>
          <a:xfrm>
            <a:off x="408672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27"/>
          <p:cNvSpPr/>
          <p:nvPr/>
        </p:nvSpPr>
        <p:spPr>
          <a:xfrm>
            <a:off x="418536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28"/>
          <p:cNvSpPr/>
          <p:nvPr/>
        </p:nvSpPr>
        <p:spPr>
          <a:xfrm>
            <a:off x="428436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9"/>
          <p:cNvSpPr/>
          <p:nvPr/>
        </p:nvSpPr>
        <p:spPr>
          <a:xfrm>
            <a:off x="438300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30"/>
          <p:cNvSpPr/>
          <p:nvPr/>
        </p:nvSpPr>
        <p:spPr>
          <a:xfrm>
            <a:off x="448164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31"/>
          <p:cNvSpPr/>
          <p:nvPr/>
        </p:nvSpPr>
        <p:spPr>
          <a:xfrm>
            <a:off x="522756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32"/>
          <p:cNvSpPr/>
          <p:nvPr/>
        </p:nvSpPr>
        <p:spPr>
          <a:xfrm>
            <a:off x="532620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33"/>
          <p:cNvSpPr/>
          <p:nvPr/>
        </p:nvSpPr>
        <p:spPr>
          <a:xfrm>
            <a:off x="542484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4"/>
          <p:cNvSpPr/>
          <p:nvPr/>
        </p:nvSpPr>
        <p:spPr>
          <a:xfrm>
            <a:off x="5523840" y="22507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35"/>
          <p:cNvSpPr/>
          <p:nvPr/>
        </p:nvSpPr>
        <p:spPr>
          <a:xfrm>
            <a:off x="5622480" y="225072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36"/>
          <p:cNvSpPr/>
          <p:nvPr/>
        </p:nvSpPr>
        <p:spPr>
          <a:xfrm>
            <a:off x="6028200" y="21304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37"/>
          <p:cNvSpPr/>
          <p:nvPr/>
        </p:nvSpPr>
        <p:spPr>
          <a:xfrm>
            <a:off x="7169040" y="21304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38"/>
          <p:cNvSpPr/>
          <p:nvPr/>
        </p:nvSpPr>
        <p:spPr>
          <a:xfrm>
            <a:off x="8309520" y="21304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39"/>
          <p:cNvSpPr/>
          <p:nvPr/>
        </p:nvSpPr>
        <p:spPr>
          <a:xfrm>
            <a:off x="9450360" y="21304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40"/>
          <p:cNvSpPr/>
          <p:nvPr/>
        </p:nvSpPr>
        <p:spPr>
          <a:xfrm>
            <a:off x="10591200" y="21304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Shape 41"/>
          <p:cNvSpPr/>
          <p:nvPr/>
        </p:nvSpPr>
        <p:spPr>
          <a:xfrm>
            <a:off x="457200" y="243684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42"/>
          <p:cNvSpPr/>
          <p:nvPr/>
        </p:nvSpPr>
        <p:spPr>
          <a:xfrm>
            <a:off x="585360" y="243684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Code Context Compression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Shape 43"/>
          <p:cNvSpPr/>
          <p:nvPr/>
        </p:nvSpPr>
        <p:spPr>
          <a:xfrm>
            <a:off x="2945880" y="25570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44"/>
          <p:cNvSpPr/>
          <p:nvPr/>
        </p:nvSpPr>
        <p:spPr>
          <a:xfrm>
            <a:off x="3044880" y="25570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45"/>
          <p:cNvSpPr/>
          <p:nvPr/>
        </p:nvSpPr>
        <p:spPr>
          <a:xfrm>
            <a:off x="3143520" y="25570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46"/>
          <p:cNvSpPr/>
          <p:nvPr/>
        </p:nvSpPr>
        <p:spPr>
          <a:xfrm>
            <a:off x="3242160" y="25570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Shape 47"/>
          <p:cNvSpPr/>
          <p:nvPr/>
        </p:nvSpPr>
        <p:spPr>
          <a:xfrm>
            <a:off x="3341160" y="25570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Shape 48"/>
          <p:cNvSpPr/>
          <p:nvPr/>
        </p:nvSpPr>
        <p:spPr>
          <a:xfrm>
            <a:off x="4086720" y="25570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49"/>
          <p:cNvSpPr/>
          <p:nvPr/>
        </p:nvSpPr>
        <p:spPr>
          <a:xfrm>
            <a:off x="4185360" y="25570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50"/>
          <p:cNvSpPr/>
          <p:nvPr/>
        </p:nvSpPr>
        <p:spPr>
          <a:xfrm>
            <a:off x="4284360" y="25570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51"/>
          <p:cNvSpPr/>
          <p:nvPr/>
        </p:nvSpPr>
        <p:spPr>
          <a:xfrm>
            <a:off x="4383000" y="25570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52"/>
          <p:cNvSpPr/>
          <p:nvPr/>
        </p:nvSpPr>
        <p:spPr>
          <a:xfrm>
            <a:off x="4481640" y="25570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53"/>
          <p:cNvSpPr/>
          <p:nvPr/>
        </p:nvSpPr>
        <p:spPr>
          <a:xfrm>
            <a:off x="5227560" y="25570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54"/>
          <p:cNvSpPr/>
          <p:nvPr/>
        </p:nvSpPr>
        <p:spPr>
          <a:xfrm>
            <a:off x="5326200" y="25570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55"/>
          <p:cNvSpPr/>
          <p:nvPr/>
        </p:nvSpPr>
        <p:spPr>
          <a:xfrm>
            <a:off x="5424840" y="25570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56"/>
          <p:cNvSpPr/>
          <p:nvPr/>
        </p:nvSpPr>
        <p:spPr>
          <a:xfrm>
            <a:off x="5523840" y="25570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57"/>
          <p:cNvSpPr/>
          <p:nvPr/>
        </p:nvSpPr>
        <p:spPr>
          <a:xfrm>
            <a:off x="5622480" y="25570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58"/>
          <p:cNvSpPr/>
          <p:nvPr/>
        </p:nvSpPr>
        <p:spPr>
          <a:xfrm>
            <a:off x="6028200" y="24368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59"/>
          <p:cNvSpPr/>
          <p:nvPr/>
        </p:nvSpPr>
        <p:spPr>
          <a:xfrm>
            <a:off x="7169040" y="24368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60"/>
          <p:cNvSpPr/>
          <p:nvPr/>
        </p:nvSpPr>
        <p:spPr>
          <a:xfrm>
            <a:off x="8309520" y="24368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61"/>
          <p:cNvSpPr/>
          <p:nvPr/>
        </p:nvSpPr>
        <p:spPr>
          <a:xfrm>
            <a:off x="9450360" y="24368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62"/>
          <p:cNvSpPr/>
          <p:nvPr/>
        </p:nvSpPr>
        <p:spPr>
          <a:xfrm>
            <a:off x="10591200" y="24368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Shape 63"/>
          <p:cNvSpPr/>
          <p:nvPr/>
        </p:nvSpPr>
        <p:spPr>
          <a:xfrm>
            <a:off x="457200" y="274320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64"/>
          <p:cNvSpPr/>
          <p:nvPr/>
        </p:nvSpPr>
        <p:spPr>
          <a:xfrm>
            <a:off x="585360" y="274320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JSON Compression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65"/>
          <p:cNvSpPr/>
          <p:nvPr/>
        </p:nvSpPr>
        <p:spPr>
          <a:xfrm>
            <a:off x="2945880" y="28634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66"/>
          <p:cNvSpPr/>
          <p:nvPr/>
        </p:nvSpPr>
        <p:spPr>
          <a:xfrm>
            <a:off x="3044880" y="28634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Shape 67"/>
          <p:cNvSpPr/>
          <p:nvPr/>
        </p:nvSpPr>
        <p:spPr>
          <a:xfrm>
            <a:off x="3143520" y="28634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Shape 68"/>
          <p:cNvSpPr/>
          <p:nvPr/>
        </p:nvSpPr>
        <p:spPr>
          <a:xfrm>
            <a:off x="3242160" y="28634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69"/>
          <p:cNvSpPr/>
          <p:nvPr/>
        </p:nvSpPr>
        <p:spPr>
          <a:xfrm>
            <a:off x="3341160" y="28634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70"/>
          <p:cNvSpPr/>
          <p:nvPr/>
        </p:nvSpPr>
        <p:spPr>
          <a:xfrm>
            <a:off x="3746880" y="27432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71"/>
          <p:cNvSpPr/>
          <p:nvPr/>
        </p:nvSpPr>
        <p:spPr>
          <a:xfrm>
            <a:off x="5227560" y="28634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72"/>
          <p:cNvSpPr/>
          <p:nvPr/>
        </p:nvSpPr>
        <p:spPr>
          <a:xfrm>
            <a:off x="5326200" y="28634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73"/>
          <p:cNvSpPr/>
          <p:nvPr/>
        </p:nvSpPr>
        <p:spPr>
          <a:xfrm>
            <a:off x="5424840" y="286344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Shape 74"/>
          <p:cNvSpPr/>
          <p:nvPr/>
        </p:nvSpPr>
        <p:spPr>
          <a:xfrm>
            <a:off x="5523840" y="286344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75"/>
          <p:cNvSpPr/>
          <p:nvPr/>
        </p:nvSpPr>
        <p:spPr>
          <a:xfrm>
            <a:off x="5622480" y="286344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76"/>
          <p:cNvSpPr/>
          <p:nvPr/>
        </p:nvSpPr>
        <p:spPr>
          <a:xfrm>
            <a:off x="6028200" y="27432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77"/>
          <p:cNvSpPr/>
          <p:nvPr/>
        </p:nvSpPr>
        <p:spPr>
          <a:xfrm>
            <a:off x="7169040" y="27432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78"/>
          <p:cNvSpPr/>
          <p:nvPr/>
        </p:nvSpPr>
        <p:spPr>
          <a:xfrm>
            <a:off x="8309520" y="27432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79"/>
          <p:cNvSpPr/>
          <p:nvPr/>
        </p:nvSpPr>
        <p:spPr>
          <a:xfrm>
            <a:off x="9450360" y="27432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80"/>
          <p:cNvSpPr/>
          <p:nvPr/>
        </p:nvSpPr>
        <p:spPr>
          <a:xfrm>
            <a:off x="10591200" y="27432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Shape 81"/>
          <p:cNvSpPr/>
          <p:nvPr/>
        </p:nvSpPr>
        <p:spPr>
          <a:xfrm>
            <a:off x="457200" y="304956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82"/>
          <p:cNvSpPr/>
          <p:nvPr/>
        </p:nvSpPr>
        <p:spPr>
          <a:xfrm>
            <a:off x="585360" y="304956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Long Context Handling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83"/>
          <p:cNvSpPr/>
          <p:nvPr/>
        </p:nvSpPr>
        <p:spPr>
          <a:xfrm>
            <a:off x="2945880" y="31698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Shape 84"/>
          <p:cNvSpPr/>
          <p:nvPr/>
        </p:nvSpPr>
        <p:spPr>
          <a:xfrm>
            <a:off x="3044880" y="31698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85"/>
          <p:cNvSpPr/>
          <p:nvPr/>
        </p:nvSpPr>
        <p:spPr>
          <a:xfrm>
            <a:off x="3143520" y="31698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86"/>
          <p:cNvSpPr/>
          <p:nvPr/>
        </p:nvSpPr>
        <p:spPr>
          <a:xfrm>
            <a:off x="3242160" y="31698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Shape 87"/>
          <p:cNvSpPr/>
          <p:nvPr/>
        </p:nvSpPr>
        <p:spPr>
          <a:xfrm>
            <a:off x="3341160" y="31698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88"/>
          <p:cNvSpPr/>
          <p:nvPr/>
        </p:nvSpPr>
        <p:spPr>
          <a:xfrm>
            <a:off x="408672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89"/>
          <p:cNvSpPr/>
          <p:nvPr/>
        </p:nvSpPr>
        <p:spPr>
          <a:xfrm>
            <a:off x="418536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90"/>
          <p:cNvSpPr/>
          <p:nvPr/>
        </p:nvSpPr>
        <p:spPr>
          <a:xfrm>
            <a:off x="428436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91"/>
          <p:cNvSpPr/>
          <p:nvPr/>
        </p:nvSpPr>
        <p:spPr>
          <a:xfrm>
            <a:off x="438300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92"/>
          <p:cNvSpPr/>
          <p:nvPr/>
        </p:nvSpPr>
        <p:spPr>
          <a:xfrm>
            <a:off x="448164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93"/>
          <p:cNvSpPr/>
          <p:nvPr/>
        </p:nvSpPr>
        <p:spPr>
          <a:xfrm>
            <a:off x="522756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94"/>
          <p:cNvSpPr/>
          <p:nvPr/>
        </p:nvSpPr>
        <p:spPr>
          <a:xfrm>
            <a:off x="532620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95"/>
          <p:cNvSpPr/>
          <p:nvPr/>
        </p:nvSpPr>
        <p:spPr>
          <a:xfrm>
            <a:off x="542484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96"/>
          <p:cNvSpPr/>
          <p:nvPr/>
        </p:nvSpPr>
        <p:spPr>
          <a:xfrm>
            <a:off x="5523840" y="31698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97"/>
          <p:cNvSpPr/>
          <p:nvPr/>
        </p:nvSpPr>
        <p:spPr>
          <a:xfrm>
            <a:off x="5622480" y="31698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98"/>
          <p:cNvSpPr/>
          <p:nvPr/>
        </p:nvSpPr>
        <p:spPr>
          <a:xfrm>
            <a:off x="6028200" y="304956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99"/>
          <p:cNvSpPr/>
          <p:nvPr/>
        </p:nvSpPr>
        <p:spPr>
          <a:xfrm>
            <a:off x="7169040" y="304956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100"/>
          <p:cNvSpPr/>
          <p:nvPr/>
        </p:nvSpPr>
        <p:spPr>
          <a:xfrm>
            <a:off x="8309520" y="304956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101"/>
          <p:cNvSpPr/>
          <p:nvPr/>
        </p:nvSpPr>
        <p:spPr>
          <a:xfrm>
            <a:off x="9450360" y="304956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102"/>
          <p:cNvSpPr/>
          <p:nvPr/>
        </p:nvSpPr>
        <p:spPr>
          <a:xfrm>
            <a:off x="1093104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03"/>
          <p:cNvSpPr/>
          <p:nvPr/>
        </p:nvSpPr>
        <p:spPr>
          <a:xfrm>
            <a:off x="1102968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104"/>
          <p:cNvSpPr/>
          <p:nvPr/>
        </p:nvSpPr>
        <p:spPr>
          <a:xfrm>
            <a:off x="1112832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05"/>
          <p:cNvSpPr/>
          <p:nvPr/>
        </p:nvSpPr>
        <p:spPr>
          <a:xfrm>
            <a:off x="11227320" y="31698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06"/>
          <p:cNvSpPr/>
          <p:nvPr/>
        </p:nvSpPr>
        <p:spPr>
          <a:xfrm>
            <a:off x="11325960" y="31698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Shape 107"/>
          <p:cNvSpPr/>
          <p:nvPr/>
        </p:nvSpPr>
        <p:spPr>
          <a:xfrm>
            <a:off x="457200" y="335592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108"/>
          <p:cNvSpPr/>
          <p:nvPr/>
        </p:nvSpPr>
        <p:spPr>
          <a:xfrm>
            <a:off x="585360" y="335592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Persistent Memory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Shape 109"/>
          <p:cNvSpPr/>
          <p:nvPr/>
        </p:nvSpPr>
        <p:spPr>
          <a:xfrm>
            <a:off x="2945880" y="34761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10"/>
          <p:cNvSpPr/>
          <p:nvPr/>
        </p:nvSpPr>
        <p:spPr>
          <a:xfrm>
            <a:off x="3044880" y="34761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Shape 111"/>
          <p:cNvSpPr/>
          <p:nvPr/>
        </p:nvSpPr>
        <p:spPr>
          <a:xfrm>
            <a:off x="3143520" y="34761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Shape 112"/>
          <p:cNvSpPr/>
          <p:nvPr/>
        </p:nvSpPr>
        <p:spPr>
          <a:xfrm>
            <a:off x="3242160" y="34761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Shape 113"/>
          <p:cNvSpPr/>
          <p:nvPr/>
        </p:nvSpPr>
        <p:spPr>
          <a:xfrm>
            <a:off x="3341160" y="347616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114"/>
          <p:cNvSpPr/>
          <p:nvPr/>
        </p:nvSpPr>
        <p:spPr>
          <a:xfrm>
            <a:off x="3746880" y="33559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Text 115"/>
          <p:cNvSpPr/>
          <p:nvPr/>
        </p:nvSpPr>
        <p:spPr>
          <a:xfrm>
            <a:off x="4887360" y="33559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Shape 116"/>
          <p:cNvSpPr/>
          <p:nvPr/>
        </p:nvSpPr>
        <p:spPr>
          <a:xfrm>
            <a:off x="636804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17"/>
          <p:cNvSpPr/>
          <p:nvPr/>
        </p:nvSpPr>
        <p:spPr>
          <a:xfrm>
            <a:off x="646704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18"/>
          <p:cNvSpPr/>
          <p:nvPr/>
        </p:nvSpPr>
        <p:spPr>
          <a:xfrm>
            <a:off x="656568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19"/>
          <p:cNvSpPr/>
          <p:nvPr/>
        </p:nvSpPr>
        <p:spPr>
          <a:xfrm>
            <a:off x="666432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120"/>
          <p:cNvSpPr/>
          <p:nvPr/>
        </p:nvSpPr>
        <p:spPr>
          <a:xfrm>
            <a:off x="676296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121"/>
          <p:cNvSpPr/>
          <p:nvPr/>
        </p:nvSpPr>
        <p:spPr>
          <a:xfrm>
            <a:off x="750888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22"/>
          <p:cNvSpPr/>
          <p:nvPr/>
        </p:nvSpPr>
        <p:spPr>
          <a:xfrm>
            <a:off x="760752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23"/>
          <p:cNvSpPr/>
          <p:nvPr/>
        </p:nvSpPr>
        <p:spPr>
          <a:xfrm>
            <a:off x="770616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24"/>
          <p:cNvSpPr/>
          <p:nvPr/>
        </p:nvSpPr>
        <p:spPr>
          <a:xfrm>
            <a:off x="780516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25"/>
          <p:cNvSpPr/>
          <p:nvPr/>
        </p:nvSpPr>
        <p:spPr>
          <a:xfrm>
            <a:off x="790380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 126"/>
          <p:cNvSpPr/>
          <p:nvPr/>
        </p:nvSpPr>
        <p:spPr>
          <a:xfrm>
            <a:off x="8309520" y="33559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127"/>
          <p:cNvSpPr/>
          <p:nvPr/>
        </p:nvSpPr>
        <p:spPr>
          <a:xfrm>
            <a:off x="9450360" y="33559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128"/>
          <p:cNvSpPr/>
          <p:nvPr/>
        </p:nvSpPr>
        <p:spPr>
          <a:xfrm>
            <a:off x="1093104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29"/>
          <p:cNvSpPr/>
          <p:nvPr/>
        </p:nvSpPr>
        <p:spPr>
          <a:xfrm>
            <a:off x="1102968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30"/>
          <p:cNvSpPr/>
          <p:nvPr/>
        </p:nvSpPr>
        <p:spPr>
          <a:xfrm>
            <a:off x="11128320" y="347616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131"/>
          <p:cNvSpPr/>
          <p:nvPr/>
        </p:nvSpPr>
        <p:spPr>
          <a:xfrm>
            <a:off x="11227320" y="347616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132"/>
          <p:cNvSpPr/>
          <p:nvPr/>
        </p:nvSpPr>
        <p:spPr>
          <a:xfrm>
            <a:off x="11325960" y="347616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Shape 133"/>
          <p:cNvSpPr/>
          <p:nvPr/>
        </p:nvSpPr>
        <p:spPr>
          <a:xfrm>
            <a:off x="457200" y="366228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134"/>
          <p:cNvSpPr/>
          <p:nvPr/>
        </p:nvSpPr>
        <p:spPr>
          <a:xfrm>
            <a:off x="585360" y="366228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Cross-Agent Memory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135"/>
          <p:cNvSpPr/>
          <p:nvPr/>
        </p:nvSpPr>
        <p:spPr>
          <a:xfrm>
            <a:off x="2945880" y="37825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Shape 136"/>
          <p:cNvSpPr/>
          <p:nvPr/>
        </p:nvSpPr>
        <p:spPr>
          <a:xfrm>
            <a:off x="3044880" y="37825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Shape 137"/>
          <p:cNvSpPr/>
          <p:nvPr/>
        </p:nvSpPr>
        <p:spPr>
          <a:xfrm>
            <a:off x="3143520" y="37825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Shape 138"/>
          <p:cNvSpPr/>
          <p:nvPr/>
        </p:nvSpPr>
        <p:spPr>
          <a:xfrm>
            <a:off x="3242160" y="37825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Shape 139"/>
          <p:cNvSpPr/>
          <p:nvPr/>
        </p:nvSpPr>
        <p:spPr>
          <a:xfrm>
            <a:off x="3341160" y="378252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140"/>
          <p:cNvSpPr/>
          <p:nvPr/>
        </p:nvSpPr>
        <p:spPr>
          <a:xfrm>
            <a:off x="3746880" y="36622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141"/>
          <p:cNvSpPr/>
          <p:nvPr/>
        </p:nvSpPr>
        <p:spPr>
          <a:xfrm>
            <a:off x="4887360" y="36622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Shape 142"/>
          <p:cNvSpPr/>
          <p:nvPr/>
        </p:nvSpPr>
        <p:spPr>
          <a:xfrm>
            <a:off x="636804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43"/>
          <p:cNvSpPr/>
          <p:nvPr/>
        </p:nvSpPr>
        <p:spPr>
          <a:xfrm>
            <a:off x="646704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144"/>
          <p:cNvSpPr/>
          <p:nvPr/>
        </p:nvSpPr>
        <p:spPr>
          <a:xfrm>
            <a:off x="656568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145"/>
          <p:cNvSpPr/>
          <p:nvPr/>
        </p:nvSpPr>
        <p:spPr>
          <a:xfrm>
            <a:off x="666432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46"/>
          <p:cNvSpPr/>
          <p:nvPr/>
        </p:nvSpPr>
        <p:spPr>
          <a:xfrm>
            <a:off x="676296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147"/>
          <p:cNvSpPr/>
          <p:nvPr/>
        </p:nvSpPr>
        <p:spPr>
          <a:xfrm>
            <a:off x="750888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48"/>
          <p:cNvSpPr/>
          <p:nvPr/>
        </p:nvSpPr>
        <p:spPr>
          <a:xfrm>
            <a:off x="760752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149"/>
          <p:cNvSpPr/>
          <p:nvPr/>
        </p:nvSpPr>
        <p:spPr>
          <a:xfrm>
            <a:off x="770616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150"/>
          <p:cNvSpPr/>
          <p:nvPr/>
        </p:nvSpPr>
        <p:spPr>
          <a:xfrm>
            <a:off x="7805160" y="37825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51"/>
          <p:cNvSpPr/>
          <p:nvPr/>
        </p:nvSpPr>
        <p:spPr>
          <a:xfrm>
            <a:off x="7903800" y="378252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152"/>
          <p:cNvSpPr/>
          <p:nvPr/>
        </p:nvSpPr>
        <p:spPr>
          <a:xfrm>
            <a:off x="8309520" y="36622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 153"/>
          <p:cNvSpPr/>
          <p:nvPr/>
        </p:nvSpPr>
        <p:spPr>
          <a:xfrm>
            <a:off x="9450360" y="36622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 154"/>
          <p:cNvSpPr/>
          <p:nvPr/>
        </p:nvSpPr>
        <p:spPr>
          <a:xfrm>
            <a:off x="10591200" y="366228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Shape 155"/>
          <p:cNvSpPr/>
          <p:nvPr/>
        </p:nvSpPr>
        <p:spPr>
          <a:xfrm>
            <a:off x="457200" y="396864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156"/>
          <p:cNvSpPr/>
          <p:nvPr/>
        </p:nvSpPr>
        <p:spPr>
          <a:xfrm>
            <a:off x="585360" y="396864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Prompt Cache Optimization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Shape 157"/>
          <p:cNvSpPr/>
          <p:nvPr/>
        </p:nvSpPr>
        <p:spPr>
          <a:xfrm>
            <a:off x="2945880" y="40888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Shape 158"/>
          <p:cNvSpPr/>
          <p:nvPr/>
        </p:nvSpPr>
        <p:spPr>
          <a:xfrm>
            <a:off x="3044880" y="40888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Shape 159"/>
          <p:cNvSpPr/>
          <p:nvPr/>
        </p:nvSpPr>
        <p:spPr>
          <a:xfrm>
            <a:off x="3143520" y="40888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Shape 160"/>
          <p:cNvSpPr/>
          <p:nvPr/>
        </p:nvSpPr>
        <p:spPr>
          <a:xfrm>
            <a:off x="3242160" y="40888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Shape 161"/>
          <p:cNvSpPr/>
          <p:nvPr/>
        </p:nvSpPr>
        <p:spPr>
          <a:xfrm>
            <a:off x="3341160" y="40888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162"/>
          <p:cNvSpPr/>
          <p:nvPr/>
        </p:nvSpPr>
        <p:spPr>
          <a:xfrm>
            <a:off x="3746880" y="39686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Text 163"/>
          <p:cNvSpPr/>
          <p:nvPr/>
        </p:nvSpPr>
        <p:spPr>
          <a:xfrm>
            <a:off x="4887360" y="39686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164"/>
          <p:cNvSpPr/>
          <p:nvPr/>
        </p:nvSpPr>
        <p:spPr>
          <a:xfrm>
            <a:off x="6028200" y="39686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165"/>
          <p:cNvSpPr/>
          <p:nvPr/>
        </p:nvSpPr>
        <p:spPr>
          <a:xfrm>
            <a:off x="7169040" y="39686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Shape 166"/>
          <p:cNvSpPr/>
          <p:nvPr/>
        </p:nvSpPr>
        <p:spPr>
          <a:xfrm>
            <a:off x="864936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67"/>
          <p:cNvSpPr/>
          <p:nvPr/>
        </p:nvSpPr>
        <p:spPr>
          <a:xfrm>
            <a:off x="874836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68"/>
          <p:cNvSpPr/>
          <p:nvPr/>
        </p:nvSpPr>
        <p:spPr>
          <a:xfrm>
            <a:off x="884700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69"/>
          <p:cNvSpPr/>
          <p:nvPr/>
        </p:nvSpPr>
        <p:spPr>
          <a:xfrm>
            <a:off x="894564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170"/>
          <p:cNvSpPr/>
          <p:nvPr/>
        </p:nvSpPr>
        <p:spPr>
          <a:xfrm>
            <a:off x="904464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171"/>
          <p:cNvSpPr/>
          <p:nvPr/>
        </p:nvSpPr>
        <p:spPr>
          <a:xfrm>
            <a:off x="979020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72"/>
          <p:cNvSpPr/>
          <p:nvPr/>
        </p:nvSpPr>
        <p:spPr>
          <a:xfrm>
            <a:off x="988884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173"/>
          <p:cNvSpPr/>
          <p:nvPr/>
        </p:nvSpPr>
        <p:spPr>
          <a:xfrm>
            <a:off x="9987840" y="40888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174"/>
          <p:cNvSpPr/>
          <p:nvPr/>
        </p:nvSpPr>
        <p:spPr>
          <a:xfrm>
            <a:off x="10086480" y="40888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Shape 175"/>
          <p:cNvSpPr/>
          <p:nvPr/>
        </p:nvSpPr>
        <p:spPr>
          <a:xfrm>
            <a:off x="10185120" y="40888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176"/>
          <p:cNvSpPr/>
          <p:nvPr/>
        </p:nvSpPr>
        <p:spPr>
          <a:xfrm>
            <a:off x="10591200" y="396864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177"/>
          <p:cNvSpPr/>
          <p:nvPr/>
        </p:nvSpPr>
        <p:spPr>
          <a:xfrm>
            <a:off x="457200" y="427500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178"/>
          <p:cNvSpPr/>
          <p:nvPr/>
        </p:nvSpPr>
        <p:spPr>
          <a:xfrm>
            <a:off x="585360" y="427500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AI Gateway / Proxy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Shape 179"/>
          <p:cNvSpPr/>
          <p:nvPr/>
        </p:nvSpPr>
        <p:spPr>
          <a:xfrm>
            <a:off x="2945880" y="43952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Shape 180"/>
          <p:cNvSpPr/>
          <p:nvPr/>
        </p:nvSpPr>
        <p:spPr>
          <a:xfrm>
            <a:off x="3044880" y="43952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Shape 181"/>
          <p:cNvSpPr/>
          <p:nvPr/>
        </p:nvSpPr>
        <p:spPr>
          <a:xfrm>
            <a:off x="3143520" y="43952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Shape 182"/>
          <p:cNvSpPr/>
          <p:nvPr/>
        </p:nvSpPr>
        <p:spPr>
          <a:xfrm>
            <a:off x="3242160" y="43952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Shape 183"/>
          <p:cNvSpPr/>
          <p:nvPr/>
        </p:nvSpPr>
        <p:spPr>
          <a:xfrm>
            <a:off x="3341160" y="43952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Text 184"/>
          <p:cNvSpPr/>
          <p:nvPr/>
        </p:nvSpPr>
        <p:spPr>
          <a:xfrm>
            <a:off x="3746880" y="4275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185"/>
          <p:cNvSpPr/>
          <p:nvPr/>
        </p:nvSpPr>
        <p:spPr>
          <a:xfrm>
            <a:off x="4887360" y="4275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Text 186"/>
          <p:cNvSpPr/>
          <p:nvPr/>
        </p:nvSpPr>
        <p:spPr>
          <a:xfrm>
            <a:off x="6028200" y="4275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187"/>
          <p:cNvSpPr/>
          <p:nvPr/>
        </p:nvSpPr>
        <p:spPr>
          <a:xfrm>
            <a:off x="7169040" y="4275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Shape 188"/>
          <p:cNvSpPr/>
          <p:nvPr/>
        </p:nvSpPr>
        <p:spPr>
          <a:xfrm>
            <a:off x="864936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189"/>
          <p:cNvSpPr/>
          <p:nvPr/>
        </p:nvSpPr>
        <p:spPr>
          <a:xfrm>
            <a:off x="874836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190"/>
          <p:cNvSpPr/>
          <p:nvPr/>
        </p:nvSpPr>
        <p:spPr>
          <a:xfrm>
            <a:off x="884700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191"/>
          <p:cNvSpPr/>
          <p:nvPr/>
        </p:nvSpPr>
        <p:spPr>
          <a:xfrm>
            <a:off x="894564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192"/>
          <p:cNvSpPr/>
          <p:nvPr/>
        </p:nvSpPr>
        <p:spPr>
          <a:xfrm>
            <a:off x="904464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193"/>
          <p:cNvSpPr/>
          <p:nvPr/>
        </p:nvSpPr>
        <p:spPr>
          <a:xfrm>
            <a:off x="979020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194"/>
          <p:cNvSpPr/>
          <p:nvPr/>
        </p:nvSpPr>
        <p:spPr>
          <a:xfrm>
            <a:off x="988884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195"/>
          <p:cNvSpPr/>
          <p:nvPr/>
        </p:nvSpPr>
        <p:spPr>
          <a:xfrm>
            <a:off x="998784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196"/>
          <p:cNvSpPr/>
          <p:nvPr/>
        </p:nvSpPr>
        <p:spPr>
          <a:xfrm>
            <a:off x="1008648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197"/>
          <p:cNvSpPr/>
          <p:nvPr/>
        </p:nvSpPr>
        <p:spPr>
          <a:xfrm>
            <a:off x="10185120" y="4395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198"/>
          <p:cNvSpPr/>
          <p:nvPr/>
        </p:nvSpPr>
        <p:spPr>
          <a:xfrm>
            <a:off x="10591200" y="4275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Shape 199"/>
          <p:cNvSpPr/>
          <p:nvPr/>
        </p:nvSpPr>
        <p:spPr>
          <a:xfrm>
            <a:off x="457200" y="458100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Text 200"/>
          <p:cNvSpPr/>
          <p:nvPr/>
        </p:nvSpPr>
        <p:spPr>
          <a:xfrm>
            <a:off x="585360" y="458100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Model Routing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Shape 201"/>
          <p:cNvSpPr/>
          <p:nvPr/>
        </p:nvSpPr>
        <p:spPr>
          <a:xfrm>
            <a:off x="2945880" y="47012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Shape 202"/>
          <p:cNvSpPr/>
          <p:nvPr/>
        </p:nvSpPr>
        <p:spPr>
          <a:xfrm>
            <a:off x="3044880" y="470124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Shape 203"/>
          <p:cNvSpPr/>
          <p:nvPr/>
        </p:nvSpPr>
        <p:spPr>
          <a:xfrm>
            <a:off x="3143520" y="470124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Shape 204"/>
          <p:cNvSpPr/>
          <p:nvPr/>
        </p:nvSpPr>
        <p:spPr>
          <a:xfrm>
            <a:off x="3242160" y="470124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Shape 205"/>
          <p:cNvSpPr/>
          <p:nvPr/>
        </p:nvSpPr>
        <p:spPr>
          <a:xfrm>
            <a:off x="3341160" y="470124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206"/>
          <p:cNvSpPr/>
          <p:nvPr/>
        </p:nvSpPr>
        <p:spPr>
          <a:xfrm>
            <a:off x="3746880" y="4581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207"/>
          <p:cNvSpPr/>
          <p:nvPr/>
        </p:nvSpPr>
        <p:spPr>
          <a:xfrm>
            <a:off x="4887360" y="4581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208"/>
          <p:cNvSpPr/>
          <p:nvPr/>
        </p:nvSpPr>
        <p:spPr>
          <a:xfrm>
            <a:off x="6028200" y="4581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Text 209"/>
          <p:cNvSpPr/>
          <p:nvPr/>
        </p:nvSpPr>
        <p:spPr>
          <a:xfrm>
            <a:off x="7169040" y="4581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Shape 210"/>
          <p:cNvSpPr/>
          <p:nvPr/>
        </p:nvSpPr>
        <p:spPr>
          <a:xfrm>
            <a:off x="864936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211"/>
          <p:cNvSpPr/>
          <p:nvPr/>
        </p:nvSpPr>
        <p:spPr>
          <a:xfrm>
            <a:off x="874836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212"/>
          <p:cNvSpPr/>
          <p:nvPr/>
        </p:nvSpPr>
        <p:spPr>
          <a:xfrm>
            <a:off x="884700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213"/>
          <p:cNvSpPr/>
          <p:nvPr/>
        </p:nvSpPr>
        <p:spPr>
          <a:xfrm>
            <a:off x="894564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214"/>
          <p:cNvSpPr/>
          <p:nvPr/>
        </p:nvSpPr>
        <p:spPr>
          <a:xfrm>
            <a:off x="904464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15"/>
          <p:cNvSpPr/>
          <p:nvPr/>
        </p:nvSpPr>
        <p:spPr>
          <a:xfrm>
            <a:off x="979020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16"/>
          <p:cNvSpPr/>
          <p:nvPr/>
        </p:nvSpPr>
        <p:spPr>
          <a:xfrm>
            <a:off x="988884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17"/>
          <p:cNvSpPr/>
          <p:nvPr/>
        </p:nvSpPr>
        <p:spPr>
          <a:xfrm>
            <a:off x="998784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18"/>
          <p:cNvSpPr/>
          <p:nvPr/>
        </p:nvSpPr>
        <p:spPr>
          <a:xfrm>
            <a:off x="1008648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19"/>
          <p:cNvSpPr/>
          <p:nvPr/>
        </p:nvSpPr>
        <p:spPr>
          <a:xfrm>
            <a:off x="10185120" y="470124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220"/>
          <p:cNvSpPr/>
          <p:nvPr/>
        </p:nvSpPr>
        <p:spPr>
          <a:xfrm>
            <a:off x="10591200" y="458100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Shape 221"/>
          <p:cNvSpPr/>
          <p:nvPr/>
        </p:nvSpPr>
        <p:spPr>
          <a:xfrm>
            <a:off x="457200" y="488736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Text 222"/>
          <p:cNvSpPr/>
          <p:nvPr/>
        </p:nvSpPr>
        <p:spPr>
          <a:xfrm>
            <a:off x="585360" y="488736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Retrieval Optimization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Shape 223"/>
          <p:cNvSpPr/>
          <p:nvPr/>
        </p:nvSpPr>
        <p:spPr>
          <a:xfrm>
            <a:off x="2945880" y="50076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224"/>
          <p:cNvSpPr/>
          <p:nvPr/>
        </p:nvSpPr>
        <p:spPr>
          <a:xfrm>
            <a:off x="3044880" y="50076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225"/>
          <p:cNvSpPr/>
          <p:nvPr/>
        </p:nvSpPr>
        <p:spPr>
          <a:xfrm>
            <a:off x="3143520" y="50076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Shape 226"/>
          <p:cNvSpPr/>
          <p:nvPr/>
        </p:nvSpPr>
        <p:spPr>
          <a:xfrm>
            <a:off x="3242160" y="500760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Shape 227"/>
          <p:cNvSpPr/>
          <p:nvPr/>
        </p:nvSpPr>
        <p:spPr>
          <a:xfrm>
            <a:off x="3341160" y="50076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228"/>
          <p:cNvSpPr/>
          <p:nvPr/>
        </p:nvSpPr>
        <p:spPr>
          <a:xfrm>
            <a:off x="408672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229"/>
          <p:cNvSpPr/>
          <p:nvPr/>
        </p:nvSpPr>
        <p:spPr>
          <a:xfrm>
            <a:off x="418536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230"/>
          <p:cNvSpPr/>
          <p:nvPr/>
        </p:nvSpPr>
        <p:spPr>
          <a:xfrm>
            <a:off x="428436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31"/>
          <p:cNvSpPr/>
          <p:nvPr/>
        </p:nvSpPr>
        <p:spPr>
          <a:xfrm>
            <a:off x="4383000" y="50076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232"/>
          <p:cNvSpPr/>
          <p:nvPr/>
        </p:nvSpPr>
        <p:spPr>
          <a:xfrm>
            <a:off x="4481640" y="50076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233"/>
          <p:cNvSpPr/>
          <p:nvPr/>
        </p:nvSpPr>
        <p:spPr>
          <a:xfrm>
            <a:off x="4887360" y="488736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Shape 234"/>
          <p:cNvSpPr/>
          <p:nvPr/>
        </p:nvSpPr>
        <p:spPr>
          <a:xfrm>
            <a:off x="636804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235"/>
          <p:cNvSpPr/>
          <p:nvPr/>
        </p:nvSpPr>
        <p:spPr>
          <a:xfrm>
            <a:off x="646704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236"/>
          <p:cNvSpPr/>
          <p:nvPr/>
        </p:nvSpPr>
        <p:spPr>
          <a:xfrm>
            <a:off x="656568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237"/>
          <p:cNvSpPr/>
          <p:nvPr/>
        </p:nvSpPr>
        <p:spPr>
          <a:xfrm>
            <a:off x="6664320" y="50076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Shape 238"/>
          <p:cNvSpPr/>
          <p:nvPr/>
        </p:nvSpPr>
        <p:spPr>
          <a:xfrm>
            <a:off x="6762960" y="50076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Shape 239"/>
          <p:cNvSpPr/>
          <p:nvPr/>
        </p:nvSpPr>
        <p:spPr>
          <a:xfrm>
            <a:off x="750888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240"/>
          <p:cNvSpPr/>
          <p:nvPr/>
        </p:nvSpPr>
        <p:spPr>
          <a:xfrm>
            <a:off x="760752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241"/>
          <p:cNvSpPr/>
          <p:nvPr/>
        </p:nvSpPr>
        <p:spPr>
          <a:xfrm>
            <a:off x="770616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242"/>
          <p:cNvSpPr/>
          <p:nvPr/>
        </p:nvSpPr>
        <p:spPr>
          <a:xfrm>
            <a:off x="7805160" y="50076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243"/>
          <p:cNvSpPr/>
          <p:nvPr/>
        </p:nvSpPr>
        <p:spPr>
          <a:xfrm>
            <a:off x="7903800" y="500760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Text 244"/>
          <p:cNvSpPr/>
          <p:nvPr/>
        </p:nvSpPr>
        <p:spPr>
          <a:xfrm>
            <a:off x="8309520" y="488736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Text 245"/>
          <p:cNvSpPr/>
          <p:nvPr/>
        </p:nvSpPr>
        <p:spPr>
          <a:xfrm>
            <a:off x="9450360" y="488736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Shape 246"/>
          <p:cNvSpPr/>
          <p:nvPr/>
        </p:nvSpPr>
        <p:spPr>
          <a:xfrm>
            <a:off x="1093104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247"/>
          <p:cNvSpPr/>
          <p:nvPr/>
        </p:nvSpPr>
        <p:spPr>
          <a:xfrm>
            <a:off x="1102968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48"/>
          <p:cNvSpPr/>
          <p:nvPr/>
        </p:nvSpPr>
        <p:spPr>
          <a:xfrm>
            <a:off x="1112832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49"/>
          <p:cNvSpPr/>
          <p:nvPr/>
        </p:nvSpPr>
        <p:spPr>
          <a:xfrm>
            <a:off x="1122732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50"/>
          <p:cNvSpPr/>
          <p:nvPr/>
        </p:nvSpPr>
        <p:spPr>
          <a:xfrm>
            <a:off x="11325960" y="500760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251"/>
          <p:cNvSpPr/>
          <p:nvPr/>
        </p:nvSpPr>
        <p:spPr>
          <a:xfrm>
            <a:off x="457200" y="519372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252"/>
          <p:cNvSpPr/>
          <p:nvPr/>
        </p:nvSpPr>
        <p:spPr>
          <a:xfrm>
            <a:off x="585360" y="519372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Output Optimization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253"/>
          <p:cNvSpPr/>
          <p:nvPr/>
        </p:nvSpPr>
        <p:spPr>
          <a:xfrm>
            <a:off x="2945880" y="53139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254"/>
          <p:cNvSpPr/>
          <p:nvPr/>
        </p:nvSpPr>
        <p:spPr>
          <a:xfrm>
            <a:off x="3044880" y="53139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255"/>
          <p:cNvSpPr/>
          <p:nvPr/>
        </p:nvSpPr>
        <p:spPr>
          <a:xfrm>
            <a:off x="3143520" y="53139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256"/>
          <p:cNvSpPr/>
          <p:nvPr/>
        </p:nvSpPr>
        <p:spPr>
          <a:xfrm>
            <a:off x="3242160" y="53139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257"/>
          <p:cNvSpPr/>
          <p:nvPr/>
        </p:nvSpPr>
        <p:spPr>
          <a:xfrm>
            <a:off x="3341160" y="531396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258"/>
          <p:cNvSpPr/>
          <p:nvPr/>
        </p:nvSpPr>
        <p:spPr>
          <a:xfrm>
            <a:off x="3746880" y="51937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259"/>
          <p:cNvSpPr/>
          <p:nvPr/>
        </p:nvSpPr>
        <p:spPr>
          <a:xfrm>
            <a:off x="4887360" y="51937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260"/>
          <p:cNvSpPr/>
          <p:nvPr/>
        </p:nvSpPr>
        <p:spPr>
          <a:xfrm>
            <a:off x="6028200" y="51937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Text 261"/>
          <p:cNvSpPr/>
          <p:nvPr/>
        </p:nvSpPr>
        <p:spPr>
          <a:xfrm>
            <a:off x="7169040" y="51937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Text 262"/>
          <p:cNvSpPr/>
          <p:nvPr/>
        </p:nvSpPr>
        <p:spPr>
          <a:xfrm>
            <a:off x="8309520" y="51937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263"/>
          <p:cNvSpPr/>
          <p:nvPr/>
        </p:nvSpPr>
        <p:spPr>
          <a:xfrm>
            <a:off x="9450360" y="51937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264"/>
          <p:cNvSpPr/>
          <p:nvPr/>
        </p:nvSpPr>
        <p:spPr>
          <a:xfrm>
            <a:off x="10591200" y="5193720"/>
            <a:ext cx="1140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265"/>
          <p:cNvSpPr/>
          <p:nvPr/>
        </p:nvSpPr>
        <p:spPr>
          <a:xfrm>
            <a:off x="457200" y="550008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266"/>
          <p:cNvSpPr/>
          <p:nvPr/>
        </p:nvSpPr>
        <p:spPr>
          <a:xfrm>
            <a:off x="585360" y="550008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Local Deployment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Shape 267"/>
          <p:cNvSpPr/>
          <p:nvPr/>
        </p:nvSpPr>
        <p:spPr>
          <a:xfrm>
            <a:off x="2945880" y="56203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Shape 268"/>
          <p:cNvSpPr/>
          <p:nvPr/>
        </p:nvSpPr>
        <p:spPr>
          <a:xfrm>
            <a:off x="3044880" y="56203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269"/>
          <p:cNvSpPr/>
          <p:nvPr/>
        </p:nvSpPr>
        <p:spPr>
          <a:xfrm>
            <a:off x="3143520" y="56203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270"/>
          <p:cNvSpPr/>
          <p:nvPr/>
        </p:nvSpPr>
        <p:spPr>
          <a:xfrm>
            <a:off x="3242160" y="56203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271"/>
          <p:cNvSpPr/>
          <p:nvPr/>
        </p:nvSpPr>
        <p:spPr>
          <a:xfrm>
            <a:off x="3341160" y="562032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Shape 272"/>
          <p:cNvSpPr/>
          <p:nvPr/>
        </p:nvSpPr>
        <p:spPr>
          <a:xfrm>
            <a:off x="408672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273"/>
          <p:cNvSpPr/>
          <p:nvPr/>
        </p:nvSpPr>
        <p:spPr>
          <a:xfrm>
            <a:off x="41853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274"/>
          <p:cNvSpPr/>
          <p:nvPr/>
        </p:nvSpPr>
        <p:spPr>
          <a:xfrm>
            <a:off x="42843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275"/>
          <p:cNvSpPr/>
          <p:nvPr/>
        </p:nvSpPr>
        <p:spPr>
          <a:xfrm>
            <a:off x="438300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276"/>
          <p:cNvSpPr/>
          <p:nvPr/>
        </p:nvSpPr>
        <p:spPr>
          <a:xfrm>
            <a:off x="44816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277"/>
          <p:cNvSpPr/>
          <p:nvPr/>
        </p:nvSpPr>
        <p:spPr>
          <a:xfrm>
            <a:off x="52275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278"/>
          <p:cNvSpPr/>
          <p:nvPr/>
        </p:nvSpPr>
        <p:spPr>
          <a:xfrm>
            <a:off x="532620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279"/>
          <p:cNvSpPr/>
          <p:nvPr/>
        </p:nvSpPr>
        <p:spPr>
          <a:xfrm>
            <a:off x="54248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280"/>
          <p:cNvSpPr/>
          <p:nvPr/>
        </p:nvSpPr>
        <p:spPr>
          <a:xfrm>
            <a:off x="55238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281"/>
          <p:cNvSpPr/>
          <p:nvPr/>
        </p:nvSpPr>
        <p:spPr>
          <a:xfrm>
            <a:off x="562248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282"/>
          <p:cNvSpPr/>
          <p:nvPr/>
        </p:nvSpPr>
        <p:spPr>
          <a:xfrm>
            <a:off x="63680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283"/>
          <p:cNvSpPr/>
          <p:nvPr/>
        </p:nvSpPr>
        <p:spPr>
          <a:xfrm>
            <a:off x="64670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284"/>
          <p:cNvSpPr/>
          <p:nvPr/>
        </p:nvSpPr>
        <p:spPr>
          <a:xfrm>
            <a:off x="656568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285"/>
          <p:cNvSpPr/>
          <p:nvPr/>
        </p:nvSpPr>
        <p:spPr>
          <a:xfrm>
            <a:off x="666432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286"/>
          <p:cNvSpPr/>
          <p:nvPr/>
        </p:nvSpPr>
        <p:spPr>
          <a:xfrm>
            <a:off x="67629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287"/>
          <p:cNvSpPr/>
          <p:nvPr/>
        </p:nvSpPr>
        <p:spPr>
          <a:xfrm>
            <a:off x="750888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288"/>
          <p:cNvSpPr/>
          <p:nvPr/>
        </p:nvSpPr>
        <p:spPr>
          <a:xfrm>
            <a:off x="760752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289"/>
          <p:cNvSpPr/>
          <p:nvPr/>
        </p:nvSpPr>
        <p:spPr>
          <a:xfrm>
            <a:off x="77061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290"/>
          <p:cNvSpPr/>
          <p:nvPr/>
        </p:nvSpPr>
        <p:spPr>
          <a:xfrm>
            <a:off x="78051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291"/>
          <p:cNvSpPr/>
          <p:nvPr/>
        </p:nvSpPr>
        <p:spPr>
          <a:xfrm>
            <a:off x="7903800" y="562032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Shape 292"/>
          <p:cNvSpPr/>
          <p:nvPr/>
        </p:nvSpPr>
        <p:spPr>
          <a:xfrm>
            <a:off x="86493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293"/>
          <p:cNvSpPr/>
          <p:nvPr/>
        </p:nvSpPr>
        <p:spPr>
          <a:xfrm>
            <a:off x="87483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294"/>
          <p:cNvSpPr/>
          <p:nvPr/>
        </p:nvSpPr>
        <p:spPr>
          <a:xfrm>
            <a:off x="884700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95"/>
          <p:cNvSpPr/>
          <p:nvPr/>
        </p:nvSpPr>
        <p:spPr>
          <a:xfrm>
            <a:off x="89456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96"/>
          <p:cNvSpPr/>
          <p:nvPr/>
        </p:nvSpPr>
        <p:spPr>
          <a:xfrm>
            <a:off x="90446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97"/>
          <p:cNvSpPr/>
          <p:nvPr/>
        </p:nvSpPr>
        <p:spPr>
          <a:xfrm>
            <a:off x="979020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98"/>
          <p:cNvSpPr/>
          <p:nvPr/>
        </p:nvSpPr>
        <p:spPr>
          <a:xfrm>
            <a:off x="98888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99"/>
          <p:cNvSpPr/>
          <p:nvPr/>
        </p:nvSpPr>
        <p:spPr>
          <a:xfrm>
            <a:off x="99878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300"/>
          <p:cNvSpPr/>
          <p:nvPr/>
        </p:nvSpPr>
        <p:spPr>
          <a:xfrm>
            <a:off x="10086480" y="562032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Shape 301"/>
          <p:cNvSpPr/>
          <p:nvPr/>
        </p:nvSpPr>
        <p:spPr>
          <a:xfrm>
            <a:off x="10185120" y="562032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Shape 302"/>
          <p:cNvSpPr/>
          <p:nvPr/>
        </p:nvSpPr>
        <p:spPr>
          <a:xfrm>
            <a:off x="1093104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303"/>
          <p:cNvSpPr/>
          <p:nvPr/>
        </p:nvSpPr>
        <p:spPr>
          <a:xfrm>
            <a:off x="1102968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304"/>
          <p:cNvSpPr/>
          <p:nvPr/>
        </p:nvSpPr>
        <p:spPr>
          <a:xfrm>
            <a:off x="1112832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305"/>
          <p:cNvSpPr/>
          <p:nvPr/>
        </p:nvSpPr>
        <p:spPr>
          <a:xfrm>
            <a:off x="1122732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306"/>
          <p:cNvSpPr/>
          <p:nvPr/>
        </p:nvSpPr>
        <p:spPr>
          <a:xfrm>
            <a:off x="11325960" y="562032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307"/>
          <p:cNvSpPr/>
          <p:nvPr/>
        </p:nvSpPr>
        <p:spPr>
          <a:xfrm>
            <a:off x="457200" y="5806440"/>
            <a:ext cx="11274120" cy="306000"/>
          </a:xfrm>
          <a:prstGeom prst="roundRect">
            <a:avLst>
              <a:gd name="adj" fmla="val 23881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308"/>
          <p:cNvSpPr/>
          <p:nvPr/>
        </p:nvSpPr>
        <p:spPr>
          <a:xfrm>
            <a:off x="585360" y="5806440"/>
            <a:ext cx="19656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Ease of Integration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309"/>
          <p:cNvSpPr/>
          <p:nvPr/>
        </p:nvSpPr>
        <p:spPr>
          <a:xfrm>
            <a:off x="2945880" y="59266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Shape 310"/>
          <p:cNvSpPr/>
          <p:nvPr/>
        </p:nvSpPr>
        <p:spPr>
          <a:xfrm>
            <a:off x="3044880" y="59266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Shape 311"/>
          <p:cNvSpPr/>
          <p:nvPr/>
        </p:nvSpPr>
        <p:spPr>
          <a:xfrm>
            <a:off x="3143520" y="59266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Shape 312"/>
          <p:cNvSpPr/>
          <p:nvPr/>
        </p:nvSpPr>
        <p:spPr>
          <a:xfrm>
            <a:off x="3242160" y="5926680"/>
            <a:ext cx="65520" cy="655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Shape 313"/>
          <p:cNvSpPr/>
          <p:nvPr/>
        </p:nvSpPr>
        <p:spPr>
          <a:xfrm>
            <a:off x="334116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Shape 314"/>
          <p:cNvSpPr/>
          <p:nvPr/>
        </p:nvSpPr>
        <p:spPr>
          <a:xfrm>
            <a:off x="408672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315"/>
          <p:cNvSpPr/>
          <p:nvPr/>
        </p:nvSpPr>
        <p:spPr>
          <a:xfrm>
            <a:off x="418536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316"/>
          <p:cNvSpPr/>
          <p:nvPr/>
        </p:nvSpPr>
        <p:spPr>
          <a:xfrm>
            <a:off x="428436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317"/>
          <p:cNvSpPr/>
          <p:nvPr/>
        </p:nvSpPr>
        <p:spPr>
          <a:xfrm>
            <a:off x="438300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318"/>
          <p:cNvSpPr/>
          <p:nvPr/>
        </p:nvSpPr>
        <p:spPr>
          <a:xfrm>
            <a:off x="448164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Shape 319"/>
          <p:cNvSpPr/>
          <p:nvPr/>
        </p:nvSpPr>
        <p:spPr>
          <a:xfrm>
            <a:off x="522756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20"/>
          <p:cNvSpPr/>
          <p:nvPr/>
        </p:nvSpPr>
        <p:spPr>
          <a:xfrm>
            <a:off x="532620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321"/>
          <p:cNvSpPr/>
          <p:nvPr/>
        </p:nvSpPr>
        <p:spPr>
          <a:xfrm>
            <a:off x="54248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322"/>
          <p:cNvSpPr/>
          <p:nvPr/>
        </p:nvSpPr>
        <p:spPr>
          <a:xfrm>
            <a:off x="55238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323"/>
          <p:cNvSpPr/>
          <p:nvPr/>
        </p:nvSpPr>
        <p:spPr>
          <a:xfrm>
            <a:off x="562248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24"/>
          <p:cNvSpPr/>
          <p:nvPr/>
        </p:nvSpPr>
        <p:spPr>
          <a:xfrm>
            <a:off x="63680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325"/>
          <p:cNvSpPr/>
          <p:nvPr/>
        </p:nvSpPr>
        <p:spPr>
          <a:xfrm>
            <a:off x="64670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326"/>
          <p:cNvSpPr/>
          <p:nvPr/>
        </p:nvSpPr>
        <p:spPr>
          <a:xfrm>
            <a:off x="656568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327"/>
          <p:cNvSpPr/>
          <p:nvPr/>
        </p:nvSpPr>
        <p:spPr>
          <a:xfrm>
            <a:off x="666432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328"/>
          <p:cNvSpPr/>
          <p:nvPr/>
        </p:nvSpPr>
        <p:spPr>
          <a:xfrm>
            <a:off x="676296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Shape 329"/>
          <p:cNvSpPr/>
          <p:nvPr/>
        </p:nvSpPr>
        <p:spPr>
          <a:xfrm>
            <a:off x="750888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330"/>
          <p:cNvSpPr/>
          <p:nvPr/>
        </p:nvSpPr>
        <p:spPr>
          <a:xfrm>
            <a:off x="760752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331"/>
          <p:cNvSpPr/>
          <p:nvPr/>
        </p:nvSpPr>
        <p:spPr>
          <a:xfrm>
            <a:off x="770616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332"/>
          <p:cNvSpPr/>
          <p:nvPr/>
        </p:nvSpPr>
        <p:spPr>
          <a:xfrm>
            <a:off x="780516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333"/>
          <p:cNvSpPr/>
          <p:nvPr/>
        </p:nvSpPr>
        <p:spPr>
          <a:xfrm>
            <a:off x="790380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Shape 334"/>
          <p:cNvSpPr/>
          <p:nvPr/>
        </p:nvSpPr>
        <p:spPr>
          <a:xfrm>
            <a:off x="864936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335"/>
          <p:cNvSpPr/>
          <p:nvPr/>
        </p:nvSpPr>
        <p:spPr>
          <a:xfrm>
            <a:off x="874836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336"/>
          <p:cNvSpPr/>
          <p:nvPr/>
        </p:nvSpPr>
        <p:spPr>
          <a:xfrm>
            <a:off x="884700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337"/>
          <p:cNvSpPr/>
          <p:nvPr/>
        </p:nvSpPr>
        <p:spPr>
          <a:xfrm>
            <a:off x="89456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338"/>
          <p:cNvSpPr/>
          <p:nvPr/>
        </p:nvSpPr>
        <p:spPr>
          <a:xfrm>
            <a:off x="904464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Shape 339"/>
          <p:cNvSpPr/>
          <p:nvPr/>
        </p:nvSpPr>
        <p:spPr>
          <a:xfrm>
            <a:off x="979020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340"/>
          <p:cNvSpPr/>
          <p:nvPr/>
        </p:nvSpPr>
        <p:spPr>
          <a:xfrm>
            <a:off x="98888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341"/>
          <p:cNvSpPr/>
          <p:nvPr/>
        </p:nvSpPr>
        <p:spPr>
          <a:xfrm>
            <a:off x="99878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342"/>
          <p:cNvSpPr/>
          <p:nvPr/>
        </p:nvSpPr>
        <p:spPr>
          <a:xfrm>
            <a:off x="1008648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Shape 343"/>
          <p:cNvSpPr/>
          <p:nvPr/>
        </p:nvSpPr>
        <p:spPr>
          <a:xfrm>
            <a:off x="1018512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Shape 344"/>
          <p:cNvSpPr/>
          <p:nvPr/>
        </p:nvSpPr>
        <p:spPr>
          <a:xfrm>
            <a:off x="1093104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345"/>
          <p:cNvSpPr/>
          <p:nvPr/>
        </p:nvSpPr>
        <p:spPr>
          <a:xfrm>
            <a:off x="1102968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346"/>
          <p:cNvSpPr/>
          <p:nvPr/>
        </p:nvSpPr>
        <p:spPr>
          <a:xfrm>
            <a:off x="11128320" y="5926680"/>
            <a:ext cx="65520" cy="655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347"/>
          <p:cNvSpPr/>
          <p:nvPr/>
        </p:nvSpPr>
        <p:spPr>
          <a:xfrm>
            <a:off x="1122732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Shape 348"/>
          <p:cNvSpPr/>
          <p:nvPr/>
        </p:nvSpPr>
        <p:spPr>
          <a:xfrm>
            <a:off x="11325960" y="5926680"/>
            <a:ext cx="65520" cy="65520"/>
          </a:xfrm>
          <a:prstGeom prst="ellipse">
            <a:avLst/>
          </a:prstGeom>
          <a:solidFill>
            <a:srgbClr val="1e29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STACK OPTIONS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Four Ways to Architect Your Optimization Stack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11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Shape 8"/>
          <p:cNvSpPr/>
          <p:nvPr/>
        </p:nvSpPr>
        <p:spPr>
          <a:xfrm>
            <a:off x="457200" y="1600200"/>
            <a:ext cx="2697120" cy="4434480"/>
          </a:xfrm>
          <a:prstGeom prst="roundRect">
            <a:avLst>
              <a:gd name="adj" fmla="val 271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Shape 9"/>
          <p:cNvSpPr/>
          <p:nvPr/>
        </p:nvSpPr>
        <p:spPr>
          <a:xfrm>
            <a:off x="621720" y="1764720"/>
            <a:ext cx="2368080" cy="29232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Text 10"/>
          <p:cNvSpPr/>
          <p:nvPr/>
        </p:nvSpPr>
        <p:spPr>
          <a:xfrm>
            <a:off x="621720" y="1764720"/>
            <a:ext cx="236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4f8ef7"/>
                </a:solidFill>
                <a:latin typeface="Calibri"/>
                <a:ea typeface="Calibri"/>
              </a:rPr>
              <a:t>Stack 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11"/>
          <p:cNvSpPr/>
          <p:nvPr/>
        </p:nvSpPr>
        <p:spPr>
          <a:xfrm>
            <a:off x="621720" y="2130480"/>
            <a:ext cx="2368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Integrated Platform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Shape 12"/>
          <p:cNvSpPr/>
          <p:nvPr/>
        </p:nvSpPr>
        <p:spPr>
          <a:xfrm>
            <a:off x="621720" y="24598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Text 13"/>
          <p:cNvSpPr/>
          <p:nvPr/>
        </p:nvSpPr>
        <p:spPr>
          <a:xfrm>
            <a:off x="676800" y="24598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Headroom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Shape 14"/>
          <p:cNvSpPr/>
          <p:nvPr/>
        </p:nvSpPr>
        <p:spPr>
          <a:xfrm>
            <a:off x="621720" y="3886200"/>
            <a:ext cx="2368080" cy="895680"/>
          </a:xfrm>
          <a:prstGeom prst="roundRect">
            <a:avLst>
              <a:gd name="adj" fmla="val 6122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Text 15"/>
          <p:cNvSpPr/>
          <p:nvPr/>
        </p:nvSpPr>
        <p:spPr>
          <a:xfrm>
            <a:off x="731520" y="3959280"/>
            <a:ext cx="214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77" strike="noStrike">
                <a:solidFill>
                  <a:srgbClr val="4f8ef7"/>
                </a:solidFill>
                <a:latin typeface="Calibri"/>
                <a:ea typeface="Calibri"/>
              </a:rPr>
              <a:t>WHY THIS STACK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Text 16"/>
          <p:cNvSpPr/>
          <p:nvPr/>
        </p:nvSpPr>
        <p:spPr>
          <a:xfrm>
            <a:off x="731520" y="4123800"/>
            <a:ext cx="2148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Chosen because it's the only tool covering compression, memory, caching, and output optimization in a single install.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Shape 17"/>
          <p:cNvSpPr/>
          <p:nvPr/>
        </p:nvSpPr>
        <p:spPr>
          <a:xfrm>
            <a:off x="621720" y="4905000"/>
            <a:ext cx="236808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 18"/>
          <p:cNvSpPr/>
          <p:nvPr/>
        </p:nvSpPr>
        <p:spPr>
          <a:xfrm>
            <a:off x="621720" y="498348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ADVANTAGE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Text 19"/>
          <p:cNvSpPr/>
          <p:nvPr/>
        </p:nvSpPr>
        <p:spPr>
          <a:xfrm>
            <a:off x="621720" y="516636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Single install, unified workflow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20"/>
          <p:cNvSpPr/>
          <p:nvPr/>
        </p:nvSpPr>
        <p:spPr>
          <a:xfrm>
            <a:off x="621720" y="551376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BEST FOR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Text 21"/>
          <p:cNvSpPr/>
          <p:nvPr/>
        </p:nvSpPr>
        <p:spPr>
          <a:xfrm>
            <a:off x="621720" y="569664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Individual devs &amp; small teams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Shape 22"/>
          <p:cNvSpPr/>
          <p:nvPr/>
        </p:nvSpPr>
        <p:spPr>
          <a:xfrm>
            <a:off x="3355920" y="1600200"/>
            <a:ext cx="2697120" cy="4434480"/>
          </a:xfrm>
          <a:prstGeom prst="roundRect">
            <a:avLst>
              <a:gd name="adj" fmla="val 271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Shape 23"/>
          <p:cNvSpPr/>
          <p:nvPr/>
        </p:nvSpPr>
        <p:spPr>
          <a:xfrm>
            <a:off x="3520440" y="1764720"/>
            <a:ext cx="2368080" cy="29232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24"/>
          <p:cNvSpPr/>
          <p:nvPr/>
        </p:nvSpPr>
        <p:spPr>
          <a:xfrm>
            <a:off x="3520440" y="1764720"/>
            <a:ext cx="236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a78bfa"/>
                </a:solidFill>
                <a:latin typeface="Calibri"/>
                <a:ea typeface="Calibri"/>
              </a:rPr>
              <a:t>Stack 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Text 25"/>
          <p:cNvSpPr/>
          <p:nvPr/>
        </p:nvSpPr>
        <p:spPr>
          <a:xfrm>
            <a:off x="3520440" y="2130480"/>
            <a:ext cx="2368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Best Open-Source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Shape 26"/>
          <p:cNvSpPr/>
          <p:nvPr/>
        </p:nvSpPr>
        <p:spPr>
          <a:xfrm>
            <a:off x="3520440" y="24598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27"/>
          <p:cNvSpPr/>
          <p:nvPr/>
        </p:nvSpPr>
        <p:spPr>
          <a:xfrm>
            <a:off x="3575160" y="24598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LLMLingua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Shape 28"/>
          <p:cNvSpPr/>
          <p:nvPr/>
        </p:nvSpPr>
        <p:spPr>
          <a:xfrm>
            <a:off x="4698360" y="2701800"/>
            <a:ext cx="12600" cy="36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9"/>
          <p:cNvSpPr/>
          <p:nvPr/>
        </p:nvSpPr>
        <p:spPr>
          <a:xfrm rot="10800000">
            <a:off x="4645440" y="27172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30"/>
          <p:cNvSpPr/>
          <p:nvPr/>
        </p:nvSpPr>
        <p:spPr>
          <a:xfrm>
            <a:off x="3520440" y="28072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Text 31"/>
          <p:cNvSpPr/>
          <p:nvPr/>
        </p:nvSpPr>
        <p:spPr>
          <a:xfrm>
            <a:off x="3575160" y="28072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Mem0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Shape 32"/>
          <p:cNvSpPr/>
          <p:nvPr/>
        </p:nvSpPr>
        <p:spPr>
          <a:xfrm>
            <a:off x="4698360" y="3049560"/>
            <a:ext cx="12600" cy="363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33"/>
          <p:cNvSpPr/>
          <p:nvPr/>
        </p:nvSpPr>
        <p:spPr>
          <a:xfrm rot="10800000">
            <a:off x="4645440" y="30646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34"/>
          <p:cNvSpPr/>
          <p:nvPr/>
        </p:nvSpPr>
        <p:spPr>
          <a:xfrm>
            <a:off x="3520440" y="31546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ext 35"/>
          <p:cNvSpPr/>
          <p:nvPr/>
        </p:nvSpPr>
        <p:spPr>
          <a:xfrm>
            <a:off x="3575160" y="31546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LiteLLM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Shape 36"/>
          <p:cNvSpPr/>
          <p:nvPr/>
        </p:nvSpPr>
        <p:spPr>
          <a:xfrm>
            <a:off x="3520440" y="3886200"/>
            <a:ext cx="2368080" cy="895680"/>
          </a:xfrm>
          <a:prstGeom prst="roundRect">
            <a:avLst>
              <a:gd name="adj" fmla="val 6122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Text 37"/>
          <p:cNvSpPr/>
          <p:nvPr/>
        </p:nvSpPr>
        <p:spPr>
          <a:xfrm>
            <a:off x="3630240" y="3959280"/>
            <a:ext cx="214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77" strike="noStrike">
                <a:solidFill>
                  <a:srgbClr val="a78bfa"/>
                </a:solidFill>
                <a:latin typeface="Calibri"/>
                <a:ea typeface="Calibri"/>
              </a:rPr>
              <a:t>WHY THIS STACK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38"/>
          <p:cNvSpPr/>
          <p:nvPr/>
        </p:nvSpPr>
        <p:spPr>
          <a:xfrm>
            <a:off x="3630240" y="4123800"/>
            <a:ext cx="2148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Each tool is the category leader: LLMLingua for compression, Mem0 for memory, LiteLLM for routing &amp; caching.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Shape 39"/>
          <p:cNvSpPr/>
          <p:nvPr/>
        </p:nvSpPr>
        <p:spPr>
          <a:xfrm>
            <a:off x="3520440" y="4905000"/>
            <a:ext cx="236808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40"/>
          <p:cNvSpPr/>
          <p:nvPr/>
        </p:nvSpPr>
        <p:spPr>
          <a:xfrm>
            <a:off x="3520440" y="498348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ADVANTAGE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Text 41"/>
          <p:cNvSpPr/>
          <p:nvPr/>
        </p:nvSpPr>
        <p:spPr>
          <a:xfrm>
            <a:off x="3520440" y="516636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Best-in-class memory &amp; routing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 42"/>
          <p:cNvSpPr/>
          <p:nvPr/>
        </p:nvSpPr>
        <p:spPr>
          <a:xfrm>
            <a:off x="3520440" y="551376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BEST FOR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 43"/>
          <p:cNvSpPr/>
          <p:nvPr/>
        </p:nvSpPr>
        <p:spPr>
          <a:xfrm>
            <a:off x="3520440" y="569664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AI startups, custom products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Shape 44"/>
          <p:cNvSpPr/>
          <p:nvPr/>
        </p:nvSpPr>
        <p:spPr>
          <a:xfrm>
            <a:off x="6254640" y="1600200"/>
            <a:ext cx="2697120" cy="4434480"/>
          </a:xfrm>
          <a:prstGeom prst="roundRect">
            <a:avLst>
              <a:gd name="adj" fmla="val 271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Shape 45"/>
          <p:cNvSpPr/>
          <p:nvPr/>
        </p:nvSpPr>
        <p:spPr>
          <a:xfrm>
            <a:off x="6419160" y="1764720"/>
            <a:ext cx="2368080" cy="29232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46"/>
          <p:cNvSpPr/>
          <p:nvPr/>
        </p:nvSpPr>
        <p:spPr>
          <a:xfrm>
            <a:off x="6419160" y="1764720"/>
            <a:ext cx="236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38bdf8"/>
                </a:solidFill>
                <a:latin typeface="Calibri"/>
                <a:ea typeface="Calibri"/>
              </a:rPr>
              <a:t>Stack 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Text 47"/>
          <p:cNvSpPr/>
          <p:nvPr/>
        </p:nvSpPr>
        <p:spPr>
          <a:xfrm>
            <a:off x="6419160" y="2130480"/>
            <a:ext cx="2368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Enterprise Platform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Shape 48"/>
          <p:cNvSpPr/>
          <p:nvPr/>
        </p:nvSpPr>
        <p:spPr>
          <a:xfrm>
            <a:off x="6419160" y="24598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Text 49"/>
          <p:cNvSpPr/>
          <p:nvPr/>
        </p:nvSpPr>
        <p:spPr>
          <a:xfrm>
            <a:off x="6473880" y="24598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Portkey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50"/>
          <p:cNvSpPr/>
          <p:nvPr/>
        </p:nvSpPr>
        <p:spPr>
          <a:xfrm>
            <a:off x="7596720" y="2701800"/>
            <a:ext cx="12600" cy="363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Shape 51"/>
          <p:cNvSpPr/>
          <p:nvPr/>
        </p:nvSpPr>
        <p:spPr>
          <a:xfrm rot="10800000">
            <a:off x="7544160" y="27172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Shape 52"/>
          <p:cNvSpPr/>
          <p:nvPr/>
        </p:nvSpPr>
        <p:spPr>
          <a:xfrm>
            <a:off x="6419160" y="28072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Text 53"/>
          <p:cNvSpPr/>
          <p:nvPr/>
        </p:nvSpPr>
        <p:spPr>
          <a:xfrm>
            <a:off x="6473880" y="28072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LiteLLM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54"/>
          <p:cNvSpPr/>
          <p:nvPr/>
        </p:nvSpPr>
        <p:spPr>
          <a:xfrm>
            <a:off x="7596720" y="3049560"/>
            <a:ext cx="12600" cy="363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Shape 55"/>
          <p:cNvSpPr/>
          <p:nvPr/>
        </p:nvSpPr>
        <p:spPr>
          <a:xfrm rot="10800000">
            <a:off x="7544160" y="30646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Shape 56"/>
          <p:cNvSpPr/>
          <p:nvPr/>
        </p:nvSpPr>
        <p:spPr>
          <a:xfrm>
            <a:off x="6419160" y="31546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 57"/>
          <p:cNvSpPr/>
          <p:nvPr/>
        </p:nvSpPr>
        <p:spPr>
          <a:xfrm>
            <a:off x="6473880" y="31546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Mem0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Shape 58"/>
          <p:cNvSpPr/>
          <p:nvPr/>
        </p:nvSpPr>
        <p:spPr>
          <a:xfrm>
            <a:off x="7596720" y="3396960"/>
            <a:ext cx="12600" cy="3636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Shape 59"/>
          <p:cNvSpPr/>
          <p:nvPr/>
        </p:nvSpPr>
        <p:spPr>
          <a:xfrm rot="10800000">
            <a:off x="7544160" y="341244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60"/>
          <p:cNvSpPr/>
          <p:nvPr/>
        </p:nvSpPr>
        <p:spPr>
          <a:xfrm>
            <a:off x="6419160" y="35020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Text 61"/>
          <p:cNvSpPr/>
          <p:nvPr/>
        </p:nvSpPr>
        <p:spPr>
          <a:xfrm>
            <a:off x="6473880" y="35020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LlamaIndex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62"/>
          <p:cNvSpPr/>
          <p:nvPr/>
        </p:nvSpPr>
        <p:spPr>
          <a:xfrm>
            <a:off x="6419160" y="3886200"/>
            <a:ext cx="2368080" cy="895680"/>
          </a:xfrm>
          <a:prstGeom prst="roundRect">
            <a:avLst>
              <a:gd name="adj" fmla="val 6122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Text 63"/>
          <p:cNvSpPr/>
          <p:nvPr/>
        </p:nvSpPr>
        <p:spPr>
          <a:xfrm>
            <a:off x="6528960" y="3959280"/>
            <a:ext cx="214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77" strike="noStrike">
                <a:solidFill>
                  <a:srgbClr val="38bdf8"/>
                </a:solidFill>
                <a:latin typeface="Calibri"/>
                <a:ea typeface="Calibri"/>
              </a:rPr>
              <a:t>WHY THIS STACK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Text 64"/>
          <p:cNvSpPr/>
          <p:nvPr/>
        </p:nvSpPr>
        <p:spPr>
          <a:xfrm>
            <a:off x="6528960" y="4123800"/>
            <a:ext cx="2148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Portkey adds the governance, security, and observability layer that open-source-only stacks typically lack.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65"/>
          <p:cNvSpPr/>
          <p:nvPr/>
        </p:nvSpPr>
        <p:spPr>
          <a:xfrm>
            <a:off x="6419160" y="4905000"/>
            <a:ext cx="236808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Text 66"/>
          <p:cNvSpPr/>
          <p:nvPr/>
        </p:nvSpPr>
        <p:spPr>
          <a:xfrm>
            <a:off x="6419160" y="498348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ADVANTAGE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Text 67"/>
          <p:cNvSpPr/>
          <p:nvPr/>
        </p:nvSpPr>
        <p:spPr>
          <a:xfrm>
            <a:off x="6419160" y="516636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Governance &amp; observability at scale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Text 68"/>
          <p:cNvSpPr/>
          <p:nvPr/>
        </p:nvSpPr>
        <p:spPr>
          <a:xfrm>
            <a:off x="6419160" y="551376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BEST FOR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ext 69"/>
          <p:cNvSpPr/>
          <p:nvPr/>
        </p:nvSpPr>
        <p:spPr>
          <a:xfrm>
            <a:off x="6419160" y="569664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Large enterprise AI platforms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70"/>
          <p:cNvSpPr/>
          <p:nvPr/>
        </p:nvSpPr>
        <p:spPr>
          <a:xfrm>
            <a:off x="9153000" y="1600200"/>
            <a:ext cx="2697120" cy="4434480"/>
          </a:xfrm>
          <a:prstGeom prst="roundRect">
            <a:avLst>
              <a:gd name="adj" fmla="val 2712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71"/>
          <p:cNvSpPr/>
          <p:nvPr/>
        </p:nvSpPr>
        <p:spPr>
          <a:xfrm>
            <a:off x="9317880" y="1764720"/>
            <a:ext cx="2368080" cy="29232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Text 72"/>
          <p:cNvSpPr/>
          <p:nvPr/>
        </p:nvSpPr>
        <p:spPr>
          <a:xfrm>
            <a:off x="9317880" y="1764720"/>
            <a:ext cx="236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34d399"/>
                </a:solidFill>
                <a:latin typeface="Calibri"/>
                <a:ea typeface="Calibri"/>
              </a:rPr>
              <a:t>Stack 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Text 73"/>
          <p:cNvSpPr/>
          <p:nvPr/>
        </p:nvSpPr>
        <p:spPr>
          <a:xfrm>
            <a:off x="9317880" y="2130480"/>
            <a:ext cx="2368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Budget-Conscious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74"/>
          <p:cNvSpPr/>
          <p:nvPr/>
        </p:nvSpPr>
        <p:spPr>
          <a:xfrm>
            <a:off x="9317880" y="24598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Text 75"/>
          <p:cNvSpPr/>
          <p:nvPr/>
        </p:nvSpPr>
        <p:spPr>
          <a:xfrm>
            <a:off x="9372600" y="24598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lean-ctx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76"/>
          <p:cNvSpPr/>
          <p:nvPr/>
        </p:nvSpPr>
        <p:spPr>
          <a:xfrm>
            <a:off x="10495440" y="2701800"/>
            <a:ext cx="12600" cy="3636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77"/>
          <p:cNvSpPr/>
          <p:nvPr/>
        </p:nvSpPr>
        <p:spPr>
          <a:xfrm rot="10800000">
            <a:off x="10442880" y="27172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78"/>
          <p:cNvSpPr/>
          <p:nvPr/>
        </p:nvSpPr>
        <p:spPr>
          <a:xfrm>
            <a:off x="9317880" y="28072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Text 79"/>
          <p:cNvSpPr/>
          <p:nvPr/>
        </p:nvSpPr>
        <p:spPr>
          <a:xfrm>
            <a:off x="9372600" y="28072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LiteLLM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80"/>
          <p:cNvSpPr/>
          <p:nvPr/>
        </p:nvSpPr>
        <p:spPr>
          <a:xfrm>
            <a:off x="10495440" y="3049560"/>
            <a:ext cx="12600" cy="3636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81"/>
          <p:cNvSpPr/>
          <p:nvPr/>
        </p:nvSpPr>
        <p:spPr>
          <a:xfrm rot="10800000">
            <a:off x="10442880" y="30646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82"/>
          <p:cNvSpPr/>
          <p:nvPr/>
        </p:nvSpPr>
        <p:spPr>
          <a:xfrm>
            <a:off x="9317880" y="3154680"/>
            <a:ext cx="2368080" cy="273960"/>
          </a:xfrm>
          <a:prstGeom prst="roundRect">
            <a:avLst>
              <a:gd name="adj" fmla="val 26667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Text 83"/>
          <p:cNvSpPr/>
          <p:nvPr/>
        </p:nvSpPr>
        <p:spPr>
          <a:xfrm>
            <a:off x="9372600" y="3154680"/>
            <a:ext cx="225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-1" strike="noStrike">
                <a:solidFill>
                  <a:srgbClr val="dce4f0"/>
                </a:solidFill>
                <a:latin typeface="Calibri"/>
                <a:ea typeface="Calibri"/>
              </a:rPr>
              <a:t>Small Local Model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84"/>
          <p:cNvSpPr/>
          <p:nvPr/>
        </p:nvSpPr>
        <p:spPr>
          <a:xfrm>
            <a:off x="9317880" y="3886200"/>
            <a:ext cx="2368080" cy="895680"/>
          </a:xfrm>
          <a:prstGeom prst="roundRect">
            <a:avLst>
              <a:gd name="adj" fmla="val 6122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Text 85"/>
          <p:cNvSpPr/>
          <p:nvPr/>
        </p:nvSpPr>
        <p:spPr>
          <a:xfrm>
            <a:off x="9427320" y="3959280"/>
            <a:ext cx="214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77" strike="noStrike">
                <a:solidFill>
                  <a:srgbClr val="34d399"/>
                </a:solidFill>
                <a:latin typeface="Calibri"/>
                <a:ea typeface="Calibri"/>
              </a:rPr>
              <a:t>WHY THIS STACK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Text 86"/>
          <p:cNvSpPr/>
          <p:nvPr/>
        </p:nvSpPr>
        <p:spPr>
          <a:xfrm>
            <a:off x="9427320" y="4123800"/>
            <a:ext cx="2148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dce4f0"/>
                </a:solidFill>
                <a:latin typeface="Calibri"/>
                <a:ea typeface="Calibri"/>
              </a:rPr>
              <a:t>lean-ctx's lightweight, local-first design keeps compute and licensing cost close to zero.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87"/>
          <p:cNvSpPr/>
          <p:nvPr/>
        </p:nvSpPr>
        <p:spPr>
          <a:xfrm>
            <a:off x="9317880" y="4905000"/>
            <a:ext cx="236808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88"/>
          <p:cNvSpPr/>
          <p:nvPr/>
        </p:nvSpPr>
        <p:spPr>
          <a:xfrm>
            <a:off x="9317880" y="498348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ADVANTAGE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Text 89"/>
          <p:cNvSpPr/>
          <p:nvPr/>
        </p:nvSpPr>
        <p:spPr>
          <a:xfrm>
            <a:off x="9317880" y="516636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Very low operational cost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Text 90"/>
          <p:cNvSpPr/>
          <p:nvPr/>
        </p:nvSpPr>
        <p:spPr>
          <a:xfrm>
            <a:off x="9317880" y="551376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97" strike="noStrike">
                <a:solidFill>
                  <a:srgbClr val="8996ac"/>
                </a:solidFill>
                <a:latin typeface="Calibri"/>
                <a:ea typeface="Calibri"/>
              </a:rPr>
              <a:t>BEST FOR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91"/>
          <p:cNvSpPr/>
          <p:nvPr/>
        </p:nvSpPr>
        <p:spPr>
          <a:xfrm>
            <a:off x="9317880" y="5696640"/>
            <a:ext cx="236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dce4f0"/>
                </a:solidFill>
                <a:latin typeface="Calibri"/>
                <a:ea typeface="Calibri"/>
              </a:rPr>
              <a:t>Students &amp; budget deployments</a:t>
            </a:r>
            <a:endParaRPr b="0" lang="en-US" sz="93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PHASE 3 — SMALL LANGUAGE MODELS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Using SLMs to Cut Premium LLM Calls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12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8"/>
          <p:cNvSpPr/>
          <p:nvPr/>
        </p:nvSpPr>
        <p:spPr>
          <a:xfrm>
            <a:off x="457200" y="155448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ce4f0"/>
                </a:solidFill>
                <a:latin typeface="Calibri"/>
                <a:ea typeface="Calibri"/>
              </a:rPr>
              <a:t>SLMs are not replacements for Claude or GPT. They handle routine work before expensive models are called: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Shape 9"/>
          <p:cNvSpPr/>
          <p:nvPr/>
        </p:nvSpPr>
        <p:spPr>
          <a:xfrm>
            <a:off x="457200" y="2194560"/>
            <a:ext cx="1965600" cy="347040"/>
          </a:xfrm>
          <a:prstGeom prst="roundRect">
            <a:avLst>
              <a:gd name="adj" fmla="val 21053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10"/>
          <p:cNvSpPr/>
          <p:nvPr/>
        </p:nvSpPr>
        <p:spPr>
          <a:xfrm>
            <a:off x="457200" y="219456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dce4f0"/>
                </a:solidFill>
                <a:latin typeface="Calibri"/>
                <a:ea typeface="Calibri"/>
              </a:rPr>
              <a:t>Prompt cleanup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Shape 11"/>
          <p:cNvSpPr/>
          <p:nvPr/>
        </p:nvSpPr>
        <p:spPr>
          <a:xfrm>
            <a:off x="2606040" y="2194560"/>
            <a:ext cx="1965600" cy="347040"/>
          </a:xfrm>
          <a:prstGeom prst="roundRect">
            <a:avLst>
              <a:gd name="adj" fmla="val 21053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Text 12"/>
          <p:cNvSpPr/>
          <p:nvPr/>
        </p:nvSpPr>
        <p:spPr>
          <a:xfrm>
            <a:off x="2606040" y="219456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dce4f0"/>
                </a:solidFill>
                <a:latin typeface="Calibri"/>
                <a:ea typeface="Calibri"/>
              </a:rPr>
              <a:t>Summarization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Shape 13"/>
          <p:cNvSpPr/>
          <p:nvPr/>
        </p:nvSpPr>
        <p:spPr>
          <a:xfrm>
            <a:off x="457200" y="2615040"/>
            <a:ext cx="1965600" cy="347040"/>
          </a:xfrm>
          <a:prstGeom prst="roundRect">
            <a:avLst>
              <a:gd name="adj" fmla="val 21053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14"/>
          <p:cNvSpPr/>
          <p:nvPr/>
        </p:nvSpPr>
        <p:spPr>
          <a:xfrm>
            <a:off x="457200" y="261504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dce4f0"/>
                </a:solidFill>
                <a:latin typeface="Calibri"/>
                <a:ea typeface="Calibri"/>
              </a:rPr>
              <a:t>Intent detection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Shape 15"/>
          <p:cNvSpPr/>
          <p:nvPr/>
        </p:nvSpPr>
        <p:spPr>
          <a:xfrm>
            <a:off x="2606040" y="2615040"/>
            <a:ext cx="1965600" cy="347040"/>
          </a:xfrm>
          <a:prstGeom prst="roundRect">
            <a:avLst>
              <a:gd name="adj" fmla="val 21053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Text 16"/>
          <p:cNvSpPr/>
          <p:nvPr/>
        </p:nvSpPr>
        <p:spPr>
          <a:xfrm>
            <a:off x="2606040" y="261504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dce4f0"/>
                </a:solidFill>
                <a:latin typeface="Calibri"/>
                <a:ea typeface="Calibri"/>
              </a:rPr>
              <a:t>Classification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Shape 17"/>
          <p:cNvSpPr/>
          <p:nvPr/>
        </p:nvSpPr>
        <p:spPr>
          <a:xfrm>
            <a:off x="457200" y="3035880"/>
            <a:ext cx="1965600" cy="347040"/>
          </a:xfrm>
          <a:prstGeom prst="roundRect">
            <a:avLst>
              <a:gd name="adj" fmla="val 21053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Text 18"/>
          <p:cNvSpPr/>
          <p:nvPr/>
        </p:nvSpPr>
        <p:spPr>
          <a:xfrm>
            <a:off x="457200" y="303588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dce4f0"/>
                </a:solidFill>
                <a:latin typeface="Calibri"/>
                <a:ea typeface="Calibri"/>
              </a:rPr>
              <a:t>Log filtering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Shape 19"/>
          <p:cNvSpPr/>
          <p:nvPr/>
        </p:nvSpPr>
        <p:spPr>
          <a:xfrm>
            <a:off x="2606040" y="3035880"/>
            <a:ext cx="1965600" cy="347040"/>
          </a:xfrm>
          <a:prstGeom prst="roundRect">
            <a:avLst>
              <a:gd name="adj" fmla="val 21053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Text 20"/>
          <p:cNvSpPr/>
          <p:nvPr/>
        </p:nvSpPr>
        <p:spPr>
          <a:xfrm>
            <a:off x="2606040" y="303588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dce4f0"/>
                </a:solidFill>
                <a:latin typeface="Calibri"/>
                <a:ea typeface="Calibri"/>
              </a:rPr>
              <a:t>Documentation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Shape 21"/>
          <p:cNvSpPr/>
          <p:nvPr/>
        </p:nvSpPr>
        <p:spPr>
          <a:xfrm>
            <a:off x="914400" y="4160520"/>
            <a:ext cx="1371240" cy="77688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34d399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Shape 22"/>
          <p:cNvSpPr/>
          <p:nvPr/>
        </p:nvSpPr>
        <p:spPr>
          <a:xfrm>
            <a:off x="1380600" y="4251960"/>
            <a:ext cx="438480" cy="43848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3" name="Image 0" descr="/home/claude/work/icons/cpu_white.png"/>
          <p:cNvPicPr/>
          <p:nvPr/>
        </p:nvPicPr>
        <p:blipFill>
          <a:blip r:embed="rId1"/>
          <a:stretch/>
        </p:blipFill>
        <p:spPr>
          <a:xfrm>
            <a:off x="1472760" y="4344120"/>
            <a:ext cx="254160" cy="254160"/>
          </a:xfrm>
          <a:prstGeom prst="rect">
            <a:avLst/>
          </a:prstGeom>
          <a:ln w="0">
            <a:noFill/>
          </a:ln>
        </p:spPr>
      </p:pic>
      <p:sp>
        <p:nvSpPr>
          <p:cNvPr id="994" name="Text 23"/>
          <p:cNvSpPr/>
          <p:nvPr/>
        </p:nvSpPr>
        <p:spPr>
          <a:xfrm>
            <a:off x="914400" y="470916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SLM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5" name="Shape 24"/>
          <p:cNvSpPr/>
          <p:nvPr/>
        </p:nvSpPr>
        <p:spPr>
          <a:xfrm>
            <a:off x="2331720" y="4534560"/>
            <a:ext cx="310680" cy="1980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Shape 25"/>
          <p:cNvSpPr/>
          <p:nvPr/>
        </p:nvSpPr>
        <p:spPr>
          <a:xfrm rot="5400000">
            <a:off x="2657880" y="4485240"/>
            <a:ext cx="85320" cy="11844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Shape 26"/>
          <p:cNvSpPr/>
          <p:nvPr/>
        </p:nvSpPr>
        <p:spPr>
          <a:xfrm>
            <a:off x="2788920" y="4160520"/>
            <a:ext cx="1371240" cy="776880"/>
          </a:xfrm>
          <a:prstGeom prst="roundRect">
            <a:avLst>
              <a:gd name="adj" fmla="val 9412"/>
            </a:avLst>
          </a:prstGeom>
          <a:solidFill>
            <a:srgbClr val="121c30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Shape 27"/>
          <p:cNvSpPr/>
          <p:nvPr/>
        </p:nvSpPr>
        <p:spPr>
          <a:xfrm>
            <a:off x="3255120" y="4251960"/>
            <a:ext cx="438480" cy="43848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9" name="Image 1" descr="/home/claude/work/icons/layers_blue.png"/>
          <p:cNvPicPr/>
          <p:nvPr/>
        </p:nvPicPr>
        <p:blipFill>
          <a:blip r:embed="rId2"/>
          <a:stretch/>
        </p:blipFill>
        <p:spPr>
          <a:xfrm>
            <a:off x="3347280" y="4344120"/>
            <a:ext cx="254160" cy="254160"/>
          </a:xfrm>
          <a:prstGeom prst="rect">
            <a:avLst/>
          </a:prstGeom>
          <a:ln w="0">
            <a:noFill/>
          </a:ln>
        </p:spPr>
      </p:pic>
      <p:sp>
        <p:nvSpPr>
          <p:cNvPr id="1000" name="Text 28"/>
          <p:cNvSpPr/>
          <p:nvPr/>
        </p:nvSpPr>
        <p:spPr>
          <a:xfrm>
            <a:off x="2788920" y="470916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LLM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Text 29"/>
          <p:cNvSpPr/>
          <p:nvPr/>
        </p:nvSpPr>
        <p:spPr>
          <a:xfrm>
            <a:off x="457200" y="50749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996ac"/>
                </a:solidFill>
                <a:latin typeface="Calibri"/>
                <a:ea typeface="Calibri"/>
              </a:rPr>
              <a:t>Only what needs deep reasoning escalates upward.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Shape 30"/>
          <p:cNvSpPr/>
          <p:nvPr/>
        </p:nvSpPr>
        <p:spPr>
          <a:xfrm>
            <a:off x="4892040" y="1554480"/>
            <a:ext cx="6857640" cy="365400"/>
          </a:xfrm>
          <a:prstGeom prst="roundRect">
            <a:avLst>
              <a:gd name="adj" fmla="val 15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Text 31"/>
          <p:cNvSpPr/>
          <p:nvPr/>
        </p:nvSpPr>
        <p:spPr>
          <a:xfrm>
            <a:off x="5001840" y="1554480"/>
            <a:ext cx="113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77" strike="noStrike">
                <a:solidFill>
                  <a:srgbClr val="4f8ef7"/>
                </a:solidFill>
                <a:latin typeface="Calibri"/>
                <a:ea typeface="Calibri"/>
              </a:rPr>
              <a:t>MODEL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Text 32"/>
          <p:cNvSpPr/>
          <p:nvPr/>
        </p:nvSpPr>
        <p:spPr>
          <a:xfrm>
            <a:off x="6282000" y="1554480"/>
            <a:ext cx="13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77" strike="noStrike">
                <a:solidFill>
                  <a:srgbClr val="4f8ef7"/>
                </a:solidFill>
                <a:latin typeface="Calibri"/>
                <a:ea typeface="Calibri"/>
              </a:rPr>
              <a:t>PARAMS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33"/>
          <p:cNvSpPr/>
          <p:nvPr/>
        </p:nvSpPr>
        <p:spPr>
          <a:xfrm>
            <a:off x="7745040" y="1554480"/>
            <a:ext cx="630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77" strike="noStrike">
                <a:solidFill>
                  <a:srgbClr val="4f8ef7"/>
                </a:solidFill>
                <a:latin typeface="Calibri"/>
                <a:ea typeface="Calibri"/>
              </a:rPr>
              <a:t>CODE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Text 34"/>
          <p:cNvSpPr/>
          <p:nvPr/>
        </p:nvSpPr>
        <p:spPr>
          <a:xfrm>
            <a:off x="8522280" y="1554480"/>
            <a:ext cx="67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77" strike="noStrike">
                <a:solidFill>
                  <a:srgbClr val="4f8ef7"/>
                </a:solidFill>
                <a:latin typeface="Calibri"/>
                <a:ea typeface="Calibri"/>
              </a:rPr>
              <a:t>REASON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7" name="Text 35"/>
          <p:cNvSpPr/>
          <p:nvPr/>
        </p:nvSpPr>
        <p:spPr>
          <a:xfrm>
            <a:off x="9345240" y="1554480"/>
            <a:ext cx="722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77" strike="noStrike">
                <a:solidFill>
                  <a:srgbClr val="4f8ef7"/>
                </a:solidFill>
                <a:latin typeface="Calibri"/>
                <a:ea typeface="Calibri"/>
              </a:rPr>
              <a:t>SPEED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Text 36"/>
          <p:cNvSpPr/>
          <p:nvPr/>
        </p:nvSpPr>
        <p:spPr>
          <a:xfrm>
            <a:off x="10213920" y="1554480"/>
            <a:ext cx="1499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77" strike="noStrike">
                <a:solidFill>
                  <a:srgbClr val="4f8ef7"/>
                </a:solidFill>
                <a:latin typeface="Calibri"/>
                <a:ea typeface="Calibri"/>
              </a:rPr>
              <a:t>BEST USE CASE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Shape 37"/>
          <p:cNvSpPr/>
          <p:nvPr/>
        </p:nvSpPr>
        <p:spPr>
          <a:xfrm>
            <a:off x="4892040" y="1956960"/>
            <a:ext cx="6857640" cy="45684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Text 38"/>
          <p:cNvSpPr/>
          <p:nvPr/>
        </p:nvSpPr>
        <p:spPr>
          <a:xfrm>
            <a:off x="5001840" y="195696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8ef7"/>
                </a:solidFill>
                <a:latin typeface="Calibri"/>
                <a:ea typeface="Calibri"/>
              </a:rPr>
              <a:t>SmolLM2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Text 39"/>
          <p:cNvSpPr/>
          <p:nvPr/>
        </p:nvSpPr>
        <p:spPr>
          <a:xfrm>
            <a:off x="6282000" y="195696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135M/360M/1.7B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40"/>
          <p:cNvSpPr/>
          <p:nvPr/>
        </p:nvSpPr>
        <p:spPr>
          <a:xfrm>
            <a:off x="7745040" y="1956960"/>
            <a:ext cx="61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Basic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Text 41"/>
          <p:cNvSpPr/>
          <p:nvPr/>
        </p:nvSpPr>
        <p:spPr>
          <a:xfrm>
            <a:off x="8522280" y="1956960"/>
            <a:ext cx="65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Fast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Text 42"/>
          <p:cNvSpPr/>
          <p:nvPr/>
        </p:nvSpPr>
        <p:spPr>
          <a:xfrm>
            <a:off x="9345240" y="1956960"/>
            <a:ext cx="70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Fastest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Text 43"/>
          <p:cNvSpPr/>
          <p:nvPr/>
        </p:nvSpPr>
        <p:spPr>
          <a:xfrm>
            <a:off x="10213920" y="195696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Classification, cleanup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Shape 44"/>
          <p:cNvSpPr/>
          <p:nvPr/>
        </p:nvSpPr>
        <p:spPr>
          <a:xfrm>
            <a:off x="4892040" y="2450520"/>
            <a:ext cx="6857640" cy="456840"/>
          </a:xfrm>
          <a:prstGeom prst="roundRect">
            <a:avLst>
              <a:gd name="adj" fmla="val 16000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Text 45"/>
          <p:cNvSpPr/>
          <p:nvPr/>
        </p:nvSpPr>
        <p:spPr>
          <a:xfrm>
            <a:off x="5001840" y="245052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8ef7"/>
                </a:solidFill>
                <a:latin typeface="Calibri"/>
                <a:ea typeface="Calibri"/>
              </a:rPr>
              <a:t>Qwen2.5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Text 46"/>
          <p:cNvSpPr/>
          <p:nvPr/>
        </p:nvSpPr>
        <p:spPr>
          <a:xfrm>
            <a:off x="6282000" y="245052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0.5B/1.5B/3B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Text 47"/>
          <p:cNvSpPr/>
          <p:nvPr/>
        </p:nvSpPr>
        <p:spPr>
          <a:xfrm>
            <a:off x="7745040" y="2450520"/>
            <a:ext cx="61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Strong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48"/>
          <p:cNvSpPr/>
          <p:nvPr/>
        </p:nvSpPr>
        <p:spPr>
          <a:xfrm>
            <a:off x="8522280" y="2450520"/>
            <a:ext cx="65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Good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Text 49"/>
          <p:cNvSpPr/>
          <p:nvPr/>
        </p:nvSpPr>
        <p:spPr>
          <a:xfrm>
            <a:off x="9345240" y="2450520"/>
            <a:ext cx="70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Fast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Text 50"/>
          <p:cNvSpPr/>
          <p:nvPr/>
        </p:nvSpPr>
        <p:spPr>
          <a:xfrm>
            <a:off x="10213920" y="245052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Code understanding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Shape 51"/>
          <p:cNvSpPr/>
          <p:nvPr/>
        </p:nvSpPr>
        <p:spPr>
          <a:xfrm>
            <a:off x="4892040" y="2944440"/>
            <a:ext cx="6857640" cy="45684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Text 52"/>
          <p:cNvSpPr/>
          <p:nvPr/>
        </p:nvSpPr>
        <p:spPr>
          <a:xfrm>
            <a:off x="5001840" y="294444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8ef7"/>
                </a:solidFill>
                <a:latin typeface="Calibri"/>
                <a:ea typeface="Calibri"/>
              </a:rPr>
              <a:t>Phi-3 Mini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Text 53"/>
          <p:cNvSpPr/>
          <p:nvPr/>
        </p:nvSpPr>
        <p:spPr>
          <a:xfrm>
            <a:off x="6282000" y="294444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3.8B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Text 54"/>
          <p:cNvSpPr/>
          <p:nvPr/>
        </p:nvSpPr>
        <p:spPr>
          <a:xfrm>
            <a:off x="7745040" y="2944440"/>
            <a:ext cx="61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Good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Text 55"/>
          <p:cNvSpPr/>
          <p:nvPr/>
        </p:nvSpPr>
        <p:spPr>
          <a:xfrm>
            <a:off x="8522280" y="2944440"/>
            <a:ext cx="65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Best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Text 56"/>
          <p:cNvSpPr/>
          <p:nvPr/>
        </p:nvSpPr>
        <p:spPr>
          <a:xfrm>
            <a:off x="9345240" y="2944440"/>
            <a:ext cx="70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Moderate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Text 57"/>
          <p:cNvSpPr/>
          <p:nvPr/>
        </p:nvSpPr>
        <p:spPr>
          <a:xfrm>
            <a:off x="10213920" y="294444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Log &amp; reasoning tasks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Shape 58"/>
          <p:cNvSpPr/>
          <p:nvPr/>
        </p:nvSpPr>
        <p:spPr>
          <a:xfrm>
            <a:off x="4892040" y="3438000"/>
            <a:ext cx="6857640" cy="456840"/>
          </a:xfrm>
          <a:prstGeom prst="roundRect">
            <a:avLst>
              <a:gd name="adj" fmla="val 16000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Text 59"/>
          <p:cNvSpPr/>
          <p:nvPr/>
        </p:nvSpPr>
        <p:spPr>
          <a:xfrm>
            <a:off x="5001840" y="343800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8ef7"/>
                </a:solidFill>
                <a:latin typeface="Calibri"/>
                <a:ea typeface="Calibri"/>
              </a:rPr>
              <a:t>Gemma 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60"/>
          <p:cNvSpPr/>
          <p:nvPr/>
        </p:nvSpPr>
        <p:spPr>
          <a:xfrm>
            <a:off x="6282000" y="343800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1B / 4B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Text 61"/>
          <p:cNvSpPr/>
          <p:nvPr/>
        </p:nvSpPr>
        <p:spPr>
          <a:xfrm>
            <a:off x="7745040" y="3438000"/>
            <a:ext cx="61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Good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Text 62"/>
          <p:cNvSpPr/>
          <p:nvPr/>
        </p:nvSpPr>
        <p:spPr>
          <a:xfrm>
            <a:off x="8522280" y="3438000"/>
            <a:ext cx="65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Good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Text 63"/>
          <p:cNvSpPr/>
          <p:nvPr/>
        </p:nvSpPr>
        <p:spPr>
          <a:xfrm>
            <a:off x="9345240" y="3438000"/>
            <a:ext cx="70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Fast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Text 64"/>
          <p:cNvSpPr/>
          <p:nvPr/>
        </p:nvSpPr>
        <p:spPr>
          <a:xfrm>
            <a:off x="10213920" y="343800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Summarization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Shape 65"/>
          <p:cNvSpPr/>
          <p:nvPr/>
        </p:nvSpPr>
        <p:spPr>
          <a:xfrm>
            <a:off x="4892040" y="3931920"/>
            <a:ext cx="6857640" cy="456840"/>
          </a:xfrm>
          <a:prstGeom prst="roundRect">
            <a:avLst>
              <a:gd name="adj" fmla="val 16000"/>
            </a:avLst>
          </a:prstGeom>
          <a:solidFill>
            <a:srgbClr val="121c3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8" name="Text 66"/>
          <p:cNvSpPr/>
          <p:nvPr/>
        </p:nvSpPr>
        <p:spPr>
          <a:xfrm>
            <a:off x="5001840" y="393192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8ef7"/>
                </a:solidFill>
                <a:latin typeface="Calibri"/>
                <a:ea typeface="Calibri"/>
              </a:rPr>
              <a:t>Llama 3.2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Text 67"/>
          <p:cNvSpPr/>
          <p:nvPr/>
        </p:nvSpPr>
        <p:spPr>
          <a:xfrm>
            <a:off x="6282000" y="393192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1B / 3B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Text 68"/>
          <p:cNvSpPr/>
          <p:nvPr/>
        </p:nvSpPr>
        <p:spPr>
          <a:xfrm>
            <a:off x="7745040" y="3931920"/>
            <a:ext cx="61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Good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Text 69"/>
          <p:cNvSpPr/>
          <p:nvPr/>
        </p:nvSpPr>
        <p:spPr>
          <a:xfrm>
            <a:off x="8522280" y="3931920"/>
            <a:ext cx="65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Good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70"/>
          <p:cNvSpPr/>
          <p:nvPr/>
        </p:nvSpPr>
        <p:spPr>
          <a:xfrm>
            <a:off x="9345240" y="3931920"/>
            <a:ext cx="70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Fast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Text 71"/>
          <p:cNvSpPr/>
          <p:nvPr/>
        </p:nvSpPr>
        <p:spPr>
          <a:xfrm>
            <a:off x="10213920" y="393192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Documentation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Shape 72"/>
          <p:cNvSpPr/>
          <p:nvPr/>
        </p:nvSpPr>
        <p:spPr>
          <a:xfrm>
            <a:off x="4892040" y="4425840"/>
            <a:ext cx="6857640" cy="456840"/>
          </a:xfrm>
          <a:prstGeom prst="roundRect">
            <a:avLst>
              <a:gd name="adj" fmla="val 16000"/>
            </a:avLst>
          </a:prstGeom>
          <a:solidFill>
            <a:srgbClr val="0a1120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Text 73"/>
          <p:cNvSpPr/>
          <p:nvPr/>
        </p:nvSpPr>
        <p:spPr>
          <a:xfrm>
            <a:off x="5001840" y="442584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8ef7"/>
                </a:solidFill>
                <a:latin typeface="Calibri"/>
                <a:ea typeface="Calibri"/>
              </a:rPr>
              <a:t>TinyLlama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Text 74"/>
          <p:cNvSpPr/>
          <p:nvPr/>
        </p:nvSpPr>
        <p:spPr>
          <a:xfrm>
            <a:off x="6282000" y="4425840"/>
            <a:ext cx="129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1.1B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75"/>
          <p:cNvSpPr/>
          <p:nvPr/>
        </p:nvSpPr>
        <p:spPr>
          <a:xfrm>
            <a:off x="7745040" y="4425840"/>
            <a:ext cx="61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Basic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Text 76"/>
          <p:cNvSpPr/>
          <p:nvPr/>
        </p:nvSpPr>
        <p:spPr>
          <a:xfrm>
            <a:off x="8522280" y="4425840"/>
            <a:ext cx="65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Basic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Text 77"/>
          <p:cNvSpPr/>
          <p:nvPr/>
        </p:nvSpPr>
        <p:spPr>
          <a:xfrm>
            <a:off x="9345240" y="4425840"/>
            <a:ext cx="70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Fastest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Text 78"/>
          <p:cNvSpPr/>
          <p:nvPr/>
        </p:nvSpPr>
        <p:spPr>
          <a:xfrm>
            <a:off x="10213920" y="4425840"/>
            <a:ext cx="1481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ce4f0"/>
                </a:solidFill>
                <a:latin typeface="Calibri"/>
                <a:ea typeface="Calibri"/>
              </a:rPr>
              <a:t>Lightweight/edge tasks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Shape 79"/>
          <p:cNvSpPr/>
          <p:nvPr/>
        </p:nvSpPr>
        <p:spPr>
          <a:xfrm>
            <a:off x="4892040" y="5065920"/>
            <a:ext cx="1577160" cy="566640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ext 80"/>
          <p:cNvSpPr/>
          <p:nvPr/>
        </p:nvSpPr>
        <p:spPr>
          <a:xfrm>
            <a:off x="5001840" y="5120640"/>
            <a:ext cx="1394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9" strike="noStrike">
                <a:solidFill>
                  <a:srgbClr val="4f8ef7"/>
                </a:solidFill>
                <a:latin typeface="Calibri"/>
                <a:ea typeface="Calibri"/>
              </a:rPr>
              <a:t>BEST CODING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Text 81"/>
          <p:cNvSpPr/>
          <p:nvPr/>
        </p:nvSpPr>
        <p:spPr>
          <a:xfrm>
            <a:off x="5001840" y="5294520"/>
            <a:ext cx="139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Qwen2.5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Shape 82"/>
          <p:cNvSpPr/>
          <p:nvPr/>
        </p:nvSpPr>
        <p:spPr>
          <a:xfrm>
            <a:off x="6652440" y="5065920"/>
            <a:ext cx="1577160" cy="566640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Text 83"/>
          <p:cNvSpPr/>
          <p:nvPr/>
        </p:nvSpPr>
        <p:spPr>
          <a:xfrm>
            <a:off x="6761880" y="5120640"/>
            <a:ext cx="1394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9" strike="noStrike">
                <a:solidFill>
                  <a:srgbClr val="a78bfa"/>
                </a:solidFill>
                <a:latin typeface="Calibri"/>
                <a:ea typeface="Calibri"/>
              </a:rPr>
              <a:t>BEST REASONING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84"/>
          <p:cNvSpPr/>
          <p:nvPr/>
        </p:nvSpPr>
        <p:spPr>
          <a:xfrm>
            <a:off x="6761880" y="5294520"/>
            <a:ext cx="139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Phi-3 Mini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Shape 85"/>
          <p:cNvSpPr/>
          <p:nvPr/>
        </p:nvSpPr>
        <p:spPr>
          <a:xfrm>
            <a:off x="8412480" y="5065920"/>
            <a:ext cx="1577160" cy="566640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Text 86"/>
          <p:cNvSpPr/>
          <p:nvPr/>
        </p:nvSpPr>
        <p:spPr>
          <a:xfrm>
            <a:off x="8522280" y="5120640"/>
            <a:ext cx="1394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9" strike="noStrike">
                <a:solidFill>
                  <a:srgbClr val="34d399"/>
                </a:solidFill>
                <a:latin typeface="Calibri"/>
                <a:ea typeface="Calibri"/>
              </a:rPr>
              <a:t>FASTEST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Text 87"/>
          <p:cNvSpPr/>
          <p:nvPr/>
        </p:nvSpPr>
        <p:spPr>
          <a:xfrm>
            <a:off x="8522280" y="5294520"/>
            <a:ext cx="139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SmolLM2 135M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Shape 88"/>
          <p:cNvSpPr/>
          <p:nvPr/>
        </p:nvSpPr>
        <p:spPr>
          <a:xfrm>
            <a:off x="10172880" y="5065920"/>
            <a:ext cx="1577160" cy="566640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1" name="Text 89"/>
          <p:cNvSpPr/>
          <p:nvPr/>
        </p:nvSpPr>
        <p:spPr>
          <a:xfrm>
            <a:off x="10282320" y="5120640"/>
            <a:ext cx="1394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49" strike="noStrike">
                <a:solidFill>
                  <a:srgbClr val="fbbf24"/>
                </a:solidFill>
                <a:latin typeface="Calibri"/>
                <a:ea typeface="Calibri"/>
              </a:rPr>
              <a:t>MOST EFFICIENT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90"/>
          <p:cNvSpPr/>
          <p:nvPr/>
        </p:nvSpPr>
        <p:spPr>
          <a:xfrm>
            <a:off x="10282320" y="5294520"/>
            <a:ext cx="139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TinyLlama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TASK ROUTING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Route Every Task to the Smallest Capable Model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13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Shape 8"/>
          <p:cNvSpPr/>
          <p:nvPr/>
        </p:nvSpPr>
        <p:spPr>
          <a:xfrm>
            <a:off x="457200" y="1600200"/>
            <a:ext cx="3611520" cy="3977280"/>
          </a:xfrm>
          <a:prstGeom prst="roundRect">
            <a:avLst>
              <a:gd name="adj" fmla="val 2025"/>
            </a:avLst>
          </a:prstGeom>
          <a:solidFill>
            <a:srgbClr val="121c30"/>
          </a:solidFill>
          <a:ln w="12700">
            <a:solidFill>
              <a:srgbClr val="34d399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Shape 9"/>
          <p:cNvSpPr/>
          <p:nvPr/>
        </p:nvSpPr>
        <p:spPr>
          <a:xfrm>
            <a:off x="676800" y="1801440"/>
            <a:ext cx="475200" cy="4752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3" name="Image 0" descr="/home/claude/work/icons/zap_white.png"/>
          <p:cNvPicPr/>
          <p:nvPr/>
        </p:nvPicPr>
        <p:blipFill>
          <a:blip r:embed="rId1"/>
          <a:stretch/>
        </p:blipFill>
        <p:spPr>
          <a:xfrm>
            <a:off x="776520" y="190116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074" name="Text 10"/>
          <p:cNvSpPr/>
          <p:nvPr/>
        </p:nvSpPr>
        <p:spPr>
          <a:xfrm>
            <a:off x="1280160" y="1801440"/>
            <a:ext cx="2642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Simple Tasks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Text 11"/>
          <p:cNvSpPr/>
          <p:nvPr/>
        </p:nvSpPr>
        <p:spPr>
          <a:xfrm>
            <a:off x="1280160" y="2057400"/>
            <a:ext cx="2642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34d399"/>
                </a:solidFill>
                <a:latin typeface="Calibri"/>
                <a:ea typeface="Calibri"/>
              </a:rPr>
              <a:t>~20% of workload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6" name="Shape 12"/>
          <p:cNvSpPr/>
          <p:nvPr/>
        </p:nvSpPr>
        <p:spPr>
          <a:xfrm>
            <a:off x="658440" y="2423160"/>
            <a:ext cx="3209040" cy="328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Text 13"/>
          <p:cNvSpPr/>
          <p:nvPr/>
        </p:nvSpPr>
        <p:spPr>
          <a:xfrm>
            <a:off x="658440" y="2423160"/>
            <a:ext cx="3209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49" strike="noStrike">
                <a:solidFill>
                  <a:srgbClr val="34d399"/>
                </a:solidFill>
                <a:latin typeface="Calibri"/>
                <a:ea typeface="Calibri"/>
              </a:rPr>
              <a:t>SmolLM2 (135M / 360M)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Shape 14"/>
          <p:cNvSpPr/>
          <p:nvPr/>
        </p:nvSpPr>
        <p:spPr>
          <a:xfrm>
            <a:off x="694800" y="2953440"/>
            <a:ext cx="63720" cy="6372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Text 15"/>
          <p:cNvSpPr/>
          <p:nvPr/>
        </p:nvSpPr>
        <p:spPr>
          <a:xfrm>
            <a:off x="841320" y="28713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Grammar correction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Shape 16"/>
          <p:cNvSpPr/>
          <p:nvPr/>
        </p:nvSpPr>
        <p:spPr>
          <a:xfrm>
            <a:off x="694800" y="3227760"/>
            <a:ext cx="63720" cy="6372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Text 17"/>
          <p:cNvSpPr/>
          <p:nvPr/>
        </p:nvSpPr>
        <p:spPr>
          <a:xfrm>
            <a:off x="841320" y="314568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Prompt cleanup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2" name="Shape 18"/>
          <p:cNvSpPr/>
          <p:nvPr/>
        </p:nvSpPr>
        <p:spPr>
          <a:xfrm>
            <a:off x="694800" y="3502080"/>
            <a:ext cx="63720" cy="6372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Text 19"/>
          <p:cNvSpPr/>
          <p:nvPr/>
        </p:nvSpPr>
        <p:spPr>
          <a:xfrm>
            <a:off x="841320" y="342000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Intent classification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Shape 20"/>
          <p:cNvSpPr/>
          <p:nvPr/>
        </p:nvSpPr>
        <p:spPr>
          <a:xfrm>
            <a:off x="658440" y="3816720"/>
            <a:ext cx="320904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Text 21"/>
          <p:cNvSpPr/>
          <p:nvPr/>
        </p:nvSpPr>
        <p:spPr>
          <a:xfrm>
            <a:off x="658440" y="3877200"/>
            <a:ext cx="3209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77" strike="noStrike">
                <a:solidFill>
                  <a:srgbClr val="8996ac"/>
                </a:solidFill>
                <a:latin typeface="Calibri"/>
                <a:ea typeface="Calibri"/>
              </a:rPr>
              <a:t>TYPICAL PROFILE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6" name="Shape 22"/>
          <p:cNvSpPr/>
          <p:nvPr/>
        </p:nvSpPr>
        <p:spPr>
          <a:xfrm>
            <a:off x="658440" y="4105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7" name="Text 23"/>
          <p:cNvSpPr/>
          <p:nvPr/>
        </p:nvSpPr>
        <p:spPr>
          <a:xfrm>
            <a:off x="749880" y="416052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CONTEXT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24"/>
          <p:cNvSpPr/>
          <p:nvPr/>
        </p:nvSpPr>
        <p:spPr>
          <a:xfrm>
            <a:off x="749880" y="432504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≤</a:t>
            </a: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4K tokens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Shape 25"/>
          <p:cNvSpPr/>
          <p:nvPr/>
        </p:nvSpPr>
        <p:spPr>
          <a:xfrm>
            <a:off x="2327040" y="4105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0" name="Text 26"/>
          <p:cNvSpPr/>
          <p:nvPr/>
        </p:nvSpPr>
        <p:spPr>
          <a:xfrm>
            <a:off x="2418480" y="416052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EST. COST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1" name="Text 27"/>
          <p:cNvSpPr/>
          <p:nvPr/>
        </p:nvSpPr>
        <p:spPr>
          <a:xfrm>
            <a:off x="2418480" y="432504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$0.02-0.05 /1M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Shape 28"/>
          <p:cNvSpPr/>
          <p:nvPr/>
        </p:nvSpPr>
        <p:spPr>
          <a:xfrm>
            <a:off x="658440" y="4690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29"/>
          <p:cNvSpPr/>
          <p:nvPr/>
        </p:nvSpPr>
        <p:spPr>
          <a:xfrm>
            <a:off x="749880" y="474588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LATENCY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Text 30"/>
          <p:cNvSpPr/>
          <p:nvPr/>
        </p:nvSpPr>
        <p:spPr>
          <a:xfrm>
            <a:off x="749880" y="491040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~50-100ms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5" name="Shape 31"/>
          <p:cNvSpPr/>
          <p:nvPr/>
        </p:nvSpPr>
        <p:spPr>
          <a:xfrm>
            <a:off x="2327040" y="4690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Text 32"/>
          <p:cNvSpPr/>
          <p:nvPr/>
        </p:nvSpPr>
        <p:spPr>
          <a:xfrm>
            <a:off x="2418480" y="474588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LICENSE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7" name="Text 33"/>
          <p:cNvSpPr/>
          <p:nvPr/>
        </p:nvSpPr>
        <p:spPr>
          <a:xfrm>
            <a:off x="2418480" y="491040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Open source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8" name="Shape 34"/>
          <p:cNvSpPr/>
          <p:nvPr/>
        </p:nvSpPr>
        <p:spPr>
          <a:xfrm>
            <a:off x="4096440" y="3579120"/>
            <a:ext cx="63720" cy="1980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9" name="Shape 35"/>
          <p:cNvSpPr/>
          <p:nvPr/>
        </p:nvSpPr>
        <p:spPr>
          <a:xfrm rot="5400000">
            <a:off x="4176000" y="3529800"/>
            <a:ext cx="85320" cy="11844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0" name="Shape 36"/>
          <p:cNvSpPr/>
          <p:nvPr/>
        </p:nvSpPr>
        <p:spPr>
          <a:xfrm>
            <a:off x="4288680" y="1600200"/>
            <a:ext cx="3611520" cy="3977280"/>
          </a:xfrm>
          <a:prstGeom prst="roundRect">
            <a:avLst>
              <a:gd name="adj" fmla="val 2025"/>
            </a:avLst>
          </a:prstGeom>
          <a:solidFill>
            <a:srgbClr val="121c30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" name="Shape 37"/>
          <p:cNvSpPr/>
          <p:nvPr/>
        </p:nvSpPr>
        <p:spPr>
          <a:xfrm>
            <a:off x="4507920" y="1801440"/>
            <a:ext cx="475200" cy="47520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2" name="Image 1" descr="/home/claude/work/icons/cpu_blue.png"/>
          <p:cNvPicPr/>
          <p:nvPr/>
        </p:nvPicPr>
        <p:blipFill>
          <a:blip r:embed="rId2"/>
          <a:stretch/>
        </p:blipFill>
        <p:spPr>
          <a:xfrm>
            <a:off x="4608000" y="190116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103" name="Text 38"/>
          <p:cNvSpPr/>
          <p:nvPr/>
        </p:nvSpPr>
        <p:spPr>
          <a:xfrm>
            <a:off x="5111640" y="1801440"/>
            <a:ext cx="2642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Medium Complexity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4" name="Text 39"/>
          <p:cNvSpPr/>
          <p:nvPr/>
        </p:nvSpPr>
        <p:spPr>
          <a:xfrm>
            <a:off x="5111640" y="2057400"/>
            <a:ext cx="2642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f8ef7"/>
                </a:solidFill>
                <a:latin typeface="Calibri"/>
                <a:ea typeface="Calibri"/>
              </a:rPr>
              <a:t>~50% of workload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5" name="Shape 40"/>
          <p:cNvSpPr/>
          <p:nvPr/>
        </p:nvSpPr>
        <p:spPr>
          <a:xfrm>
            <a:off x="4489560" y="2423160"/>
            <a:ext cx="3209040" cy="328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6" name="Text 41"/>
          <p:cNvSpPr/>
          <p:nvPr/>
        </p:nvSpPr>
        <p:spPr>
          <a:xfrm>
            <a:off x="4489560" y="2423160"/>
            <a:ext cx="3209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49" strike="noStrike">
                <a:solidFill>
                  <a:srgbClr val="4f8ef7"/>
                </a:solidFill>
                <a:latin typeface="Calibri"/>
                <a:ea typeface="Calibri"/>
              </a:rPr>
              <a:t>Phi-3 Mini • Qwen2.5 • Gemma 3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7" name="Shape 42"/>
          <p:cNvSpPr/>
          <p:nvPr/>
        </p:nvSpPr>
        <p:spPr>
          <a:xfrm>
            <a:off x="4526280" y="2953440"/>
            <a:ext cx="63720" cy="637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8" name="Text 43"/>
          <p:cNvSpPr/>
          <p:nvPr/>
        </p:nvSpPr>
        <p:spPr>
          <a:xfrm>
            <a:off x="4672440" y="28713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Log summarization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9" name="Shape 44"/>
          <p:cNvSpPr/>
          <p:nvPr/>
        </p:nvSpPr>
        <p:spPr>
          <a:xfrm>
            <a:off x="4526280" y="3227760"/>
            <a:ext cx="63720" cy="637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0" name="Text 45"/>
          <p:cNvSpPr/>
          <p:nvPr/>
        </p:nvSpPr>
        <p:spPr>
          <a:xfrm>
            <a:off x="4672440" y="314568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Documentation generation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1" name="Shape 46"/>
          <p:cNvSpPr/>
          <p:nvPr/>
        </p:nvSpPr>
        <p:spPr>
          <a:xfrm>
            <a:off x="4526280" y="3502080"/>
            <a:ext cx="63720" cy="6372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Text 47"/>
          <p:cNvSpPr/>
          <p:nvPr/>
        </p:nvSpPr>
        <p:spPr>
          <a:xfrm>
            <a:off x="4672440" y="342000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Code explanation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" name="Shape 48"/>
          <p:cNvSpPr/>
          <p:nvPr/>
        </p:nvSpPr>
        <p:spPr>
          <a:xfrm>
            <a:off x="4489560" y="3816720"/>
            <a:ext cx="320904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Text 49"/>
          <p:cNvSpPr/>
          <p:nvPr/>
        </p:nvSpPr>
        <p:spPr>
          <a:xfrm>
            <a:off x="4489560" y="3877200"/>
            <a:ext cx="3209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77" strike="noStrike">
                <a:solidFill>
                  <a:srgbClr val="8996ac"/>
                </a:solidFill>
                <a:latin typeface="Calibri"/>
                <a:ea typeface="Calibri"/>
              </a:rPr>
              <a:t>TYPICAL PROFILE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5" name="Shape 50"/>
          <p:cNvSpPr/>
          <p:nvPr/>
        </p:nvSpPr>
        <p:spPr>
          <a:xfrm>
            <a:off x="4489560" y="4105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6" name="Text 51"/>
          <p:cNvSpPr/>
          <p:nvPr/>
        </p:nvSpPr>
        <p:spPr>
          <a:xfrm>
            <a:off x="4581000" y="416052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CONTEXT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Text 52"/>
          <p:cNvSpPr/>
          <p:nvPr/>
        </p:nvSpPr>
        <p:spPr>
          <a:xfrm>
            <a:off x="4581000" y="432504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8K-32K tokens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Shape 53"/>
          <p:cNvSpPr/>
          <p:nvPr/>
        </p:nvSpPr>
        <p:spPr>
          <a:xfrm>
            <a:off x="6158520" y="4105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9" name="Text 54"/>
          <p:cNvSpPr/>
          <p:nvPr/>
        </p:nvSpPr>
        <p:spPr>
          <a:xfrm>
            <a:off x="6249960" y="416052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EST. COST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0" name="Text 55"/>
          <p:cNvSpPr/>
          <p:nvPr/>
        </p:nvSpPr>
        <p:spPr>
          <a:xfrm>
            <a:off x="6249960" y="432504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$0.10-0.30 /1M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1" name="Shape 56"/>
          <p:cNvSpPr/>
          <p:nvPr/>
        </p:nvSpPr>
        <p:spPr>
          <a:xfrm>
            <a:off x="4489560" y="4690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Text 57"/>
          <p:cNvSpPr/>
          <p:nvPr/>
        </p:nvSpPr>
        <p:spPr>
          <a:xfrm>
            <a:off x="4581000" y="474588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LATENCY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3" name="Text 58"/>
          <p:cNvSpPr/>
          <p:nvPr/>
        </p:nvSpPr>
        <p:spPr>
          <a:xfrm>
            <a:off x="4581000" y="491040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~200-500ms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" name="Shape 59"/>
          <p:cNvSpPr/>
          <p:nvPr/>
        </p:nvSpPr>
        <p:spPr>
          <a:xfrm>
            <a:off x="6158520" y="4690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5" name="Text 60"/>
          <p:cNvSpPr/>
          <p:nvPr/>
        </p:nvSpPr>
        <p:spPr>
          <a:xfrm>
            <a:off x="6249960" y="474588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LICENSE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Text 61"/>
          <p:cNvSpPr/>
          <p:nvPr/>
        </p:nvSpPr>
        <p:spPr>
          <a:xfrm>
            <a:off x="6249960" y="491040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Mostly open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Shape 62"/>
          <p:cNvSpPr/>
          <p:nvPr/>
        </p:nvSpPr>
        <p:spPr>
          <a:xfrm>
            <a:off x="7927920" y="3579120"/>
            <a:ext cx="63720" cy="19800"/>
          </a:xfrm>
          <a:prstGeom prst="rect">
            <a:avLst/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Shape 63"/>
          <p:cNvSpPr/>
          <p:nvPr/>
        </p:nvSpPr>
        <p:spPr>
          <a:xfrm rot="5400000">
            <a:off x="8007120" y="3529800"/>
            <a:ext cx="85320" cy="118440"/>
          </a:xfrm>
          <a:prstGeom prst="triangle">
            <a:avLst>
              <a:gd name="adj" fmla="val 50000"/>
            </a:avLst>
          </a:prstGeom>
          <a:solidFill>
            <a:srgbClr val="89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0" bIns="14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9" name="Shape 64"/>
          <p:cNvSpPr/>
          <p:nvPr/>
        </p:nvSpPr>
        <p:spPr>
          <a:xfrm>
            <a:off x="8119800" y="1600200"/>
            <a:ext cx="3611520" cy="3977280"/>
          </a:xfrm>
          <a:prstGeom prst="roundRect">
            <a:avLst>
              <a:gd name="adj" fmla="val 2025"/>
            </a:avLst>
          </a:prstGeom>
          <a:solidFill>
            <a:srgbClr val="121c30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Shape 65"/>
          <p:cNvSpPr/>
          <p:nvPr/>
        </p:nvSpPr>
        <p:spPr>
          <a:xfrm>
            <a:off x="8339400" y="1801440"/>
            <a:ext cx="475200" cy="47520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1" name="Image 2" descr="/home/claude/work/icons/layers_purple.png"/>
          <p:cNvPicPr/>
          <p:nvPr/>
        </p:nvPicPr>
        <p:blipFill>
          <a:blip r:embed="rId3"/>
          <a:stretch/>
        </p:blipFill>
        <p:spPr>
          <a:xfrm>
            <a:off x="8439120" y="190116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132" name="Text 66"/>
          <p:cNvSpPr/>
          <p:nvPr/>
        </p:nvSpPr>
        <p:spPr>
          <a:xfrm>
            <a:off x="8942760" y="1801440"/>
            <a:ext cx="2642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High Complexity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" name="Text 67"/>
          <p:cNvSpPr/>
          <p:nvPr/>
        </p:nvSpPr>
        <p:spPr>
          <a:xfrm>
            <a:off x="8942760" y="2057400"/>
            <a:ext cx="2642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a78bfa"/>
                </a:solidFill>
                <a:latin typeface="Calibri"/>
                <a:ea typeface="Calibri"/>
              </a:rPr>
              <a:t>~25% of workload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Shape 68"/>
          <p:cNvSpPr/>
          <p:nvPr/>
        </p:nvSpPr>
        <p:spPr>
          <a:xfrm>
            <a:off x="8321040" y="2423160"/>
            <a:ext cx="3209040" cy="32868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Text 69"/>
          <p:cNvSpPr/>
          <p:nvPr/>
        </p:nvSpPr>
        <p:spPr>
          <a:xfrm>
            <a:off x="8321040" y="2423160"/>
            <a:ext cx="3209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" spc="49" strike="noStrike">
                <a:solidFill>
                  <a:srgbClr val="a78bfa"/>
                </a:solidFill>
                <a:latin typeface="Calibri"/>
                <a:ea typeface="Calibri"/>
              </a:rPr>
              <a:t>Claude • GPT • Gemini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6" name="Shape 70"/>
          <p:cNvSpPr/>
          <p:nvPr/>
        </p:nvSpPr>
        <p:spPr>
          <a:xfrm>
            <a:off x="8357760" y="2953440"/>
            <a:ext cx="63720" cy="637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Text 71"/>
          <p:cNvSpPr/>
          <p:nvPr/>
        </p:nvSpPr>
        <p:spPr>
          <a:xfrm>
            <a:off x="8503920" y="287136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System architecture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" name="Shape 72"/>
          <p:cNvSpPr/>
          <p:nvPr/>
        </p:nvSpPr>
        <p:spPr>
          <a:xfrm>
            <a:off x="8357760" y="3227760"/>
            <a:ext cx="63720" cy="637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Text 73"/>
          <p:cNvSpPr/>
          <p:nvPr/>
        </p:nvSpPr>
        <p:spPr>
          <a:xfrm>
            <a:off x="8503920" y="314568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Security review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Shape 74"/>
          <p:cNvSpPr/>
          <p:nvPr/>
        </p:nvSpPr>
        <p:spPr>
          <a:xfrm>
            <a:off x="8357760" y="3502080"/>
            <a:ext cx="63720" cy="637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Text 75"/>
          <p:cNvSpPr/>
          <p:nvPr/>
        </p:nvSpPr>
        <p:spPr>
          <a:xfrm>
            <a:off x="8503920" y="3420000"/>
            <a:ext cx="302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Multi-file debugging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2" name="Shape 76"/>
          <p:cNvSpPr/>
          <p:nvPr/>
        </p:nvSpPr>
        <p:spPr>
          <a:xfrm>
            <a:off x="8321040" y="3816720"/>
            <a:ext cx="320904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Text 77"/>
          <p:cNvSpPr/>
          <p:nvPr/>
        </p:nvSpPr>
        <p:spPr>
          <a:xfrm>
            <a:off x="8321040" y="3877200"/>
            <a:ext cx="3209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77" strike="noStrike">
                <a:solidFill>
                  <a:srgbClr val="8996ac"/>
                </a:solidFill>
                <a:latin typeface="Calibri"/>
                <a:ea typeface="Calibri"/>
              </a:rPr>
              <a:t>TYPICAL PROFILE</a:t>
            </a:r>
            <a:endParaRPr b="0" lang="en-US" sz="7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Shape 78"/>
          <p:cNvSpPr/>
          <p:nvPr/>
        </p:nvSpPr>
        <p:spPr>
          <a:xfrm>
            <a:off x="8321040" y="4105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5" name="Text 79"/>
          <p:cNvSpPr/>
          <p:nvPr/>
        </p:nvSpPr>
        <p:spPr>
          <a:xfrm>
            <a:off x="8412480" y="416052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CONTEXT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6" name="Text 80"/>
          <p:cNvSpPr/>
          <p:nvPr/>
        </p:nvSpPr>
        <p:spPr>
          <a:xfrm>
            <a:off x="8412480" y="432504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200K+ tokens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Shape 81"/>
          <p:cNvSpPr/>
          <p:nvPr/>
        </p:nvSpPr>
        <p:spPr>
          <a:xfrm>
            <a:off x="9990000" y="4105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Text 82"/>
          <p:cNvSpPr/>
          <p:nvPr/>
        </p:nvSpPr>
        <p:spPr>
          <a:xfrm>
            <a:off x="10081440" y="416052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EST. COST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Text 83"/>
          <p:cNvSpPr/>
          <p:nvPr/>
        </p:nvSpPr>
        <p:spPr>
          <a:xfrm>
            <a:off x="10081440" y="432504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$3-15 /1M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0" name="Shape 84"/>
          <p:cNvSpPr/>
          <p:nvPr/>
        </p:nvSpPr>
        <p:spPr>
          <a:xfrm>
            <a:off x="8321040" y="4690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Text 85"/>
          <p:cNvSpPr/>
          <p:nvPr/>
        </p:nvSpPr>
        <p:spPr>
          <a:xfrm>
            <a:off x="8412480" y="474588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LATENCY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Text 86"/>
          <p:cNvSpPr/>
          <p:nvPr/>
        </p:nvSpPr>
        <p:spPr>
          <a:xfrm>
            <a:off x="8412480" y="491040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~1-3s+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Shape 87"/>
          <p:cNvSpPr/>
          <p:nvPr/>
        </p:nvSpPr>
        <p:spPr>
          <a:xfrm>
            <a:off x="9990000" y="4690800"/>
            <a:ext cx="1540440" cy="511560"/>
          </a:xfrm>
          <a:prstGeom prst="roundRect">
            <a:avLst>
              <a:gd name="adj" fmla="val 8929"/>
            </a:avLst>
          </a:prstGeom>
          <a:solidFill>
            <a:srgbClr val="17233a"/>
          </a:solidFill>
          <a:ln w="12700">
            <a:solidFill>
              <a:srgbClr val="1e29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Text 88"/>
          <p:cNvSpPr/>
          <p:nvPr/>
        </p:nvSpPr>
        <p:spPr>
          <a:xfrm>
            <a:off x="10081440" y="4745880"/>
            <a:ext cx="135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pc="49" strike="noStrike">
                <a:solidFill>
                  <a:srgbClr val="8996ac"/>
                </a:solidFill>
                <a:latin typeface="Calibri"/>
                <a:ea typeface="Calibri"/>
              </a:rPr>
              <a:t>LICENSE</a:t>
            </a:r>
            <a:endParaRPr b="0" lang="en-US" sz="6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Text 89"/>
          <p:cNvSpPr/>
          <p:nvPr/>
        </p:nvSpPr>
        <p:spPr>
          <a:xfrm>
            <a:off x="10081440" y="4910400"/>
            <a:ext cx="1357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ce4f0"/>
                </a:solidFill>
                <a:latin typeface="Calibri"/>
                <a:ea typeface="Calibri"/>
              </a:rPr>
              <a:t>Proprietary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Text 90"/>
          <p:cNvSpPr/>
          <p:nvPr/>
        </p:nvSpPr>
        <p:spPr>
          <a:xfrm>
            <a:off x="457200" y="576072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996ac"/>
                </a:solidFill>
                <a:latin typeface="Calibri"/>
                <a:ea typeface="Calibri"/>
              </a:rPr>
              <a:t>A complexity-analysis layer classifies every request before selecting a model — escalating only when genuinely necessary. Figures above are representative ranges.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0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REFERENCE ARCHITECTURE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Text 4"/>
          <p:cNvSpPr/>
          <p:nvPr/>
        </p:nvSpPr>
        <p:spPr>
          <a:xfrm>
            <a:off x="457200" y="658440"/>
            <a:ext cx="1129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The Complete Cost-Optimized Pipeline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Text 5"/>
          <p:cNvSpPr/>
          <p:nvPr/>
        </p:nvSpPr>
        <p:spPr>
          <a:xfrm>
            <a:off x="457200" y="1115640"/>
            <a:ext cx="11292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8996ac"/>
                </a:solidFill>
                <a:latin typeface="Calibri"/>
                <a:ea typeface="Calibri"/>
              </a:rPr>
              <a:t>Only complex tasks reach premium models.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Shape 6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Text 7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5" name="Text 8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14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Shape 9"/>
          <p:cNvSpPr/>
          <p:nvPr/>
        </p:nvSpPr>
        <p:spPr>
          <a:xfrm>
            <a:off x="1965960" y="1965960"/>
            <a:ext cx="822924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8996a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Shape 10"/>
          <p:cNvSpPr/>
          <p:nvPr/>
        </p:nvSpPr>
        <p:spPr>
          <a:xfrm>
            <a:off x="2075760" y="2039040"/>
            <a:ext cx="383760" cy="383760"/>
          </a:xfrm>
          <a:prstGeom prst="ellipse">
            <a:avLst/>
          </a:prstGeom>
          <a:solidFill>
            <a:srgbClr val="8996ac">
              <a:alpha val="24000"/>
            </a:srgbClr>
          </a:solidFill>
          <a:ln w="15875">
            <a:solidFill>
              <a:srgbClr val="899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8" name="Image 0" descr="/home/claude/work/icons/user_blue.png"/>
          <p:cNvPicPr/>
          <p:nvPr/>
        </p:nvPicPr>
        <p:blipFill>
          <a:blip r:embed="rId1"/>
          <a:stretch/>
        </p:blipFill>
        <p:spPr>
          <a:xfrm>
            <a:off x="2156400" y="2119680"/>
            <a:ext cx="222480" cy="222480"/>
          </a:xfrm>
          <a:prstGeom prst="rect">
            <a:avLst/>
          </a:prstGeom>
          <a:ln w="0">
            <a:noFill/>
          </a:ln>
        </p:spPr>
      </p:pic>
      <p:sp>
        <p:nvSpPr>
          <p:cNvPr id="1169" name="Text 11"/>
          <p:cNvSpPr/>
          <p:nvPr/>
        </p:nvSpPr>
        <p:spPr>
          <a:xfrm>
            <a:off x="2560320" y="199332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Developer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0" name="Text 12"/>
          <p:cNvSpPr/>
          <p:nvPr/>
        </p:nvSpPr>
        <p:spPr>
          <a:xfrm>
            <a:off x="5349240" y="1993320"/>
            <a:ext cx="4708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996ac"/>
                </a:solidFill>
                <a:latin typeface="Calibri"/>
                <a:ea typeface="Calibri"/>
              </a:rPr>
              <a:t>Sends request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Shape 13"/>
          <p:cNvSpPr/>
          <p:nvPr/>
        </p:nvSpPr>
        <p:spPr>
          <a:xfrm>
            <a:off x="6071760" y="2509920"/>
            <a:ext cx="18000" cy="1332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14"/>
          <p:cNvSpPr/>
          <p:nvPr/>
        </p:nvSpPr>
        <p:spPr>
          <a:xfrm rot="10800000">
            <a:off x="6021720" y="253908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15"/>
          <p:cNvSpPr/>
          <p:nvPr/>
        </p:nvSpPr>
        <p:spPr>
          <a:xfrm>
            <a:off x="1965960" y="2638080"/>
            <a:ext cx="822924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34d399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Shape 16"/>
          <p:cNvSpPr/>
          <p:nvPr/>
        </p:nvSpPr>
        <p:spPr>
          <a:xfrm>
            <a:off x="2075760" y="2711160"/>
            <a:ext cx="383760" cy="38376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5" name="Image 1" descr="/home/claude/work/icons/cpu_white.png"/>
          <p:cNvPicPr/>
          <p:nvPr/>
        </p:nvPicPr>
        <p:blipFill>
          <a:blip r:embed="rId2"/>
          <a:stretch/>
        </p:blipFill>
        <p:spPr>
          <a:xfrm>
            <a:off x="2156400" y="2791800"/>
            <a:ext cx="222480" cy="222480"/>
          </a:xfrm>
          <a:prstGeom prst="rect">
            <a:avLst/>
          </a:prstGeom>
          <a:ln w="0">
            <a:noFill/>
          </a:ln>
        </p:spPr>
      </p:pic>
      <p:sp>
        <p:nvSpPr>
          <p:cNvPr id="1176" name="Text 17"/>
          <p:cNvSpPr/>
          <p:nvPr/>
        </p:nvSpPr>
        <p:spPr>
          <a:xfrm>
            <a:off x="2560320" y="266544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Small Language Models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Text 18"/>
          <p:cNvSpPr/>
          <p:nvPr/>
        </p:nvSpPr>
        <p:spPr>
          <a:xfrm>
            <a:off x="4572000" y="2665440"/>
            <a:ext cx="342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996ac"/>
                </a:solidFill>
                <a:latin typeface="Calibri"/>
                <a:ea typeface="Calibri"/>
              </a:rPr>
              <a:t>SmolLM2 — prompt cleaning, classification, routing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8" name="Shape 19"/>
          <p:cNvSpPr/>
          <p:nvPr/>
        </p:nvSpPr>
        <p:spPr>
          <a:xfrm>
            <a:off x="8641080" y="2775240"/>
            <a:ext cx="1416960" cy="25560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9" name="Text 20"/>
          <p:cNvSpPr/>
          <p:nvPr/>
        </p:nvSpPr>
        <p:spPr>
          <a:xfrm>
            <a:off x="8641080" y="277524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49" strike="noStrike">
                <a:solidFill>
                  <a:srgbClr val="34d399"/>
                </a:solidFill>
                <a:latin typeface="Calibri"/>
                <a:ea typeface="Calibri"/>
              </a:rPr>
              <a:t>-40% tokens forwarded</a:t>
            </a:r>
            <a:endParaRPr b="0" lang="en-US" sz="7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0" name="Shape 21"/>
          <p:cNvSpPr/>
          <p:nvPr/>
        </p:nvSpPr>
        <p:spPr>
          <a:xfrm>
            <a:off x="6071760" y="3182040"/>
            <a:ext cx="18000" cy="1332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22"/>
          <p:cNvSpPr/>
          <p:nvPr/>
        </p:nvSpPr>
        <p:spPr>
          <a:xfrm rot="10800000">
            <a:off x="6021720" y="321120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23"/>
          <p:cNvSpPr/>
          <p:nvPr/>
        </p:nvSpPr>
        <p:spPr>
          <a:xfrm>
            <a:off x="1965960" y="3310200"/>
            <a:ext cx="822924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34d399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" name="Shape 24"/>
          <p:cNvSpPr/>
          <p:nvPr/>
        </p:nvSpPr>
        <p:spPr>
          <a:xfrm>
            <a:off x="2075760" y="3383280"/>
            <a:ext cx="383760" cy="38376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4" name="Image 2" descr="/home/claude/work/icons/filter_white.png"/>
          <p:cNvPicPr/>
          <p:nvPr/>
        </p:nvPicPr>
        <p:blipFill>
          <a:blip r:embed="rId3"/>
          <a:stretch/>
        </p:blipFill>
        <p:spPr>
          <a:xfrm>
            <a:off x="2156400" y="3463920"/>
            <a:ext cx="222480" cy="222480"/>
          </a:xfrm>
          <a:prstGeom prst="rect">
            <a:avLst/>
          </a:prstGeom>
          <a:ln w="0">
            <a:noFill/>
          </a:ln>
        </p:spPr>
      </p:pic>
      <p:sp>
        <p:nvSpPr>
          <p:cNvPr id="1185" name="Text 25"/>
          <p:cNvSpPr/>
          <p:nvPr/>
        </p:nvSpPr>
        <p:spPr>
          <a:xfrm>
            <a:off x="2560320" y="333756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Phi-3 Mini / Qwen2.5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6" name="Text 26"/>
          <p:cNvSpPr/>
          <p:nvPr/>
        </p:nvSpPr>
        <p:spPr>
          <a:xfrm>
            <a:off x="4572000" y="3337560"/>
            <a:ext cx="342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996ac"/>
                </a:solidFill>
                <a:latin typeface="Calibri"/>
                <a:ea typeface="Calibri"/>
              </a:rPr>
              <a:t>Log analysis, summarization, code understanding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Shape 27"/>
          <p:cNvSpPr/>
          <p:nvPr/>
        </p:nvSpPr>
        <p:spPr>
          <a:xfrm>
            <a:off x="8641080" y="3447360"/>
            <a:ext cx="1416960" cy="25560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8" name="Text 28"/>
          <p:cNvSpPr/>
          <p:nvPr/>
        </p:nvSpPr>
        <p:spPr>
          <a:xfrm>
            <a:off x="8641080" y="34473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49" strike="noStrike">
                <a:solidFill>
                  <a:srgbClr val="34d399"/>
                </a:solidFill>
                <a:latin typeface="Calibri"/>
                <a:ea typeface="Calibri"/>
              </a:rPr>
              <a:t>-65% tokens forwarded</a:t>
            </a:r>
            <a:endParaRPr b="0" lang="en-US" sz="7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9" name="Shape 29"/>
          <p:cNvSpPr/>
          <p:nvPr/>
        </p:nvSpPr>
        <p:spPr>
          <a:xfrm>
            <a:off x="6071760" y="3854160"/>
            <a:ext cx="18000" cy="1332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30"/>
          <p:cNvSpPr/>
          <p:nvPr/>
        </p:nvSpPr>
        <p:spPr>
          <a:xfrm rot="10800000">
            <a:off x="6021720" y="3883320"/>
            <a:ext cx="118440" cy="85320"/>
          </a:xfrm>
          <a:prstGeom prst="triangle">
            <a:avLst>
              <a:gd name="adj" fmla="val 50000"/>
            </a:avLst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31"/>
          <p:cNvSpPr/>
          <p:nvPr/>
        </p:nvSpPr>
        <p:spPr>
          <a:xfrm>
            <a:off x="1965960" y="3982320"/>
            <a:ext cx="822924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2" name="Shape 32"/>
          <p:cNvSpPr/>
          <p:nvPr/>
        </p:nvSpPr>
        <p:spPr>
          <a:xfrm>
            <a:off x="2075760" y="4055400"/>
            <a:ext cx="383760" cy="38376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93" name="Image 3" descr="/home/claude/work/icons/layers_blue.png"/>
          <p:cNvPicPr/>
          <p:nvPr/>
        </p:nvPicPr>
        <p:blipFill>
          <a:blip r:embed="rId4"/>
          <a:stretch/>
        </p:blipFill>
        <p:spPr>
          <a:xfrm>
            <a:off x="2156400" y="4136040"/>
            <a:ext cx="222480" cy="222480"/>
          </a:xfrm>
          <a:prstGeom prst="rect">
            <a:avLst/>
          </a:prstGeom>
          <a:ln w="0">
            <a:noFill/>
          </a:ln>
        </p:spPr>
      </p:pic>
      <p:sp>
        <p:nvSpPr>
          <p:cNvPr id="1194" name="Text 33"/>
          <p:cNvSpPr/>
          <p:nvPr/>
        </p:nvSpPr>
        <p:spPr>
          <a:xfrm>
            <a:off x="2560320" y="400968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Headroom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Text 34"/>
          <p:cNvSpPr/>
          <p:nvPr/>
        </p:nvSpPr>
        <p:spPr>
          <a:xfrm>
            <a:off x="4572000" y="4009680"/>
            <a:ext cx="342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996ac"/>
                </a:solidFill>
                <a:latin typeface="Calibri"/>
                <a:ea typeface="Calibri"/>
              </a:rPr>
              <a:t>Context compression, memory, output optimization, cache alignment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6" name="Shape 35"/>
          <p:cNvSpPr/>
          <p:nvPr/>
        </p:nvSpPr>
        <p:spPr>
          <a:xfrm>
            <a:off x="8641080" y="4119480"/>
            <a:ext cx="1416960" cy="25560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7" name="Text 36"/>
          <p:cNvSpPr/>
          <p:nvPr/>
        </p:nvSpPr>
        <p:spPr>
          <a:xfrm>
            <a:off x="8641080" y="411948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49" strike="noStrike">
                <a:solidFill>
                  <a:srgbClr val="4f8ef7"/>
                </a:solidFill>
                <a:latin typeface="Calibri"/>
                <a:ea typeface="Calibri"/>
              </a:rPr>
              <a:t>-80% tokens forwarded</a:t>
            </a:r>
            <a:endParaRPr b="0" lang="en-US" sz="7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8" name="Shape 37"/>
          <p:cNvSpPr/>
          <p:nvPr/>
        </p:nvSpPr>
        <p:spPr>
          <a:xfrm>
            <a:off x="6071760" y="4526280"/>
            <a:ext cx="18000" cy="1332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9" name="Shape 38"/>
          <p:cNvSpPr/>
          <p:nvPr/>
        </p:nvSpPr>
        <p:spPr>
          <a:xfrm rot="10800000">
            <a:off x="6021720" y="4555440"/>
            <a:ext cx="118440" cy="8532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0" name="Shape 39"/>
          <p:cNvSpPr/>
          <p:nvPr/>
        </p:nvSpPr>
        <p:spPr>
          <a:xfrm>
            <a:off x="1965960" y="4654440"/>
            <a:ext cx="8229240" cy="529920"/>
          </a:xfrm>
          <a:prstGeom prst="roundRect">
            <a:avLst>
              <a:gd name="adj" fmla="val 13793"/>
            </a:avLst>
          </a:prstGeom>
          <a:solidFill>
            <a:srgbClr val="121c30"/>
          </a:solidFill>
          <a:ln w="12700">
            <a:solidFill>
              <a:srgbClr val="38bdf8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1" name="Shape 40"/>
          <p:cNvSpPr/>
          <p:nvPr/>
        </p:nvSpPr>
        <p:spPr>
          <a:xfrm>
            <a:off x="2075760" y="4727520"/>
            <a:ext cx="383760" cy="383760"/>
          </a:xfrm>
          <a:prstGeom prst="ellipse">
            <a:avLst/>
          </a:prstGeom>
          <a:solidFill>
            <a:srgbClr val="38bdf8">
              <a:alpha val="24000"/>
            </a:srgbClr>
          </a:solidFill>
          <a:ln w="1587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2" name="Image 4" descr="/home/claude/work/icons/share_sky.png"/>
          <p:cNvPicPr/>
          <p:nvPr/>
        </p:nvPicPr>
        <p:blipFill>
          <a:blip r:embed="rId5"/>
          <a:stretch/>
        </p:blipFill>
        <p:spPr>
          <a:xfrm>
            <a:off x="2156400" y="4808160"/>
            <a:ext cx="222480" cy="222480"/>
          </a:xfrm>
          <a:prstGeom prst="rect">
            <a:avLst/>
          </a:prstGeom>
          <a:ln w="0">
            <a:noFill/>
          </a:ln>
        </p:spPr>
      </p:pic>
      <p:sp>
        <p:nvSpPr>
          <p:cNvPr id="1203" name="Text 41"/>
          <p:cNvSpPr/>
          <p:nvPr/>
        </p:nvSpPr>
        <p:spPr>
          <a:xfrm>
            <a:off x="2560320" y="468180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LiteLLM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4" name="Text 42"/>
          <p:cNvSpPr/>
          <p:nvPr/>
        </p:nvSpPr>
        <p:spPr>
          <a:xfrm>
            <a:off x="4800600" y="4681800"/>
            <a:ext cx="2743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996ac"/>
                </a:solidFill>
                <a:latin typeface="Calibri"/>
                <a:ea typeface="Calibri"/>
              </a:rPr>
              <a:t>Routing, caching, provider management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5" name="Shape 43"/>
          <p:cNvSpPr/>
          <p:nvPr/>
        </p:nvSpPr>
        <p:spPr>
          <a:xfrm>
            <a:off x="8641080" y="4791600"/>
            <a:ext cx="1416960" cy="25560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" name="Text 44"/>
          <p:cNvSpPr/>
          <p:nvPr/>
        </p:nvSpPr>
        <p:spPr>
          <a:xfrm>
            <a:off x="8641080" y="479160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49" strike="noStrike">
                <a:solidFill>
                  <a:srgbClr val="38bdf8"/>
                </a:solidFill>
                <a:latin typeface="Calibri"/>
                <a:ea typeface="Calibri"/>
              </a:rPr>
              <a:t>Fewer duplicate calls</a:t>
            </a:r>
            <a:endParaRPr b="0" lang="en-US" sz="7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7" name="Shape 45"/>
          <p:cNvSpPr/>
          <p:nvPr/>
        </p:nvSpPr>
        <p:spPr>
          <a:xfrm>
            <a:off x="6071760" y="5198400"/>
            <a:ext cx="18000" cy="13320"/>
          </a:xfrm>
          <a:prstGeom prst="rect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8" name="Shape 46"/>
          <p:cNvSpPr/>
          <p:nvPr/>
        </p:nvSpPr>
        <p:spPr>
          <a:xfrm rot="10800000">
            <a:off x="6021720" y="5227200"/>
            <a:ext cx="118440" cy="85320"/>
          </a:xfrm>
          <a:prstGeom prst="triangle">
            <a:avLst>
              <a:gd name="adj" fmla="val 50000"/>
            </a:avLst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9" name="Shape 47"/>
          <p:cNvSpPr/>
          <p:nvPr/>
        </p:nvSpPr>
        <p:spPr>
          <a:xfrm>
            <a:off x="1965960" y="5326560"/>
            <a:ext cx="8229240" cy="529920"/>
          </a:xfrm>
          <a:prstGeom prst="roundRect">
            <a:avLst>
              <a:gd name="adj" fmla="val 13793"/>
            </a:avLst>
          </a:prstGeom>
          <a:solidFill>
            <a:srgbClr val="1b2740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0" name="Shape 48"/>
          <p:cNvSpPr/>
          <p:nvPr/>
        </p:nvSpPr>
        <p:spPr>
          <a:xfrm>
            <a:off x="2075760" y="5399640"/>
            <a:ext cx="383760" cy="38376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1" name="Image 5" descr="/home/claude/work/icons/target_purple.png"/>
          <p:cNvPicPr/>
          <p:nvPr/>
        </p:nvPicPr>
        <p:blipFill>
          <a:blip r:embed="rId6"/>
          <a:stretch/>
        </p:blipFill>
        <p:spPr>
          <a:xfrm>
            <a:off x="2156400" y="5480280"/>
            <a:ext cx="222480" cy="222480"/>
          </a:xfrm>
          <a:prstGeom prst="rect">
            <a:avLst/>
          </a:prstGeom>
          <a:ln w="0">
            <a:noFill/>
          </a:ln>
        </p:spPr>
      </p:pic>
      <p:sp>
        <p:nvSpPr>
          <p:cNvPr id="1212" name="Text 49"/>
          <p:cNvSpPr/>
          <p:nvPr/>
        </p:nvSpPr>
        <p:spPr>
          <a:xfrm>
            <a:off x="2560320" y="535392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Claude / GPT / Gemini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3" name="Text 50"/>
          <p:cNvSpPr/>
          <p:nvPr/>
        </p:nvSpPr>
        <p:spPr>
          <a:xfrm>
            <a:off x="4572000" y="5353920"/>
            <a:ext cx="3200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996ac"/>
                </a:solidFill>
                <a:latin typeface="Calibri"/>
                <a:ea typeface="Calibri"/>
              </a:rPr>
              <a:t>Premium reasoning — only when required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4" name="Shape 51"/>
          <p:cNvSpPr/>
          <p:nvPr/>
        </p:nvSpPr>
        <p:spPr>
          <a:xfrm>
            <a:off x="8641080" y="5463720"/>
            <a:ext cx="1416960" cy="25560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5" name="Text 52"/>
          <p:cNvSpPr/>
          <p:nvPr/>
        </p:nvSpPr>
        <p:spPr>
          <a:xfrm>
            <a:off x="8641080" y="546372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49" strike="noStrike">
                <a:solidFill>
                  <a:srgbClr val="a78bfa"/>
                </a:solidFill>
                <a:latin typeface="Calibri"/>
                <a:ea typeface="Calibri"/>
              </a:rPr>
              <a:t>~25% of all requests</a:t>
            </a:r>
            <a:endParaRPr b="0" lang="en-US" sz="76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Shape 0"/>
          <p:cNvSpPr/>
          <p:nvPr/>
        </p:nvSpPr>
        <p:spPr>
          <a:xfrm>
            <a:off x="10058400" y="-1645920"/>
            <a:ext cx="4023000" cy="4023000"/>
          </a:xfrm>
          <a:prstGeom prst="ellipse">
            <a:avLst/>
          </a:prstGeom>
          <a:solidFill>
            <a:srgbClr val="4f8ef7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" name="Shape 1"/>
          <p:cNvSpPr/>
          <p:nvPr/>
        </p:nvSpPr>
        <p:spPr>
          <a:xfrm>
            <a:off x="-1645920" y="5760720"/>
            <a:ext cx="3474360" cy="3474360"/>
          </a:xfrm>
          <a:prstGeom prst="ellipse">
            <a:avLst/>
          </a:prstGeom>
          <a:solidFill>
            <a:srgbClr val="a78bfa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2"/>
          <p:cNvSpPr/>
          <p:nvPr/>
        </p:nvSpPr>
        <p:spPr>
          <a:xfrm>
            <a:off x="457200" y="402480"/>
            <a:ext cx="109440" cy="109440"/>
          </a:xfrm>
          <a:prstGeom prst="ellipse">
            <a:avLst/>
          </a:prstGeom>
          <a:solidFill>
            <a:srgbClr val="4f8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9" name="Text 3"/>
          <p:cNvSpPr/>
          <p:nvPr/>
        </p:nvSpPr>
        <p:spPr>
          <a:xfrm>
            <a:off x="658440" y="31104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4f8ef7"/>
                </a:solidFill>
                <a:latin typeface="Calibri"/>
                <a:ea typeface="Calibri"/>
              </a:rPr>
              <a:t>CONCLUSION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0" name="Text 4"/>
          <p:cNvSpPr/>
          <p:nvPr/>
        </p:nvSpPr>
        <p:spPr>
          <a:xfrm>
            <a:off x="457200" y="658440"/>
            <a:ext cx="11292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1" name="Shape 5"/>
          <p:cNvSpPr/>
          <p:nvPr/>
        </p:nvSpPr>
        <p:spPr>
          <a:xfrm>
            <a:off x="457200" y="6468480"/>
            <a:ext cx="11274120" cy="10440"/>
          </a:xfrm>
          <a:prstGeom prst="rect">
            <a:avLst/>
          </a:prstGeom>
          <a:solidFill>
            <a:srgbClr val="2733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2" name="Text 6"/>
          <p:cNvSpPr/>
          <p:nvPr/>
        </p:nvSpPr>
        <p:spPr>
          <a:xfrm>
            <a:off x="457200" y="6528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58" strike="noStrike">
                <a:solidFill>
                  <a:srgbClr val="8996ac"/>
                </a:solidFill>
                <a:latin typeface="Calibri"/>
                <a:ea typeface="Calibri"/>
              </a:rPr>
              <a:t>OPTIMIZING LLM COST &amp; RESOURCE UTILIZATION  •  HEADROOM + SLM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3" name="Text 7"/>
          <p:cNvSpPr/>
          <p:nvPr/>
        </p:nvSpPr>
        <p:spPr>
          <a:xfrm>
            <a:off x="10817280" y="65289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996ac"/>
                </a:solidFill>
                <a:latin typeface="Calibri"/>
                <a:ea typeface="Calibri"/>
              </a:rPr>
              <a:t>15 / 15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" name="Shape 8"/>
          <p:cNvSpPr/>
          <p:nvPr/>
        </p:nvSpPr>
        <p:spPr>
          <a:xfrm>
            <a:off x="457200" y="1600200"/>
            <a:ext cx="2148480" cy="2742840"/>
          </a:xfrm>
          <a:prstGeom prst="roundRect">
            <a:avLst>
              <a:gd name="adj" fmla="val 3404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" name="Shape 9"/>
          <p:cNvSpPr/>
          <p:nvPr/>
        </p:nvSpPr>
        <p:spPr>
          <a:xfrm>
            <a:off x="640080" y="1783080"/>
            <a:ext cx="475200" cy="47520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26" name="Image 0" descr="/home/claude/work/icons/target_blue.png"/>
          <p:cNvPicPr/>
          <p:nvPr/>
        </p:nvPicPr>
        <p:blipFill>
          <a:blip r:embed="rId1"/>
          <a:stretch/>
        </p:blipFill>
        <p:spPr>
          <a:xfrm>
            <a:off x="739800" y="18828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227" name="Text 10"/>
          <p:cNvSpPr/>
          <p:nvPr/>
        </p:nvSpPr>
        <p:spPr>
          <a:xfrm>
            <a:off x="1920240" y="17463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7334c"/>
                </a:solidFill>
                <a:latin typeface="Calibri"/>
                <a:ea typeface="Calibri"/>
              </a:rPr>
              <a:t>01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" name="Text 11"/>
          <p:cNvSpPr/>
          <p:nvPr/>
        </p:nvSpPr>
        <p:spPr>
          <a:xfrm>
            <a:off x="621720" y="2404800"/>
            <a:ext cx="1819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f8ef7"/>
                </a:solidFill>
                <a:latin typeface="Calibri"/>
                <a:ea typeface="Calibri"/>
              </a:rPr>
              <a:t>Don't lead with premium LLMs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9" name="Text 12"/>
          <p:cNvSpPr/>
          <p:nvPr/>
        </p:nvSpPr>
        <p:spPr>
          <a:xfrm>
            <a:off x="621720" y="3081600"/>
            <a:ext cx="181944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25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Reserve them for advanced reasoning, long-context understanding, and complex code generation.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0" name="Shape 13"/>
          <p:cNvSpPr/>
          <p:nvPr/>
        </p:nvSpPr>
        <p:spPr>
          <a:xfrm>
            <a:off x="2761560" y="1600200"/>
            <a:ext cx="2148480" cy="2742840"/>
          </a:xfrm>
          <a:prstGeom prst="roundRect">
            <a:avLst>
              <a:gd name="adj" fmla="val 3404"/>
            </a:avLst>
          </a:prstGeom>
          <a:solidFill>
            <a:srgbClr val="121c30"/>
          </a:solidFill>
          <a:ln w="12700">
            <a:solidFill>
              <a:srgbClr val="34d399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1" name="Shape 14"/>
          <p:cNvSpPr/>
          <p:nvPr/>
        </p:nvSpPr>
        <p:spPr>
          <a:xfrm>
            <a:off x="2944440" y="1783080"/>
            <a:ext cx="475200" cy="475200"/>
          </a:xfrm>
          <a:prstGeom prst="ellipse">
            <a:avLst/>
          </a:prstGeom>
          <a:solidFill>
            <a:srgbClr val="34d399">
              <a:alpha val="24000"/>
            </a:srgbClr>
          </a:solidFill>
          <a:ln w="15875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2" name="Image 1" descr="/home/claude/work/icons/cpu_white.png"/>
          <p:cNvPicPr/>
          <p:nvPr/>
        </p:nvPicPr>
        <p:blipFill>
          <a:blip r:embed="rId2"/>
          <a:stretch/>
        </p:blipFill>
        <p:spPr>
          <a:xfrm>
            <a:off x="3044160" y="18828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233" name="Text 15"/>
          <p:cNvSpPr/>
          <p:nvPr/>
        </p:nvSpPr>
        <p:spPr>
          <a:xfrm>
            <a:off x="4224600" y="17463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7334c"/>
                </a:solidFill>
                <a:latin typeface="Calibri"/>
                <a:ea typeface="Calibri"/>
              </a:rPr>
              <a:t>02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4" name="Text 16"/>
          <p:cNvSpPr/>
          <p:nvPr/>
        </p:nvSpPr>
        <p:spPr>
          <a:xfrm>
            <a:off x="2926080" y="2404800"/>
            <a:ext cx="1819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  <a:ea typeface="Calibri"/>
              </a:rPr>
              <a:t>Deploy SLMs as preprocessing engines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5" name="Text 17"/>
          <p:cNvSpPr/>
          <p:nvPr/>
        </p:nvSpPr>
        <p:spPr>
          <a:xfrm>
            <a:off x="2926080" y="3081600"/>
            <a:ext cx="181944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25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SmolLM2 and Phi-3 Mini can classify, summarize, and filter before anything escalates.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6" name="Shape 18"/>
          <p:cNvSpPr/>
          <p:nvPr/>
        </p:nvSpPr>
        <p:spPr>
          <a:xfrm>
            <a:off x="5065920" y="1600200"/>
            <a:ext cx="2148480" cy="2742840"/>
          </a:xfrm>
          <a:prstGeom prst="roundRect">
            <a:avLst>
              <a:gd name="adj" fmla="val 3404"/>
            </a:avLst>
          </a:prstGeom>
          <a:solidFill>
            <a:srgbClr val="121c30"/>
          </a:solidFill>
          <a:ln w="12700">
            <a:solidFill>
              <a:srgbClr val="a78bf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7" name="Shape 19"/>
          <p:cNvSpPr/>
          <p:nvPr/>
        </p:nvSpPr>
        <p:spPr>
          <a:xfrm>
            <a:off x="5248800" y="1783080"/>
            <a:ext cx="475200" cy="475200"/>
          </a:xfrm>
          <a:prstGeom prst="ellipse">
            <a:avLst/>
          </a:prstGeom>
          <a:solidFill>
            <a:srgbClr val="a78bfa">
              <a:alpha val="24000"/>
            </a:srgbClr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8" name="Image 2" descr="/home/claude/work/icons/layers_purple.png"/>
          <p:cNvPicPr/>
          <p:nvPr/>
        </p:nvPicPr>
        <p:blipFill>
          <a:blip r:embed="rId3"/>
          <a:stretch/>
        </p:blipFill>
        <p:spPr>
          <a:xfrm>
            <a:off x="5348520" y="18828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239" name="Text 20"/>
          <p:cNvSpPr/>
          <p:nvPr/>
        </p:nvSpPr>
        <p:spPr>
          <a:xfrm>
            <a:off x="6528960" y="17463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7334c"/>
                </a:solidFill>
                <a:latin typeface="Calibri"/>
                <a:ea typeface="Calibri"/>
              </a:rPr>
              <a:t>03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0" name="Text 21"/>
          <p:cNvSpPr/>
          <p:nvPr/>
        </p:nvSpPr>
        <p:spPr>
          <a:xfrm>
            <a:off x="5230440" y="2404800"/>
            <a:ext cx="1983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  <a:ea typeface="Calibri"/>
              </a:rPr>
              <a:t>Use specialized optimization middleware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1" name="Text 22"/>
          <p:cNvSpPr/>
          <p:nvPr/>
        </p:nvSpPr>
        <p:spPr>
          <a:xfrm>
            <a:off x="5230440" y="3081600"/>
            <a:ext cx="181944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25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Headroom, or a best-of-breed stack of LLMLingua + Mem0 + LiteLLM + LlamaIndex.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Shape 23"/>
          <p:cNvSpPr/>
          <p:nvPr/>
        </p:nvSpPr>
        <p:spPr>
          <a:xfrm>
            <a:off x="7369920" y="1600200"/>
            <a:ext cx="2148480" cy="2742840"/>
          </a:xfrm>
          <a:prstGeom prst="roundRect">
            <a:avLst>
              <a:gd name="adj" fmla="val 3404"/>
            </a:avLst>
          </a:prstGeom>
          <a:solidFill>
            <a:srgbClr val="121c30"/>
          </a:solidFill>
          <a:ln w="12700">
            <a:solidFill>
              <a:srgbClr val="38bdf8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" name="Shape 24"/>
          <p:cNvSpPr/>
          <p:nvPr/>
        </p:nvSpPr>
        <p:spPr>
          <a:xfrm>
            <a:off x="7552800" y="1783080"/>
            <a:ext cx="475200" cy="475200"/>
          </a:xfrm>
          <a:prstGeom prst="ellipse">
            <a:avLst/>
          </a:prstGeom>
          <a:solidFill>
            <a:srgbClr val="38bdf8">
              <a:alpha val="24000"/>
            </a:srgbClr>
          </a:solidFill>
          <a:ln w="1587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4" name="Image 3" descr="/home/claude/work/icons/gitmerge_sky.png"/>
          <p:cNvPicPr/>
          <p:nvPr/>
        </p:nvPicPr>
        <p:blipFill>
          <a:blip r:embed="rId4"/>
          <a:stretch/>
        </p:blipFill>
        <p:spPr>
          <a:xfrm>
            <a:off x="7652880" y="18828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245" name="Text 25"/>
          <p:cNvSpPr/>
          <p:nvPr/>
        </p:nvSpPr>
        <p:spPr>
          <a:xfrm>
            <a:off x="8832960" y="17463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7334c"/>
                </a:solidFill>
                <a:latin typeface="Calibri"/>
                <a:ea typeface="Calibri"/>
              </a:rPr>
              <a:t>04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6" name="Text 26"/>
          <p:cNvSpPr/>
          <p:nvPr/>
        </p:nvSpPr>
        <p:spPr>
          <a:xfrm>
            <a:off x="7534800" y="2404800"/>
            <a:ext cx="1819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Calibri"/>
              </a:rPr>
              <a:t>Implement intelligent model routing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7" name="Text 27"/>
          <p:cNvSpPr/>
          <p:nvPr/>
        </p:nvSpPr>
        <p:spPr>
          <a:xfrm>
            <a:off x="7534800" y="3081600"/>
            <a:ext cx="181944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25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Analyze request complexity and automatically select the smallest capable model.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8" name="Shape 28"/>
          <p:cNvSpPr/>
          <p:nvPr/>
        </p:nvSpPr>
        <p:spPr>
          <a:xfrm>
            <a:off x="9674280" y="1600200"/>
            <a:ext cx="2148480" cy="2742840"/>
          </a:xfrm>
          <a:prstGeom prst="roundRect">
            <a:avLst>
              <a:gd name="adj" fmla="val 3404"/>
            </a:avLst>
          </a:prstGeom>
          <a:solidFill>
            <a:srgbClr val="121c30"/>
          </a:solidFill>
          <a:ln w="12700">
            <a:solidFill>
              <a:srgbClr val="27334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9" name="Shape 29"/>
          <p:cNvSpPr/>
          <p:nvPr/>
        </p:nvSpPr>
        <p:spPr>
          <a:xfrm>
            <a:off x="9857160" y="1783080"/>
            <a:ext cx="475200" cy="475200"/>
          </a:xfrm>
          <a:prstGeom prst="ellipse">
            <a:avLst/>
          </a:prstGeom>
          <a:solidFill>
            <a:srgbClr val="4f8ef7">
              <a:alpha val="24000"/>
            </a:srgbClr>
          </a:solidFill>
          <a:ln w="15875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0" name="Image 4" descr="/home/claude/work/icons/award_blue.png"/>
          <p:cNvPicPr/>
          <p:nvPr/>
        </p:nvPicPr>
        <p:blipFill>
          <a:blip r:embed="rId5"/>
          <a:stretch/>
        </p:blipFill>
        <p:spPr>
          <a:xfrm>
            <a:off x="9957240" y="18828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251" name="Text 30"/>
          <p:cNvSpPr/>
          <p:nvPr/>
        </p:nvSpPr>
        <p:spPr>
          <a:xfrm>
            <a:off x="11137320" y="17463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7334c"/>
                </a:solidFill>
                <a:latin typeface="Calibri"/>
                <a:ea typeface="Calibri"/>
              </a:rPr>
              <a:t>05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Text 31"/>
          <p:cNvSpPr/>
          <p:nvPr/>
        </p:nvSpPr>
        <p:spPr>
          <a:xfrm>
            <a:off x="9838800" y="2404800"/>
            <a:ext cx="1819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f8ef7"/>
                </a:solidFill>
                <a:latin typeface="Calibri"/>
                <a:ea typeface="Calibri"/>
              </a:rPr>
              <a:t>Adopt a layered AI architecture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3" name="Text 32"/>
          <p:cNvSpPr/>
          <p:nvPr/>
        </p:nvSpPr>
        <p:spPr>
          <a:xfrm>
            <a:off x="9838800" y="3081600"/>
            <a:ext cx="181944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ts val="125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4d6"/>
                </a:solidFill>
                <a:latin typeface="Calibri"/>
                <a:ea typeface="Calibri"/>
              </a:rPr>
              <a:t>SLMs + optimization middleware + premium LLMs balances cost, latency, and quality.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Shape 33"/>
          <p:cNvSpPr/>
          <p:nvPr/>
        </p:nvSpPr>
        <p:spPr>
          <a:xfrm>
            <a:off x="457200" y="4663440"/>
            <a:ext cx="11274120" cy="959760"/>
          </a:xfrm>
          <a:prstGeom prst="roundRect">
            <a:avLst>
              <a:gd name="adj" fmla="val 7619"/>
            </a:avLst>
          </a:prstGeom>
          <a:solidFill>
            <a:srgbClr val="1b2740"/>
          </a:solidFill>
          <a:ln w="12700">
            <a:solidFill>
              <a:srgbClr val="4f8ef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5" name="Text 34"/>
          <p:cNvSpPr/>
          <p:nvPr/>
        </p:nvSpPr>
        <p:spPr>
          <a:xfrm>
            <a:off x="822960" y="4663440"/>
            <a:ext cx="10542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2001"/>
              </a:lnSpc>
              <a:tabLst>
                <a:tab algn="l" pos="0"/>
              </a:tabLst>
            </a:pPr>
            <a:r>
              <a:rPr b="1" i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“</a:t>
            </a:r>
            <a:r>
              <a:rPr b="1" i="1" lang="en-US" sz="1550" spc="-1" strike="noStrike">
                <a:solidFill>
                  <a:srgbClr val="ffffff"/>
                </a:solidFill>
                <a:latin typeface="Calibri"/>
                <a:ea typeface="Calibri"/>
              </a:rPr>
              <a:t>The goal is not to replace powerful LLMs, but to ensure they are invoked only when their capabilities are truly required.”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2026-07-21T05:32:19Z</dcterms:created>
  <dc:creator>PptxGenJS</dc:creator>
  <dc:description/>
  <dc:language>en-US</dc:language>
  <cp:lastModifiedBy/>
  <dcterms:modified xsi:type="dcterms:W3CDTF">2026-07-21T16:28:14Z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